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 id="2147483681" r:id="rId3"/>
  </p:sldMasterIdLst>
  <p:notesMasterIdLst>
    <p:notesMasterId r:id="rId45"/>
  </p:notesMasterIdLst>
  <p:sldIdLst>
    <p:sldId id="271" r:id="rId4"/>
    <p:sldId id="257" r:id="rId5"/>
    <p:sldId id="262" r:id="rId6"/>
    <p:sldId id="258" r:id="rId7"/>
    <p:sldId id="263" r:id="rId8"/>
    <p:sldId id="264" r:id="rId9"/>
    <p:sldId id="268" r:id="rId10"/>
    <p:sldId id="267" r:id="rId11"/>
    <p:sldId id="266" r:id="rId12"/>
    <p:sldId id="265" r:id="rId13"/>
    <p:sldId id="274" r:id="rId14"/>
    <p:sldId id="259" r:id="rId15"/>
    <p:sldId id="260" r:id="rId16"/>
    <p:sldId id="256" r:id="rId17"/>
    <p:sldId id="905995584" r:id="rId18"/>
    <p:sldId id="905995585" r:id="rId19"/>
    <p:sldId id="905995586" r:id="rId20"/>
    <p:sldId id="905995587" r:id="rId21"/>
    <p:sldId id="905995596" r:id="rId22"/>
    <p:sldId id="905995610" r:id="rId23"/>
    <p:sldId id="905995601" r:id="rId24"/>
    <p:sldId id="905995602" r:id="rId25"/>
    <p:sldId id="905995603" r:id="rId26"/>
    <p:sldId id="905995607" r:id="rId27"/>
    <p:sldId id="905995604" r:id="rId28"/>
    <p:sldId id="905995611" r:id="rId29"/>
    <p:sldId id="905995618" r:id="rId30"/>
    <p:sldId id="905995619" r:id="rId31"/>
    <p:sldId id="905995598" r:id="rId32"/>
    <p:sldId id="905995579" r:id="rId33"/>
    <p:sldId id="905995588" r:id="rId34"/>
    <p:sldId id="905995589" r:id="rId35"/>
    <p:sldId id="905995590" r:id="rId36"/>
    <p:sldId id="905995591" r:id="rId37"/>
    <p:sldId id="905995593" r:id="rId38"/>
    <p:sldId id="905995592" r:id="rId39"/>
    <p:sldId id="905995621" r:id="rId40"/>
    <p:sldId id="905995620" r:id="rId41"/>
    <p:sldId id="270" r:id="rId42"/>
    <p:sldId id="261" r:id="rId43"/>
    <p:sldId id="273"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73425" autoAdjust="0"/>
  </p:normalViewPr>
  <p:slideViewPr>
    <p:cSldViewPr snapToGrid="0">
      <p:cViewPr varScale="1">
        <p:scale>
          <a:sx n="81" d="100"/>
          <a:sy n="81" d="100"/>
        </p:scale>
        <p:origin x="1752"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57D2CA-443B-406B-8A86-EFF6F19DFA0C}" type="datetimeFigureOut">
              <a:rPr lang="en-GB" smtClean="0"/>
              <a:t>11/07/2025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FC515A-1B43-4D80-8B10-2799C41E7E70}" type="slidenum">
              <a:rPr lang="en-GB" smtClean="0"/>
              <a:t>‹#›</a:t>
            </a:fld>
            <a:endParaRPr lang="en-GB"/>
          </a:p>
        </p:txBody>
      </p:sp>
    </p:spTree>
    <p:extLst>
      <p:ext uri="{BB962C8B-B14F-4D97-AF65-F5344CB8AC3E}">
        <p14:creationId xmlns:p14="http://schemas.microsoft.com/office/powerpoint/2010/main" val="968599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rtl="0">
              <a:buNone/>
            </a:pPr>
            <a:r>
              <a:rPr lang="en-US" sz="1200" dirty="0">
                <a:solidFill>
                  <a:srgbClr val="000000"/>
                </a:solidFill>
                <a:effectLst/>
                <a:latin typeface="Calibri" panose="020F0502020204030204" pitchFamily="34" charset="0"/>
              </a:rPr>
              <a:t>We wanted to start with a warehouse. A true home for your businesses data. So with a love of DIY and home renovation, we thought it would be nice to start with a "ware house" and liken our data position to that of construction so to quote a colleague … </a:t>
            </a:r>
          </a:p>
          <a:p>
            <a:pPr marL="0" marR="0" rtl="0">
              <a:buNone/>
            </a:pPr>
            <a:r>
              <a:rPr lang="en-US" sz="1200" dirty="0">
                <a:solidFill>
                  <a:srgbClr val="000000"/>
                </a:solidFill>
                <a:effectLst/>
                <a:latin typeface="Calibri" panose="020F0502020204030204" pitchFamily="34" charset="0"/>
              </a:rPr>
              <a:t> </a:t>
            </a:r>
          </a:p>
          <a:p>
            <a:pPr marL="0" marR="0" rtl="0">
              <a:buNone/>
            </a:pPr>
            <a:r>
              <a:rPr lang="en-US" sz="1200" i="1" dirty="0">
                <a:solidFill>
                  <a:srgbClr val="000000"/>
                </a:solidFill>
                <a:effectLst/>
                <a:latin typeface="Aptos" panose="020B0004020202020204" pitchFamily="34" charset="0"/>
              </a:rPr>
              <a:t>"You can't build a House on quicksand - or a lasting digital infrastructure on shaky foundations“</a:t>
            </a:r>
          </a:p>
          <a:p>
            <a:pPr marL="0" marR="0" rtl="0">
              <a:buNone/>
            </a:pPr>
            <a:endParaRPr lang="en-US" sz="1200" dirty="0">
              <a:solidFill>
                <a:srgbClr val="000000"/>
              </a:solidFill>
              <a:effectLst/>
              <a:latin typeface="Aptos" panose="020B0004020202020204" pitchFamily="34" charset="0"/>
            </a:endParaRPr>
          </a:p>
          <a:p>
            <a:pPr marL="0" rtl="0">
              <a:lnSpc>
                <a:spcPts val="2100"/>
              </a:lnSpc>
              <a:spcBef>
                <a:spcPts val="900"/>
              </a:spcBef>
              <a:spcAft>
                <a:spcPts val="200"/>
              </a:spcAft>
              <a:buNone/>
            </a:pPr>
            <a:r>
              <a:rPr lang="en-US" sz="1200" b="1" dirty="0">
                <a:effectLst/>
                <a:latin typeface="Segoe Sans"/>
              </a:rPr>
              <a:t>Building a Home on Sand is the situation we find ourselves in today:</a:t>
            </a:r>
            <a:endParaRPr lang="en-US" sz="1200" dirty="0">
              <a:effectLst/>
              <a:latin typeface="Segoe Sans"/>
            </a:endParaRPr>
          </a:p>
          <a:p>
            <a:pPr marL="0" rtl="0">
              <a:lnSpc>
                <a:spcPts val="2100"/>
              </a:lnSpc>
              <a:spcBef>
                <a:spcPts val="900"/>
              </a:spcBef>
              <a:spcAft>
                <a:spcPts val="200"/>
              </a:spcAft>
              <a:buNone/>
            </a:pPr>
            <a:r>
              <a:rPr lang="en-US" sz="1200" dirty="0">
                <a:solidFill>
                  <a:srgbClr val="000000"/>
                </a:solidFill>
                <a:effectLst/>
                <a:latin typeface="Aptos" panose="020B0004020202020204" pitchFamily="34" charset="0"/>
              </a:rPr>
              <a:t>With Trust mergers, system integration and redirection from government we have some seriously shifting sands these days. </a:t>
            </a:r>
            <a:r>
              <a:rPr lang="en-US" sz="1200" dirty="0">
                <a:effectLst/>
                <a:latin typeface="Segoe Sans"/>
              </a:rPr>
              <a:t>Imagine trying to build your dream home—something smart, safe and future-ready— but where the ground beneath is soft and unstable. No matter how well-designed your house is, cracks will appear, systems won’t work properly, and it won’t stand the test of time. That's the situation the NHS faces with its data infrastructure today.</a:t>
            </a:r>
            <a:endParaRPr lang="en-US" sz="1200" dirty="0">
              <a:effectLst/>
              <a:latin typeface="Calibri" panose="020F0502020204030204" pitchFamily="34" charset="0"/>
            </a:endParaRPr>
          </a:p>
          <a:p>
            <a:pPr marL="0" rtl="0">
              <a:lnSpc>
                <a:spcPts val="2100"/>
              </a:lnSpc>
              <a:spcBef>
                <a:spcPts val="900"/>
              </a:spcBef>
              <a:spcAft>
                <a:spcPts val="200"/>
              </a:spcAft>
              <a:buNone/>
            </a:pPr>
            <a:endParaRPr lang="en-US" sz="1200" b="1" dirty="0">
              <a:effectLst/>
              <a:latin typeface="Segoe Sans"/>
            </a:endParaRPr>
          </a:p>
          <a:p>
            <a:pPr marL="0" rtl="0">
              <a:lnSpc>
                <a:spcPts val="2100"/>
              </a:lnSpc>
              <a:spcBef>
                <a:spcPts val="900"/>
              </a:spcBef>
              <a:spcAft>
                <a:spcPts val="200"/>
              </a:spcAft>
              <a:buNone/>
            </a:pPr>
            <a:r>
              <a:rPr lang="en-US" sz="1200" b="1" dirty="0">
                <a:effectLst/>
                <a:latin typeface="Segoe Sans"/>
              </a:rPr>
              <a:t>Fragmented and Inconsistent Data are our Unstable Foundations:</a:t>
            </a:r>
            <a:endParaRPr lang="en-US" sz="1200" dirty="0">
              <a:effectLst/>
              <a:latin typeface="Segoe Sans"/>
            </a:endParaRPr>
          </a:p>
          <a:p>
            <a:pPr marL="0" rtl="0">
              <a:spcBef>
                <a:spcPts val="300"/>
              </a:spcBef>
              <a:spcAft>
                <a:spcPts val="300"/>
              </a:spcAft>
              <a:buNone/>
            </a:pPr>
            <a:r>
              <a:rPr lang="en-GB" sz="1100" dirty="0">
                <a:effectLst/>
                <a:latin typeface="Calibri" panose="020F0502020204030204" pitchFamily="34" charset="0"/>
              </a:rPr>
              <a:t> </a:t>
            </a:r>
          </a:p>
          <a:p>
            <a:pPr marL="0" rtl="0" fontAlgn="ctr">
              <a:spcBef>
                <a:spcPts val="300"/>
              </a:spcBef>
              <a:spcAft>
                <a:spcPts val="300"/>
              </a:spcAft>
              <a:buFont typeface="Arial" panose="020B0604020202020204" pitchFamily="34" charset="0"/>
              <a:buChar char="•"/>
            </a:pPr>
            <a:r>
              <a:rPr lang="en-US" sz="1200" dirty="0">
                <a:effectLst/>
                <a:latin typeface="Segoe Sans"/>
              </a:rPr>
              <a:t>NHS data being scattered across lots of different systems — GPs, hospitals, social care </a:t>
            </a:r>
            <a:endParaRPr lang="en-US" sz="1100" dirty="0">
              <a:effectLst/>
              <a:latin typeface="Calibri" panose="020F0502020204030204" pitchFamily="34" charset="0"/>
            </a:endParaRPr>
          </a:p>
          <a:p>
            <a:pPr marL="742950" lvl="1" indent="-285750" rtl="0" fontAlgn="ctr">
              <a:spcBef>
                <a:spcPts val="300"/>
              </a:spcBef>
              <a:spcAft>
                <a:spcPts val="300"/>
              </a:spcAft>
              <a:buFont typeface="Arial" panose="020B0604020202020204" pitchFamily="34" charset="0"/>
              <a:buChar char="•"/>
            </a:pPr>
            <a:r>
              <a:rPr lang="en-US" sz="1200" dirty="0">
                <a:effectLst/>
                <a:latin typeface="Segoe Sans"/>
              </a:rPr>
              <a:t>There </a:t>
            </a:r>
            <a:r>
              <a:rPr lang="en-US" sz="1200" dirty="0" err="1">
                <a:effectLst/>
                <a:latin typeface="Segoe Sans"/>
              </a:rPr>
              <a:t>is'nt</a:t>
            </a:r>
            <a:r>
              <a:rPr lang="en-US" sz="1200" dirty="0">
                <a:effectLst/>
                <a:latin typeface="Segoe Sans"/>
              </a:rPr>
              <a:t> a single, stable base.</a:t>
            </a:r>
            <a:endParaRPr lang="en-US" sz="1100" dirty="0">
              <a:effectLst/>
              <a:latin typeface="Calibri" panose="020F0502020204030204" pitchFamily="34" charset="0"/>
            </a:endParaRPr>
          </a:p>
          <a:p>
            <a:pPr marL="0" rtl="0">
              <a:spcBef>
                <a:spcPts val="300"/>
              </a:spcBef>
              <a:spcAft>
                <a:spcPts val="300"/>
              </a:spcAft>
              <a:buNone/>
            </a:pPr>
            <a:r>
              <a:rPr lang="en-GB" sz="1100" dirty="0">
                <a:effectLst/>
                <a:latin typeface="Calibri" panose="020F0502020204030204" pitchFamily="34" charset="0"/>
              </a:rPr>
              <a:t> </a:t>
            </a:r>
          </a:p>
          <a:p>
            <a:pPr marL="0" rtl="0" fontAlgn="ctr">
              <a:spcBef>
                <a:spcPts val="300"/>
              </a:spcBef>
              <a:spcAft>
                <a:spcPts val="300"/>
              </a:spcAft>
              <a:buFont typeface="Arial" panose="020B0604020202020204" pitchFamily="34" charset="0"/>
              <a:buChar char="•"/>
            </a:pPr>
            <a:r>
              <a:rPr lang="en-US" sz="1200" b="1" dirty="0">
                <a:effectLst/>
                <a:latin typeface="Segoe Sans"/>
              </a:rPr>
              <a:t>Inconsistent formats and standards</a:t>
            </a:r>
            <a:r>
              <a:rPr lang="en-US" sz="1200" dirty="0">
                <a:effectLst/>
                <a:latin typeface="Segoe Sans"/>
              </a:rPr>
              <a:t> mean those systems can’t talk to each other,</a:t>
            </a:r>
            <a:endParaRPr lang="en-US" sz="1100" dirty="0">
              <a:effectLst/>
              <a:latin typeface="Calibri" panose="020F0502020204030204" pitchFamily="34" charset="0"/>
            </a:endParaRPr>
          </a:p>
          <a:p>
            <a:pPr marL="742950" lvl="1" indent="-285750" rtl="0" fontAlgn="ctr">
              <a:spcBef>
                <a:spcPts val="300"/>
              </a:spcBef>
              <a:spcAft>
                <a:spcPts val="300"/>
              </a:spcAft>
              <a:buFont typeface="Arial" panose="020B0604020202020204" pitchFamily="34" charset="0"/>
              <a:buChar char="•"/>
            </a:pPr>
            <a:r>
              <a:rPr lang="en-US" sz="1200" dirty="0">
                <a:effectLst/>
                <a:latin typeface="Segoe Sans"/>
              </a:rPr>
              <a:t> like trying to connect metric and imperial pipes that just don’t fit.</a:t>
            </a:r>
            <a:endParaRPr lang="en-US" sz="1100" dirty="0">
              <a:effectLst/>
              <a:latin typeface="Calibri" panose="020F0502020204030204" pitchFamily="34" charset="0"/>
            </a:endParaRPr>
          </a:p>
          <a:p>
            <a:pPr marL="0" rtl="0">
              <a:lnSpc>
                <a:spcPts val="2100"/>
              </a:lnSpc>
              <a:spcBef>
                <a:spcPts val="900"/>
              </a:spcBef>
              <a:spcAft>
                <a:spcPts val="200"/>
              </a:spcAft>
              <a:buNone/>
            </a:pPr>
            <a:endParaRPr lang="en-US" sz="1200" b="1" dirty="0">
              <a:effectLst/>
              <a:latin typeface="Segoe Sans"/>
            </a:endParaRPr>
          </a:p>
          <a:p>
            <a:pPr marL="0" rtl="0">
              <a:lnSpc>
                <a:spcPts val="2100"/>
              </a:lnSpc>
              <a:spcBef>
                <a:spcPts val="900"/>
              </a:spcBef>
              <a:spcAft>
                <a:spcPts val="200"/>
              </a:spcAft>
              <a:buNone/>
            </a:pPr>
            <a:r>
              <a:rPr lang="en-US" sz="1200" b="1" dirty="0">
                <a:effectLst/>
                <a:latin typeface="Segoe Sans"/>
              </a:rPr>
              <a:t>Data Quality Issues speak to Poor Building Materials: </a:t>
            </a:r>
            <a:endParaRPr lang="en-US" sz="1200" dirty="0">
              <a:effectLst/>
              <a:latin typeface="Segoe Sans"/>
            </a:endParaRPr>
          </a:p>
          <a:p>
            <a:pPr marL="0" rtl="0">
              <a:spcBef>
                <a:spcPts val="300"/>
              </a:spcBef>
              <a:spcAft>
                <a:spcPts val="300"/>
              </a:spcAft>
              <a:buNone/>
            </a:pPr>
            <a:r>
              <a:rPr lang="en-GB" sz="1100" dirty="0">
                <a:effectLst/>
                <a:latin typeface="Calibri" panose="020F0502020204030204" pitchFamily="34" charset="0"/>
              </a:rPr>
              <a:t> </a:t>
            </a:r>
          </a:p>
          <a:p>
            <a:pPr marL="342900" rtl="0">
              <a:spcBef>
                <a:spcPts val="300"/>
              </a:spcBef>
              <a:spcAft>
                <a:spcPts val="300"/>
              </a:spcAft>
              <a:buNone/>
            </a:pPr>
            <a:r>
              <a:rPr lang="en-US" sz="1200" dirty="0">
                <a:effectLst/>
                <a:latin typeface="Segoe Sans"/>
              </a:rPr>
              <a:t>With the best will in the world, many datasets we have to use are </a:t>
            </a:r>
            <a:r>
              <a:rPr lang="en-US" sz="1200" b="1" dirty="0">
                <a:effectLst/>
                <a:latin typeface="Segoe Sans"/>
              </a:rPr>
              <a:t>incomplete, outdated, or inaccurate</a:t>
            </a:r>
            <a:r>
              <a:rPr lang="en-US" sz="1200" dirty="0">
                <a:effectLst/>
                <a:latin typeface="Segoe Sans"/>
              </a:rPr>
              <a:t>. </a:t>
            </a:r>
          </a:p>
          <a:p>
            <a:pPr marL="342900" rtl="0">
              <a:spcBef>
                <a:spcPts val="300"/>
              </a:spcBef>
              <a:spcAft>
                <a:spcPts val="300"/>
              </a:spcAft>
              <a:buNone/>
            </a:pPr>
            <a:r>
              <a:rPr lang="en-US" sz="1200" dirty="0">
                <a:effectLst/>
                <a:latin typeface="Segoe Sans"/>
              </a:rPr>
              <a:t>That leads to poor decisions, like building with warped timber or cracked bricks</a:t>
            </a:r>
          </a:p>
          <a:p>
            <a:pPr marL="342900" rtl="0">
              <a:spcBef>
                <a:spcPts val="300"/>
              </a:spcBef>
              <a:spcAft>
                <a:spcPts val="300"/>
              </a:spcAft>
              <a:buNone/>
            </a:pPr>
            <a:r>
              <a:rPr lang="en-US" sz="1200" dirty="0">
                <a:effectLst/>
                <a:latin typeface="Segoe Sans"/>
              </a:rPr>
              <a:t>If you can’t trust the structure you won't trust the output,  GIGO.</a:t>
            </a:r>
          </a:p>
          <a:p>
            <a:pPr marL="0" rtl="0">
              <a:lnSpc>
                <a:spcPts val="2100"/>
              </a:lnSpc>
              <a:spcBef>
                <a:spcPts val="900"/>
              </a:spcBef>
              <a:spcAft>
                <a:spcPts val="200"/>
              </a:spcAft>
              <a:buNone/>
            </a:pPr>
            <a:endParaRPr lang="en-US" sz="1200" b="1" dirty="0">
              <a:effectLst/>
              <a:latin typeface="Segoe Sans"/>
            </a:endParaRPr>
          </a:p>
          <a:p>
            <a:pPr marL="0" rtl="0">
              <a:lnSpc>
                <a:spcPts val="2100"/>
              </a:lnSpc>
              <a:spcBef>
                <a:spcPts val="900"/>
              </a:spcBef>
              <a:spcAft>
                <a:spcPts val="200"/>
              </a:spcAft>
              <a:buNone/>
            </a:pPr>
            <a:r>
              <a:rPr lang="en-US" sz="1200" b="1" dirty="0">
                <a:effectLst/>
                <a:latin typeface="Segoe Sans"/>
              </a:rPr>
              <a:t>Digital Maturity Gaps in unreliable materials create wonky walls: </a:t>
            </a:r>
            <a:endParaRPr lang="en-US" sz="1200" dirty="0">
              <a:effectLst/>
              <a:latin typeface="Segoe Sans"/>
            </a:endParaRPr>
          </a:p>
          <a:p>
            <a:pPr marL="0" rtl="0">
              <a:spcBef>
                <a:spcPts val="300"/>
              </a:spcBef>
              <a:spcAft>
                <a:spcPts val="300"/>
              </a:spcAft>
              <a:buNone/>
            </a:pPr>
            <a:r>
              <a:rPr lang="en-GB" sz="1100" dirty="0">
                <a:effectLst/>
                <a:latin typeface="Calibri" panose="020F0502020204030204" pitchFamily="34" charset="0"/>
              </a:rPr>
              <a:t> </a:t>
            </a:r>
          </a:p>
          <a:p>
            <a:pPr marL="0" rtl="0" fontAlgn="ctr">
              <a:spcBef>
                <a:spcPts val="300"/>
              </a:spcBef>
              <a:spcAft>
                <a:spcPts val="300"/>
              </a:spcAft>
              <a:buFont typeface="Arial" panose="020B0604020202020204" pitchFamily="34" charset="0"/>
              <a:buChar char="•"/>
            </a:pPr>
            <a:r>
              <a:rPr lang="en-US" sz="1200" dirty="0">
                <a:effectLst/>
                <a:latin typeface="Segoe Sans"/>
              </a:rPr>
              <a:t>Some areas of the NHS are high-tech, others still relying on old fashioned </a:t>
            </a:r>
            <a:r>
              <a:rPr lang="en-US" sz="1200" b="1" dirty="0">
                <a:effectLst/>
                <a:latin typeface="Segoe Sans"/>
              </a:rPr>
              <a:t>paper records</a:t>
            </a:r>
            <a:r>
              <a:rPr lang="en-US" sz="1200" dirty="0">
                <a:effectLst/>
                <a:latin typeface="Segoe Sans"/>
              </a:rPr>
              <a:t> and this can exist in the same </a:t>
            </a:r>
            <a:r>
              <a:rPr lang="en-US" sz="1200" dirty="0" err="1">
                <a:effectLst/>
                <a:latin typeface="Segoe Sans"/>
              </a:rPr>
              <a:t>organisation</a:t>
            </a:r>
            <a:r>
              <a:rPr lang="en-US" sz="1200" dirty="0">
                <a:effectLst/>
                <a:latin typeface="Segoe Sans"/>
              </a:rPr>
              <a:t>.</a:t>
            </a:r>
            <a:endParaRPr lang="en-US" sz="1100" dirty="0">
              <a:effectLst/>
              <a:latin typeface="Calibri" panose="020F0502020204030204" pitchFamily="34" charset="0"/>
            </a:endParaRPr>
          </a:p>
          <a:p>
            <a:pPr marL="0" rtl="0">
              <a:spcBef>
                <a:spcPts val="300"/>
              </a:spcBef>
              <a:spcAft>
                <a:spcPts val="300"/>
              </a:spcAft>
              <a:buNone/>
            </a:pPr>
            <a:r>
              <a:rPr lang="en-GB" sz="1100" dirty="0">
                <a:effectLst/>
                <a:latin typeface="Calibri" panose="020F0502020204030204" pitchFamily="34" charset="0"/>
              </a:rPr>
              <a:t> </a:t>
            </a:r>
          </a:p>
          <a:p>
            <a:pPr marL="0" rtl="0" fontAlgn="ctr">
              <a:spcBef>
                <a:spcPts val="300"/>
              </a:spcBef>
              <a:spcAft>
                <a:spcPts val="300"/>
              </a:spcAft>
              <a:buFont typeface="Arial" panose="020B0604020202020204" pitchFamily="34" charset="0"/>
              <a:buChar char="•"/>
            </a:pPr>
            <a:r>
              <a:rPr lang="en-US" sz="1200" dirty="0">
                <a:effectLst/>
                <a:latin typeface="Segoe Sans"/>
              </a:rPr>
              <a:t>It’s like having a smart new kitchen in a house with a great gas cooker but no gas to run it</a:t>
            </a:r>
            <a:endParaRPr lang="en-US" sz="1100" dirty="0">
              <a:effectLst/>
              <a:latin typeface="Calibri" panose="020F0502020204030204" pitchFamily="34" charset="0"/>
            </a:endParaRPr>
          </a:p>
          <a:p>
            <a:pPr marL="742950" lvl="1" indent="-285750" rtl="0" fontAlgn="ctr">
              <a:spcBef>
                <a:spcPts val="300"/>
              </a:spcBef>
              <a:spcAft>
                <a:spcPts val="300"/>
              </a:spcAft>
              <a:buFont typeface="Arial" panose="020B0604020202020204" pitchFamily="34" charset="0"/>
              <a:buChar char="•"/>
            </a:pPr>
            <a:r>
              <a:rPr lang="en-US" sz="1200" dirty="0">
                <a:effectLst/>
                <a:latin typeface="Segoe Sans"/>
              </a:rPr>
              <a:t>the parts just don’t work together.</a:t>
            </a:r>
            <a:endParaRPr lang="en-US" sz="1100" dirty="0">
              <a:effectLst/>
              <a:latin typeface="Calibri" panose="020F0502020204030204" pitchFamily="34" charset="0"/>
            </a:endParaRPr>
          </a:p>
          <a:p>
            <a:pPr marL="0" rtl="0">
              <a:lnSpc>
                <a:spcPts val="2100"/>
              </a:lnSpc>
              <a:spcBef>
                <a:spcPts val="900"/>
              </a:spcBef>
              <a:spcAft>
                <a:spcPts val="200"/>
              </a:spcAft>
              <a:buNone/>
            </a:pPr>
            <a:endParaRPr lang="en-US" sz="1200" b="1" dirty="0">
              <a:effectLst/>
              <a:latin typeface="Segoe Sans"/>
            </a:endParaRPr>
          </a:p>
          <a:p>
            <a:pPr marL="0" rtl="0">
              <a:lnSpc>
                <a:spcPts val="2100"/>
              </a:lnSpc>
              <a:spcBef>
                <a:spcPts val="900"/>
              </a:spcBef>
              <a:spcAft>
                <a:spcPts val="200"/>
              </a:spcAft>
              <a:buNone/>
            </a:pPr>
            <a:r>
              <a:rPr lang="en-US" sz="1200" b="1" dirty="0">
                <a:effectLst/>
                <a:latin typeface="Segoe Sans"/>
              </a:rPr>
              <a:t>Similarly Legacy Systems are our Outdated Fixtures: </a:t>
            </a:r>
            <a:endParaRPr lang="en-US" sz="1200" dirty="0">
              <a:effectLst/>
              <a:latin typeface="Segoe Sans"/>
            </a:endParaRPr>
          </a:p>
          <a:p>
            <a:pPr marL="0" rtl="0">
              <a:spcBef>
                <a:spcPts val="300"/>
              </a:spcBef>
              <a:spcAft>
                <a:spcPts val="300"/>
              </a:spcAft>
              <a:buNone/>
            </a:pPr>
            <a:r>
              <a:rPr lang="en-GB" sz="1100" dirty="0">
                <a:effectLst/>
                <a:latin typeface="Calibri" panose="020F0502020204030204" pitchFamily="34" charset="0"/>
              </a:rPr>
              <a:t> </a:t>
            </a:r>
          </a:p>
          <a:p>
            <a:pPr marL="0" rtl="0" fontAlgn="ctr">
              <a:spcBef>
                <a:spcPts val="300"/>
              </a:spcBef>
              <a:spcAft>
                <a:spcPts val="300"/>
              </a:spcAft>
              <a:buFont typeface="Arial" panose="020B0604020202020204" pitchFamily="34" charset="0"/>
              <a:buChar char="•"/>
            </a:pPr>
            <a:r>
              <a:rPr lang="en-US" sz="1200" dirty="0">
                <a:effectLst/>
                <a:latin typeface="Segoe Sans"/>
              </a:rPr>
              <a:t>Many NHS systems are inherited with </a:t>
            </a:r>
            <a:r>
              <a:rPr lang="en-US" sz="1200" b="1" dirty="0">
                <a:effectLst/>
                <a:latin typeface="Segoe Sans"/>
              </a:rPr>
              <a:t>old or hard to upgrade technology</a:t>
            </a:r>
            <a:r>
              <a:rPr lang="en-US" sz="1200" dirty="0">
                <a:effectLst/>
                <a:latin typeface="Segoe Sans"/>
              </a:rPr>
              <a:t>, its like trying to install modern appliances in a house with 1950s sockets.</a:t>
            </a:r>
            <a:endParaRPr lang="en-US" sz="1100" dirty="0">
              <a:effectLst/>
              <a:latin typeface="Calibri" panose="020F0502020204030204" pitchFamily="34" charset="0"/>
            </a:endParaRPr>
          </a:p>
          <a:p>
            <a:pPr marL="0" rtl="0" fontAlgn="ctr">
              <a:spcBef>
                <a:spcPts val="300"/>
              </a:spcBef>
              <a:spcAft>
                <a:spcPts val="300"/>
              </a:spcAft>
              <a:buFont typeface="Arial" panose="020B0604020202020204" pitchFamily="34" charset="0"/>
              <a:buChar char="•"/>
            </a:pPr>
            <a:r>
              <a:rPr lang="en-US" sz="1200" dirty="0">
                <a:effectLst/>
                <a:latin typeface="Segoe Sans"/>
              </a:rPr>
              <a:t>These systems continue to need to be used so slow everything down and increase the risk of failure.</a:t>
            </a:r>
            <a:endParaRPr lang="en-US" sz="1100" dirty="0">
              <a:effectLst/>
              <a:latin typeface="Calibri" panose="020F0502020204030204" pitchFamily="34" charset="0"/>
            </a:endParaRPr>
          </a:p>
          <a:p>
            <a:pPr marL="0" rtl="0">
              <a:lnSpc>
                <a:spcPts val="2100"/>
              </a:lnSpc>
              <a:spcBef>
                <a:spcPts val="900"/>
              </a:spcBef>
              <a:spcAft>
                <a:spcPts val="200"/>
              </a:spcAft>
              <a:buNone/>
            </a:pPr>
            <a:endParaRPr lang="en-US" sz="1200" b="1" dirty="0">
              <a:effectLst/>
              <a:latin typeface="Segoe Sans"/>
            </a:endParaRPr>
          </a:p>
          <a:p>
            <a:pPr marL="0" rtl="0">
              <a:lnSpc>
                <a:spcPts val="2100"/>
              </a:lnSpc>
              <a:spcBef>
                <a:spcPts val="900"/>
              </a:spcBef>
              <a:spcAft>
                <a:spcPts val="200"/>
              </a:spcAft>
              <a:buNone/>
            </a:pPr>
            <a:r>
              <a:rPr lang="en-US" sz="1200" b="1" dirty="0">
                <a:effectLst/>
                <a:latin typeface="Segoe Sans"/>
              </a:rPr>
              <a:t>Finally we have our Lack of Skilled Builders: our Workforce and Culture are a limitation</a:t>
            </a:r>
            <a:endParaRPr lang="en-US" sz="1200" dirty="0">
              <a:effectLst/>
              <a:latin typeface="Segoe Sans"/>
            </a:endParaRPr>
          </a:p>
          <a:p>
            <a:pPr marL="0" rtl="0">
              <a:spcBef>
                <a:spcPts val="300"/>
              </a:spcBef>
              <a:spcAft>
                <a:spcPts val="300"/>
              </a:spcAft>
              <a:buNone/>
            </a:pPr>
            <a:r>
              <a:rPr lang="en-GB" sz="1100" dirty="0">
                <a:effectLst/>
                <a:latin typeface="Calibri" panose="020F0502020204030204" pitchFamily="34" charset="0"/>
              </a:rPr>
              <a:t> </a:t>
            </a:r>
          </a:p>
          <a:p>
            <a:pPr marL="0" rtl="0" fontAlgn="ctr">
              <a:spcBef>
                <a:spcPts val="300"/>
              </a:spcBef>
              <a:spcAft>
                <a:spcPts val="300"/>
              </a:spcAft>
              <a:buFont typeface="Arial" panose="020B0604020202020204" pitchFamily="34" charset="0"/>
              <a:buChar char="•"/>
            </a:pPr>
            <a:r>
              <a:rPr lang="en-US" sz="1200" dirty="0">
                <a:effectLst/>
                <a:latin typeface="Segoe Sans"/>
              </a:rPr>
              <a:t>There’s a real shortage of </a:t>
            </a:r>
            <a:r>
              <a:rPr lang="en-US" sz="1200" b="1" dirty="0">
                <a:effectLst/>
                <a:latin typeface="Segoe Sans"/>
              </a:rPr>
              <a:t>technically-skilled staff</a:t>
            </a:r>
            <a:r>
              <a:rPr lang="en-US" sz="1200" dirty="0">
                <a:effectLst/>
                <a:latin typeface="Segoe Sans"/>
              </a:rPr>
              <a:t> and a culture that doesn’t always value data or the skills behind it.</a:t>
            </a:r>
            <a:endParaRPr lang="en-US" sz="1100" dirty="0">
              <a:effectLst/>
              <a:latin typeface="Calibri" panose="020F0502020204030204" pitchFamily="34" charset="0"/>
            </a:endParaRPr>
          </a:p>
          <a:p>
            <a:pPr marL="0" rtl="0">
              <a:spcBef>
                <a:spcPts val="300"/>
              </a:spcBef>
              <a:spcAft>
                <a:spcPts val="300"/>
              </a:spcAft>
              <a:buNone/>
            </a:pPr>
            <a:r>
              <a:rPr lang="en-GB" sz="1100" dirty="0">
                <a:effectLst/>
                <a:latin typeface="Calibri" panose="020F0502020204030204" pitchFamily="34" charset="0"/>
              </a:rPr>
              <a:t> </a:t>
            </a:r>
          </a:p>
          <a:p>
            <a:pPr marL="0" rtl="0" fontAlgn="ctr">
              <a:spcBef>
                <a:spcPts val="300"/>
              </a:spcBef>
              <a:spcAft>
                <a:spcPts val="300"/>
              </a:spcAft>
              <a:buFont typeface="Arial" panose="020B0604020202020204" pitchFamily="34" charset="0"/>
              <a:buChar char="•"/>
            </a:pPr>
            <a:r>
              <a:rPr lang="en-US" sz="1200" dirty="0">
                <a:effectLst/>
                <a:latin typeface="Segoe Sans"/>
              </a:rPr>
              <a:t>Even the best tools won’t help if the builders aren’t trained or they don’t trust the blueprints. You wouldn’t start building a house without the right skills.</a:t>
            </a:r>
            <a:endParaRPr lang="en-US" sz="1100" dirty="0">
              <a:effectLst/>
              <a:latin typeface="Calibri" panose="020F0502020204030204" pitchFamily="34" charset="0"/>
            </a:endParaRPr>
          </a:p>
          <a:p>
            <a:pPr marL="0" rtl="0">
              <a:lnSpc>
                <a:spcPts val="2100"/>
              </a:lnSpc>
              <a:spcBef>
                <a:spcPts val="900"/>
              </a:spcBef>
              <a:spcAft>
                <a:spcPts val="200"/>
              </a:spcAft>
              <a:buNone/>
            </a:pPr>
            <a:endParaRPr lang="en-US" sz="1200" b="1" dirty="0">
              <a:effectLst/>
              <a:latin typeface="Segoe Sans"/>
            </a:endParaRPr>
          </a:p>
          <a:p>
            <a:pPr marL="0" rtl="0">
              <a:lnSpc>
                <a:spcPts val="2100"/>
              </a:lnSpc>
              <a:spcBef>
                <a:spcPts val="900"/>
              </a:spcBef>
              <a:spcAft>
                <a:spcPts val="200"/>
              </a:spcAft>
              <a:buNone/>
            </a:pPr>
            <a:r>
              <a:rPr lang="en-US" sz="1200" b="1" dirty="0">
                <a:effectLst/>
                <a:latin typeface="Segoe Sans"/>
              </a:rPr>
              <a:t>What we Need to look at is creating a sound and Solid platform, we need to think differently</a:t>
            </a:r>
            <a:endParaRPr lang="en-US" sz="1200" dirty="0">
              <a:effectLst/>
              <a:latin typeface="Segoe Sans"/>
            </a:endParaRPr>
          </a:p>
          <a:p>
            <a:pPr marL="0" rtl="0">
              <a:spcBef>
                <a:spcPts val="600"/>
              </a:spcBef>
              <a:spcAft>
                <a:spcPts val="300"/>
              </a:spcAft>
              <a:buNone/>
            </a:pPr>
            <a:r>
              <a:rPr lang="en-US" sz="1200" dirty="0">
                <a:effectLst/>
                <a:latin typeface="Segoe Sans"/>
              </a:rPr>
              <a:t>To build a home that’s safe, smart, and sustainable, the NHS needs to start from the ground up:</a:t>
            </a:r>
          </a:p>
          <a:p>
            <a:pPr marL="0" rtl="0">
              <a:spcBef>
                <a:spcPts val="300"/>
              </a:spcBef>
              <a:spcAft>
                <a:spcPts val="300"/>
              </a:spcAft>
              <a:buNone/>
            </a:pPr>
            <a:r>
              <a:rPr lang="en-GB" sz="1100" dirty="0">
                <a:effectLst/>
                <a:latin typeface="Calibri" panose="020F0502020204030204" pitchFamily="34" charset="0"/>
              </a:rPr>
              <a:t> </a:t>
            </a:r>
          </a:p>
          <a:p>
            <a:pPr marL="0" rtl="0" fontAlgn="ctr">
              <a:spcBef>
                <a:spcPts val="300"/>
              </a:spcBef>
              <a:spcAft>
                <a:spcPts val="300"/>
              </a:spcAft>
              <a:buFont typeface="Arial" panose="020B0604020202020204" pitchFamily="34" charset="0"/>
              <a:buChar char="•"/>
            </a:pPr>
            <a:r>
              <a:rPr lang="en-US" sz="1200" b="1" dirty="0">
                <a:effectLst/>
                <a:latin typeface="Segoe Sans"/>
              </a:rPr>
              <a:t>Leveling the ground</a:t>
            </a:r>
            <a:r>
              <a:rPr lang="en-US" sz="1200" dirty="0">
                <a:effectLst/>
                <a:latin typeface="Segoe Sans"/>
              </a:rPr>
              <a:t> with interoperable systems and shared records.</a:t>
            </a:r>
            <a:endParaRPr lang="en-US" sz="1100" dirty="0">
              <a:effectLst/>
              <a:latin typeface="Calibri" panose="020F0502020204030204" pitchFamily="34" charset="0"/>
            </a:endParaRPr>
          </a:p>
          <a:p>
            <a:pPr marL="0" rtl="0">
              <a:spcBef>
                <a:spcPts val="300"/>
              </a:spcBef>
              <a:spcAft>
                <a:spcPts val="300"/>
              </a:spcAft>
              <a:buNone/>
            </a:pPr>
            <a:r>
              <a:rPr lang="en-GB" sz="1100" dirty="0">
                <a:effectLst/>
                <a:latin typeface="Calibri" panose="020F0502020204030204" pitchFamily="34" charset="0"/>
              </a:rPr>
              <a:t> </a:t>
            </a:r>
          </a:p>
          <a:p>
            <a:pPr marL="0" rtl="0" fontAlgn="ctr">
              <a:spcBef>
                <a:spcPts val="300"/>
              </a:spcBef>
              <a:spcAft>
                <a:spcPts val="300"/>
              </a:spcAft>
              <a:buFont typeface="Arial" panose="020B0604020202020204" pitchFamily="34" charset="0"/>
              <a:buChar char="•"/>
            </a:pPr>
            <a:r>
              <a:rPr lang="en-US" sz="1200" b="1" dirty="0">
                <a:effectLst/>
                <a:latin typeface="Segoe Sans"/>
              </a:rPr>
              <a:t>Improving the materials</a:t>
            </a:r>
            <a:r>
              <a:rPr lang="en-US" sz="1200" dirty="0">
                <a:effectLst/>
                <a:latin typeface="Segoe Sans"/>
              </a:rPr>
              <a:t> by improving the data accuracy and completeness.</a:t>
            </a:r>
            <a:endParaRPr lang="en-US" sz="1100" dirty="0">
              <a:effectLst/>
              <a:latin typeface="Calibri" panose="020F0502020204030204" pitchFamily="34" charset="0"/>
            </a:endParaRPr>
          </a:p>
          <a:p>
            <a:pPr marL="0" rtl="0">
              <a:spcBef>
                <a:spcPts val="300"/>
              </a:spcBef>
              <a:spcAft>
                <a:spcPts val="300"/>
              </a:spcAft>
              <a:buNone/>
            </a:pPr>
            <a:r>
              <a:rPr lang="en-GB" sz="1100" dirty="0">
                <a:effectLst/>
                <a:latin typeface="Calibri" panose="020F0502020204030204" pitchFamily="34" charset="0"/>
              </a:rPr>
              <a:t> </a:t>
            </a:r>
          </a:p>
          <a:p>
            <a:pPr marL="0" rtl="0" fontAlgn="ctr">
              <a:spcBef>
                <a:spcPts val="300"/>
              </a:spcBef>
              <a:spcAft>
                <a:spcPts val="300"/>
              </a:spcAft>
              <a:buFont typeface="Arial" panose="020B0604020202020204" pitchFamily="34" charset="0"/>
              <a:buChar char="•"/>
            </a:pPr>
            <a:r>
              <a:rPr lang="en-US" sz="1200" b="1" dirty="0">
                <a:effectLst/>
                <a:latin typeface="Segoe Sans"/>
              </a:rPr>
              <a:t>Training our builders</a:t>
            </a:r>
            <a:r>
              <a:rPr lang="en-US" sz="1200" dirty="0">
                <a:effectLst/>
                <a:latin typeface="Segoe Sans"/>
              </a:rPr>
              <a:t>—invest in digital skills and leadership.</a:t>
            </a:r>
            <a:endParaRPr lang="en-US" sz="1100" dirty="0">
              <a:effectLst/>
              <a:latin typeface="Calibri" panose="020F0502020204030204" pitchFamily="34" charset="0"/>
            </a:endParaRPr>
          </a:p>
          <a:p>
            <a:pPr marL="0" rtl="0">
              <a:spcBef>
                <a:spcPts val="300"/>
              </a:spcBef>
              <a:spcAft>
                <a:spcPts val="300"/>
              </a:spcAft>
              <a:buNone/>
            </a:pPr>
            <a:r>
              <a:rPr lang="en-GB" sz="1100" dirty="0">
                <a:effectLst/>
                <a:latin typeface="Calibri" panose="020F0502020204030204" pitchFamily="34" charset="0"/>
              </a:rPr>
              <a:t> </a:t>
            </a:r>
          </a:p>
          <a:p>
            <a:pPr marL="0" rtl="0" fontAlgn="ctr">
              <a:spcBef>
                <a:spcPts val="300"/>
              </a:spcBef>
              <a:spcAft>
                <a:spcPts val="300"/>
              </a:spcAft>
              <a:buFont typeface="Arial" panose="020B0604020202020204" pitchFamily="34" charset="0"/>
              <a:buChar char="•"/>
            </a:pPr>
            <a:r>
              <a:rPr lang="en-US" sz="1200" b="1" dirty="0">
                <a:effectLst/>
                <a:latin typeface="Segoe Sans"/>
              </a:rPr>
              <a:t>Build trust</a:t>
            </a:r>
            <a:r>
              <a:rPr lang="en-US" sz="1200" dirty="0">
                <a:effectLst/>
                <a:latin typeface="Segoe Sans"/>
              </a:rPr>
              <a:t> in the data with strong governance and transparency.</a:t>
            </a:r>
            <a:endParaRPr lang="en-US" sz="1100" dirty="0">
              <a:effectLst/>
              <a:latin typeface="Calibri" panose="020F0502020204030204" pitchFamily="34" charset="0"/>
            </a:endParaRPr>
          </a:p>
          <a:p>
            <a:pPr marL="0" rtl="0">
              <a:spcBef>
                <a:spcPts val="600"/>
              </a:spcBef>
              <a:spcAft>
                <a:spcPts val="300"/>
              </a:spcAft>
              <a:buNone/>
            </a:pPr>
            <a:r>
              <a:rPr lang="en-US" sz="1200" dirty="0">
                <a:effectLst/>
                <a:latin typeface="Calibri" panose="020F0502020204030204" pitchFamily="34" charset="0"/>
              </a:rPr>
              <a:t> </a:t>
            </a:r>
          </a:p>
          <a:p>
            <a:pPr marL="0" rtl="0">
              <a:spcBef>
                <a:spcPts val="600"/>
              </a:spcBef>
              <a:spcAft>
                <a:spcPts val="300"/>
              </a:spcAft>
              <a:buNone/>
            </a:pPr>
            <a:r>
              <a:rPr lang="en-US" sz="1200" dirty="0">
                <a:effectLst/>
                <a:latin typeface="Segoe Sans"/>
              </a:rPr>
              <a:t>Only then can we create a health system that’s not just functional, but a true home for innovation and care.</a:t>
            </a:r>
          </a:p>
          <a:p>
            <a:pPr marL="0" rtl="0">
              <a:spcBef>
                <a:spcPts val="600"/>
              </a:spcBef>
              <a:spcAft>
                <a:spcPts val="300"/>
              </a:spcAft>
            </a:pPr>
            <a:r>
              <a:rPr lang="en-US" sz="1200" dirty="0">
                <a:effectLst/>
                <a:latin typeface="Segoe Sans"/>
              </a:rPr>
              <a:t>VECTORS aims to give us a starting point to provide these tools for the future. </a:t>
            </a:r>
          </a:p>
          <a:p>
            <a:endParaRPr lang="en-GB" dirty="0"/>
          </a:p>
        </p:txBody>
      </p:sp>
      <p:sp>
        <p:nvSpPr>
          <p:cNvPr id="4" name="Slide Number Placeholder 3"/>
          <p:cNvSpPr>
            <a:spLocks noGrp="1"/>
          </p:cNvSpPr>
          <p:nvPr>
            <p:ph type="sldNum" sz="quarter" idx="5"/>
          </p:nvPr>
        </p:nvSpPr>
        <p:spPr/>
        <p:txBody>
          <a:bodyPr/>
          <a:lstStyle/>
          <a:p>
            <a:fld id="{CBFC515A-1B43-4D80-8B10-2799C41E7E70}" type="slidenum">
              <a:rPr lang="en-GB" smtClean="0"/>
              <a:t>2</a:t>
            </a:fld>
            <a:endParaRPr lang="en-GB"/>
          </a:p>
        </p:txBody>
      </p:sp>
    </p:spTree>
    <p:extLst>
      <p:ext uri="{BB962C8B-B14F-4D97-AF65-F5344CB8AC3E}">
        <p14:creationId xmlns:p14="http://schemas.microsoft.com/office/powerpoint/2010/main" val="1723136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en-GB" sz="1200" dirty="0">
                <a:solidFill>
                  <a:srgbClr val="4D4D4D"/>
                </a:solidFill>
                <a:effectLst/>
                <a:latin typeface="Helvetica" panose="020B0604020202020204" pitchFamily="34" charset="0"/>
                <a:ea typeface="Aptos" panose="020B0004020202020204" pitchFamily="34" charset="0"/>
                <a:cs typeface="Open Sans" panose="020B0606030504020204" pitchFamily="34" charset="0"/>
              </a:rPr>
              <a:t>VECTORS Framework: </a:t>
            </a:r>
          </a:p>
          <a:p>
            <a:pPr>
              <a:lnSpc>
                <a:spcPct val="150000"/>
              </a:lnSpc>
            </a:pPr>
            <a:endParaRPr lang="en-GB" dirty="0">
              <a:solidFill>
                <a:srgbClr val="4D4D4D"/>
              </a:solidFill>
              <a:latin typeface="Helvetica" panose="020B0604020202020204" pitchFamily="34" charset="0"/>
              <a:ea typeface="Aptos" panose="020B0004020202020204" pitchFamily="34" charset="0"/>
              <a:cs typeface="Open Sans" panose="020B0606030504020204" pitchFamily="34" charset="0"/>
            </a:endParaRPr>
          </a:p>
          <a:p>
            <a:pPr>
              <a:lnSpc>
                <a:spcPct val="150000"/>
              </a:lnSpc>
            </a:pPr>
            <a:r>
              <a:rPr lang="en-GB" dirty="0">
                <a:solidFill>
                  <a:srgbClr val="4D4D4D"/>
                </a:solidFill>
                <a:latin typeface="Helvetica" panose="020B0604020202020204" pitchFamily="34" charset="0"/>
                <a:ea typeface="Aptos" panose="020B0004020202020204" pitchFamily="34" charset="0"/>
                <a:cs typeface="Open Sans" panose="020B0606030504020204" pitchFamily="34" charset="0"/>
              </a:rPr>
              <a:t>S</a:t>
            </a:r>
            <a:r>
              <a:rPr lang="en-GB" sz="1200" dirty="0">
                <a:solidFill>
                  <a:srgbClr val="4D4D4D"/>
                </a:solidFill>
                <a:effectLst/>
                <a:latin typeface="Helvetica" panose="020B0604020202020204" pitchFamily="34" charset="0"/>
                <a:ea typeface="Aptos" panose="020B0004020202020204" pitchFamily="34" charset="0"/>
                <a:cs typeface="Open Sans" panose="020B0606030504020204" pitchFamily="34" charset="0"/>
              </a:rPr>
              <a:t>even core pillars that support successful </a:t>
            </a:r>
            <a:r>
              <a:rPr lang="en-GB" dirty="0">
                <a:solidFill>
                  <a:srgbClr val="4D4D4D"/>
                </a:solidFill>
                <a:latin typeface="Helvetica" panose="020B0604020202020204" pitchFamily="34" charset="0"/>
                <a:cs typeface="Open Sans" panose="020B0606030504020204" pitchFamily="34" charset="0"/>
              </a:rPr>
              <a:t>digital transformation in healthcare. </a:t>
            </a:r>
          </a:p>
          <a:p>
            <a:pPr>
              <a:lnSpc>
                <a:spcPct val="150000"/>
              </a:lnSpc>
            </a:pPr>
            <a:endParaRPr lang="en-GB" dirty="0">
              <a:solidFill>
                <a:srgbClr val="4D4D4D"/>
              </a:solidFill>
              <a:latin typeface="Helvetica" panose="020B0604020202020204" pitchFamily="34" charset="0"/>
              <a:cs typeface="Open Sans" panose="020B0606030504020204" pitchFamily="34" charset="0"/>
            </a:endParaRPr>
          </a:p>
          <a:p>
            <a:pPr>
              <a:lnSpc>
                <a:spcPct val="150000"/>
              </a:lnSpc>
            </a:pPr>
            <a:r>
              <a:rPr lang="en-US" dirty="0">
                <a:solidFill>
                  <a:srgbClr val="4D4D4D"/>
                </a:solidFill>
                <a:latin typeface="Helvetica" panose="020B0604020202020204" pitchFamily="34" charset="0"/>
                <a:cs typeface="Open Sans" panose="020B0606030504020204" pitchFamily="34" charset="0"/>
              </a:rPr>
              <a:t>Enables NHS Trusts or other </a:t>
            </a:r>
            <a:r>
              <a:rPr lang="en-US" dirty="0" err="1">
                <a:solidFill>
                  <a:srgbClr val="4D4D4D"/>
                </a:solidFill>
                <a:latin typeface="Helvetica" panose="020B0604020202020204" pitchFamily="34" charset="0"/>
                <a:cs typeface="Open Sans" panose="020B0606030504020204" pitchFamily="34" charset="0"/>
              </a:rPr>
              <a:t>organisations</a:t>
            </a:r>
            <a:r>
              <a:rPr lang="en-US" dirty="0">
                <a:solidFill>
                  <a:srgbClr val="4D4D4D"/>
                </a:solidFill>
                <a:latin typeface="Helvetica" panose="020B0604020202020204" pitchFamily="34" charset="0"/>
                <a:cs typeface="Open Sans" panose="020B0606030504020204" pitchFamily="34" charset="0"/>
              </a:rPr>
              <a:t> to build resilient and future-proof data platforms that can adapt to changes and new system procurements.</a:t>
            </a:r>
          </a:p>
          <a:p>
            <a:pPr>
              <a:lnSpc>
                <a:spcPct val="150000"/>
              </a:lnSpc>
            </a:pPr>
            <a:endParaRPr lang="en-GB" dirty="0">
              <a:solidFill>
                <a:srgbClr val="4D4D4D"/>
              </a:solidFill>
              <a:latin typeface="Helvetica" panose="020B0604020202020204" pitchFamily="34" charset="0"/>
              <a:cs typeface="Open Sans" panose="020B0606030504020204" pitchFamily="34" charset="0"/>
            </a:endParaRPr>
          </a:p>
          <a:p>
            <a:r>
              <a:rPr lang="en-US" dirty="0"/>
              <a:t>Framework Introduction (5 mins) - Ilya</a:t>
            </a:r>
          </a:p>
          <a:p>
            <a:endParaRPr lang="en-US" dirty="0"/>
          </a:p>
          <a:p>
            <a:r>
              <a:rPr lang="en-US" dirty="0"/>
              <a:t>The Seven Pillars that support any digital house</a:t>
            </a:r>
          </a:p>
          <a:p>
            <a:r>
              <a:rPr lang="en-US" dirty="0"/>
              <a:t>"Today we'll examine each foundation pillar that separates thriving </a:t>
            </a:r>
            <a:r>
              <a:rPr lang="en-US" dirty="0" err="1"/>
              <a:t>organisations</a:t>
            </a:r>
            <a:r>
              <a:rPr lang="en-US" dirty="0"/>
              <a:t> from struggling ones"</a:t>
            </a:r>
          </a:p>
          <a:p>
            <a:r>
              <a:rPr lang="en-US" dirty="0"/>
              <a:t>VECTORS stands for seven foundational pillars:</a:t>
            </a:r>
          </a:p>
          <a:p>
            <a:endParaRPr lang="en-US" dirty="0"/>
          </a:p>
          <a:p>
            <a:r>
              <a:rPr lang="en-US" dirty="0"/>
              <a:t>Version Control</a:t>
            </a:r>
          </a:p>
          <a:p>
            <a:r>
              <a:rPr lang="en-US" dirty="0"/>
              <a:t>Everything as Code</a:t>
            </a:r>
          </a:p>
          <a:p>
            <a:r>
              <a:rPr lang="en-US" dirty="0"/>
              <a:t>CI/CD Pipelines</a:t>
            </a:r>
          </a:p>
          <a:p>
            <a:r>
              <a:rPr lang="en-US" dirty="0"/>
              <a:t>Testing</a:t>
            </a:r>
          </a:p>
          <a:p>
            <a:r>
              <a:rPr lang="en-US" dirty="0"/>
              <a:t>Open Source First</a:t>
            </a:r>
          </a:p>
          <a:p>
            <a:r>
              <a:rPr lang="en-US" dirty="0"/>
              <a:t>Reference Architecture</a:t>
            </a:r>
          </a:p>
          <a:p>
            <a:r>
              <a:rPr lang="en-US" dirty="0"/>
              <a:t>Security by Design</a:t>
            </a:r>
            <a:endParaRPr lang="en-GB" dirty="0"/>
          </a:p>
          <a:p>
            <a:endParaRPr lang="en-GB" dirty="0"/>
          </a:p>
        </p:txBody>
      </p:sp>
      <p:sp>
        <p:nvSpPr>
          <p:cNvPr id="4" name="Slide Number Placeholder 3"/>
          <p:cNvSpPr>
            <a:spLocks noGrp="1"/>
          </p:cNvSpPr>
          <p:nvPr>
            <p:ph type="sldNum" sz="quarter" idx="5"/>
          </p:nvPr>
        </p:nvSpPr>
        <p:spPr/>
        <p:txBody>
          <a:bodyPr/>
          <a:lstStyle/>
          <a:p>
            <a:fld id="{CBFC515A-1B43-4D80-8B10-2799C41E7E70}" type="slidenum">
              <a:rPr lang="en-GB" smtClean="0"/>
              <a:t>3</a:t>
            </a:fld>
            <a:endParaRPr lang="en-GB"/>
          </a:p>
        </p:txBody>
      </p:sp>
    </p:spTree>
    <p:extLst>
      <p:ext uri="{BB962C8B-B14F-4D97-AF65-F5344CB8AC3E}">
        <p14:creationId xmlns:p14="http://schemas.microsoft.com/office/powerpoint/2010/main" val="3438072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rtl="0">
              <a:buNone/>
            </a:pPr>
            <a:r>
              <a:rPr lang="en-US" sz="1800" b="1" dirty="0">
                <a:solidFill>
                  <a:srgbClr val="000000"/>
                </a:solidFill>
                <a:effectLst/>
                <a:latin typeface="Aptos" panose="020B0004020202020204" pitchFamily="34" charset="0"/>
              </a:rPr>
              <a:t>Every change to the blueprints tracked and approved</a:t>
            </a:r>
            <a:endParaRPr lang="en-US" sz="1800" dirty="0">
              <a:solidFill>
                <a:srgbClr val="000000"/>
              </a:solidFill>
              <a:effectLst/>
              <a:latin typeface="Aptos" panose="020B0004020202020204" pitchFamily="34" charset="0"/>
            </a:endParaRPr>
          </a:p>
          <a:p>
            <a:pPr marL="0" marR="0" rtl="0">
              <a:buNone/>
            </a:pPr>
            <a:r>
              <a:rPr lang="en-US" sz="1800" dirty="0">
                <a:solidFill>
                  <a:srgbClr val="000000"/>
                </a:solidFill>
                <a:effectLst/>
                <a:latin typeface="Calibri" panose="020F0502020204030204" pitchFamily="34" charset="0"/>
              </a:rPr>
              <a:t> </a:t>
            </a:r>
          </a:p>
          <a:p>
            <a:pPr marL="0" marR="0" rtl="0">
              <a:buNone/>
            </a:pPr>
            <a:r>
              <a:rPr lang="en-US" sz="1800" b="1" dirty="0">
                <a:solidFill>
                  <a:srgbClr val="000000"/>
                </a:solidFill>
                <a:effectLst/>
                <a:latin typeface="Calibri" panose="020F0502020204030204" pitchFamily="34" charset="0"/>
              </a:rPr>
              <a:t>Shaky Foundations:</a:t>
            </a:r>
            <a:r>
              <a:rPr lang="en-US" sz="1800" dirty="0">
                <a:solidFill>
                  <a:srgbClr val="000000"/>
                </a:solidFill>
                <a:effectLst/>
                <a:latin typeface="Calibri" panose="020F0502020204030204" pitchFamily="34" charset="0"/>
              </a:rPr>
              <a:t> "The electrician wired the kitchen based on last week's plans, but someone moved the sink location and forgot to tell anyone. Now there are power outlets under where the tap will be, and nobody remembers who decided to move the sink or why."</a:t>
            </a:r>
          </a:p>
          <a:p>
            <a:pPr marL="0" marR="0" rtl="0">
              <a:buNone/>
            </a:pPr>
            <a:r>
              <a:rPr lang="en-US" sz="1800" dirty="0">
                <a:solidFill>
                  <a:srgbClr val="000000"/>
                </a:solidFill>
                <a:effectLst/>
                <a:latin typeface="Calibri" panose="020F0502020204030204" pitchFamily="34" charset="0"/>
              </a:rPr>
              <a:t> </a:t>
            </a:r>
          </a:p>
          <a:p>
            <a:pPr marL="0" marR="0" rtl="0">
              <a:buNone/>
            </a:pPr>
            <a:r>
              <a:rPr lang="en-US" sz="1800" b="1" dirty="0">
                <a:solidFill>
                  <a:srgbClr val="000000"/>
                </a:solidFill>
                <a:effectLst/>
                <a:latin typeface="Aptos" panose="020B0004020202020204" pitchFamily="34" charset="0"/>
              </a:rPr>
              <a:t>Solid Foundation:</a:t>
            </a:r>
            <a:r>
              <a:rPr lang="en-US" sz="1800" dirty="0">
                <a:solidFill>
                  <a:srgbClr val="000000"/>
                </a:solidFill>
                <a:effectLst/>
                <a:latin typeface="Aptos" panose="020B0004020202020204" pitchFamily="34" charset="0"/>
              </a:rPr>
              <a:t> Gold standard is to Imagine building a house where every single change to the blueprints is recorded in a master logbook. If the architect decides to move a door, it's documented: who made the change, why, when, and exactly what was modified. If the builder discovers the new door placement won't work, they can still see the original design and revert back. Multiple architects can work on different sections simultaneously without overwriting each other's work. The foreman can see exactly what's changed between yesterday's plans and today's before starting work.</a:t>
            </a:r>
          </a:p>
          <a:p>
            <a:pPr marL="0" marR="0" rtl="0">
              <a:buNone/>
            </a:pPr>
            <a:r>
              <a:rPr lang="en-US" sz="1800" dirty="0">
                <a:solidFill>
                  <a:srgbClr val="000000"/>
                </a:solidFill>
                <a:effectLst/>
                <a:latin typeface="Calibri" panose="020F0502020204030204" pitchFamily="34" charset="0"/>
              </a:rPr>
              <a:t> </a:t>
            </a:r>
          </a:p>
          <a:p>
            <a:pPr marL="0" marR="0" rtl="0">
              <a:buNone/>
            </a:pPr>
            <a:r>
              <a:rPr lang="en-US" sz="1800" b="1" dirty="0">
                <a:solidFill>
                  <a:srgbClr val="000000"/>
                </a:solidFill>
                <a:effectLst/>
                <a:latin typeface="Aptos" panose="020B0004020202020204" pitchFamily="34" charset="0"/>
              </a:rPr>
              <a:t>Our Technical Solution:</a:t>
            </a:r>
            <a:r>
              <a:rPr lang="en-US" sz="1800" dirty="0">
                <a:solidFill>
                  <a:srgbClr val="000000"/>
                </a:solidFill>
                <a:effectLst/>
                <a:latin typeface="Aptos" panose="020B0004020202020204" pitchFamily="34" charset="0"/>
              </a:rPr>
              <a:t> to this is Version control something like Git or a similar product, these track every change to code, configurations, don’t forget to include the documentation, we need that as well. Collaborative working through remote Git repositories enables disparate teams to work together whilst coding safely - creating feature branching for new code, merging with peer review and approval, and rolling back when needed. </a:t>
            </a:r>
          </a:p>
          <a:p>
            <a:pPr marL="0" marR="0" rtl="0">
              <a:buNone/>
            </a:pPr>
            <a:r>
              <a:rPr lang="en-US" sz="1800" dirty="0">
                <a:solidFill>
                  <a:srgbClr val="000000"/>
                </a:solidFill>
                <a:effectLst/>
                <a:latin typeface="Calibri" panose="020F0502020204030204" pitchFamily="34" charset="0"/>
              </a:rPr>
              <a:t> </a:t>
            </a:r>
          </a:p>
          <a:p>
            <a:pPr marL="0" marR="0" rtl="0"/>
            <a:r>
              <a:rPr lang="en-US" sz="1800" i="1" dirty="0">
                <a:solidFill>
                  <a:srgbClr val="000000"/>
                </a:solidFill>
                <a:effectLst/>
                <a:latin typeface="Aptos" panose="020B0004020202020204" pitchFamily="34" charset="0"/>
              </a:rPr>
              <a:t>"With approved plans in hand, we move to creating the digital design..."</a:t>
            </a:r>
            <a:endParaRPr lang="en-US" sz="1800" dirty="0">
              <a:solidFill>
                <a:srgbClr val="000000"/>
              </a:solidFill>
              <a:effectLst/>
              <a:latin typeface="Aptos" panose="020B0004020202020204" pitchFamily="34" charset="0"/>
            </a:endParaRPr>
          </a:p>
          <a:p>
            <a:endParaRPr lang="en-GB" dirty="0"/>
          </a:p>
        </p:txBody>
      </p:sp>
      <p:sp>
        <p:nvSpPr>
          <p:cNvPr id="4" name="Slide Number Placeholder 3"/>
          <p:cNvSpPr>
            <a:spLocks noGrp="1"/>
          </p:cNvSpPr>
          <p:nvPr>
            <p:ph type="sldNum" sz="quarter" idx="5"/>
          </p:nvPr>
        </p:nvSpPr>
        <p:spPr/>
        <p:txBody>
          <a:bodyPr/>
          <a:lstStyle/>
          <a:p>
            <a:fld id="{CBFC515A-1B43-4D80-8B10-2799C41E7E70}" type="slidenum">
              <a:rPr lang="en-GB" smtClean="0"/>
              <a:t>4</a:t>
            </a:fld>
            <a:endParaRPr lang="en-GB"/>
          </a:p>
        </p:txBody>
      </p:sp>
    </p:spTree>
    <p:extLst>
      <p:ext uri="{BB962C8B-B14F-4D97-AF65-F5344CB8AC3E}">
        <p14:creationId xmlns:p14="http://schemas.microsoft.com/office/powerpoint/2010/main" val="3896586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2: Ilya</a:t>
            </a:r>
          </a:p>
          <a:p>
            <a:r>
              <a:rPr lang="en-US" dirty="0"/>
              <a:t>"House plans, permits, certifications - all stored electronically"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Shaky Foundations: "The original architect left the company, taking his knowledge with him. The hand-drawn plans are water-damaged and illegible in crucial sections. The builders are guessing how deep the foundations should be based on 'what looks right.'"</a:t>
            </a:r>
          </a:p>
          <a:p>
            <a:endParaRPr lang="en-US" dirty="0"/>
          </a:p>
          <a:p>
            <a:r>
              <a:rPr lang="en-US" dirty="0"/>
              <a:t>Solid Foundation: Rather than keeping blueprints as paper drawings that can be lost, damaged, or misinterpreted, everything is stored as precise digital specifications. The foundation depth, concrete mix ratios, pipe specifications, electrical standards - all defined in digital format that machines can read and execute exactly. If a storm destroys the building site, you can recreate the exact same house anywhere by running the digital specifications through construction equipment. No human interpretation errors, no "I think it was supposed to be like this."</a:t>
            </a:r>
          </a:p>
          <a:p>
            <a:endParaRPr lang="en-US" dirty="0"/>
          </a:p>
          <a:p>
            <a:r>
              <a:rPr lang="en-US" dirty="0"/>
              <a:t>Technical Explainer: Infrastructure as Code using Terraform for cloud resources, SQL databases with SSDT (SQL Server Data Tools) for version-controlled database schemas, and </a:t>
            </a:r>
            <a:r>
              <a:rPr lang="en-US" dirty="0" err="1"/>
              <a:t>dbt</a:t>
            </a:r>
            <a:r>
              <a:rPr lang="en-US" dirty="0"/>
              <a:t> or </a:t>
            </a:r>
            <a:r>
              <a:rPr lang="en-US" dirty="0" err="1"/>
              <a:t>SQLMesh</a:t>
            </a:r>
            <a:r>
              <a:rPr lang="en-US" dirty="0"/>
              <a:t> for data transformations. Everything is defined in readable code files that can be reviewed, tested, and versioned. Avoid black-box tools like SSIS packages where you can't see what's happening inside - if you can't read it, you can't maintain it reliably.</a:t>
            </a:r>
          </a:p>
          <a:p>
            <a:endParaRPr lang="en-US" dirty="0"/>
          </a:p>
          <a:p>
            <a:r>
              <a:rPr lang="en-US" dirty="0"/>
              <a:t>Transition: "Digital designs flow through our automated plumbing system..."</a:t>
            </a:r>
          </a:p>
          <a:p>
            <a:endParaRPr lang="en-GB" dirty="0"/>
          </a:p>
        </p:txBody>
      </p:sp>
      <p:sp>
        <p:nvSpPr>
          <p:cNvPr id="4" name="Slide Number Placeholder 3"/>
          <p:cNvSpPr>
            <a:spLocks noGrp="1"/>
          </p:cNvSpPr>
          <p:nvPr>
            <p:ph type="sldNum" sz="quarter" idx="5"/>
          </p:nvPr>
        </p:nvSpPr>
        <p:spPr/>
        <p:txBody>
          <a:bodyPr/>
          <a:lstStyle/>
          <a:p>
            <a:fld id="{CBFC515A-1B43-4D80-8B10-2799C41E7E70}" type="slidenum">
              <a:rPr lang="en-GB" smtClean="0"/>
              <a:t>5</a:t>
            </a:fld>
            <a:endParaRPr lang="en-GB"/>
          </a:p>
        </p:txBody>
      </p:sp>
    </p:spTree>
    <p:extLst>
      <p:ext uri="{BB962C8B-B14F-4D97-AF65-F5344CB8AC3E}">
        <p14:creationId xmlns:p14="http://schemas.microsoft.com/office/powerpoint/2010/main" val="55472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3 - Iliya</a:t>
            </a:r>
          </a:p>
          <a:p>
            <a:endParaRPr lang="en-US" dirty="0"/>
          </a:p>
          <a:p>
            <a:r>
              <a:rPr lang="en-US" dirty="0"/>
              <a:t>"Automated pipes that deliver clean water and remove waste"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Shaky Foundations: "Water is carried manually in buckets from the well to each room. Sometimes the water is clean, sometimes it's contaminated, but you only find out after someone gets sick. Moving water is exhausting work that takes all day, leaving no time for anything else."</a:t>
            </a:r>
          </a:p>
          <a:p>
            <a:endParaRPr lang="en-US" dirty="0"/>
          </a:p>
          <a:p>
            <a:r>
              <a:rPr lang="en-US" dirty="0"/>
              <a:t>Solid Foundation: Your house has intelligent plumbing that automatically tests water quality before it reaches any taps. If contaminated water enters the system, automatic valves shut off flow until the problem is fixed. Clean water flows smoothly from the source through filtering, quality testing, and final delivery to every room. The system monitors itself - if pressure drops or impurities are detected anywhere, warning lights show exactly where the problem is. No contaminated water ever reaches the residents.</a:t>
            </a:r>
          </a:p>
          <a:p>
            <a:endParaRPr lang="en-US" dirty="0"/>
          </a:p>
          <a:p>
            <a:r>
              <a:rPr lang="en-US" dirty="0"/>
              <a:t>Technical Explainer: Continuous Integration/Continuous Deployment pipelines using tools like Azure Pipelines, GitLab CI, or GitHub Actions. When code is committed, automated systems build it, test it, scan for security issues, and deploy it through staging to production. No manual steps, no forgotten configurations, no human errors in deployment.</a:t>
            </a:r>
          </a:p>
          <a:p>
            <a:endParaRPr lang="en-US" dirty="0"/>
          </a:p>
          <a:p>
            <a:r>
              <a:rPr lang="en-US" dirty="0"/>
              <a:t>Transition: "But before anything flows to residents, it must pass electrical inspection..."</a:t>
            </a:r>
          </a:p>
        </p:txBody>
      </p:sp>
      <p:sp>
        <p:nvSpPr>
          <p:cNvPr id="4" name="Slide Number Placeholder 3"/>
          <p:cNvSpPr>
            <a:spLocks noGrp="1"/>
          </p:cNvSpPr>
          <p:nvPr>
            <p:ph type="sldNum" sz="quarter" idx="5"/>
          </p:nvPr>
        </p:nvSpPr>
        <p:spPr/>
        <p:txBody>
          <a:bodyPr/>
          <a:lstStyle/>
          <a:p>
            <a:fld id="{CBFC515A-1B43-4D80-8B10-2799C41E7E70}" type="slidenum">
              <a:rPr lang="en-GB" smtClean="0"/>
              <a:t>6</a:t>
            </a:fld>
            <a:endParaRPr lang="en-GB"/>
          </a:p>
        </p:txBody>
      </p:sp>
    </p:spTree>
    <p:extLst>
      <p:ext uri="{BB962C8B-B14F-4D97-AF65-F5344CB8AC3E}">
        <p14:creationId xmlns:p14="http://schemas.microsoft.com/office/powerpoint/2010/main" val="2980257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rtl="0">
              <a:buNone/>
            </a:pPr>
            <a:r>
              <a:rPr lang="en-US" sz="1200" i="1" dirty="0">
                <a:solidFill>
                  <a:srgbClr val="000000"/>
                </a:solidFill>
                <a:effectLst/>
                <a:latin typeface="Aptos" panose="020B0004020202020204" pitchFamily="34" charset="0"/>
              </a:rPr>
              <a:t>"Every wire tested before the power goes live"</a:t>
            </a:r>
            <a:endParaRPr lang="en-US" sz="1200" dirty="0">
              <a:solidFill>
                <a:srgbClr val="000000"/>
              </a:solidFill>
              <a:effectLst/>
              <a:latin typeface="Aptos" panose="020B0004020202020204" pitchFamily="34" charset="0"/>
            </a:endParaRPr>
          </a:p>
          <a:p>
            <a:pPr marL="0" marR="0" rtl="0">
              <a:buNone/>
            </a:pPr>
            <a:r>
              <a:rPr lang="en-US" sz="1200" dirty="0">
                <a:solidFill>
                  <a:srgbClr val="000000"/>
                </a:solidFill>
                <a:effectLst/>
                <a:latin typeface="Calibri" panose="020F0502020204030204" pitchFamily="34" charset="0"/>
              </a:rPr>
              <a:t> </a:t>
            </a:r>
          </a:p>
          <a:p>
            <a:pPr marL="0" marR="0" rtl="0">
              <a:buNone/>
            </a:pPr>
            <a:r>
              <a:rPr lang="en-US" sz="1200" b="1" dirty="0">
                <a:solidFill>
                  <a:srgbClr val="000000"/>
                </a:solidFill>
                <a:effectLst/>
                <a:latin typeface="Aptos" panose="020B0004020202020204" pitchFamily="34" charset="0"/>
              </a:rPr>
              <a:t>Shaky Foundations:</a:t>
            </a:r>
            <a:r>
              <a:rPr lang="en-US" sz="1200" dirty="0">
                <a:solidFill>
                  <a:srgbClr val="000000"/>
                </a:solidFill>
                <a:effectLst/>
                <a:latin typeface="Aptos" panose="020B0004020202020204" pitchFamily="34" charset="0"/>
              </a:rPr>
              <a:t> "Our Electricity is connected hopefully, with fingers crossed. Sometimes lights work, sometimes they don't. Occasionally outlets spark or circuit breakers trip randomly. The family has learned to check every switch carefully and keep torches handy for when things fail unexpectedly."</a:t>
            </a:r>
          </a:p>
          <a:p>
            <a:pPr marL="0" marR="0" rtl="0">
              <a:buNone/>
            </a:pPr>
            <a:r>
              <a:rPr lang="en-US" sz="1200" dirty="0">
                <a:solidFill>
                  <a:srgbClr val="000000"/>
                </a:solidFill>
                <a:effectLst/>
                <a:latin typeface="Calibri" panose="020F0502020204030204" pitchFamily="34" charset="0"/>
              </a:rPr>
              <a:t> </a:t>
            </a:r>
          </a:p>
          <a:p>
            <a:pPr marL="0" marR="0" rtl="0">
              <a:buNone/>
            </a:pPr>
            <a:r>
              <a:rPr lang="en-US" sz="1200" b="1" dirty="0">
                <a:solidFill>
                  <a:srgbClr val="000000"/>
                </a:solidFill>
                <a:effectLst/>
                <a:latin typeface="Aptos" panose="020B0004020202020204" pitchFamily="34" charset="0"/>
              </a:rPr>
              <a:t>Solid Foundation:</a:t>
            </a:r>
            <a:r>
              <a:rPr lang="en-US" sz="1200" dirty="0">
                <a:solidFill>
                  <a:srgbClr val="000000"/>
                </a:solidFill>
                <a:effectLst/>
                <a:latin typeface="Aptos" panose="020B0004020202020204" pitchFamily="34" charset="0"/>
              </a:rPr>
              <a:t> Before any electricity flows through the house, every single wire, connection, and component should be rigorously tested. Automated testing equipment checks voltage levels, identifies shorts, verifies safety switches work. The testing is so thorough that when you flip a light switch for the first time, you're absolutely confident it will work safely and as intended. If any component fails testing, the system identifies exactly which wire or connection needs fixing before power can be enabled.</a:t>
            </a:r>
          </a:p>
          <a:p>
            <a:pPr marL="0" marR="0" rtl="0">
              <a:buNone/>
            </a:pPr>
            <a:r>
              <a:rPr lang="en-US" sz="1200" dirty="0">
                <a:solidFill>
                  <a:srgbClr val="000000"/>
                </a:solidFill>
                <a:effectLst/>
                <a:latin typeface="Calibri" panose="020F0502020204030204" pitchFamily="34" charset="0"/>
              </a:rPr>
              <a:t> </a:t>
            </a:r>
          </a:p>
          <a:p>
            <a:pPr marL="0" marR="0" rtl="0">
              <a:buNone/>
            </a:pPr>
            <a:r>
              <a:rPr lang="en-US" sz="1200" b="1" dirty="0">
                <a:solidFill>
                  <a:srgbClr val="000000"/>
                </a:solidFill>
                <a:effectLst/>
                <a:latin typeface="Aptos" panose="020B0004020202020204" pitchFamily="34" charset="0"/>
              </a:rPr>
              <a:t>Technical Explainer:</a:t>
            </a:r>
            <a:r>
              <a:rPr lang="en-US" sz="1200" dirty="0">
                <a:solidFill>
                  <a:srgbClr val="000000"/>
                </a:solidFill>
                <a:effectLst/>
                <a:latin typeface="Aptos" panose="020B0004020202020204" pitchFamily="34" charset="0"/>
              </a:rPr>
              <a:t> We do this via automated testing at multiple levels </a:t>
            </a:r>
          </a:p>
          <a:p>
            <a:pPr marL="0" rtl="0" fontAlgn="ctr">
              <a:buFont typeface="Arial" panose="020B0604020202020204" pitchFamily="34" charset="0"/>
              <a:buChar char="•"/>
            </a:pPr>
            <a:r>
              <a:rPr lang="en-US" sz="1200" dirty="0">
                <a:solidFill>
                  <a:srgbClr val="000000"/>
                </a:solidFill>
                <a:effectLst/>
                <a:latin typeface="Aptos" panose="020B0004020202020204" pitchFamily="34" charset="0"/>
              </a:rPr>
              <a:t>Unit tests for individual functions </a:t>
            </a:r>
            <a:endParaRPr lang="en-US" sz="1100" dirty="0">
              <a:solidFill>
                <a:srgbClr val="000000"/>
              </a:solidFill>
              <a:effectLst/>
              <a:latin typeface="Calibri" panose="020F0502020204030204" pitchFamily="34" charset="0"/>
            </a:endParaRPr>
          </a:p>
          <a:p>
            <a:pPr marL="0" rtl="0" fontAlgn="ctr">
              <a:buFont typeface="Arial" panose="020B0604020202020204" pitchFamily="34" charset="0"/>
              <a:buChar char="•"/>
            </a:pPr>
            <a:r>
              <a:rPr lang="en-US" sz="1200" dirty="0">
                <a:solidFill>
                  <a:srgbClr val="000000"/>
                </a:solidFill>
                <a:effectLst/>
                <a:latin typeface="Aptos" panose="020B0004020202020204" pitchFamily="34" charset="0"/>
              </a:rPr>
              <a:t>Regression tests to compare outputs,</a:t>
            </a:r>
            <a:endParaRPr lang="en-US" sz="1100" dirty="0">
              <a:solidFill>
                <a:srgbClr val="000000"/>
              </a:solidFill>
              <a:effectLst/>
              <a:latin typeface="Calibri" panose="020F0502020204030204" pitchFamily="34" charset="0"/>
            </a:endParaRPr>
          </a:p>
          <a:p>
            <a:pPr marL="0" rtl="0" fontAlgn="ctr">
              <a:buFont typeface="Arial" panose="020B0604020202020204" pitchFamily="34" charset="0"/>
              <a:buChar char="•"/>
            </a:pPr>
            <a:r>
              <a:rPr lang="en-US" sz="1200" dirty="0">
                <a:solidFill>
                  <a:srgbClr val="000000"/>
                </a:solidFill>
                <a:effectLst/>
                <a:latin typeface="Aptos" panose="020B0004020202020204" pitchFamily="34" charset="0"/>
              </a:rPr>
              <a:t>Data quality testing that validates schemas, checks for missing values, and ensures consistency.</a:t>
            </a:r>
            <a:endParaRPr lang="en-US" sz="1100" dirty="0">
              <a:solidFill>
                <a:srgbClr val="000000"/>
              </a:solidFill>
              <a:effectLst/>
              <a:latin typeface="Calibri" panose="020F0502020204030204" pitchFamily="34" charset="0"/>
            </a:endParaRPr>
          </a:p>
          <a:p>
            <a:pPr marL="742950" lvl="1" indent="-285750" rtl="0" fontAlgn="ctr">
              <a:buFont typeface="Courier New" panose="02070309020205020404" pitchFamily="49" charset="0"/>
              <a:buChar char="o"/>
            </a:pPr>
            <a:r>
              <a:rPr lang="en-US" sz="1200" dirty="0">
                <a:solidFill>
                  <a:srgbClr val="000000"/>
                </a:solidFill>
                <a:effectLst/>
                <a:latin typeface="Calibri" panose="020F0502020204030204" pitchFamily="34" charset="0"/>
              </a:rPr>
              <a:t>You can include logic tests here as well. End dates before start dates or overlapping values.</a:t>
            </a:r>
            <a:endParaRPr lang="en-US" sz="1100" dirty="0">
              <a:solidFill>
                <a:srgbClr val="000000"/>
              </a:solidFill>
              <a:effectLst/>
              <a:latin typeface="Calibri" panose="020F0502020204030204" pitchFamily="34" charset="0"/>
            </a:endParaRPr>
          </a:p>
          <a:p>
            <a:pPr marL="0" rtl="0" fontAlgn="ctr">
              <a:buFont typeface="Arial" panose="020B0604020202020204" pitchFamily="34" charset="0"/>
              <a:buChar char="•"/>
            </a:pPr>
            <a:r>
              <a:rPr lang="en-US" sz="1200" dirty="0">
                <a:solidFill>
                  <a:srgbClr val="000000"/>
                </a:solidFill>
                <a:effectLst/>
                <a:latin typeface="Aptos" panose="020B0004020202020204" pitchFamily="34" charset="0"/>
              </a:rPr>
              <a:t>All tests can run automatically before any deployment reaches production.</a:t>
            </a:r>
            <a:endParaRPr lang="en-US" sz="1100" dirty="0">
              <a:solidFill>
                <a:srgbClr val="000000"/>
              </a:solidFill>
              <a:effectLst/>
              <a:latin typeface="Calibri" panose="020F0502020204030204" pitchFamily="34" charset="0"/>
            </a:endParaRPr>
          </a:p>
          <a:p>
            <a:pPr marL="0" marR="0" rtl="0">
              <a:buNone/>
            </a:pPr>
            <a:r>
              <a:rPr lang="en-US" sz="1200" dirty="0">
                <a:solidFill>
                  <a:srgbClr val="000000"/>
                </a:solidFill>
                <a:effectLst/>
                <a:latin typeface="Calibri" panose="020F0502020204030204" pitchFamily="34" charset="0"/>
              </a:rPr>
              <a:t> </a:t>
            </a:r>
          </a:p>
          <a:p>
            <a:pPr marL="0" marR="0" rtl="0"/>
            <a:r>
              <a:rPr lang="en-US" sz="1200" dirty="0">
                <a:solidFill>
                  <a:srgbClr val="000000"/>
                </a:solidFill>
                <a:effectLst/>
                <a:latin typeface="Aptos" panose="020B0004020202020204" pitchFamily="34" charset="0"/>
              </a:rPr>
              <a:t> </a:t>
            </a:r>
            <a:r>
              <a:rPr lang="en-US" sz="1200" i="1" dirty="0">
                <a:solidFill>
                  <a:srgbClr val="000000"/>
                </a:solidFill>
                <a:effectLst/>
                <a:latin typeface="Aptos" panose="020B0004020202020204" pitchFamily="34" charset="0"/>
              </a:rPr>
              <a:t>"With safety certified, we can then source materials from reliable building supplies..."</a:t>
            </a:r>
            <a:endParaRPr lang="en-US" sz="1200" dirty="0">
              <a:solidFill>
                <a:srgbClr val="000000"/>
              </a:solidFill>
              <a:effectLst/>
              <a:latin typeface="Aptos" panose="020B0004020202020204" pitchFamily="34" charset="0"/>
            </a:endParaRPr>
          </a:p>
          <a:p>
            <a:endParaRPr lang="en-GB" dirty="0"/>
          </a:p>
        </p:txBody>
      </p:sp>
      <p:sp>
        <p:nvSpPr>
          <p:cNvPr id="4" name="Slide Number Placeholder 3"/>
          <p:cNvSpPr>
            <a:spLocks noGrp="1"/>
          </p:cNvSpPr>
          <p:nvPr>
            <p:ph type="sldNum" sz="quarter" idx="5"/>
          </p:nvPr>
        </p:nvSpPr>
        <p:spPr/>
        <p:txBody>
          <a:bodyPr/>
          <a:lstStyle/>
          <a:p>
            <a:fld id="{CBFC515A-1B43-4D80-8B10-2799C41E7E70}" type="slidenum">
              <a:rPr lang="en-GB" smtClean="0"/>
              <a:t>7</a:t>
            </a:fld>
            <a:endParaRPr lang="en-GB"/>
          </a:p>
        </p:txBody>
      </p:sp>
    </p:spTree>
    <p:extLst>
      <p:ext uri="{BB962C8B-B14F-4D97-AF65-F5344CB8AC3E}">
        <p14:creationId xmlns:p14="http://schemas.microsoft.com/office/powerpoint/2010/main" val="1411591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5: Ilia</a:t>
            </a:r>
          </a:p>
          <a:p>
            <a:r>
              <a:rPr lang="en-US" dirty="0"/>
              <a:t>"Standard bricks, standard fittings - never locked to one supplier"</a:t>
            </a:r>
          </a:p>
          <a:p>
            <a:endParaRPr lang="en-US" dirty="0"/>
          </a:p>
          <a:p>
            <a:r>
              <a:rPr lang="en-US" dirty="0"/>
              <a:t>Solid Foundation: Your house is built using standard materials available from multiple suppliers. The bricks are standard size, so any brick manufacturer can provide replacements. The plumbing uses standard fittings, so any plumber can work on them with normal tools. If your usual supplier goes out of business or raises prices unreasonably, you can switch to another supplier immediately without rebuilding anything. The materials are proven designs used in thousands of other houses, with extensive community knowledge about best practices.</a:t>
            </a:r>
          </a:p>
          <a:p>
            <a:endParaRPr lang="en-US" dirty="0"/>
          </a:p>
          <a:p>
            <a:r>
              <a:rPr lang="en-US" dirty="0"/>
              <a:t>Shaky Foundations: "Your house is built with proprietary materials available from only one supplier. When the sink breaks, only that company can fix it - and they charge £500 for a repair that would cost £50 with standard parts. When they decide to discontinue your window type, you can't get replacements. You're trapped."</a:t>
            </a:r>
          </a:p>
          <a:p>
            <a:endParaRPr lang="en-US" dirty="0"/>
          </a:p>
          <a:p>
            <a:r>
              <a:rPr lang="en-US" dirty="0"/>
              <a:t>Technical Explainer: </a:t>
            </a:r>
            <a:r>
              <a:rPr lang="en-US" dirty="0" err="1"/>
              <a:t>Prioritising</a:t>
            </a:r>
            <a:r>
              <a:rPr lang="en-US" dirty="0"/>
              <a:t> open source solutions whenever possible to avoid vendor lock-in and costly </a:t>
            </a:r>
            <a:r>
              <a:rPr lang="en-US" dirty="0" err="1"/>
              <a:t>licence</a:t>
            </a:r>
            <a:r>
              <a:rPr lang="en-US" dirty="0"/>
              <a:t> spikes. Not possible everywhere for various reasons, but an ingestion algorithm can be built in Python rather than expensive proprietary platforms. Open source provides access to source code, community support, and freedom to modify. Multiple vendors can support the same open source technology, preventing lock-in.</a:t>
            </a:r>
          </a:p>
          <a:p>
            <a:endParaRPr lang="en-US" dirty="0"/>
          </a:p>
          <a:p>
            <a:r>
              <a:rPr lang="en-US" dirty="0"/>
              <a:t>Transition: "All these different supplies connect through our consumer unit..."</a:t>
            </a:r>
          </a:p>
          <a:p>
            <a:endParaRPr lang="en-GB" dirty="0"/>
          </a:p>
        </p:txBody>
      </p:sp>
      <p:sp>
        <p:nvSpPr>
          <p:cNvPr id="4" name="Slide Number Placeholder 3"/>
          <p:cNvSpPr>
            <a:spLocks noGrp="1"/>
          </p:cNvSpPr>
          <p:nvPr>
            <p:ph type="sldNum" sz="quarter" idx="5"/>
          </p:nvPr>
        </p:nvSpPr>
        <p:spPr/>
        <p:txBody>
          <a:bodyPr/>
          <a:lstStyle/>
          <a:p>
            <a:fld id="{CBFC515A-1B43-4D80-8B10-2799C41E7E70}" type="slidenum">
              <a:rPr lang="en-GB" smtClean="0"/>
              <a:t>8</a:t>
            </a:fld>
            <a:endParaRPr lang="en-GB"/>
          </a:p>
        </p:txBody>
      </p:sp>
    </p:spTree>
    <p:extLst>
      <p:ext uri="{BB962C8B-B14F-4D97-AF65-F5344CB8AC3E}">
        <p14:creationId xmlns:p14="http://schemas.microsoft.com/office/powerpoint/2010/main" val="966646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rtl="0">
              <a:buNone/>
            </a:pPr>
            <a:r>
              <a:rPr lang="en-US" sz="1200" i="1" dirty="0">
                <a:solidFill>
                  <a:srgbClr val="000000"/>
                </a:solidFill>
                <a:effectLst/>
                <a:latin typeface="Aptos" panose="020B0004020202020204" pitchFamily="34" charset="0"/>
              </a:rPr>
              <a:t>"Every wire tested before the power goes live"</a:t>
            </a:r>
            <a:endParaRPr lang="en-US" sz="1200" dirty="0">
              <a:solidFill>
                <a:srgbClr val="000000"/>
              </a:solidFill>
              <a:effectLst/>
              <a:latin typeface="Aptos" panose="020B0004020202020204" pitchFamily="34" charset="0"/>
            </a:endParaRPr>
          </a:p>
          <a:p>
            <a:pPr marL="0" marR="0" rtl="0">
              <a:buNone/>
            </a:pPr>
            <a:r>
              <a:rPr lang="en-US" sz="1200" dirty="0">
                <a:solidFill>
                  <a:srgbClr val="000000"/>
                </a:solidFill>
                <a:effectLst/>
                <a:latin typeface="Calibri" panose="020F0502020204030204" pitchFamily="34" charset="0"/>
              </a:rPr>
              <a:t> </a:t>
            </a:r>
          </a:p>
          <a:p>
            <a:pPr marL="0" marR="0" rtl="0">
              <a:buNone/>
            </a:pPr>
            <a:r>
              <a:rPr lang="en-US" sz="1200" b="1" dirty="0">
                <a:solidFill>
                  <a:srgbClr val="000000"/>
                </a:solidFill>
                <a:effectLst/>
                <a:latin typeface="Aptos" panose="020B0004020202020204" pitchFamily="34" charset="0"/>
              </a:rPr>
              <a:t>Shaky Foundations:</a:t>
            </a:r>
            <a:r>
              <a:rPr lang="en-US" sz="1200" dirty="0">
                <a:solidFill>
                  <a:srgbClr val="000000"/>
                </a:solidFill>
                <a:effectLst/>
                <a:latin typeface="Aptos" panose="020B0004020202020204" pitchFamily="34" charset="0"/>
              </a:rPr>
              <a:t> "Our Electricity is connected hopefully, with fingers crossed. Sometimes lights work, sometimes they don't. Occasionally outlets spark or circuit breakers trip randomly. The family has learned to check every switch carefully and keep torches handy for when things fail unexpectedly."</a:t>
            </a:r>
          </a:p>
          <a:p>
            <a:pPr marL="0" marR="0" rtl="0">
              <a:buNone/>
            </a:pPr>
            <a:r>
              <a:rPr lang="en-US" sz="1200" dirty="0">
                <a:solidFill>
                  <a:srgbClr val="000000"/>
                </a:solidFill>
                <a:effectLst/>
                <a:latin typeface="Calibri" panose="020F0502020204030204" pitchFamily="34" charset="0"/>
              </a:rPr>
              <a:t> </a:t>
            </a:r>
          </a:p>
          <a:p>
            <a:pPr marL="0" marR="0" rtl="0">
              <a:buNone/>
            </a:pPr>
            <a:r>
              <a:rPr lang="en-US" sz="1200" b="1" dirty="0">
                <a:solidFill>
                  <a:srgbClr val="000000"/>
                </a:solidFill>
                <a:effectLst/>
                <a:latin typeface="Aptos" panose="020B0004020202020204" pitchFamily="34" charset="0"/>
              </a:rPr>
              <a:t>Solid Foundation:</a:t>
            </a:r>
            <a:r>
              <a:rPr lang="en-US" sz="1200" dirty="0">
                <a:solidFill>
                  <a:srgbClr val="000000"/>
                </a:solidFill>
                <a:effectLst/>
                <a:latin typeface="Aptos" panose="020B0004020202020204" pitchFamily="34" charset="0"/>
              </a:rPr>
              <a:t> Before any electricity flows through the house, every single wire, connection, and component should be rigorously tested. Automated testing equipment checks voltage levels, identifies shorts, verifies safety switches work. The testing is so thorough that when you flip a light switch for the first time, you're absolutely confident it will work safely and as intended. If any component fails testing, the system identifies exactly which wire or connection needs fixing before power can be enabled.</a:t>
            </a:r>
          </a:p>
          <a:p>
            <a:pPr marL="0" marR="0" rtl="0">
              <a:buNone/>
            </a:pPr>
            <a:r>
              <a:rPr lang="en-US" sz="1200" dirty="0">
                <a:solidFill>
                  <a:srgbClr val="000000"/>
                </a:solidFill>
                <a:effectLst/>
                <a:latin typeface="Calibri" panose="020F0502020204030204" pitchFamily="34" charset="0"/>
              </a:rPr>
              <a:t> </a:t>
            </a:r>
          </a:p>
          <a:p>
            <a:pPr marL="0" marR="0" rtl="0">
              <a:buNone/>
            </a:pPr>
            <a:r>
              <a:rPr lang="en-US" sz="1200" b="1" dirty="0">
                <a:solidFill>
                  <a:srgbClr val="000000"/>
                </a:solidFill>
                <a:effectLst/>
                <a:latin typeface="Aptos" panose="020B0004020202020204" pitchFamily="34" charset="0"/>
              </a:rPr>
              <a:t>Technical Explainer:</a:t>
            </a:r>
            <a:r>
              <a:rPr lang="en-US" sz="1200" dirty="0">
                <a:solidFill>
                  <a:srgbClr val="000000"/>
                </a:solidFill>
                <a:effectLst/>
                <a:latin typeface="Aptos" panose="020B0004020202020204" pitchFamily="34" charset="0"/>
              </a:rPr>
              <a:t> We do this via automated testing at multiple levels </a:t>
            </a:r>
          </a:p>
          <a:p>
            <a:pPr marL="0" rtl="0" fontAlgn="ctr">
              <a:buFont typeface="Arial" panose="020B0604020202020204" pitchFamily="34" charset="0"/>
              <a:buChar char="•"/>
            </a:pPr>
            <a:r>
              <a:rPr lang="en-US" sz="1200" dirty="0">
                <a:solidFill>
                  <a:srgbClr val="000000"/>
                </a:solidFill>
                <a:effectLst/>
                <a:latin typeface="Aptos" panose="020B0004020202020204" pitchFamily="34" charset="0"/>
              </a:rPr>
              <a:t>Unit tests for individual functions </a:t>
            </a:r>
            <a:endParaRPr lang="en-US" sz="1100" dirty="0">
              <a:solidFill>
                <a:srgbClr val="000000"/>
              </a:solidFill>
              <a:effectLst/>
              <a:latin typeface="Calibri" panose="020F0502020204030204" pitchFamily="34" charset="0"/>
            </a:endParaRPr>
          </a:p>
          <a:p>
            <a:pPr marL="0" rtl="0" fontAlgn="ctr">
              <a:buFont typeface="Arial" panose="020B0604020202020204" pitchFamily="34" charset="0"/>
              <a:buChar char="•"/>
            </a:pPr>
            <a:r>
              <a:rPr lang="en-US" sz="1200" dirty="0">
                <a:solidFill>
                  <a:srgbClr val="000000"/>
                </a:solidFill>
                <a:effectLst/>
                <a:latin typeface="Aptos" panose="020B0004020202020204" pitchFamily="34" charset="0"/>
              </a:rPr>
              <a:t>Regression tests to compare outputs,</a:t>
            </a:r>
            <a:endParaRPr lang="en-US" sz="1100" dirty="0">
              <a:solidFill>
                <a:srgbClr val="000000"/>
              </a:solidFill>
              <a:effectLst/>
              <a:latin typeface="Calibri" panose="020F0502020204030204" pitchFamily="34" charset="0"/>
            </a:endParaRPr>
          </a:p>
          <a:p>
            <a:pPr marL="0" rtl="0" fontAlgn="ctr">
              <a:buFont typeface="Arial" panose="020B0604020202020204" pitchFamily="34" charset="0"/>
              <a:buChar char="•"/>
            </a:pPr>
            <a:r>
              <a:rPr lang="en-US" sz="1200" dirty="0">
                <a:solidFill>
                  <a:srgbClr val="000000"/>
                </a:solidFill>
                <a:effectLst/>
                <a:latin typeface="Aptos" panose="020B0004020202020204" pitchFamily="34" charset="0"/>
              </a:rPr>
              <a:t>Data quality testing that validates schemas, checks for missing values, and ensures consistency.</a:t>
            </a:r>
            <a:endParaRPr lang="en-US" sz="1100" dirty="0">
              <a:solidFill>
                <a:srgbClr val="000000"/>
              </a:solidFill>
              <a:effectLst/>
              <a:latin typeface="Calibri" panose="020F0502020204030204" pitchFamily="34" charset="0"/>
            </a:endParaRPr>
          </a:p>
          <a:p>
            <a:pPr marL="742950" lvl="1" indent="-285750" rtl="0" fontAlgn="ctr">
              <a:buFont typeface="Courier New" panose="02070309020205020404" pitchFamily="49" charset="0"/>
              <a:buChar char="o"/>
            </a:pPr>
            <a:r>
              <a:rPr lang="en-US" sz="1200" dirty="0">
                <a:solidFill>
                  <a:srgbClr val="000000"/>
                </a:solidFill>
                <a:effectLst/>
                <a:latin typeface="Calibri" panose="020F0502020204030204" pitchFamily="34" charset="0"/>
              </a:rPr>
              <a:t>You can include logic tests here as well. End dates before start dates or overlapping values.</a:t>
            </a:r>
            <a:endParaRPr lang="en-US" sz="1100" dirty="0">
              <a:solidFill>
                <a:srgbClr val="000000"/>
              </a:solidFill>
              <a:effectLst/>
              <a:latin typeface="Calibri" panose="020F0502020204030204" pitchFamily="34" charset="0"/>
            </a:endParaRPr>
          </a:p>
          <a:p>
            <a:pPr marL="0" rtl="0" fontAlgn="ctr">
              <a:buFont typeface="Arial" panose="020B0604020202020204" pitchFamily="34" charset="0"/>
              <a:buChar char="•"/>
            </a:pPr>
            <a:r>
              <a:rPr lang="en-US" sz="1200" dirty="0">
                <a:solidFill>
                  <a:srgbClr val="000000"/>
                </a:solidFill>
                <a:effectLst/>
                <a:latin typeface="Aptos" panose="020B0004020202020204" pitchFamily="34" charset="0"/>
              </a:rPr>
              <a:t>All tests can run automatically before any deployment reaches production.</a:t>
            </a:r>
            <a:endParaRPr lang="en-US" sz="1100" dirty="0">
              <a:solidFill>
                <a:srgbClr val="000000"/>
              </a:solidFill>
              <a:effectLst/>
              <a:latin typeface="Calibri" panose="020F0502020204030204" pitchFamily="34" charset="0"/>
            </a:endParaRPr>
          </a:p>
          <a:p>
            <a:pPr marL="0" marR="0" rtl="0">
              <a:buNone/>
            </a:pPr>
            <a:r>
              <a:rPr lang="en-US" sz="1200" dirty="0">
                <a:solidFill>
                  <a:srgbClr val="000000"/>
                </a:solidFill>
                <a:effectLst/>
                <a:latin typeface="Calibri" panose="020F0502020204030204" pitchFamily="34" charset="0"/>
              </a:rPr>
              <a:t> </a:t>
            </a:r>
          </a:p>
          <a:p>
            <a:pPr marL="0" marR="0" rtl="0"/>
            <a:r>
              <a:rPr lang="en-US" sz="1200" dirty="0">
                <a:solidFill>
                  <a:srgbClr val="000000"/>
                </a:solidFill>
                <a:effectLst/>
                <a:latin typeface="Aptos" panose="020B0004020202020204" pitchFamily="34" charset="0"/>
              </a:rPr>
              <a:t> </a:t>
            </a:r>
            <a:r>
              <a:rPr lang="en-US" sz="1200" i="1" dirty="0">
                <a:solidFill>
                  <a:srgbClr val="000000"/>
                </a:solidFill>
                <a:effectLst/>
                <a:latin typeface="Aptos" panose="020B0004020202020204" pitchFamily="34" charset="0"/>
              </a:rPr>
              <a:t>"With safety certified, we can then source materials from reliable building supplies..."</a:t>
            </a:r>
            <a:endParaRPr lang="en-US" sz="1200" dirty="0">
              <a:solidFill>
                <a:srgbClr val="000000"/>
              </a:solidFill>
              <a:effectLst/>
              <a:latin typeface="Aptos" panose="020B0004020202020204" pitchFamily="34" charset="0"/>
            </a:endParaRPr>
          </a:p>
          <a:p>
            <a:endParaRPr lang="en-GB" dirty="0"/>
          </a:p>
        </p:txBody>
      </p:sp>
      <p:sp>
        <p:nvSpPr>
          <p:cNvPr id="4" name="Slide Number Placeholder 3"/>
          <p:cNvSpPr>
            <a:spLocks noGrp="1"/>
          </p:cNvSpPr>
          <p:nvPr>
            <p:ph type="sldNum" sz="quarter" idx="5"/>
          </p:nvPr>
        </p:nvSpPr>
        <p:spPr/>
        <p:txBody>
          <a:bodyPr/>
          <a:lstStyle/>
          <a:p>
            <a:fld id="{CBFC515A-1B43-4D80-8B10-2799C41E7E70}" type="slidenum">
              <a:rPr lang="en-GB" smtClean="0"/>
              <a:t>9</a:t>
            </a:fld>
            <a:endParaRPr lang="en-GB"/>
          </a:p>
        </p:txBody>
      </p:sp>
    </p:spTree>
    <p:extLst>
      <p:ext uri="{BB962C8B-B14F-4D97-AF65-F5344CB8AC3E}">
        <p14:creationId xmlns:p14="http://schemas.microsoft.com/office/powerpoint/2010/main" val="3110440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7 - Ilya</a:t>
            </a:r>
          </a:p>
          <a:p>
            <a:endParaRPr lang="en-US" dirty="0"/>
          </a:p>
          <a:p>
            <a:r>
              <a:rPr lang="en-US" dirty="0"/>
              <a:t>"Smart locks that </a:t>
            </a:r>
            <a:r>
              <a:rPr lang="en-US" dirty="0" err="1"/>
              <a:t>recognise</a:t>
            </a:r>
            <a:r>
              <a:rPr lang="en-US" dirty="0"/>
              <a:t> residents but stop burglars"</a:t>
            </a:r>
          </a:p>
          <a:p>
            <a:endParaRPr lang="en-US" dirty="0"/>
          </a:p>
          <a:p>
            <a:r>
              <a:rPr lang="en-US" dirty="0"/>
              <a:t>Solid Foundation: Your house has intelligent security built into its very structure. The locks </a:t>
            </a:r>
            <a:r>
              <a:rPr lang="en-US" dirty="0" err="1"/>
              <a:t>recognise</a:t>
            </a:r>
            <a:r>
              <a:rPr lang="en-US" dirty="0"/>
              <a:t> family members automatically and grant appropriate access - parents can enter any room, children can't access the workshop, guests are limited to common areas. The system knows who should be where and when. Sensitive rooms like the home office containing financial documents have additional protection, but family members with legitimate access aren't inconvenienced. Security is invisible to </a:t>
            </a:r>
            <a:r>
              <a:rPr lang="en-US" dirty="0" err="1"/>
              <a:t>authorised</a:t>
            </a:r>
            <a:r>
              <a:rPr lang="en-US" dirty="0"/>
              <a:t> users but impenetrable to those who shouldn't be there.</a:t>
            </a:r>
          </a:p>
          <a:p>
            <a:endParaRPr lang="en-US" dirty="0"/>
          </a:p>
          <a:p>
            <a:r>
              <a:rPr lang="en-US" dirty="0"/>
              <a:t>Shaky Foundations: "Security is an afterthought - a simple deadbolt on the front door and bars on the windows. Everyone either has access to everything or access to nothing. The filing cabinet with important documents sits in the living room because there's nowhere secure to put it. When guests visit, you hide valuables and hope for the best."</a:t>
            </a:r>
          </a:p>
          <a:p>
            <a:endParaRPr lang="en-US" dirty="0"/>
          </a:p>
          <a:p>
            <a:r>
              <a:rPr lang="en-US" dirty="0"/>
              <a:t>Technical Explainer: For data engineering, security means PII data is within different schemas with access only by those who need it. Sensitive patient information is segregated from general reporting data, with granular permissions controlling who can access what level of detail.</a:t>
            </a:r>
          </a:p>
          <a:p>
            <a:endParaRPr lang="en-GB" dirty="0"/>
          </a:p>
        </p:txBody>
      </p:sp>
      <p:sp>
        <p:nvSpPr>
          <p:cNvPr id="4" name="Slide Number Placeholder 3"/>
          <p:cNvSpPr>
            <a:spLocks noGrp="1"/>
          </p:cNvSpPr>
          <p:nvPr>
            <p:ph type="sldNum" sz="quarter" idx="5"/>
          </p:nvPr>
        </p:nvSpPr>
        <p:spPr/>
        <p:txBody>
          <a:bodyPr/>
          <a:lstStyle/>
          <a:p>
            <a:fld id="{CBFC515A-1B43-4D80-8B10-2799C41E7E70}" type="slidenum">
              <a:rPr lang="en-GB" smtClean="0"/>
              <a:t>10</a:t>
            </a:fld>
            <a:endParaRPr lang="en-GB"/>
          </a:p>
        </p:txBody>
      </p:sp>
    </p:spTree>
    <p:extLst>
      <p:ext uri="{BB962C8B-B14F-4D97-AF65-F5344CB8AC3E}">
        <p14:creationId xmlns:p14="http://schemas.microsoft.com/office/powerpoint/2010/main" val="3519506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GB" dirty="0"/>
          </a:p>
        </p:txBody>
      </p:sp>
      <p:sp>
        <p:nvSpPr>
          <p:cNvPr id="4" name="Marcador de número de diapositiva 3"/>
          <p:cNvSpPr>
            <a:spLocks noGrp="1"/>
          </p:cNvSpPr>
          <p:nvPr>
            <p:ph type="sldNum" sz="quarter" idx="5"/>
          </p:nvPr>
        </p:nvSpPr>
        <p:spPr/>
        <p:txBody>
          <a:bodyPr/>
          <a:lstStyle/>
          <a:p>
            <a:fld id="{CBFC515A-1B43-4D80-8B10-2799C41E7E70}" type="slidenum">
              <a:rPr lang="en-GB" smtClean="0"/>
              <a:t>12</a:t>
            </a:fld>
            <a:endParaRPr lang="en-GB"/>
          </a:p>
        </p:txBody>
      </p:sp>
    </p:spTree>
    <p:extLst>
      <p:ext uri="{BB962C8B-B14F-4D97-AF65-F5344CB8AC3E}">
        <p14:creationId xmlns:p14="http://schemas.microsoft.com/office/powerpoint/2010/main" val="1084939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Trust merger challenges (multiple patient admin systems)</a:t>
            </a:r>
          </a:p>
          <a:p>
            <a:r>
              <a:rPr lang="en-GB" dirty="0"/>
              <a:t>Siloed data sources; duplicated code and different logic for similar workflows. Inconsistent metrics.</a:t>
            </a:r>
          </a:p>
          <a:p>
            <a:r>
              <a:rPr lang="en-GB" dirty="0"/>
              <a:t>New EHR integration strategy</a:t>
            </a:r>
          </a:p>
          <a:p>
            <a:r>
              <a:rPr lang="en-GB" dirty="0"/>
              <a:t>Data migration backend feeding</a:t>
            </a:r>
          </a:p>
          <a:p>
            <a:endParaRPr lang="en-GB" dirty="0"/>
          </a:p>
        </p:txBody>
      </p:sp>
      <p:sp>
        <p:nvSpPr>
          <p:cNvPr id="4" name="Slide Number Placeholder 3"/>
          <p:cNvSpPr>
            <a:spLocks noGrp="1"/>
          </p:cNvSpPr>
          <p:nvPr>
            <p:ph type="sldNum" sz="quarter" idx="5"/>
          </p:nvPr>
        </p:nvSpPr>
        <p:spPr/>
        <p:txBody>
          <a:bodyPr/>
          <a:lstStyle/>
          <a:p>
            <a:fld id="{CBFC515A-1B43-4D80-8B10-2799C41E7E70}" type="slidenum">
              <a:rPr lang="en-GB" smtClean="0"/>
              <a:t>13</a:t>
            </a:fld>
            <a:endParaRPr lang="en-GB"/>
          </a:p>
        </p:txBody>
      </p:sp>
    </p:spTree>
    <p:extLst>
      <p:ext uri="{BB962C8B-B14F-4D97-AF65-F5344CB8AC3E}">
        <p14:creationId xmlns:p14="http://schemas.microsoft.com/office/powerpoint/2010/main" val="2090019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3675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3330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82431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91242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099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37944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84183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50426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32617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60086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43079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36758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38910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42758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00789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11372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36864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0E38260-F5FC-4AA0-91C4-840659D667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63548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BFC515A-1B43-4D80-8B10-2799C41E7E70}" type="slidenum">
              <a:rPr lang="en-GB" smtClean="0"/>
              <a:t>40</a:t>
            </a:fld>
            <a:endParaRPr lang="en-GB"/>
          </a:p>
        </p:txBody>
      </p:sp>
    </p:spTree>
    <p:extLst>
      <p:ext uri="{BB962C8B-B14F-4D97-AF65-F5344CB8AC3E}">
        <p14:creationId xmlns:p14="http://schemas.microsoft.com/office/powerpoint/2010/main" val="259546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000" dirty="0"/>
              <a:t>Cartoon images created in Copilot.</a:t>
            </a:r>
          </a:p>
        </p:txBody>
      </p:sp>
      <p:sp>
        <p:nvSpPr>
          <p:cNvPr id="4" name="Slide Number Placeholder 3"/>
          <p:cNvSpPr>
            <a:spLocks noGrp="1"/>
          </p:cNvSpPr>
          <p:nvPr>
            <p:ph type="sldNum" sz="quarter" idx="5"/>
          </p:nvPr>
        </p:nvSpPr>
        <p:spPr/>
        <p:txBody>
          <a:bodyPr/>
          <a:lstStyle/>
          <a:p>
            <a:fld id="{CBFC515A-1B43-4D80-8B10-2799C41E7E70}" type="slidenum">
              <a:rPr lang="en-GB" smtClean="0"/>
              <a:t>41</a:t>
            </a:fld>
            <a:endParaRPr lang="en-GB"/>
          </a:p>
        </p:txBody>
      </p:sp>
    </p:spTree>
    <p:extLst>
      <p:ext uri="{BB962C8B-B14F-4D97-AF65-F5344CB8AC3E}">
        <p14:creationId xmlns:p14="http://schemas.microsoft.com/office/powerpoint/2010/main" val="1515486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2A7C5A-11D7-44E8-8732-EE996C15B342}" type="datetimeFigureOut">
              <a:rPr lang="en-GB" smtClean="0"/>
              <a:t>11/07/2025</a:t>
            </a:fld>
            <a:endParaRPr lang="en-GB"/>
          </a:p>
        </p:txBody>
      </p:sp>
      <p:sp>
        <p:nvSpPr>
          <p:cNvPr id="5" name="Footer Placeholder 4"/>
          <p:cNvSpPr>
            <a:spLocks noGrp="1"/>
          </p:cNvSpPr>
          <p:nvPr>
            <p:ph type="ftr" sz="quarter" idx="11"/>
          </p:nvPr>
        </p:nvSpPr>
        <p:spPr/>
        <p:txBody>
          <a:bodyPr/>
          <a:lstStyle/>
          <a:p>
            <a:endParaRPr lang="en-GB"/>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3950770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2A7C5A-11D7-44E8-8732-EE996C15B342}" type="datetimeFigureOut">
              <a:rPr lang="en-GB" smtClean="0"/>
              <a:t>11/07/2025</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787782"/>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1579167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2A7C5A-11D7-44E8-8732-EE996C15B342}" type="datetimeFigureOut">
              <a:rPr lang="en-GB" smtClean="0"/>
              <a:t>11/07/2025</a:t>
            </a:fld>
            <a:endParaRPr lang="en-GB"/>
          </a:p>
        </p:txBody>
      </p:sp>
      <p:sp>
        <p:nvSpPr>
          <p:cNvPr id="5" name="Footer Placeholder 4"/>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924507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2A7C5A-11D7-44E8-8732-EE996C15B342}" type="datetimeFigureOut">
              <a:rPr lang="en-GB" smtClean="0"/>
              <a:t>11/07/2025</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3457555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2A7C5A-11D7-44E8-8732-EE996C15B342}" type="datetimeFigureOut">
              <a:rPr lang="en-GB" smtClean="0"/>
              <a:t>11/07/2025</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1456351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2A7C5A-11D7-44E8-8732-EE996C15B342}" type="datetimeFigureOut">
              <a:rPr lang="en-GB" smtClean="0"/>
              <a:t>11/07/2025</a:t>
            </a:fld>
            <a:endParaRPr lang="en-GB"/>
          </a:p>
        </p:txBody>
      </p:sp>
      <p:sp>
        <p:nvSpPr>
          <p:cNvPr id="8" name="Footer Placeholder 7"/>
          <p:cNvSpPr>
            <a:spLocks noGrp="1"/>
          </p:cNvSpPr>
          <p:nvPr>
            <p:ph type="ftr" sz="quarter" idx="11"/>
          </p:nvPr>
        </p:nvSpPr>
        <p:spPr/>
        <p:txBody>
          <a:bodyPr/>
          <a:lstStyle/>
          <a:p>
            <a:endParaRPr lang="en-GB"/>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2454065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2A7C5A-11D7-44E8-8732-EE996C15B342}" type="datetimeFigureOut">
              <a:rPr lang="en-GB" smtClean="0"/>
              <a:t>11/07/2025</a:t>
            </a:fld>
            <a:endParaRPr lang="en-GB"/>
          </a:p>
        </p:txBody>
      </p:sp>
      <p:sp>
        <p:nvSpPr>
          <p:cNvPr id="4" name="Footer Placeholder 3"/>
          <p:cNvSpPr>
            <a:spLocks noGrp="1"/>
          </p:cNvSpPr>
          <p:nvPr>
            <p:ph type="ftr" sz="quarter" idx="11"/>
          </p:nvPr>
        </p:nvSpPr>
        <p:spPr/>
        <p:txBody>
          <a:bodyPr/>
          <a:lstStyle/>
          <a:p>
            <a:endParaRPr lang="en-GB"/>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a:xfrm>
            <a:off x="531812" y="787782"/>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2472854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2A7C5A-11D7-44E8-8732-EE996C15B342}" type="datetimeFigureOut">
              <a:rPr lang="en-GB" smtClean="0"/>
              <a:t>11/07/2025</a:t>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userDrawn="1"/>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a:xfrm>
            <a:off x="531812" y="787782"/>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3953561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2A7C5A-11D7-44E8-8732-EE996C15B342}" type="datetimeFigureOut">
              <a:rPr lang="en-GB" smtClean="0"/>
              <a:t>11/07/2025</a:t>
            </a:fld>
            <a:endParaRPr lang="en-GB"/>
          </a:p>
        </p:txBody>
      </p:sp>
      <p:sp>
        <p:nvSpPr>
          <p:cNvPr id="3" name="Footer Placeholder 2"/>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3424062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2A7C5A-11D7-44E8-8732-EE996C15B342}" type="datetimeFigureOut">
              <a:rPr lang="en-GB" smtClean="0"/>
              <a:t>11/07/2025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787782"/>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2327732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2A7C5A-11D7-44E8-8732-EE996C15B342}" type="datetimeFigureOut">
              <a:rPr lang="en-GB" smtClean="0"/>
              <a:t>11/07/2025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695179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2A7C5A-11D7-44E8-8732-EE996C15B342}" type="datetimeFigureOut">
              <a:rPr lang="en-GB" smtClean="0"/>
              <a:t>11/07/2025</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15555890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2A7C5A-11D7-44E8-8732-EE996C15B342}" type="datetimeFigureOut">
              <a:rPr lang="en-GB" smtClean="0"/>
              <a:t>11/07/2025</a:t>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a:prstGeom prst="rect">
            <a:avLst/>
          </a:prstGeom>
        </p:spPr>
        <p:txBody>
          <a:bodyPr/>
          <a:lstStyle/>
          <a:p>
            <a:fld id="{31B9FF46-B7D7-4DF5-A308-D75D8173D5A3}" type="slidenum">
              <a:rPr lang="en-GB" smtClean="0"/>
              <a:t>‹#›</a:t>
            </a:fld>
            <a:endParaRPr lang="en-GB"/>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109509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32A7C5A-11D7-44E8-8732-EE996C15B342}" type="datetimeFigureOut">
              <a:rPr lang="en-GB" smtClean="0"/>
              <a:t>11/07/2025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19529412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32A7C5A-11D7-44E8-8732-EE996C15B342}" type="datetimeFigureOut">
              <a:rPr lang="en-GB" smtClean="0"/>
              <a:t>11/07/2025</a:t>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a:prstGeom prst="rect">
            <a:avLst/>
          </a:prstGeom>
        </p:spPr>
        <p:txBody>
          <a:bodyPr/>
          <a:lstStyle/>
          <a:p>
            <a:fld id="{31B9FF46-B7D7-4DF5-A308-D75D8173D5A3}" type="slidenum">
              <a:rPr lang="en-GB" smtClean="0"/>
              <a:t>‹#›</a:t>
            </a:fld>
            <a:endParaRPr lang="en-GB"/>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429585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32A7C5A-11D7-44E8-8732-EE996C15B342}" type="datetimeFigureOut">
              <a:rPr lang="en-GB" smtClean="0"/>
              <a:t>11/07/2025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15829456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2A7C5A-11D7-44E8-8732-EE996C15B342}" type="datetimeFigureOut">
              <a:rPr lang="en-GB" smtClean="0"/>
              <a:t>11/07/2025</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787782"/>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10134224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2A7C5A-11D7-44E8-8732-EE996C15B342}" type="datetimeFigureOut">
              <a:rPr lang="en-GB" smtClean="0"/>
              <a:t>11/07/2025</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787782"/>
            <a:ext cx="779767" cy="365125"/>
          </a:xfrm>
          <a:prstGeom prst="rect">
            <a:avLst/>
          </a:prstGeom>
        </p:spPr>
        <p:txBody>
          <a:bodyPr/>
          <a:lstStyle/>
          <a:p>
            <a:fld id="{31B9FF46-B7D7-4DF5-A308-D75D8173D5A3}" type="slidenum">
              <a:rPr lang="en-GB" smtClean="0"/>
              <a:t>‹#›</a:t>
            </a:fld>
            <a:endParaRPr lang="en-GB"/>
          </a:p>
        </p:txBody>
      </p:sp>
    </p:spTree>
    <p:extLst>
      <p:ext uri="{BB962C8B-B14F-4D97-AF65-F5344CB8AC3E}">
        <p14:creationId xmlns:p14="http://schemas.microsoft.com/office/powerpoint/2010/main" val="23382806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BE62C4E8-774D-9718-4CD0-FD4E8501FE51}"/>
              </a:ext>
            </a:extLst>
          </p:cNvPr>
          <p:cNvSpPr>
            <a:spLocks noGrp="1"/>
          </p:cNvSpPr>
          <p:nvPr>
            <p:ph type="title" hasCustomPrompt="1"/>
          </p:nvPr>
        </p:nvSpPr>
        <p:spPr>
          <a:xfrm>
            <a:off x="5708690" y="3742956"/>
            <a:ext cx="5308445" cy="485993"/>
          </a:xfrm>
          <a:prstGeom prst="rect">
            <a:avLst/>
          </a:prstGeom>
        </p:spPr>
        <p:txBody>
          <a:bodyPr lIns="0"/>
          <a:lstStyle>
            <a:lvl1pPr>
              <a:defRPr sz="4000">
                <a:solidFill>
                  <a:srgbClr val="005EB8"/>
                </a:solidFill>
                <a:latin typeface="Arial" panose="020B0604020202020204" pitchFamily="34" charset="0"/>
                <a:cs typeface="Arial" panose="020B0604020202020204" pitchFamily="34" charset="0"/>
              </a:defRPr>
            </a:lvl1pPr>
          </a:lstStyle>
          <a:p>
            <a:r>
              <a:rPr lang="en-GB" dirty="0"/>
              <a:t>Click to add presentation title</a:t>
            </a:r>
          </a:p>
        </p:txBody>
      </p:sp>
      <p:sp>
        <p:nvSpPr>
          <p:cNvPr id="19" name="Text Placeholder 18">
            <a:extLst>
              <a:ext uri="{FF2B5EF4-FFF2-40B4-BE49-F238E27FC236}">
                <a16:creationId xmlns:a16="http://schemas.microsoft.com/office/drawing/2014/main" id="{D71C9C24-9ED3-392A-F1A2-B6EA9C769A25}"/>
              </a:ext>
            </a:extLst>
          </p:cNvPr>
          <p:cNvSpPr>
            <a:spLocks noGrp="1"/>
          </p:cNvSpPr>
          <p:nvPr>
            <p:ph type="body" sz="quarter" idx="10" hasCustomPrompt="1"/>
          </p:nvPr>
        </p:nvSpPr>
        <p:spPr>
          <a:xfrm>
            <a:off x="5708690" y="5032631"/>
            <a:ext cx="4344361" cy="287515"/>
          </a:xfrm>
          <a:prstGeom prst="rect">
            <a:avLst/>
          </a:prstGeom>
        </p:spPr>
        <p:txBody>
          <a:bodyPr lIns="0"/>
          <a:lstStyle>
            <a:lvl1pPr marL="0" indent="0">
              <a:buNone/>
              <a:defRPr sz="1800">
                <a:solidFill>
                  <a:schemeClr val="bg1"/>
                </a:solidFill>
                <a:latin typeface="Arial" panose="020B0604020202020204" pitchFamily="34" charset="0"/>
                <a:cs typeface="Arial" panose="020B0604020202020204" pitchFamily="34" charset="0"/>
              </a:defRPr>
            </a:lvl1pPr>
          </a:lstStyle>
          <a:p>
            <a:pPr lvl="0"/>
            <a:r>
              <a:rPr lang="en-US" dirty="0"/>
              <a:t>Presenter name</a:t>
            </a:r>
            <a:endParaRPr lang="en-GB" dirty="0"/>
          </a:p>
        </p:txBody>
      </p:sp>
      <p:sp>
        <p:nvSpPr>
          <p:cNvPr id="4" name="Text Placeholder 3">
            <a:extLst>
              <a:ext uri="{FF2B5EF4-FFF2-40B4-BE49-F238E27FC236}">
                <a16:creationId xmlns:a16="http://schemas.microsoft.com/office/drawing/2014/main" id="{FF909161-1531-9353-8985-A86603D3CAEB}"/>
              </a:ext>
            </a:extLst>
          </p:cNvPr>
          <p:cNvSpPr>
            <a:spLocks noGrp="1"/>
          </p:cNvSpPr>
          <p:nvPr>
            <p:ph type="body" sz="quarter" idx="11" hasCustomPrompt="1"/>
          </p:nvPr>
        </p:nvSpPr>
        <p:spPr>
          <a:xfrm>
            <a:off x="5708689" y="5386821"/>
            <a:ext cx="3276600" cy="287515"/>
          </a:xfrm>
          <a:prstGeom prst="rect">
            <a:avLst/>
          </a:prstGeom>
        </p:spPr>
        <p:txBody>
          <a:bodyPr lIns="0"/>
          <a:lstStyle>
            <a:lvl1pPr marL="0" indent="0">
              <a:buNone/>
              <a:defRPr sz="1800">
                <a:solidFill>
                  <a:schemeClr val="bg1"/>
                </a:solidFill>
                <a:latin typeface="Arial" panose="020B0604020202020204" pitchFamily="34" charset="0"/>
                <a:cs typeface="Arial" panose="020B0604020202020204" pitchFamily="34" charset="0"/>
              </a:defRPr>
            </a:lvl1pPr>
          </a:lstStyle>
          <a:p>
            <a:pPr lvl="0"/>
            <a:fld id="{2056A99B-BFC5-41CF-8883-BCDB6D89F0B3}" type="datetimeFigureOut">
              <a:rPr kumimoji="0" lang="en-GB" sz="18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15/03/2023</a:t>
            </a:fld>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 </a:t>
            </a:r>
            <a:endParaRPr lang="en-GB" dirty="0"/>
          </a:p>
        </p:txBody>
      </p:sp>
    </p:spTree>
    <p:extLst>
      <p:ext uri="{BB962C8B-B14F-4D97-AF65-F5344CB8AC3E}">
        <p14:creationId xmlns:p14="http://schemas.microsoft.com/office/powerpoint/2010/main" val="4003226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1 column)">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683BC35E-D585-024A-8D2B-D1816098DD48}"/>
              </a:ext>
            </a:extLst>
          </p:cNvPr>
          <p:cNvSpPr>
            <a:spLocks noGrp="1"/>
          </p:cNvSpPr>
          <p:nvPr>
            <p:ph type="title"/>
          </p:nvPr>
        </p:nvSpPr>
        <p:spPr>
          <a:xfrm>
            <a:off x="351325" y="954133"/>
            <a:ext cx="9199075" cy="485993"/>
          </a:xfrm>
          <a:prstGeom prst="rect">
            <a:avLst/>
          </a:prstGeom>
        </p:spPr>
        <p:txBody>
          <a:bodyPr lIns="0"/>
          <a:lstStyle/>
          <a:p>
            <a:r>
              <a:rPr lang="en-GB" dirty="0"/>
              <a:t>Click to edit Master title style</a:t>
            </a:r>
            <a:endParaRPr lang="en-US" dirty="0"/>
          </a:p>
        </p:txBody>
      </p:sp>
      <p:sp>
        <p:nvSpPr>
          <p:cNvPr id="17" name="Date Placeholder 16">
            <a:extLst>
              <a:ext uri="{FF2B5EF4-FFF2-40B4-BE49-F238E27FC236}">
                <a16:creationId xmlns:a16="http://schemas.microsoft.com/office/drawing/2014/main" id="{1E4D3715-20A0-E240-A95F-CEF2A1E36A98}"/>
              </a:ext>
            </a:extLst>
          </p:cNvPr>
          <p:cNvSpPr>
            <a:spLocks noGrp="1"/>
          </p:cNvSpPr>
          <p:nvPr>
            <p:ph type="dt" sz="half" idx="10"/>
          </p:nvPr>
        </p:nvSpPr>
        <p:spPr/>
        <p:txBody>
          <a:bodyPr/>
          <a:lstStyle/>
          <a:p>
            <a:fld id="{29A3D60C-94B3-3F48-A969-9F54AC766E98}" type="datetime1">
              <a:rPr lang="en-GB" smtClean="0"/>
              <a:t>11/07/2025</a:t>
            </a:fld>
            <a:endParaRPr lang="en-GB" dirty="0"/>
          </a:p>
        </p:txBody>
      </p:sp>
      <p:sp>
        <p:nvSpPr>
          <p:cNvPr id="18" name="Text Placeholder 2">
            <a:extLst>
              <a:ext uri="{FF2B5EF4-FFF2-40B4-BE49-F238E27FC236}">
                <a16:creationId xmlns:a16="http://schemas.microsoft.com/office/drawing/2014/main" id="{96406D0A-6AB8-0446-820B-BFA8D218985A}"/>
              </a:ext>
            </a:extLst>
          </p:cNvPr>
          <p:cNvSpPr>
            <a:spLocks noGrp="1"/>
          </p:cNvSpPr>
          <p:nvPr>
            <p:ph type="body" sz="quarter" idx="13" hasCustomPrompt="1"/>
          </p:nvPr>
        </p:nvSpPr>
        <p:spPr>
          <a:xfrm>
            <a:off x="5448147" y="6235519"/>
            <a:ext cx="3904235" cy="452056"/>
          </a:xfrm>
          <a:prstGeom prst="rect">
            <a:avLst/>
          </a:prstGeom>
        </p:spPr>
        <p:txBody>
          <a:bodyPr anchor="ctr"/>
          <a:lstStyle>
            <a:lvl1pPr marL="0" indent="0" algn="r">
              <a:buNone/>
              <a:defRPr sz="1300">
                <a:solidFill>
                  <a:srgbClr val="003087"/>
                </a:solidFill>
              </a:defRPr>
            </a:lvl1pPr>
          </a:lstStyle>
          <a:p>
            <a:pPr lvl="0"/>
            <a:r>
              <a:rPr lang="en-US" dirty="0"/>
              <a:t>Presenter name</a:t>
            </a:r>
          </a:p>
        </p:txBody>
      </p:sp>
      <p:sp>
        <p:nvSpPr>
          <p:cNvPr id="20" name="Content Placeholder 18">
            <a:extLst>
              <a:ext uri="{FF2B5EF4-FFF2-40B4-BE49-F238E27FC236}">
                <a16:creationId xmlns:a16="http://schemas.microsoft.com/office/drawing/2014/main" id="{ECE4DB37-93FC-3B4F-95B1-D43909830620}"/>
              </a:ext>
            </a:extLst>
          </p:cNvPr>
          <p:cNvSpPr>
            <a:spLocks noGrp="1"/>
          </p:cNvSpPr>
          <p:nvPr>
            <p:ph sz="quarter" idx="12" hasCustomPrompt="1"/>
          </p:nvPr>
        </p:nvSpPr>
        <p:spPr>
          <a:xfrm>
            <a:off x="360363" y="1615447"/>
            <a:ext cx="9848508" cy="301057"/>
          </a:xfrm>
          <a:prstGeom prst="rect">
            <a:avLst/>
          </a:prstGeom>
        </p:spPr>
        <p:txBody>
          <a:bodyPr lIns="0" tIns="0" rIns="0" bIns="0" anchor="ctr"/>
          <a:lstStyle>
            <a:lvl1pPr marL="0" indent="0">
              <a:buNone/>
              <a:defRPr sz="2000">
                <a:solidFill>
                  <a:srgbClr val="003087"/>
                </a:solidFill>
              </a:defRPr>
            </a:lvl1pPr>
          </a:lstStyle>
          <a:p>
            <a:pPr lvl="0"/>
            <a:r>
              <a:rPr lang="en-US" dirty="0"/>
              <a:t>Click to edit sub title</a:t>
            </a:r>
          </a:p>
        </p:txBody>
      </p:sp>
      <p:sp>
        <p:nvSpPr>
          <p:cNvPr id="22" name="Text Placeholder 21">
            <a:extLst>
              <a:ext uri="{FF2B5EF4-FFF2-40B4-BE49-F238E27FC236}">
                <a16:creationId xmlns:a16="http://schemas.microsoft.com/office/drawing/2014/main" id="{9D2ECF42-66A6-6541-B15D-91AF8751A1D8}"/>
              </a:ext>
            </a:extLst>
          </p:cNvPr>
          <p:cNvSpPr>
            <a:spLocks noGrp="1"/>
          </p:cNvSpPr>
          <p:nvPr>
            <p:ph type="body" sz="quarter" idx="14"/>
          </p:nvPr>
        </p:nvSpPr>
        <p:spPr>
          <a:xfrm>
            <a:off x="350839" y="2260601"/>
            <a:ext cx="11495087" cy="3167778"/>
          </a:xfrm>
          <a:prstGeom prst="rect">
            <a:avLst/>
          </a:prstGeom>
        </p:spPr>
        <p:txBody>
          <a:bodyPr lIns="0">
            <a:noAutofit/>
          </a:bodyPr>
          <a:lstStyle>
            <a:lvl1pPr>
              <a:lnSpc>
                <a:spcPct val="100000"/>
              </a:lnSpc>
              <a:defRPr/>
            </a:lvl1pPr>
            <a:lvl2pPr>
              <a:lnSpc>
                <a:spcPct val="100000"/>
              </a:lnSpc>
              <a:defRPr/>
            </a:lvl2pPr>
            <a:lvl3pPr>
              <a:lnSpc>
                <a:spcPct val="100000"/>
              </a:lnSpc>
              <a:defRPr/>
            </a:lvl3pPr>
            <a:lvl4pPr>
              <a:lnSpc>
                <a:spcPct val="100000"/>
              </a:lnSpc>
              <a:defRPr/>
            </a:lvl4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23" name="Slide Number Placeholder 31">
            <a:extLst>
              <a:ext uri="{FF2B5EF4-FFF2-40B4-BE49-F238E27FC236}">
                <a16:creationId xmlns:a16="http://schemas.microsoft.com/office/drawing/2014/main" id="{E6F793B1-4EE7-624D-8430-071B158FE84B}"/>
              </a:ext>
            </a:extLst>
          </p:cNvPr>
          <p:cNvSpPr>
            <a:spLocks noGrp="1"/>
          </p:cNvSpPr>
          <p:nvPr>
            <p:ph type="sldNum" sz="quarter" idx="4"/>
          </p:nvPr>
        </p:nvSpPr>
        <p:spPr>
          <a:xfrm>
            <a:off x="10993801" y="6235520"/>
            <a:ext cx="621396" cy="452057"/>
          </a:xfrm>
          <a:prstGeom prst="rect">
            <a:avLst/>
          </a:prstGeom>
        </p:spPr>
        <p:txBody>
          <a:bodyPr vert="horz" lIns="0" tIns="0" rIns="0" bIns="0" rtlCol="0" anchor="ctr"/>
          <a:lstStyle>
            <a:lvl1pPr algn="r">
              <a:defRPr sz="975">
                <a:solidFill>
                  <a:srgbClr val="003087"/>
                </a:solidFill>
                <a:latin typeface="Arial" panose="020B0604020202020204" pitchFamily="34" charset="0"/>
              </a:defRPr>
            </a:lvl1pPr>
          </a:lstStyle>
          <a:p>
            <a:fld id="{48C91D3C-AA5C-7440-8489-158FBC20DC87}" type="slidenum">
              <a:rPr lang="en-US" smtClean="0"/>
              <a:pPr/>
              <a:t>‹#›</a:t>
            </a:fld>
            <a:endParaRPr lang="en-US" dirty="0"/>
          </a:p>
        </p:txBody>
      </p:sp>
    </p:spTree>
    <p:extLst>
      <p:ext uri="{BB962C8B-B14F-4D97-AF65-F5344CB8AC3E}">
        <p14:creationId xmlns:p14="http://schemas.microsoft.com/office/powerpoint/2010/main" val="39678195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5902F-C010-994A-9A26-DA5C00972B31}"/>
              </a:ext>
            </a:extLst>
          </p:cNvPr>
          <p:cNvSpPr>
            <a:spLocks noGrp="1"/>
          </p:cNvSpPr>
          <p:nvPr>
            <p:ph type="title"/>
          </p:nvPr>
        </p:nvSpPr>
        <p:spPr>
          <a:xfrm>
            <a:off x="351325" y="1000627"/>
            <a:ext cx="9199075" cy="485993"/>
          </a:xfrm>
          <a:prstGeom prst="rect">
            <a:avLst/>
          </a:prstGeom>
        </p:spPr>
        <p:txBody>
          <a:bodyPr lIns="0"/>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C18B7B82-624E-004B-91BC-2110A4F5E3AF}"/>
              </a:ext>
            </a:extLst>
          </p:cNvPr>
          <p:cNvSpPr>
            <a:spLocks noGrp="1"/>
          </p:cNvSpPr>
          <p:nvPr>
            <p:ph type="dt" sz="half" idx="10"/>
          </p:nvPr>
        </p:nvSpPr>
        <p:spPr/>
        <p:txBody>
          <a:bodyPr/>
          <a:lstStyle/>
          <a:p>
            <a:fld id="{4004B032-14ED-6743-98CA-652655B9CB38}" type="datetime1">
              <a:rPr lang="en-GB" smtClean="0"/>
              <a:t>11/07/2025</a:t>
            </a:fld>
            <a:endParaRPr lang="en-GB" dirty="0"/>
          </a:p>
        </p:txBody>
      </p:sp>
      <p:sp>
        <p:nvSpPr>
          <p:cNvPr id="4" name="Text Placeholder 2">
            <a:extLst>
              <a:ext uri="{FF2B5EF4-FFF2-40B4-BE49-F238E27FC236}">
                <a16:creationId xmlns:a16="http://schemas.microsoft.com/office/drawing/2014/main" id="{EF5031D0-52F6-EC46-8F7A-B21AA57FED9D}"/>
              </a:ext>
            </a:extLst>
          </p:cNvPr>
          <p:cNvSpPr>
            <a:spLocks noGrp="1"/>
          </p:cNvSpPr>
          <p:nvPr>
            <p:ph type="body" sz="quarter" idx="13" hasCustomPrompt="1"/>
          </p:nvPr>
        </p:nvSpPr>
        <p:spPr>
          <a:xfrm>
            <a:off x="5448147" y="6235519"/>
            <a:ext cx="3904235" cy="452056"/>
          </a:xfrm>
          <a:prstGeom prst="rect">
            <a:avLst/>
          </a:prstGeom>
        </p:spPr>
        <p:txBody>
          <a:bodyPr anchor="ctr"/>
          <a:lstStyle>
            <a:lvl1pPr marL="0" indent="0" algn="r">
              <a:buNone/>
              <a:defRPr sz="1300">
                <a:solidFill>
                  <a:srgbClr val="003087"/>
                </a:solidFill>
              </a:defRPr>
            </a:lvl1pPr>
          </a:lstStyle>
          <a:p>
            <a:pPr lvl="0"/>
            <a:r>
              <a:rPr lang="en-US" dirty="0"/>
              <a:t>Presenter name</a:t>
            </a:r>
          </a:p>
        </p:txBody>
      </p:sp>
      <p:sp>
        <p:nvSpPr>
          <p:cNvPr id="5" name="Content Placeholder 18">
            <a:extLst>
              <a:ext uri="{FF2B5EF4-FFF2-40B4-BE49-F238E27FC236}">
                <a16:creationId xmlns:a16="http://schemas.microsoft.com/office/drawing/2014/main" id="{7B2E4A7A-1AD7-CB45-8BEC-CD939B823958}"/>
              </a:ext>
            </a:extLst>
          </p:cNvPr>
          <p:cNvSpPr>
            <a:spLocks noGrp="1"/>
          </p:cNvSpPr>
          <p:nvPr>
            <p:ph sz="quarter" idx="12" hasCustomPrompt="1"/>
          </p:nvPr>
        </p:nvSpPr>
        <p:spPr>
          <a:xfrm>
            <a:off x="360363" y="1615447"/>
            <a:ext cx="9848508" cy="301057"/>
          </a:xfrm>
          <a:prstGeom prst="rect">
            <a:avLst/>
          </a:prstGeom>
        </p:spPr>
        <p:txBody>
          <a:bodyPr lIns="0" tIns="0" rIns="0" bIns="0" anchor="ctr"/>
          <a:lstStyle>
            <a:lvl1pPr marL="0" indent="0">
              <a:buNone/>
              <a:defRPr sz="2000">
                <a:solidFill>
                  <a:srgbClr val="003087"/>
                </a:solidFill>
              </a:defRPr>
            </a:lvl1pPr>
          </a:lstStyle>
          <a:p>
            <a:pPr lvl="0"/>
            <a:r>
              <a:rPr lang="en-US" dirty="0"/>
              <a:t>Click to edit sub title</a:t>
            </a:r>
          </a:p>
        </p:txBody>
      </p:sp>
      <p:sp>
        <p:nvSpPr>
          <p:cNvPr id="11" name="Picture Placeholder 9">
            <a:extLst>
              <a:ext uri="{FF2B5EF4-FFF2-40B4-BE49-F238E27FC236}">
                <a16:creationId xmlns:a16="http://schemas.microsoft.com/office/drawing/2014/main" id="{06D85D03-82D9-CA4A-B318-FEDF5EA9EEA1}"/>
              </a:ext>
            </a:extLst>
          </p:cNvPr>
          <p:cNvSpPr>
            <a:spLocks noGrp="1"/>
          </p:cNvSpPr>
          <p:nvPr>
            <p:ph type="pic" sz="quarter" idx="19"/>
          </p:nvPr>
        </p:nvSpPr>
        <p:spPr>
          <a:xfrm>
            <a:off x="363961" y="2109738"/>
            <a:ext cx="2768400" cy="1713600"/>
          </a:xfrm>
          <a:prstGeom prst="rect">
            <a:avLst/>
          </a:prstGeom>
        </p:spPr>
        <p:txBody>
          <a:bodyPr lIns="0" numCol="1" spcCol="0"/>
          <a:lstStyle/>
          <a:p>
            <a:endParaRPr lang="en-US" dirty="0"/>
          </a:p>
        </p:txBody>
      </p:sp>
      <p:sp>
        <p:nvSpPr>
          <p:cNvPr id="12" name="Picture Placeholder 9">
            <a:extLst>
              <a:ext uri="{FF2B5EF4-FFF2-40B4-BE49-F238E27FC236}">
                <a16:creationId xmlns:a16="http://schemas.microsoft.com/office/drawing/2014/main" id="{8FEE4A94-827D-7A44-8D27-ABE5987F974F}"/>
              </a:ext>
            </a:extLst>
          </p:cNvPr>
          <p:cNvSpPr>
            <a:spLocks noGrp="1"/>
          </p:cNvSpPr>
          <p:nvPr>
            <p:ph type="pic" sz="quarter" idx="20"/>
          </p:nvPr>
        </p:nvSpPr>
        <p:spPr>
          <a:xfrm>
            <a:off x="3269207" y="2109738"/>
            <a:ext cx="2768400" cy="1713600"/>
          </a:xfrm>
          <a:prstGeom prst="rect">
            <a:avLst/>
          </a:prstGeom>
        </p:spPr>
        <p:txBody>
          <a:bodyPr lIns="0" numCol="1" spcCol="0"/>
          <a:lstStyle/>
          <a:p>
            <a:endParaRPr lang="en-US" dirty="0"/>
          </a:p>
        </p:txBody>
      </p:sp>
      <p:sp>
        <p:nvSpPr>
          <p:cNvPr id="13" name="Picture Placeholder 9">
            <a:extLst>
              <a:ext uri="{FF2B5EF4-FFF2-40B4-BE49-F238E27FC236}">
                <a16:creationId xmlns:a16="http://schemas.microsoft.com/office/drawing/2014/main" id="{FEA4FFDD-9EB5-BC44-983E-6FCDB0BBD019}"/>
              </a:ext>
            </a:extLst>
          </p:cNvPr>
          <p:cNvSpPr>
            <a:spLocks noGrp="1"/>
          </p:cNvSpPr>
          <p:nvPr>
            <p:ph type="pic" sz="quarter" idx="21"/>
          </p:nvPr>
        </p:nvSpPr>
        <p:spPr>
          <a:xfrm>
            <a:off x="6174453" y="2109738"/>
            <a:ext cx="2768400" cy="1713600"/>
          </a:xfrm>
          <a:prstGeom prst="rect">
            <a:avLst/>
          </a:prstGeom>
        </p:spPr>
        <p:txBody>
          <a:bodyPr lIns="0" numCol="1" spcCol="0"/>
          <a:lstStyle/>
          <a:p>
            <a:endParaRPr lang="en-US" dirty="0"/>
          </a:p>
        </p:txBody>
      </p:sp>
      <p:sp>
        <p:nvSpPr>
          <p:cNvPr id="14" name="Picture Placeholder 9">
            <a:extLst>
              <a:ext uri="{FF2B5EF4-FFF2-40B4-BE49-F238E27FC236}">
                <a16:creationId xmlns:a16="http://schemas.microsoft.com/office/drawing/2014/main" id="{6DF993D5-8B2B-7C42-8FE3-87116EEF2FA8}"/>
              </a:ext>
            </a:extLst>
          </p:cNvPr>
          <p:cNvSpPr>
            <a:spLocks noGrp="1"/>
          </p:cNvSpPr>
          <p:nvPr>
            <p:ph type="pic" sz="quarter" idx="22"/>
          </p:nvPr>
        </p:nvSpPr>
        <p:spPr>
          <a:xfrm>
            <a:off x="9079699" y="2109738"/>
            <a:ext cx="2768400" cy="1713600"/>
          </a:xfrm>
          <a:prstGeom prst="rect">
            <a:avLst/>
          </a:prstGeom>
        </p:spPr>
        <p:txBody>
          <a:bodyPr lIns="0" numCol="1" spcCol="0"/>
          <a:lstStyle/>
          <a:p>
            <a:endParaRPr lang="en-US" dirty="0"/>
          </a:p>
        </p:txBody>
      </p:sp>
      <p:sp>
        <p:nvSpPr>
          <p:cNvPr id="15" name="Picture Placeholder 9">
            <a:extLst>
              <a:ext uri="{FF2B5EF4-FFF2-40B4-BE49-F238E27FC236}">
                <a16:creationId xmlns:a16="http://schemas.microsoft.com/office/drawing/2014/main" id="{D9E81A53-E551-0947-9ADF-B552255FF487}"/>
              </a:ext>
            </a:extLst>
          </p:cNvPr>
          <p:cNvSpPr>
            <a:spLocks noGrp="1"/>
          </p:cNvSpPr>
          <p:nvPr>
            <p:ph type="pic" sz="quarter" idx="23"/>
          </p:nvPr>
        </p:nvSpPr>
        <p:spPr>
          <a:xfrm>
            <a:off x="363961" y="3961687"/>
            <a:ext cx="2768400" cy="1713600"/>
          </a:xfrm>
          <a:prstGeom prst="rect">
            <a:avLst/>
          </a:prstGeom>
        </p:spPr>
        <p:txBody>
          <a:bodyPr lIns="0" numCol="1" spcCol="0"/>
          <a:lstStyle/>
          <a:p>
            <a:endParaRPr lang="en-US" dirty="0"/>
          </a:p>
        </p:txBody>
      </p:sp>
      <p:sp>
        <p:nvSpPr>
          <p:cNvPr id="16" name="Picture Placeholder 9">
            <a:extLst>
              <a:ext uri="{FF2B5EF4-FFF2-40B4-BE49-F238E27FC236}">
                <a16:creationId xmlns:a16="http://schemas.microsoft.com/office/drawing/2014/main" id="{C9BEA0F2-6549-AB44-803B-1F0DEF42D8FF}"/>
              </a:ext>
            </a:extLst>
          </p:cNvPr>
          <p:cNvSpPr>
            <a:spLocks noGrp="1"/>
          </p:cNvSpPr>
          <p:nvPr>
            <p:ph type="pic" sz="quarter" idx="24"/>
          </p:nvPr>
        </p:nvSpPr>
        <p:spPr>
          <a:xfrm>
            <a:off x="3269207" y="3961687"/>
            <a:ext cx="2768400" cy="1713600"/>
          </a:xfrm>
          <a:prstGeom prst="rect">
            <a:avLst/>
          </a:prstGeom>
        </p:spPr>
        <p:txBody>
          <a:bodyPr lIns="0" numCol="1" spcCol="0"/>
          <a:lstStyle/>
          <a:p>
            <a:endParaRPr lang="en-US" dirty="0"/>
          </a:p>
        </p:txBody>
      </p:sp>
      <p:sp>
        <p:nvSpPr>
          <p:cNvPr id="17" name="Picture Placeholder 9">
            <a:extLst>
              <a:ext uri="{FF2B5EF4-FFF2-40B4-BE49-F238E27FC236}">
                <a16:creationId xmlns:a16="http://schemas.microsoft.com/office/drawing/2014/main" id="{8A2FF4F0-19C3-DE44-B175-96FBB61D0A86}"/>
              </a:ext>
            </a:extLst>
          </p:cNvPr>
          <p:cNvSpPr>
            <a:spLocks noGrp="1"/>
          </p:cNvSpPr>
          <p:nvPr>
            <p:ph type="pic" sz="quarter" idx="25"/>
          </p:nvPr>
        </p:nvSpPr>
        <p:spPr>
          <a:xfrm>
            <a:off x="6174453" y="3961687"/>
            <a:ext cx="2768400" cy="1713600"/>
          </a:xfrm>
          <a:prstGeom prst="rect">
            <a:avLst/>
          </a:prstGeom>
        </p:spPr>
        <p:txBody>
          <a:bodyPr lIns="0" numCol="1" spcCol="0"/>
          <a:lstStyle/>
          <a:p>
            <a:endParaRPr lang="en-US" dirty="0"/>
          </a:p>
        </p:txBody>
      </p:sp>
      <p:sp>
        <p:nvSpPr>
          <p:cNvPr id="18" name="Picture Placeholder 9">
            <a:extLst>
              <a:ext uri="{FF2B5EF4-FFF2-40B4-BE49-F238E27FC236}">
                <a16:creationId xmlns:a16="http://schemas.microsoft.com/office/drawing/2014/main" id="{9DA3709F-5DFB-454F-973F-AC4A25C185BE}"/>
              </a:ext>
            </a:extLst>
          </p:cNvPr>
          <p:cNvSpPr>
            <a:spLocks noGrp="1"/>
          </p:cNvSpPr>
          <p:nvPr>
            <p:ph type="pic" sz="quarter" idx="26"/>
          </p:nvPr>
        </p:nvSpPr>
        <p:spPr>
          <a:xfrm>
            <a:off x="9079699" y="3961687"/>
            <a:ext cx="2768400" cy="1713600"/>
          </a:xfrm>
          <a:prstGeom prst="rect">
            <a:avLst/>
          </a:prstGeom>
        </p:spPr>
        <p:txBody>
          <a:bodyPr lIns="0" numCol="1" spcCol="0"/>
          <a:lstStyle/>
          <a:p>
            <a:endParaRPr lang="en-US" dirty="0"/>
          </a:p>
        </p:txBody>
      </p:sp>
      <p:sp>
        <p:nvSpPr>
          <p:cNvPr id="19" name="Slide Number Placeholder 31">
            <a:extLst>
              <a:ext uri="{FF2B5EF4-FFF2-40B4-BE49-F238E27FC236}">
                <a16:creationId xmlns:a16="http://schemas.microsoft.com/office/drawing/2014/main" id="{43847737-BBC8-6846-BF97-7F82347A5110}"/>
              </a:ext>
            </a:extLst>
          </p:cNvPr>
          <p:cNvSpPr>
            <a:spLocks noGrp="1"/>
          </p:cNvSpPr>
          <p:nvPr>
            <p:ph type="sldNum" sz="quarter" idx="4"/>
          </p:nvPr>
        </p:nvSpPr>
        <p:spPr>
          <a:xfrm>
            <a:off x="10993801" y="6235520"/>
            <a:ext cx="621396" cy="452057"/>
          </a:xfrm>
          <a:prstGeom prst="rect">
            <a:avLst/>
          </a:prstGeom>
        </p:spPr>
        <p:txBody>
          <a:bodyPr vert="horz" lIns="0" tIns="0" rIns="0" bIns="0" rtlCol="0" anchor="ctr"/>
          <a:lstStyle>
            <a:lvl1pPr algn="r">
              <a:defRPr sz="1300">
                <a:solidFill>
                  <a:srgbClr val="003087"/>
                </a:solidFill>
                <a:latin typeface="Arial" panose="020B0604020202020204" pitchFamily="34" charset="0"/>
              </a:defRPr>
            </a:lvl1pPr>
          </a:lstStyle>
          <a:p>
            <a:fld id="{48C91D3C-AA5C-7440-8489-158FBC20DC87}" type="slidenum">
              <a:rPr lang="en-US" smtClean="0"/>
              <a:pPr/>
              <a:t>‹#›</a:t>
            </a:fld>
            <a:endParaRPr lang="en-US" dirty="0"/>
          </a:p>
        </p:txBody>
      </p:sp>
    </p:spTree>
    <p:extLst>
      <p:ext uri="{BB962C8B-B14F-4D97-AF65-F5344CB8AC3E}">
        <p14:creationId xmlns:p14="http://schemas.microsoft.com/office/powerpoint/2010/main" val="20492498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E69D9-4293-B84F-91D0-BC791F2FB7F9}"/>
              </a:ext>
            </a:extLst>
          </p:cNvPr>
          <p:cNvSpPr>
            <a:spLocks noGrp="1"/>
          </p:cNvSpPr>
          <p:nvPr>
            <p:ph type="title"/>
          </p:nvPr>
        </p:nvSpPr>
        <p:spPr>
          <a:xfrm>
            <a:off x="351325" y="1062619"/>
            <a:ext cx="9199075" cy="485993"/>
          </a:xfrm>
          <a:prstGeom prst="rect">
            <a:avLst/>
          </a:prstGeom>
        </p:spPr>
        <p:txBody>
          <a:bodyPr lIns="0"/>
          <a:lstStyle/>
          <a:p>
            <a:r>
              <a:rPr lang="en-GB" dirty="0"/>
              <a:t>Click to edit Master title style</a:t>
            </a:r>
            <a:endParaRPr lang="en-US" dirty="0"/>
          </a:p>
        </p:txBody>
      </p:sp>
      <p:sp>
        <p:nvSpPr>
          <p:cNvPr id="3" name="Date Placeholder 2">
            <a:extLst>
              <a:ext uri="{FF2B5EF4-FFF2-40B4-BE49-F238E27FC236}">
                <a16:creationId xmlns:a16="http://schemas.microsoft.com/office/drawing/2014/main" id="{603D68D4-9238-1244-B1AC-E502AF28783A}"/>
              </a:ext>
            </a:extLst>
          </p:cNvPr>
          <p:cNvSpPr>
            <a:spLocks noGrp="1"/>
          </p:cNvSpPr>
          <p:nvPr>
            <p:ph type="dt" sz="half" idx="10"/>
          </p:nvPr>
        </p:nvSpPr>
        <p:spPr/>
        <p:txBody>
          <a:bodyPr/>
          <a:lstStyle/>
          <a:p>
            <a:fld id="{C469EB32-D6C4-8440-A9C9-711501F2CFDA}" type="datetime1">
              <a:rPr lang="en-GB" smtClean="0"/>
              <a:t>11/07/2025</a:t>
            </a:fld>
            <a:endParaRPr lang="en-GB" dirty="0"/>
          </a:p>
        </p:txBody>
      </p:sp>
      <p:sp>
        <p:nvSpPr>
          <p:cNvPr id="4" name="Content Placeholder 18">
            <a:extLst>
              <a:ext uri="{FF2B5EF4-FFF2-40B4-BE49-F238E27FC236}">
                <a16:creationId xmlns:a16="http://schemas.microsoft.com/office/drawing/2014/main" id="{87FE0DEB-9617-3740-B2D6-9BD7D638BD4E}"/>
              </a:ext>
            </a:extLst>
          </p:cNvPr>
          <p:cNvSpPr>
            <a:spLocks noGrp="1"/>
          </p:cNvSpPr>
          <p:nvPr>
            <p:ph sz="quarter" idx="12" hasCustomPrompt="1"/>
          </p:nvPr>
        </p:nvSpPr>
        <p:spPr>
          <a:xfrm>
            <a:off x="360363" y="1615447"/>
            <a:ext cx="9848508" cy="301057"/>
          </a:xfrm>
          <a:prstGeom prst="rect">
            <a:avLst/>
          </a:prstGeom>
        </p:spPr>
        <p:txBody>
          <a:bodyPr lIns="0" tIns="0" rIns="0" bIns="0" anchor="ctr"/>
          <a:lstStyle>
            <a:lvl1pPr marL="0" indent="0">
              <a:buNone/>
              <a:defRPr sz="2000">
                <a:solidFill>
                  <a:srgbClr val="003087"/>
                </a:solidFill>
              </a:defRPr>
            </a:lvl1pPr>
          </a:lstStyle>
          <a:p>
            <a:pPr lvl="0"/>
            <a:r>
              <a:rPr lang="en-US" dirty="0"/>
              <a:t>Click to edit sub title</a:t>
            </a:r>
          </a:p>
        </p:txBody>
      </p:sp>
      <p:sp>
        <p:nvSpPr>
          <p:cNvPr id="5" name="Text Placeholder 2">
            <a:extLst>
              <a:ext uri="{FF2B5EF4-FFF2-40B4-BE49-F238E27FC236}">
                <a16:creationId xmlns:a16="http://schemas.microsoft.com/office/drawing/2014/main" id="{4E392917-323C-D642-9B8D-BC4DDFFE772E}"/>
              </a:ext>
            </a:extLst>
          </p:cNvPr>
          <p:cNvSpPr>
            <a:spLocks noGrp="1"/>
          </p:cNvSpPr>
          <p:nvPr>
            <p:ph type="body" sz="quarter" idx="13" hasCustomPrompt="1"/>
          </p:nvPr>
        </p:nvSpPr>
        <p:spPr>
          <a:xfrm>
            <a:off x="5469751" y="6235519"/>
            <a:ext cx="3904235" cy="452056"/>
          </a:xfrm>
          <a:prstGeom prst="rect">
            <a:avLst/>
          </a:prstGeom>
        </p:spPr>
        <p:txBody>
          <a:bodyPr anchor="ctr"/>
          <a:lstStyle>
            <a:lvl1pPr marL="0" indent="0" algn="r">
              <a:buNone/>
              <a:defRPr sz="1300">
                <a:solidFill>
                  <a:srgbClr val="003087"/>
                </a:solidFill>
              </a:defRPr>
            </a:lvl1pPr>
          </a:lstStyle>
          <a:p>
            <a:pPr lvl="0"/>
            <a:r>
              <a:rPr lang="en-US" dirty="0"/>
              <a:t>Presenter name</a:t>
            </a:r>
          </a:p>
        </p:txBody>
      </p:sp>
      <p:sp>
        <p:nvSpPr>
          <p:cNvPr id="7" name="Text Placeholder 7">
            <a:extLst>
              <a:ext uri="{FF2B5EF4-FFF2-40B4-BE49-F238E27FC236}">
                <a16:creationId xmlns:a16="http://schemas.microsoft.com/office/drawing/2014/main" id="{4EC44D35-B7FF-F049-A3A6-6AA9C252B13F}"/>
              </a:ext>
            </a:extLst>
          </p:cNvPr>
          <p:cNvSpPr>
            <a:spLocks noGrp="1"/>
          </p:cNvSpPr>
          <p:nvPr>
            <p:ph type="body" sz="quarter" idx="15"/>
          </p:nvPr>
        </p:nvSpPr>
        <p:spPr>
          <a:xfrm>
            <a:off x="2381700" y="2604304"/>
            <a:ext cx="7428600" cy="2937600"/>
          </a:xfrm>
          <a:prstGeom prst="rect">
            <a:avLst/>
          </a:prstGeom>
          <a:noFill/>
        </p:spPr>
        <p:txBody>
          <a:bodyPr lIns="622800" tIns="622800" rIns="622800" bIns="622800" numCol="1" spcCol="0">
            <a:normAutofit/>
          </a:bodyPr>
          <a:lstStyle>
            <a:lvl1pPr algn="ctr">
              <a:lnSpc>
                <a:spcPct val="150000"/>
              </a:lnSpc>
              <a:spcBef>
                <a:spcPts val="675"/>
              </a:spcBef>
              <a:defRPr sz="2400">
                <a:solidFill>
                  <a:srgbClr val="005EB8"/>
                </a:solidFill>
              </a:defRPr>
            </a:lvl1pPr>
            <a:lvl2pPr algn="ctr">
              <a:defRPr sz="1800"/>
            </a:lvl2pPr>
            <a:lvl3pPr algn="ctr">
              <a:defRPr sz="1800"/>
            </a:lvl3pPr>
            <a:lvl4pPr algn="ctr">
              <a:defRPr sz="1800"/>
            </a:lvl4pPr>
          </a:lstStyle>
          <a:p>
            <a:pPr lvl="0"/>
            <a:r>
              <a:rPr lang="en-GB" dirty="0"/>
              <a:t>Click to edit Master text styles</a:t>
            </a:r>
          </a:p>
        </p:txBody>
      </p:sp>
      <p:sp>
        <p:nvSpPr>
          <p:cNvPr id="20" name="Slide Number Placeholder 31">
            <a:extLst>
              <a:ext uri="{FF2B5EF4-FFF2-40B4-BE49-F238E27FC236}">
                <a16:creationId xmlns:a16="http://schemas.microsoft.com/office/drawing/2014/main" id="{7F7D0CEE-F7A2-BF49-AE5E-A1B18FC75103}"/>
              </a:ext>
            </a:extLst>
          </p:cNvPr>
          <p:cNvSpPr>
            <a:spLocks noGrp="1"/>
          </p:cNvSpPr>
          <p:nvPr>
            <p:ph type="sldNum" sz="quarter" idx="4"/>
          </p:nvPr>
        </p:nvSpPr>
        <p:spPr>
          <a:xfrm>
            <a:off x="10993801" y="6235520"/>
            <a:ext cx="621396" cy="452057"/>
          </a:xfrm>
          <a:prstGeom prst="rect">
            <a:avLst/>
          </a:prstGeom>
        </p:spPr>
        <p:txBody>
          <a:bodyPr vert="horz" lIns="0" tIns="0" rIns="0" bIns="0" rtlCol="0" anchor="ctr"/>
          <a:lstStyle>
            <a:lvl1pPr algn="r">
              <a:defRPr sz="1300">
                <a:solidFill>
                  <a:srgbClr val="003087"/>
                </a:solidFill>
                <a:latin typeface="Arial" panose="020B0604020202020204" pitchFamily="34" charset="0"/>
              </a:defRPr>
            </a:lvl1pPr>
          </a:lstStyle>
          <a:p>
            <a:fld id="{48C91D3C-AA5C-7440-8489-158FBC20DC87}" type="slidenum">
              <a:rPr lang="en-US" smtClean="0"/>
              <a:pPr/>
              <a:t>‹#›</a:t>
            </a:fld>
            <a:endParaRPr lang="en-US" dirty="0"/>
          </a:p>
        </p:txBody>
      </p:sp>
      <p:cxnSp>
        <p:nvCxnSpPr>
          <p:cNvPr id="13" name="Straight Connector 12">
            <a:extLst>
              <a:ext uri="{FF2B5EF4-FFF2-40B4-BE49-F238E27FC236}">
                <a16:creationId xmlns:a16="http://schemas.microsoft.com/office/drawing/2014/main" id="{C7979966-8017-57A3-C28E-8C7A94B4D987}"/>
              </a:ext>
            </a:extLst>
          </p:cNvPr>
          <p:cNvCxnSpPr/>
          <p:nvPr userDrawn="1"/>
        </p:nvCxnSpPr>
        <p:spPr>
          <a:xfrm>
            <a:off x="2818016" y="2604304"/>
            <a:ext cx="6992285" cy="0"/>
          </a:xfrm>
          <a:prstGeom prst="line">
            <a:avLst/>
          </a:prstGeom>
          <a:ln w="12700">
            <a:solidFill>
              <a:srgbClr val="00AB4E"/>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C37D111-2470-93B9-C0C4-BFC26377DA32}"/>
              </a:ext>
            </a:extLst>
          </p:cNvPr>
          <p:cNvCxnSpPr/>
          <p:nvPr userDrawn="1"/>
        </p:nvCxnSpPr>
        <p:spPr>
          <a:xfrm>
            <a:off x="9816845" y="2604306"/>
            <a:ext cx="0" cy="2599463"/>
          </a:xfrm>
          <a:prstGeom prst="line">
            <a:avLst/>
          </a:prstGeom>
          <a:ln w="12700">
            <a:solidFill>
              <a:srgbClr val="00AB4E"/>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C538AC5-C9F1-213A-7985-4D7016F40EDE}"/>
              </a:ext>
            </a:extLst>
          </p:cNvPr>
          <p:cNvCxnSpPr/>
          <p:nvPr userDrawn="1"/>
        </p:nvCxnSpPr>
        <p:spPr>
          <a:xfrm>
            <a:off x="2381700" y="5552907"/>
            <a:ext cx="6992285" cy="0"/>
          </a:xfrm>
          <a:prstGeom prst="line">
            <a:avLst/>
          </a:prstGeom>
          <a:ln w="12700">
            <a:solidFill>
              <a:srgbClr val="00AB4E"/>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EBB7150-6A2F-BCEB-E4C3-34DE8A744643}"/>
              </a:ext>
            </a:extLst>
          </p:cNvPr>
          <p:cNvCxnSpPr/>
          <p:nvPr userDrawn="1"/>
        </p:nvCxnSpPr>
        <p:spPr>
          <a:xfrm>
            <a:off x="2381700" y="2953446"/>
            <a:ext cx="0" cy="2599463"/>
          </a:xfrm>
          <a:prstGeom prst="line">
            <a:avLst/>
          </a:prstGeom>
          <a:ln w="12700">
            <a:solidFill>
              <a:srgbClr val="00AB4E"/>
            </a:solidFill>
          </a:ln>
        </p:spPr>
        <p:style>
          <a:lnRef idx="1">
            <a:schemeClr val="accent1"/>
          </a:lnRef>
          <a:fillRef idx="0">
            <a:schemeClr val="accent1"/>
          </a:fillRef>
          <a:effectRef idx="0">
            <a:schemeClr val="accent1"/>
          </a:effectRef>
          <a:fontRef idx="minor">
            <a:schemeClr val="tx1"/>
          </a:fontRef>
        </p:style>
      </p:cxnSp>
      <p:pic>
        <p:nvPicPr>
          <p:cNvPr id="9" name="Graphic 8">
            <a:extLst>
              <a:ext uri="{FF2B5EF4-FFF2-40B4-BE49-F238E27FC236}">
                <a16:creationId xmlns:a16="http://schemas.microsoft.com/office/drawing/2014/main" id="{578CB708-69F4-F716-C53C-0720B2692E23}"/>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9291051" y="5288442"/>
            <a:ext cx="830400" cy="495300"/>
          </a:xfrm>
          <a:prstGeom prst="rect">
            <a:avLst/>
          </a:prstGeom>
        </p:spPr>
      </p:pic>
      <p:pic>
        <p:nvPicPr>
          <p:cNvPr id="8" name="Graphic 7">
            <a:extLst>
              <a:ext uri="{FF2B5EF4-FFF2-40B4-BE49-F238E27FC236}">
                <a16:creationId xmlns:a16="http://schemas.microsoft.com/office/drawing/2014/main" id="{86B996BB-A738-63AA-7BB1-E0F095BFD483}"/>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2063673" y="2367117"/>
            <a:ext cx="830400" cy="496800"/>
          </a:xfrm>
          <a:prstGeom prst="rect">
            <a:avLst/>
          </a:prstGeom>
        </p:spPr>
      </p:pic>
    </p:spTree>
    <p:extLst>
      <p:ext uri="{BB962C8B-B14F-4D97-AF65-F5344CB8AC3E}">
        <p14:creationId xmlns:p14="http://schemas.microsoft.com/office/powerpoint/2010/main" val="24113380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24A45195-26D5-08DF-49BA-5D132B941EA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12571047"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22041" indent="0" algn="ctr">
              <a:buNone/>
              <a:defRPr>
                <a:solidFill>
                  <a:schemeClr val="tx1">
                    <a:tint val="75000"/>
                  </a:schemeClr>
                </a:solidFill>
              </a:defRPr>
            </a:lvl2pPr>
            <a:lvl3pPr marL="844083" indent="0" algn="ctr">
              <a:buNone/>
              <a:defRPr>
                <a:solidFill>
                  <a:schemeClr val="tx1">
                    <a:tint val="75000"/>
                  </a:schemeClr>
                </a:solidFill>
              </a:defRPr>
            </a:lvl3pPr>
            <a:lvl4pPr marL="1266124" indent="0" algn="ctr">
              <a:buNone/>
              <a:defRPr>
                <a:solidFill>
                  <a:schemeClr val="tx1">
                    <a:tint val="75000"/>
                  </a:schemeClr>
                </a:solidFill>
              </a:defRPr>
            </a:lvl4pPr>
            <a:lvl5pPr marL="1688165" indent="0" algn="ctr">
              <a:buNone/>
              <a:defRPr>
                <a:solidFill>
                  <a:schemeClr val="tx1">
                    <a:tint val="75000"/>
                  </a:schemeClr>
                </a:solidFill>
              </a:defRPr>
            </a:lvl5pPr>
            <a:lvl6pPr marL="2110207" indent="0" algn="ctr">
              <a:buNone/>
              <a:defRPr>
                <a:solidFill>
                  <a:schemeClr val="tx1">
                    <a:tint val="75000"/>
                  </a:schemeClr>
                </a:solidFill>
              </a:defRPr>
            </a:lvl6pPr>
            <a:lvl7pPr marL="2532248" indent="0" algn="ctr">
              <a:buNone/>
              <a:defRPr>
                <a:solidFill>
                  <a:schemeClr val="tx1">
                    <a:tint val="75000"/>
                  </a:schemeClr>
                </a:solidFill>
              </a:defRPr>
            </a:lvl7pPr>
            <a:lvl8pPr marL="2954289" indent="0" algn="ctr">
              <a:buNone/>
              <a:defRPr>
                <a:solidFill>
                  <a:schemeClr val="tx1">
                    <a:tint val="75000"/>
                  </a:schemeClr>
                </a:solidFill>
              </a:defRPr>
            </a:lvl8pPr>
            <a:lvl9pPr marL="3376331" indent="0" algn="ctr">
              <a:buNone/>
              <a:defRPr>
                <a:solidFill>
                  <a:schemeClr val="tx1">
                    <a:tint val="75000"/>
                  </a:schemeClr>
                </a:solidFill>
              </a:defRPr>
            </a:lvl9pPr>
          </a:lstStyle>
          <a:p>
            <a:r>
              <a:rPr lang="en-US"/>
              <a:t>Click to edit Master subtitle style</a:t>
            </a:r>
          </a:p>
        </p:txBody>
      </p:sp>
      <p:sp>
        <p:nvSpPr>
          <p:cNvPr id="5" name="Date Placeholder 3">
            <a:extLst>
              <a:ext uri="{FF2B5EF4-FFF2-40B4-BE49-F238E27FC236}">
                <a16:creationId xmlns:a16="http://schemas.microsoft.com/office/drawing/2014/main" id="{700716DD-1521-1B66-9028-B0BA9A61A019}"/>
              </a:ext>
            </a:extLst>
          </p:cNvPr>
          <p:cNvSpPr>
            <a:spLocks noGrp="1"/>
          </p:cNvSpPr>
          <p:nvPr>
            <p:ph type="dt" sz="half" idx="10"/>
          </p:nvPr>
        </p:nvSpPr>
        <p:spPr/>
        <p:txBody>
          <a:bodyPr/>
          <a:lstStyle>
            <a:lvl1pPr>
              <a:defRPr/>
            </a:lvl1pPr>
          </a:lstStyle>
          <a:p>
            <a:pPr>
              <a:defRPr/>
            </a:pPr>
            <a:fld id="{D0B107BD-7A55-4CF5-977D-AF40D8E6181A}" type="datetimeFigureOut">
              <a:rPr lang="en-US"/>
              <a:pPr>
                <a:defRPr/>
              </a:pPr>
              <a:t>7/11/2025</a:t>
            </a:fld>
            <a:endParaRPr lang="en-US"/>
          </a:p>
        </p:txBody>
      </p:sp>
      <p:sp>
        <p:nvSpPr>
          <p:cNvPr id="6" name="Footer Placeholder 4">
            <a:extLst>
              <a:ext uri="{FF2B5EF4-FFF2-40B4-BE49-F238E27FC236}">
                <a16:creationId xmlns:a16="http://schemas.microsoft.com/office/drawing/2014/main" id="{81C88140-DC68-7BAD-2966-F84B17E0DC7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A785015-71A9-A19A-50BC-7491A3A0C8A5}"/>
              </a:ext>
            </a:extLst>
          </p:cNvPr>
          <p:cNvSpPr>
            <a:spLocks noGrp="1"/>
          </p:cNvSpPr>
          <p:nvPr>
            <p:ph type="sldNum" sz="quarter" idx="12"/>
          </p:nvPr>
        </p:nvSpPr>
        <p:spPr/>
        <p:txBody>
          <a:bodyPr/>
          <a:lstStyle>
            <a:lvl1pPr>
              <a:defRPr/>
            </a:lvl1pPr>
          </a:lstStyle>
          <a:p>
            <a:pPr>
              <a:defRPr/>
            </a:pPr>
            <a:fld id="{4503B67C-D9AE-451D-A20D-8B4A3F4A3141}" type="slidenum">
              <a:rPr lang="en-US" altLang="en-US"/>
              <a:pPr>
                <a:defRPr/>
              </a:pPr>
              <a:t>‹#›</a:t>
            </a:fld>
            <a:endParaRPr lang="en-US" altLang="en-US"/>
          </a:p>
        </p:txBody>
      </p:sp>
    </p:spTree>
    <p:extLst>
      <p:ext uri="{BB962C8B-B14F-4D97-AF65-F5344CB8AC3E}">
        <p14:creationId xmlns:p14="http://schemas.microsoft.com/office/powerpoint/2010/main" val="4043564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22.xml"/><Relationship Id="rId7" Type="http://schemas.openxmlformats.org/officeDocument/2006/relationships/image" Target="../media/image2.sv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1.png"/><Relationship Id="rId5" Type="http://schemas.openxmlformats.org/officeDocument/2006/relationships/theme" Target="../theme/theme3.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32A7C5A-11D7-44E8-8732-EE996C15B342}" type="datetimeFigureOut">
              <a:rPr lang="en-GB" smtClean="0"/>
              <a:t>11/07/2025</a:t>
            </a:fld>
            <a:endParaRPr lang="en-GB"/>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Tree>
    <p:extLst>
      <p:ext uri="{BB962C8B-B14F-4D97-AF65-F5344CB8AC3E}">
        <p14:creationId xmlns:p14="http://schemas.microsoft.com/office/powerpoint/2010/main" val="4602809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8" r:id="rId3"/>
    <p:sldLayoutId id="2147483663" r:id="rId4"/>
    <p:sldLayoutId id="2147483664" r:id="rId5"/>
    <p:sldLayoutId id="2147483665" r:id="rId6"/>
    <p:sldLayoutId id="2147483666" r:id="rId7"/>
    <p:sldLayoutId id="2147483667" r:id="rId8"/>
    <p:sldLayoutId id="214748367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9FE53120-0796-DB0A-8E3C-45F2DB0529F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733600" y="379045"/>
            <a:ext cx="2020800" cy="917703"/>
          </a:xfrm>
          <a:prstGeom prst="rect">
            <a:avLst/>
          </a:prstGeom>
        </p:spPr>
      </p:pic>
      <p:grpSp>
        <p:nvGrpSpPr>
          <p:cNvPr id="2" name="Group 1">
            <a:extLst>
              <a:ext uri="{FF2B5EF4-FFF2-40B4-BE49-F238E27FC236}">
                <a16:creationId xmlns:a16="http://schemas.microsoft.com/office/drawing/2014/main" id="{6946AEE9-FA5E-55B5-8C0F-B4668D012184}"/>
              </a:ext>
            </a:extLst>
          </p:cNvPr>
          <p:cNvGrpSpPr/>
          <p:nvPr userDrawn="1"/>
        </p:nvGrpSpPr>
        <p:grpSpPr>
          <a:xfrm>
            <a:off x="0" y="4954045"/>
            <a:ext cx="11596453" cy="828001"/>
            <a:chOff x="-902400" y="4954045"/>
            <a:chExt cx="11898544" cy="828001"/>
          </a:xfrm>
          <a:gradFill>
            <a:gsLst>
              <a:gs pos="0">
                <a:srgbClr val="422C88"/>
              </a:gs>
              <a:gs pos="59000">
                <a:srgbClr val="422C88"/>
              </a:gs>
              <a:gs pos="81000">
                <a:srgbClr val="003087"/>
              </a:gs>
              <a:gs pos="100000">
                <a:srgbClr val="023087"/>
              </a:gs>
            </a:gsLst>
            <a:lin ang="10800000" scaled="0"/>
          </a:gradFill>
        </p:grpSpPr>
        <p:sp>
          <p:nvSpPr>
            <p:cNvPr id="3" name="Rectangle 2">
              <a:extLst>
                <a:ext uri="{FF2B5EF4-FFF2-40B4-BE49-F238E27FC236}">
                  <a16:creationId xmlns:a16="http://schemas.microsoft.com/office/drawing/2014/main" id="{202F4EF1-253D-816B-B64B-54C55AAAD4C4}"/>
                </a:ext>
              </a:extLst>
            </p:cNvPr>
            <p:cNvSpPr/>
            <p:nvPr userDrawn="1"/>
          </p:nvSpPr>
          <p:spPr>
            <a:xfrm>
              <a:off x="-902400" y="4954046"/>
              <a:ext cx="11418000" cy="82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003087"/>
                </a:solidFill>
                <a:highlight>
                  <a:srgbClr val="FFFF00"/>
                </a:highlight>
                <a:latin typeface="Arial" panose="020B0604020202020204" pitchFamily="34" charset="0"/>
              </a:endParaRPr>
            </a:p>
          </p:txBody>
        </p:sp>
        <p:sp>
          <p:nvSpPr>
            <p:cNvPr id="4" name="Oval 3">
              <a:extLst>
                <a:ext uri="{FF2B5EF4-FFF2-40B4-BE49-F238E27FC236}">
                  <a16:creationId xmlns:a16="http://schemas.microsoft.com/office/drawing/2014/main" id="{D8DD90D8-8047-ADA9-D5D7-15822745ED25}"/>
                </a:ext>
              </a:extLst>
            </p:cNvPr>
            <p:cNvSpPr/>
            <p:nvPr userDrawn="1"/>
          </p:nvSpPr>
          <p:spPr>
            <a:xfrm>
              <a:off x="9890464" y="4954045"/>
              <a:ext cx="1105680" cy="82800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003087"/>
                </a:solidFill>
                <a:highlight>
                  <a:srgbClr val="FFFF00"/>
                </a:highlight>
                <a:latin typeface="Arial" panose="020B0604020202020204" pitchFamily="34" charset="0"/>
              </a:endParaRPr>
            </a:p>
          </p:txBody>
        </p:sp>
      </p:grpSp>
      <p:pic>
        <p:nvPicPr>
          <p:cNvPr id="5" name="Picture 4" descr="A picture containing outdoor object&#10;&#10;Description automatically generated">
            <a:extLst>
              <a:ext uri="{FF2B5EF4-FFF2-40B4-BE49-F238E27FC236}">
                <a16:creationId xmlns:a16="http://schemas.microsoft.com/office/drawing/2014/main" id="{1E08F386-A768-66C7-3BBC-CE7A7131611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01538" y="25053"/>
            <a:ext cx="7341916" cy="7018967"/>
          </a:xfrm>
          <a:prstGeom prst="rect">
            <a:avLst/>
          </a:prstGeom>
        </p:spPr>
      </p:pic>
      <p:sp>
        <p:nvSpPr>
          <p:cNvPr id="6" name="Rectangle 5">
            <a:extLst>
              <a:ext uri="{FF2B5EF4-FFF2-40B4-BE49-F238E27FC236}">
                <a16:creationId xmlns:a16="http://schemas.microsoft.com/office/drawing/2014/main" id="{A502D97C-24C3-56BD-CE34-7383744734FE}"/>
              </a:ext>
            </a:extLst>
          </p:cNvPr>
          <p:cNvSpPr/>
          <p:nvPr userDrawn="1"/>
        </p:nvSpPr>
        <p:spPr>
          <a:xfrm>
            <a:off x="0" y="4954045"/>
            <a:ext cx="3640899" cy="828001"/>
          </a:xfrm>
          <a:prstGeom prst="rect">
            <a:avLst/>
          </a:prstGeom>
          <a:solidFill>
            <a:srgbClr val="0030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Arial" panose="020B0604020202020204" pitchFamily="34" charset="0"/>
            </a:endParaRPr>
          </a:p>
        </p:txBody>
      </p:sp>
      <p:pic>
        <p:nvPicPr>
          <p:cNvPr id="7" name="Picture 6" descr="Text&#10;&#10;Description automatically generated">
            <a:extLst>
              <a:ext uri="{FF2B5EF4-FFF2-40B4-BE49-F238E27FC236}">
                <a16:creationId xmlns:a16="http://schemas.microsoft.com/office/drawing/2014/main" id="{2EA48F88-18BE-0600-B485-364F9EFD638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72191" y="5020644"/>
            <a:ext cx="3474000" cy="694800"/>
          </a:xfrm>
          <a:prstGeom prst="rect">
            <a:avLst/>
          </a:prstGeom>
        </p:spPr>
      </p:pic>
    </p:spTree>
    <p:extLst>
      <p:ext uri="{BB962C8B-B14F-4D97-AF65-F5344CB8AC3E}">
        <p14:creationId xmlns:p14="http://schemas.microsoft.com/office/powerpoint/2010/main" val="2812502915"/>
      </p:ext>
    </p:extLst>
  </p:cSld>
  <p:clrMap bg1="lt1" tx1="dk1" bg2="lt2" tx2="dk2" accent1="accent1" accent2="accent2" accent3="accent3" accent4="accent4" accent5="accent5" accent6="accent6" hlink="hlink" folHlink="folHlink"/>
  <p:sldLayoutIdLst>
    <p:sldLayoutId id="214748368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9550401" y="6235519"/>
            <a:ext cx="1443401" cy="452056"/>
          </a:xfrm>
          <a:prstGeom prst="rect">
            <a:avLst/>
          </a:prstGeom>
        </p:spPr>
        <p:txBody>
          <a:bodyPr vert="horz" lIns="91440" tIns="45720" rIns="91440" bIns="45720" rtlCol="0" anchor="ctr"/>
          <a:lstStyle>
            <a:lvl1pPr algn="l">
              <a:defRPr sz="1300">
                <a:solidFill>
                  <a:srgbClr val="003087"/>
                </a:solidFill>
                <a:latin typeface="Arial" panose="020B0604020202020204" pitchFamily="34" charset="0"/>
              </a:defRPr>
            </a:lvl1pPr>
          </a:lstStyle>
          <a:p>
            <a:fld id="{A2760138-631E-9148-86D9-90EB07201C03}" type="datetime1">
              <a:rPr lang="en-GB" smtClean="0"/>
              <a:pPr/>
              <a:t>11/07/2025</a:t>
            </a:fld>
            <a:endParaRPr lang="en-GB" dirty="0"/>
          </a:p>
        </p:txBody>
      </p:sp>
      <p:pic>
        <p:nvPicPr>
          <p:cNvPr id="8" name="Graphic 7">
            <a:extLst>
              <a:ext uri="{FF2B5EF4-FFF2-40B4-BE49-F238E27FC236}">
                <a16:creationId xmlns:a16="http://schemas.microsoft.com/office/drawing/2014/main" id="{5883AF41-8ECA-B141-B967-E3F8C1183328}"/>
              </a:ext>
            </a:extLst>
          </p:cNvPr>
          <p:cNvPicPr>
            <a:picLocks/>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811200" y="255478"/>
            <a:ext cx="2020800" cy="918000"/>
          </a:xfrm>
          <a:prstGeom prst="rect">
            <a:avLst/>
          </a:prstGeom>
        </p:spPr>
      </p:pic>
      <p:sp>
        <p:nvSpPr>
          <p:cNvPr id="32" name="Slide Number Placeholder 31">
            <a:extLst>
              <a:ext uri="{FF2B5EF4-FFF2-40B4-BE49-F238E27FC236}">
                <a16:creationId xmlns:a16="http://schemas.microsoft.com/office/drawing/2014/main" id="{280BD5CA-AD23-5B47-AE98-0113C41E56F5}"/>
              </a:ext>
            </a:extLst>
          </p:cNvPr>
          <p:cNvSpPr>
            <a:spLocks noGrp="1"/>
          </p:cNvSpPr>
          <p:nvPr>
            <p:ph type="sldNum" sz="quarter" idx="4"/>
          </p:nvPr>
        </p:nvSpPr>
        <p:spPr>
          <a:xfrm>
            <a:off x="10993801" y="6235520"/>
            <a:ext cx="621396" cy="452057"/>
          </a:xfrm>
          <a:prstGeom prst="rect">
            <a:avLst/>
          </a:prstGeom>
        </p:spPr>
        <p:txBody>
          <a:bodyPr vert="horz" lIns="0" tIns="0" rIns="0" bIns="0" rtlCol="0" anchor="ctr"/>
          <a:lstStyle>
            <a:lvl1pPr algn="r">
              <a:defRPr sz="1300">
                <a:solidFill>
                  <a:srgbClr val="003087"/>
                </a:solidFill>
                <a:latin typeface="Arial" panose="020B0604020202020204" pitchFamily="34" charset="0"/>
              </a:defRPr>
            </a:lvl1pPr>
          </a:lstStyle>
          <a:p>
            <a:fld id="{48C91D3C-AA5C-7440-8489-158FBC20DC87}" type="slidenum">
              <a:rPr lang="en-US" smtClean="0"/>
              <a:pPr/>
              <a:t>‹#›</a:t>
            </a:fld>
            <a:endParaRPr lang="en-US" dirty="0"/>
          </a:p>
        </p:txBody>
      </p:sp>
      <p:pic>
        <p:nvPicPr>
          <p:cNvPr id="6" name="Picture 5">
            <a:extLst>
              <a:ext uri="{FF2B5EF4-FFF2-40B4-BE49-F238E27FC236}">
                <a16:creationId xmlns:a16="http://schemas.microsoft.com/office/drawing/2014/main" id="{C1A07446-5219-637C-523E-0175BBD30F68}"/>
              </a:ext>
            </a:extLst>
          </p:cNvPr>
          <p:cNvPicPr>
            <a:picLocks/>
          </p:cNvPicPr>
          <p:nvPr userDrawn="1"/>
        </p:nvPicPr>
        <p:blipFill>
          <a:blip r:embed="rId8">
            <a:extLst>
              <a:ext uri="{28A0092B-C50C-407E-A947-70E740481C1C}">
                <a14:useLocalDpi xmlns:a14="http://schemas.microsoft.com/office/drawing/2010/main" val="0"/>
              </a:ext>
            </a:extLst>
          </a:blip>
          <a:stretch>
            <a:fillRect/>
          </a:stretch>
        </p:blipFill>
        <p:spPr>
          <a:xfrm>
            <a:off x="231257" y="6114147"/>
            <a:ext cx="3475200" cy="694800"/>
          </a:xfrm>
          <a:prstGeom prst="rect">
            <a:avLst/>
          </a:prstGeom>
        </p:spPr>
      </p:pic>
    </p:spTree>
    <p:extLst>
      <p:ext uri="{BB962C8B-B14F-4D97-AF65-F5344CB8AC3E}">
        <p14:creationId xmlns:p14="http://schemas.microsoft.com/office/powerpoint/2010/main" val="3034151518"/>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Lst>
  <p:hf hdr="0"/>
  <p:txStyles>
    <p:titleStyle>
      <a:lvl1pPr algn="l" defTabSz="685800" rtl="0" eaLnBrk="1" latinLnBrk="0" hangingPunct="1">
        <a:lnSpc>
          <a:spcPct val="90000"/>
        </a:lnSpc>
        <a:spcBef>
          <a:spcPct val="0"/>
        </a:spcBef>
        <a:buNone/>
        <a:defRPr sz="4400" kern="1200" spc="-113">
          <a:solidFill>
            <a:srgbClr val="005EB8"/>
          </a:solidFill>
          <a:latin typeface="Arial" panose="020B0604020202020204" pitchFamily="34" charset="0"/>
          <a:ea typeface="Arial" panose="020B0604020202020204" pitchFamily="34" charset="0"/>
          <a:cs typeface="Arial" panose="020B0604020202020204" pitchFamily="34" charset="0"/>
        </a:defRPr>
      </a:lvl1pPr>
    </p:titleStyle>
    <p:bodyStyle>
      <a:lvl1pPr marL="0" indent="0" algn="l" defTabSz="685800" rtl="0" eaLnBrk="1" latinLnBrk="0" hangingPunct="1">
        <a:lnSpc>
          <a:spcPct val="100000"/>
        </a:lnSpc>
        <a:spcBef>
          <a:spcPts val="900"/>
        </a:spcBef>
        <a:buFont typeface="Arial"/>
        <a:buNone/>
        <a:defRPr sz="1600" kern="1200">
          <a:solidFill>
            <a:srgbClr val="000000"/>
          </a:solidFill>
          <a:latin typeface="Arial" panose="020B0604020202020204" pitchFamily="34" charset="0"/>
          <a:ea typeface="Arial" panose="020B0604020202020204" pitchFamily="34" charset="0"/>
          <a:cs typeface="Arial" panose="020B0604020202020204" pitchFamily="34" charset="0"/>
        </a:defRPr>
      </a:lvl1pPr>
      <a:lvl2pPr marL="514350" indent="-171450" algn="l" defTabSz="685800" rtl="0" eaLnBrk="1" latinLnBrk="0" hangingPunct="1">
        <a:lnSpc>
          <a:spcPct val="100000"/>
        </a:lnSpc>
        <a:spcBef>
          <a:spcPts val="900"/>
        </a:spcBef>
        <a:buFont typeface="Arial"/>
        <a:buChar char="•"/>
        <a:defRPr sz="1600" kern="1200">
          <a:solidFill>
            <a:srgbClr val="000000"/>
          </a:solidFill>
          <a:latin typeface="Arial" panose="020B0604020202020204" pitchFamily="34" charset="0"/>
          <a:ea typeface="Arial" panose="020B0604020202020204" pitchFamily="34" charset="0"/>
          <a:cs typeface="Arial" panose="020B0604020202020204" pitchFamily="34" charset="0"/>
        </a:defRPr>
      </a:lvl2pPr>
      <a:lvl3pPr marL="857250" indent="-171450" algn="l" defTabSz="685800" rtl="0" eaLnBrk="1" latinLnBrk="0" hangingPunct="1">
        <a:lnSpc>
          <a:spcPct val="100000"/>
        </a:lnSpc>
        <a:spcBef>
          <a:spcPts val="900"/>
        </a:spcBef>
        <a:buFont typeface="Arial"/>
        <a:buChar char="•"/>
        <a:defRPr sz="1400" kern="1200">
          <a:solidFill>
            <a:srgbClr val="000000"/>
          </a:solidFill>
          <a:latin typeface="Arial" panose="020B0604020202020204" pitchFamily="34" charset="0"/>
          <a:ea typeface="Arial" panose="020B0604020202020204" pitchFamily="34" charset="0"/>
          <a:cs typeface="Arial" panose="020B0604020202020204" pitchFamily="34" charset="0"/>
        </a:defRPr>
      </a:lvl3pPr>
      <a:lvl4pPr marL="1200150" marR="0" indent="-171450" algn="l" defTabSz="685800" rtl="0" eaLnBrk="1" fontAlgn="auto" latinLnBrk="0" hangingPunct="1">
        <a:lnSpc>
          <a:spcPct val="100000"/>
        </a:lnSpc>
        <a:spcBef>
          <a:spcPts val="900"/>
        </a:spcBef>
        <a:spcAft>
          <a:spcPts val="0"/>
        </a:spcAft>
        <a:buClrTx/>
        <a:buSzTx/>
        <a:buFont typeface="Arial"/>
        <a:buChar char="•"/>
        <a:tabLst/>
        <a:defRPr sz="1200" kern="1200">
          <a:solidFill>
            <a:srgbClr val="000000"/>
          </a:solidFill>
          <a:latin typeface="Arial" panose="020B0604020202020204" pitchFamily="34" charset="0"/>
          <a:ea typeface="Arial" panose="020B0604020202020204" pitchFamily="34" charset="0"/>
          <a:cs typeface="Arial" panose="020B0604020202020204" pitchFamily="34" charset="0"/>
        </a:defRPr>
      </a:lvl4pPr>
      <a:lvl5pPr marL="1543050" indent="-171450" algn="l" defTabSz="685800" rtl="0" eaLnBrk="1" latinLnBrk="0" hangingPunct="1">
        <a:lnSpc>
          <a:spcPct val="100000"/>
        </a:lnSpc>
        <a:spcBef>
          <a:spcPts val="900"/>
        </a:spcBef>
        <a:buFont typeface="Arial"/>
        <a:buChar char="•"/>
        <a:defRPr sz="1000" kern="1200">
          <a:solidFill>
            <a:srgbClr val="000000"/>
          </a:solidFill>
          <a:latin typeface="Arial" panose="020B0604020202020204" pitchFamily="34" charset="0"/>
          <a:ea typeface="Arial" panose="020B0604020202020204" pitchFamily="34" charset="0"/>
          <a:cs typeface="Arial" panose="020B0604020202020204" pitchFamily="34"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 Id="rId5" Type="http://schemas.openxmlformats.org/officeDocument/2006/relationships/image" Target="../media/image12.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18" Type="http://schemas.openxmlformats.org/officeDocument/2006/relationships/image" Target="../media/image26.svg"/><Relationship Id="rId3" Type="http://schemas.openxmlformats.org/officeDocument/2006/relationships/image" Target="../media/image9.png"/><Relationship Id="rId7" Type="http://schemas.openxmlformats.org/officeDocument/2006/relationships/image" Target="../media/image15.png"/><Relationship Id="rId12" Type="http://schemas.openxmlformats.org/officeDocument/2006/relationships/image" Target="../media/image20.svg"/><Relationship Id="rId17" Type="http://schemas.openxmlformats.org/officeDocument/2006/relationships/image" Target="../media/image25.png"/><Relationship Id="rId2" Type="http://schemas.openxmlformats.org/officeDocument/2006/relationships/notesSlide" Target="../notesSlides/notesSlide1.xml"/><Relationship Id="rId16" Type="http://schemas.openxmlformats.org/officeDocument/2006/relationships/image" Target="../media/image24.svg"/><Relationship Id="rId1" Type="http://schemas.openxmlformats.org/officeDocument/2006/relationships/slideLayout" Target="../slideLayouts/slideLayout9.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svg"/><Relationship Id="rId19" Type="http://schemas.openxmlformats.org/officeDocument/2006/relationships/image" Target="../media/image27.png"/><Relationship Id="rId4" Type="http://schemas.openxmlformats.org/officeDocument/2006/relationships/image" Target="../media/image10.png"/><Relationship Id="rId9" Type="http://schemas.openxmlformats.org/officeDocument/2006/relationships/image" Target="../media/image17.png"/><Relationship Id="rId14" Type="http://schemas.openxmlformats.org/officeDocument/2006/relationships/image" Target="../media/image22.sv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svg"/><Relationship Id="rId18" Type="http://schemas.openxmlformats.org/officeDocument/2006/relationships/image" Target="../media/image23.png"/><Relationship Id="rId3" Type="http://schemas.openxmlformats.org/officeDocument/2006/relationships/image" Target="../media/image28.png"/><Relationship Id="rId7" Type="http://schemas.openxmlformats.org/officeDocument/2006/relationships/image" Target="../media/image14.svg"/><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notesSlide" Target="../notesSlides/notesSlide2.xml"/><Relationship Id="rId16" Type="http://schemas.openxmlformats.org/officeDocument/2006/relationships/image" Target="../media/image21.png"/><Relationship Id="rId1" Type="http://schemas.openxmlformats.org/officeDocument/2006/relationships/slideLayout" Target="../slideLayouts/slideLayout9.xml"/><Relationship Id="rId6" Type="http://schemas.openxmlformats.org/officeDocument/2006/relationships/image" Target="../media/image13.png"/><Relationship Id="rId11" Type="http://schemas.openxmlformats.org/officeDocument/2006/relationships/image" Target="../media/image26.svg"/><Relationship Id="rId5" Type="http://schemas.openxmlformats.org/officeDocument/2006/relationships/image" Target="../media/image10.png"/><Relationship Id="rId15" Type="http://schemas.openxmlformats.org/officeDocument/2006/relationships/image" Target="../media/image20.svg"/><Relationship Id="rId10" Type="http://schemas.openxmlformats.org/officeDocument/2006/relationships/image" Target="../media/image25.png"/><Relationship Id="rId19" Type="http://schemas.openxmlformats.org/officeDocument/2006/relationships/image" Target="../media/image24.svg"/><Relationship Id="rId4" Type="http://schemas.openxmlformats.org/officeDocument/2006/relationships/image" Target="../media/image9.png"/><Relationship Id="rId9" Type="http://schemas.openxmlformats.org/officeDocument/2006/relationships/image" Target="../media/image16.svg"/><Relationship Id="rId14"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18" Type="http://schemas.openxmlformats.org/officeDocument/2006/relationships/image" Target="../media/image30.png"/><Relationship Id="rId3" Type="http://schemas.openxmlformats.org/officeDocument/2006/relationships/image" Target="../media/image9.png"/><Relationship Id="rId21" Type="http://schemas.openxmlformats.org/officeDocument/2006/relationships/image" Target="../media/image31.jpeg"/><Relationship Id="rId7" Type="http://schemas.openxmlformats.org/officeDocument/2006/relationships/image" Target="../media/image14.svg"/><Relationship Id="rId12" Type="http://schemas.openxmlformats.org/officeDocument/2006/relationships/image" Target="../media/image19.png"/><Relationship Id="rId17" Type="http://schemas.openxmlformats.org/officeDocument/2006/relationships/image" Target="../media/image24.sv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6.svg"/><Relationship Id="rId1" Type="http://schemas.openxmlformats.org/officeDocument/2006/relationships/slideLayout" Target="../slideLayouts/slideLayout9.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29.png"/><Relationship Id="rId15" Type="http://schemas.openxmlformats.org/officeDocument/2006/relationships/image" Target="../media/image22.svg"/><Relationship Id="rId10" Type="http://schemas.openxmlformats.org/officeDocument/2006/relationships/image" Target="../media/image17.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6.svg"/><Relationship Id="rId14"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18" Type="http://schemas.openxmlformats.org/officeDocument/2006/relationships/image" Target="../media/image23.png"/><Relationship Id="rId3" Type="http://schemas.openxmlformats.org/officeDocument/2006/relationships/image" Target="../media/image32.png"/><Relationship Id="rId21" Type="http://schemas.openxmlformats.org/officeDocument/2006/relationships/image" Target="../media/image26.svg"/><Relationship Id="rId7" Type="http://schemas.openxmlformats.org/officeDocument/2006/relationships/image" Target="../media/image34.png"/><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notesSlide" Target="../notesSlides/notesSlide4.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9.xml"/><Relationship Id="rId6" Type="http://schemas.openxmlformats.org/officeDocument/2006/relationships/image" Target="../media/image10.png"/><Relationship Id="rId11" Type="http://schemas.openxmlformats.org/officeDocument/2006/relationships/image" Target="../media/image16.svg"/><Relationship Id="rId5" Type="http://schemas.openxmlformats.org/officeDocument/2006/relationships/image" Target="../media/image9.png"/><Relationship Id="rId15" Type="http://schemas.openxmlformats.org/officeDocument/2006/relationships/image" Target="../media/image20.svg"/><Relationship Id="rId10" Type="http://schemas.openxmlformats.org/officeDocument/2006/relationships/image" Target="../media/image15.png"/><Relationship Id="rId19" Type="http://schemas.openxmlformats.org/officeDocument/2006/relationships/image" Target="../media/image24.svg"/><Relationship Id="rId4" Type="http://schemas.openxmlformats.org/officeDocument/2006/relationships/image" Target="../media/image33.png"/><Relationship Id="rId9" Type="http://schemas.openxmlformats.org/officeDocument/2006/relationships/image" Target="../media/image14.svg"/><Relationship Id="rId1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18" Type="http://schemas.openxmlformats.org/officeDocument/2006/relationships/image" Target="../media/image24.svg"/><Relationship Id="rId3" Type="http://schemas.openxmlformats.org/officeDocument/2006/relationships/image" Target="../media/image35.png"/><Relationship Id="rId7" Type="http://schemas.openxmlformats.org/officeDocument/2006/relationships/image" Target="../media/image13.png"/><Relationship Id="rId12" Type="http://schemas.openxmlformats.org/officeDocument/2006/relationships/image" Target="../media/image18.svg"/><Relationship Id="rId17" Type="http://schemas.openxmlformats.org/officeDocument/2006/relationships/image" Target="../media/image23.png"/><Relationship Id="rId2" Type="http://schemas.openxmlformats.org/officeDocument/2006/relationships/notesSlide" Target="../notesSlides/notesSlide5.xml"/><Relationship Id="rId16" Type="http://schemas.openxmlformats.org/officeDocument/2006/relationships/image" Target="../media/image22.svg"/><Relationship Id="rId20" Type="http://schemas.openxmlformats.org/officeDocument/2006/relationships/image" Target="../media/image26.svg"/><Relationship Id="rId1" Type="http://schemas.openxmlformats.org/officeDocument/2006/relationships/slideLayout" Target="../slideLayouts/slideLayout9.xml"/><Relationship Id="rId6" Type="http://schemas.openxmlformats.org/officeDocument/2006/relationships/image" Target="../media/image36.png"/><Relationship Id="rId11" Type="http://schemas.openxmlformats.org/officeDocument/2006/relationships/image" Target="../media/image17.png"/><Relationship Id="rId5" Type="http://schemas.openxmlformats.org/officeDocument/2006/relationships/image" Target="../media/image10.png"/><Relationship Id="rId15" Type="http://schemas.openxmlformats.org/officeDocument/2006/relationships/image" Target="../media/image21.png"/><Relationship Id="rId10" Type="http://schemas.openxmlformats.org/officeDocument/2006/relationships/image" Target="../media/image16.svg"/><Relationship Id="rId19" Type="http://schemas.openxmlformats.org/officeDocument/2006/relationships/image" Target="../media/image25.png"/><Relationship Id="rId4" Type="http://schemas.openxmlformats.org/officeDocument/2006/relationships/image" Target="../media/image9.png"/><Relationship Id="rId9" Type="http://schemas.openxmlformats.org/officeDocument/2006/relationships/image" Target="../media/image15.png"/><Relationship Id="rId14" Type="http://schemas.openxmlformats.org/officeDocument/2006/relationships/image" Target="../media/image20.sv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svg"/><Relationship Id="rId18" Type="http://schemas.openxmlformats.org/officeDocument/2006/relationships/image" Target="../media/image23.png"/><Relationship Id="rId3" Type="http://schemas.openxmlformats.org/officeDocument/2006/relationships/image" Target="../media/image9.png"/><Relationship Id="rId21" Type="http://schemas.openxmlformats.org/officeDocument/2006/relationships/image" Target="../media/image26.svg"/><Relationship Id="rId7" Type="http://schemas.openxmlformats.org/officeDocument/2006/relationships/image" Target="../media/image14.svg"/><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notesSlide" Target="../notesSlides/notesSlide6.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9.xml"/><Relationship Id="rId6" Type="http://schemas.openxmlformats.org/officeDocument/2006/relationships/image" Target="../media/image13.png"/><Relationship Id="rId11" Type="http://schemas.openxmlformats.org/officeDocument/2006/relationships/image" Target="../media/image39.svg"/><Relationship Id="rId5" Type="http://schemas.openxmlformats.org/officeDocument/2006/relationships/image" Target="../media/image37.png"/><Relationship Id="rId15" Type="http://schemas.openxmlformats.org/officeDocument/2006/relationships/image" Target="../media/image20.svg"/><Relationship Id="rId10" Type="http://schemas.openxmlformats.org/officeDocument/2006/relationships/image" Target="../media/image38.png"/><Relationship Id="rId19" Type="http://schemas.openxmlformats.org/officeDocument/2006/relationships/image" Target="../media/image24.svg"/><Relationship Id="rId4" Type="http://schemas.openxmlformats.org/officeDocument/2006/relationships/image" Target="../media/image10.png"/><Relationship Id="rId9" Type="http://schemas.openxmlformats.org/officeDocument/2006/relationships/image" Target="../media/image16.svg"/><Relationship Id="rId14" Type="http://schemas.openxmlformats.org/officeDocument/2006/relationships/image" Target="../media/image19.png"/><Relationship Id="rId22" Type="http://schemas.openxmlformats.org/officeDocument/2006/relationships/image" Target="../media/image40.jpe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svg"/><Relationship Id="rId1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14.svg"/><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notesSlide" Target="../notesSlides/notesSlide7.xml"/><Relationship Id="rId16" Type="http://schemas.openxmlformats.org/officeDocument/2006/relationships/image" Target="../media/image21.png"/><Relationship Id="rId20" Type="http://schemas.openxmlformats.org/officeDocument/2006/relationships/image" Target="../media/image42.png"/><Relationship Id="rId1" Type="http://schemas.openxmlformats.org/officeDocument/2006/relationships/slideLayout" Target="../slideLayouts/slideLayout9.xml"/><Relationship Id="rId6" Type="http://schemas.openxmlformats.org/officeDocument/2006/relationships/image" Target="../media/image13.png"/><Relationship Id="rId11" Type="http://schemas.openxmlformats.org/officeDocument/2006/relationships/image" Target="../media/image39.svg"/><Relationship Id="rId5" Type="http://schemas.openxmlformats.org/officeDocument/2006/relationships/image" Target="../media/image41.png"/><Relationship Id="rId15" Type="http://schemas.openxmlformats.org/officeDocument/2006/relationships/image" Target="../media/image20.svg"/><Relationship Id="rId10" Type="http://schemas.openxmlformats.org/officeDocument/2006/relationships/image" Target="../media/image38.png"/><Relationship Id="rId19" Type="http://schemas.openxmlformats.org/officeDocument/2006/relationships/image" Target="../media/image24.svg"/><Relationship Id="rId4" Type="http://schemas.openxmlformats.org/officeDocument/2006/relationships/image" Target="../media/image10.png"/><Relationship Id="rId9" Type="http://schemas.openxmlformats.org/officeDocument/2006/relationships/image" Target="../media/image16.svg"/><Relationship Id="rId1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svg"/><Relationship Id="rId1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14.svg"/><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notesSlide" Target="../notesSlides/notesSlide8.xml"/><Relationship Id="rId16" Type="http://schemas.openxmlformats.org/officeDocument/2006/relationships/image" Target="../media/image21.png"/><Relationship Id="rId20" Type="http://schemas.openxmlformats.org/officeDocument/2006/relationships/image" Target="../media/image44.jpeg"/><Relationship Id="rId1" Type="http://schemas.openxmlformats.org/officeDocument/2006/relationships/slideLayout" Target="../slideLayouts/slideLayout9.xml"/><Relationship Id="rId6" Type="http://schemas.openxmlformats.org/officeDocument/2006/relationships/image" Target="../media/image13.png"/><Relationship Id="rId11" Type="http://schemas.openxmlformats.org/officeDocument/2006/relationships/image" Target="../media/image39.svg"/><Relationship Id="rId5" Type="http://schemas.openxmlformats.org/officeDocument/2006/relationships/image" Target="../media/image43.png"/><Relationship Id="rId15" Type="http://schemas.openxmlformats.org/officeDocument/2006/relationships/image" Target="../media/image20.svg"/><Relationship Id="rId10" Type="http://schemas.openxmlformats.org/officeDocument/2006/relationships/image" Target="../media/image38.png"/><Relationship Id="rId19" Type="http://schemas.openxmlformats.org/officeDocument/2006/relationships/image" Target="../media/image24.svg"/><Relationship Id="rId4" Type="http://schemas.openxmlformats.org/officeDocument/2006/relationships/image" Target="../media/image10.png"/><Relationship Id="rId9" Type="http://schemas.openxmlformats.org/officeDocument/2006/relationships/image" Target="../media/image16.svg"/><Relationship Id="rId1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15.png"/><Relationship Id="rId18" Type="http://schemas.openxmlformats.org/officeDocument/2006/relationships/image" Target="../media/image18.svg"/><Relationship Id="rId3" Type="http://schemas.openxmlformats.org/officeDocument/2006/relationships/image" Target="../media/image45.png"/><Relationship Id="rId21" Type="http://schemas.openxmlformats.org/officeDocument/2006/relationships/image" Target="../media/image21.png"/><Relationship Id="rId7" Type="http://schemas.openxmlformats.org/officeDocument/2006/relationships/image" Target="../media/image37.png"/><Relationship Id="rId12" Type="http://schemas.openxmlformats.org/officeDocument/2006/relationships/image" Target="../media/image14.svg"/><Relationship Id="rId17" Type="http://schemas.openxmlformats.org/officeDocument/2006/relationships/image" Target="../media/image17.png"/><Relationship Id="rId25" Type="http://schemas.openxmlformats.org/officeDocument/2006/relationships/image" Target="../media/image47.png"/><Relationship Id="rId2" Type="http://schemas.openxmlformats.org/officeDocument/2006/relationships/notesSlide" Target="../notesSlides/notesSlide9.xml"/><Relationship Id="rId16" Type="http://schemas.openxmlformats.org/officeDocument/2006/relationships/image" Target="../media/image39.svg"/><Relationship Id="rId20" Type="http://schemas.openxmlformats.org/officeDocument/2006/relationships/image" Target="../media/image20.svg"/><Relationship Id="rId1" Type="http://schemas.openxmlformats.org/officeDocument/2006/relationships/slideLayout" Target="../slideLayouts/slideLayout9.xml"/><Relationship Id="rId6" Type="http://schemas.openxmlformats.org/officeDocument/2006/relationships/image" Target="../media/image36.png"/><Relationship Id="rId11" Type="http://schemas.openxmlformats.org/officeDocument/2006/relationships/image" Target="../media/image13.png"/><Relationship Id="rId24" Type="http://schemas.openxmlformats.org/officeDocument/2006/relationships/image" Target="../media/image24.svg"/><Relationship Id="rId5" Type="http://schemas.openxmlformats.org/officeDocument/2006/relationships/image" Target="../media/image34.png"/><Relationship Id="rId15" Type="http://schemas.openxmlformats.org/officeDocument/2006/relationships/image" Target="../media/image38.png"/><Relationship Id="rId23" Type="http://schemas.openxmlformats.org/officeDocument/2006/relationships/image" Target="../media/image23.png"/><Relationship Id="rId10" Type="http://schemas.openxmlformats.org/officeDocument/2006/relationships/image" Target="../media/image46.png"/><Relationship Id="rId19" Type="http://schemas.openxmlformats.org/officeDocument/2006/relationships/image" Target="../media/image19.png"/><Relationship Id="rId4" Type="http://schemas.openxmlformats.org/officeDocument/2006/relationships/image" Target="../media/image29.png"/><Relationship Id="rId9" Type="http://schemas.openxmlformats.org/officeDocument/2006/relationships/image" Target="../media/image43.png"/><Relationship Id="rId14" Type="http://schemas.openxmlformats.org/officeDocument/2006/relationships/image" Target="../media/image16.svg"/><Relationship Id="rId22" Type="http://schemas.openxmlformats.org/officeDocument/2006/relationships/image" Target="../media/image22.svg"/></Relationships>
</file>

<file path=ppt/slides/_rels/slide1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9.png"/><Relationship Id="rId7" Type="http://schemas.openxmlformats.org/officeDocument/2006/relationships/image" Target="../media/image41.png"/><Relationship Id="rId2" Type="http://schemas.openxmlformats.org/officeDocument/2006/relationships/image" Target="../media/image45.png"/><Relationship Id="rId1" Type="http://schemas.openxmlformats.org/officeDocument/2006/relationships/slideLayout" Target="../slideLayouts/slideLayout9.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4.png"/><Relationship Id="rId9" Type="http://schemas.openxmlformats.org/officeDocument/2006/relationships/image" Target="../media/image46.png"/></Relationships>
</file>

<file path=ppt/slides/_rels/slide12.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19.png"/><Relationship Id="rId18" Type="http://schemas.openxmlformats.org/officeDocument/2006/relationships/image" Target="../media/image24.svg"/><Relationship Id="rId3" Type="http://schemas.openxmlformats.org/officeDocument/2006/relationships/image" Target="../media/image9.png"/><Relationship Id="rId7" Type="http://schemas.openxmlformats.org/officeDocument/2006/relationships/image" Target="../media/image15.png"/><Relationship Id="rId12" Type="http://schemas.openxmlformats.org/officeDocument/2006/relationships/image" Target="../media/image18.svg"/><Relationship Id="rId17" Type="http://schemas.openxmlformats.org/officeDocument/2006/relationships/image" Target="../media/image23.png"/><Relationship Id="rId2" Type="http://schemas.openxmlformats.org/officeDocument/2006/relationships/notesSlide" Target="../notesSlides/notesSlide10.xml"/><Relationship Id="rId16" Type="http://schemas.openxmlformats.org/officeDocument/2006/relationships/image" Target="../media/image22.svg"/><Relationship Id="rId1" Type="http://schemas.openxmlformats.org/officeDocument/2006/relationships/slideLayout" Target="../slideLayouts/slideLayout9.xml"/><Relationship Id="rId6" Type="http://schemas.openxmlformats.org/officeDocument/2006/relationships/image" Target="../media/image14.svg"/><Relationship Id="rId11" Type="http://schemas.openxmlformats.org/officeDocument/2006/relationships/image" Target="../media/image17.png"/><Relationship Id="rId5" Type="http://schemas.openxmlformats.org/officeDocument/2006/relationships/image" Target="../media/image13.png"/><Relationship Id="rId15" Type="http://schemas.openxmlformats.org/officeDocument/2006/relationships/image" Target="../media/image21.png"/><Relationship Id="rId10" Type="http://schemas.openxmlformats.org/officeDocument/2006/relationships/image" Target="../media/image39.svg"/><Relationship Id="rId19" Type="http://schemas.openxmlformats.org/officeDocument/2006/relationships/image" Target="../media/image48.png"/><Relationship Id="rId4" Type="http://schemas.openxmlformats.org/officeDocument/2006/relationships/image" Target="../media/image10.png"/><Relationship Id="rId9" Type="http://schemas.openxmlformats.org/officeDocument/2006/relationships/image" Target="../media/image38.png"/><Relationship Id="rId14" Type="http://schemas.openxmlformats.org/officeDocument/2006/relationships/image" Target="../media/image20.svg"/></Relationships>
</file>

<file path=ppt/slides/_rels/slide13.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emf"/><Relationship Id="rId7" Type="http://schemas.openxmlformats.org/officeDocument/2006/relationships/image" Target="../media/image61.svg"/><Relationship Id="rId2" Type="http://schemas.openxmlformats.org/officeDocument/2006/relationships/oleObject" Target="../embeddings/oleObject1.bin"/><Relationship Id="rId1" Type="http://schemas.openxmlformats.org/officeDocument/2006/relationships/slideLayout" Target="../slideLayouts/slideLayout20.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sv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svg"/></Relationships>
</file>

<file path=ppt/slides/_rels/slide16.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7.svg"/><Relationship Id="rId18" Type="http://schemas.openxmlformats.org/officeDocument/2006/relationships/image" Target="../media/image72.png"/><Relationship Id="rId3" Type="http://schemas.openxmlformats.org/officeDocument/2006/relationships/image" Target="../media/image57.emf"/><Relationship Id="rId7" Type="http://schemas.openxmlformats.org/officeDocument/2006/relationships/image" Target="../media/image59.svg"/><Relationship Id="rId12" Type="http://schemas.openxmlformats.org/officeDocument/2006/relationships/image" Target="../media/image66.png"/><Relationship Id="rId17" Type="http://schemas.openxmlformats.org/officeDocument/2006/relationships/image" Target="../media/image71.svg"/><Relationship Id="rId2" Type="http://schemas.openxmlformats.org/officeDocument/2006/relationships/oleObject" Target="../embeddings/oleObject1.bin"/><Relationship Id="rId16" Type="http://schemas.openxmlformats.org/officeDocument/2006/relationships/image" Target="../media/image70.png"/><Relationship Id="rId1" Type="http://schemas.openxmlformats.org/officeDocument/2006/relationships/slideLayout" Target="../slideLayouts/slideLayout20.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64.png"/><Relationship Id="rId15" Type="http://schemas.openxmlformats.org/officeDocument/2006/relationships/image" Target="../media/image69.svg"/><Relationship Id="rId10" Type="http://schemas.openxmlformats.org/officeDocument/2006/relationships/image" Target="../media/image62.png"/><Relationship Id="rId19" Type="http://schemas.openxmlformats.org/officeDocument/2006/relationships/image" Target="../media/image73.svg"/><Relationship Id="rId4" Type="http://schemas.openxmlformats.org/officeDocument/2006/relationships/image" Target="../media/image65.png"/><Relationship Id="rId9" Type="http://schemas.openxmlformats.org/officeDocument/2006/relationships/image" Target="../media/image61.svg"/><Relationship Id="rId14" Type="http://schemas.openxmlformats.org/officeDocument/2006/relationships/image" Target="../media/image68.png"/></Relationships>
</file>

<file path=ppt/slides/_rels/slide17.xml.rels><?xml version="1.0" encoding="UTF-8" standalone="yes"?>
<Relationships xmlns="http://schemas.openxmlformats.org/package/2006/relationships"><Relationship Id="rId8" Type="http://schemas.openxmlformats.org/officeDocument/2006/relationships/image" Target="../media/image71.svg"/><Relationship Id="rId13" Type="http://schemas.openxmlformats.org/officeDocument/2006/relationships/image" Target="../media/image74.png"/><Relationship Id="rId18" Type="http://schemas.openxmlformats.org/officeDocument/2006/relationships/image" Target="../media/image79.svg"/><Relationship Id="rId26" Type="http://schemas.openxmlformats.org/officeDocument/2006/relationships/image" Target="../media/image63.svg"/><Relationship Id="rId3" Type="http://schemas.openxmlformats.org/officeDocument/2006/relationships/image" Target="../media/image57.emf"/><Relationship Id="rId21" Type="http://schemas.openxmlformats.org/officeDocument/2006/relationships/image" Target="../media/image58.png"/><Relationship Id="rId7" Type="http://schemas.openxmlformats.org/officeDocument/2006/relationships/image" Target="../media/image70.png"/><Relationship Id="rId12" Type="http://schemas.openxmlformats.org/officeDocument/2006/relationships/image" Target="../media/image73.svg"/><Relationship Id="rId17" Type="http://schemas.openxmlformats.org/officeDocument/2006/relationships/image" Target="../media/image78.png"/><Relationship Id="rId25" Type="http://schemas.openxmlformats.org/officeDocument/2006/relationships/image" Target="../media/image62.png"/><Relationship Id="rId2" Type="http://schemas.openxmlformats.org/officeDocument/2006/relationships/oleObject" Target="../embeddings/oleObject1.bin"/><Relationship Id="rId16" Type="http://schemas.openxmlformats.org/officeDocument/2006/relationships/image" Target="../media/image77.svg"/><Relationship Id="rId20" Type="http://schemas.openxmlformats.org/officeDocument/2006/relationships/image" Target="../media/image81.svg"/><Relationship Id="rId1" Type="http://schemas.openxmlformats.org/officeDocument/2006/relationships/slideLayout" Target="../slideLayouts/slideLayout20.xml"/><Relationship Id="rId6" Type="http://schemas.openxmlformats.org/officeDocument/2006/relationships/image" Target="../media/image69.svg"/><Relationship Id="rId11" Type="http://schemas.openxmlformats.org/officeDocument/2006/relationships/image" Target="../media/image72.png"/><Relationship Id="rId24" Type="http://schemas.openxmlformats.org/officeDocument/2006/relationships/image" Target="../media/image61.svg"/><Relationship Id="rId5" Type="http://schemas.openxmlformats.org/officeDocument/2006/relationships/image" Target="../media/image68.png"/><Relationship Id="rId15" Type="http://schemas.openxmlformats.org/officeDocument/2006/relationships/image" Target="../media/image76.png"/><Relationship Id="rId23" Type="http://schemas.openxmlformats.org/officeDocument/2006/relationships/image" Target="../media/image60.png"/><Relationship Id="rId10" Type="http://schemas.openxmlformats.org/officeDocument/2006/relationships/image" Target="../media/image67.svg"/><Relationship Id="rId19" Type="http://schemas.openxmlformats.org/officeDocument/2006/relationships/image" Target="../media/image80.png"/><Relationship Id="rId4" Type="http://schemas.openxmlformats.org/officeDocument/2006/relationships/image" Target="../media/image64.png"/><Relationship Id="rId9" Type="http://schemas.openxmlformats.org/officeDocument/2006/relationships/image" Target="../media/image66.png"/><Relationship Id="rId14" Type="http://schemas.openxmlformats.org/officeDocument/2006/relationships/image" Target="../media/image75.svg"/><Relationship Id="rId22" Type="http://schemas.openxmlformats.org/officeDocument/2006/relationships/image" Target="../media/image59.svg"/></Relationships>
</file>

<file path=ppt/slides/_rels/slide18.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68.png"/><Relationship Id="rId18" Type="http://schemas.openxmlformats.org/officeDocument/2006/relationships/image" Target="../media/image73.svg"/><Relationship Id="rId26" Type="http://schemas.openxmlformats.org/officeDocument/2006/relationships/image" Target="../media/image87.png"/><Relationship Id="rId3" Type="http://schemas.openxmlformats.org/officeDocument/2006/relationships/image" Target="../media/image57.emf"/><Relationship Id="rId21" Type="http://schemas.openxmlformats.org/officeDocument/2006/relationships/image" Target="../media/image82.png"/><Relationship Id="rId7" Type="http://schemas.openxmlformats.org/officeDocument/2006/relationships/image" Target="../media/image77.svg"/><Relationship Id="rId12" Type="http://schemas.openxmlformats.org/officeDocument/2006/relationships/image" Target="../media/image64.png"/><Relationship Id="rId17" Type="http://schemas.openxmlformats.org/officeDocument/2006/relationships/image" Target="../media/image72.png"/><Relationship Id="rId25" Type="http://schemas.openxmlformats.org/officeDocument/2006/relationships/image" Target="../media/image86.svg"/><Relationship Id="rId2" Type="http://schemas.openxmlformats.org/officeDocument/2006/relationships/oleObject" Target="../embeddings/oleObject1.bin"/><Relationship Id="rId16" Type="http://schemas.openxmlformats.org/officeDocument/2006/relationships/image" Target="../media/image67.svg"/><Relationship Id="rId20" Type="http://schemas.openxmlformats.org/officeDocument/2006/relationships/image" Target="../media/image71.svg"/><Relationship Id="rId29" Type="http://schemas.openxmlformats.org/officeDocument/2006/relationships/image" Target="../media/image90.svg"/><Relationship Id="rId1" Type="http://schemas.openxmlformats.org/officeDocument/2006/relationships/slideLayout" Target="../slideLayouts/slideLayout20.xml"/><Relationship Id="rId6" Type="http://schemas.openxmlformats.org/officeDocument/2006/relationships/image" Target="../media/image76.png"/><Relationship Id="rId11" Type="http://schemas.openxmlformats.org/officeDocument/2006/relationships/image" Target="../media/image81.svg"/><Relationship Id="rId24" Type="http://schemas.openxmlformats.org/officeDocument/2006/relationships/image" Target="../media/image85.png"/><Relationship Id="rId5" Type="http://schemas.openxmlformats.org/officeDocument/2006/relationships/image" Target="../media/image75.svg"/><Relationship Id="rId15" Type="http://schemas.openxmlformats.org/officeDocument/2006/relationships/image" Target="../media/image66.png"/><Relationship Id="rId23" Type="http://schemas.openxmlformats.org/officeDocument/2006/relationships/image" Target="../media/image84.jpeg"/><Relationship Id="rId28" Type="http://schemas.openxmlformats.org/officeDocument/2006/relationships/image" Target="../media/image89.png"/><Relationship Id="rId10" Type="http://schemas.openxmlformats.org/officeDocument/2006/relationships/image" Target="../media/image80.png"/><Relationship Id="rId19" Type="http://schemas.openxmlformats.org/officeDocument/2006/relationships/image" Target="../media/image70.png"/><Relationship Id="rId4" Type="http://schemas.openxmlformats.org/officeDocument/2006/relationships/image" Target="../media/image74.png"/><Relationship Id="rId9" Type="http://schemas.openxmlformats.org/officeDocument/2006/relationships/image" Target="../media/image79.svg"/><Relationship Id="rId14" Type="http://schemas.openxmlformats.org/officeDocument/2006/relationships/image" Target="../media/image69.svg"/><Relationship Id="rId22" Type="http://schemas.openxmlformats.org/officeDocument/2006/relationships/image" Target="../media/image83.png"/><Relationship Id="rId27" Type="http://schemas.openxmlformats.org/officeDocument/2006/relationships/image" Target="../media/image88.svg"/></Relationships>
</file>

<file path=ppt/slides/_rels/slide19.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77.svg"/><Relationship Id="rId3" Type="http://schemas.openxmlformats.org/officeDocument/2006/relationships/image" Target="../media/image91.png"/><Relationship Id="rId7" Type="http://schemas.openxmlformats.org/officeDocument/2006/relationships/image" Target="../media/image88.svg"/><Relationship Id="rId12" Type="http://schemas.openxmlformats.org/officeDocument/2006/relationships/image" Target="../media/image76.png"/><Relationship Id="rId17" Type="http://schemas.openxmlformats.org/officeDocument/2006/relationships/image" Target="../media/image81.svg"/><Relationship Id="rId2" Type="http://schemas.openxmlformats.org/officeDocument/2006/relationships/notesSlide" Target="../notesSlides/notesSlide12.xml"/><Relationship Id="rId16" Type="http://schemas.openxmlformats.org/officeDocument/2006/relationships/image" Target="../media/image80.png"/><Relationship Id="rId1" Type="http://schemas.openxmlformats.org/officeDocument/2006/relationships/slideLayout" Target="../slideLayouts/slideLayout20.xml"/><Relationship Id="rId6" Type="http://schemas.openxmlformats.org/officeDocument/2006/relationships/image" Target="../media/image87.png"/><Relationship Id="rId11" Type="http://schemas.openxmlformats.org/officeDocument/2006/relationships/image" Target="../media/image75.svg"/><Relationship Id="rId5" Type="http://schemas.openxmlformats.org/officeDocument/2006/relationships/image" Target="../media/image86.svg"/><Relationship Id="rId15" Type="http://schemas.openxmlformats.org/officeDocument/2006/relationships/image" Target="../media/image79.svg"/><Relationship Id="rId10" Type="http://schemas.openxmlformats.org/officeDocument/2006/relationships/image" Target="../media/image74.png"/><Relationship Id="rId4" Type="http://schemas.openxmlformats.org/officeDocument/2006/relationships/image" Target="../media/image85.png"/><Relationship Id="rId9" Type="http://schemas.openxmlformats.org/officeDocument/2006/relationships/image" Target="../media/image90.svg"/><Relationship Id="rId14" Type="http://schemas.openxmlformats.org/officeDocument/2006/relationships/image" Target="../media/image78.png"/></Relationships>
</file>

<file path=ppt/slides/_rels/slide20.xml.rels><?xml version="1.0" encoding="UTF-8" standalone="yes"?>
<Relationships xmlns="http://schemas.openxmlformats.org/package/2006/relationships"><Relationship Id="rId8" Type="http://schemas.openxmlformats.org/officeDocument/2006/relationships/image" Target="../media/image94.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91.png"/><Relationship Id="rId21" Type="http://schemas.openxmlformats.org/officeDocument/2006/relationships/image" Target="../media/image103.svg"/><Relationship Id="rId7" Type="http://schemas.openxmlformats.org/officeDocument/2006/relationships/image" Target="../media/image93.png"/><Relationship Id="rId12" Type="http://schemas.openxmlformats.org/officeDocument/2006/relationships/image" Target="../media/image90.svg"/><Relationship Id="rId17" Type="http://schemas.openxmlformats.org/officeDocument/2006/relationships/image" Target="../media/image99.png"/><Relationship Id="rId2" Type="http://schemas.openxmlformats.org/officeDocument/2006/relationships/notesSlide" Target="../notesSlides/notesSlide13.xml"/><Relationship Id="rId16" Type="http://schemas.openxmlformats.org/officeDocument/2006/relationships/image" Target="../media/image98.png"/><Relationship Id="rId20" Type="http://schemas.openxmlformats.org/officeDocument/2006/relationships/image" Target="../media/image102.png"/><Relationship Id="rId1" Type="http://schemas.openxmlformats.org/officeDocument/2006/relationships/slideLayout" Target="../slideLayouts/slideLayout20.xml"/><Relationship Id="rId6" Type="http://schemas.openxmlformats.org/officeDocument/2006/relationships/image" Target="../media/image92.jpeg"/><Relationship Id="rId11" Type="http://schemas.openxmlformats.org/officeDocument/2006/relationships/image" Target="../media/image89.png"/><Relationship Id="rId5" Type="http://schemas.openxmlformats.org/officeDocument/2006/relationships/image" Target="../media/image86.svg"/><Relationship Id="rId15" Type="http://schemas.openxmlformats.org/officeDocument/2006/relationships/image" Target="../media/image97.png"/><Relationship Id="rId10" Type="http://schemas.openxmlformats.org/officeDocument/2006/relationships/image" Target="../media/image88.svg"/><Relationship Id="rId19" Type="http://schemas.openxmlformats.org/officeDocument/2006/relationships/image" Target="../media/image101.png"/><Relationship Id="rId4" Type="http://schemas.openxmlformats.org/officeDocument/2006/relationships/image" Target="../media/image85.png"/><Relationship Id="rId9" Type="http://schemas.openxmlformats.org/officeDocument/2006/relationships/image" Target="../media/image87.png"/><Relationship Id="rId14" Type="http://schemas.openxmlformats.org/officeDocument/2006/relationships/image" Target="../media/image96.svg"/></Relationships>
</file>

<file path=ppt/slides/_rels/slide21.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91.png"/><Relationship Id="rId7" Type="http://schemas.openxmlformats.org/officeDocument/2006/relationships/image" Target="../media/image103.svg"/><Relationship Id="rId2" Type="http://schemas.openxmlformats.org/officeDocument/2006/relationships/notesSlide" Target="../notesSlides/notesSlide14.xml"/><Relationship Id="rId1" Type="http://schemas.openxmlformats.org/officeDocument/2006/relationships/slideLayout" Target="../slideLayouts/slideLayout20.xml"/><Relationship Id="rId6" Type="http://schemas.openxmlformats.org/officeDocument/2006/relationships/image" Target="../media/image102.png"/><Relationship Id="rId5" Type="http://schemas.openxmlformats.org/officeDocument/2006/relationships/image" Target="../media/image98.png"/><Relationship Id="rId10" Type="http://schemas.openxmlformats.org/officeDocument/2006/relationships/image" Target="../media/image101.png"/><Relationship Id="rId4" Type="http://schemas.openxmlformats.org/officeDocument/2006/relationships/image" Target="../media/image97.png"/><Relationship Id="rId9" Type="http://schemas.openxmlformats.org/officeDocument/2006/relationships/image" Target="../media/image86.svg"/></Relationships>
</file>

<file path=ppt/slides/_rels/slide22.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1.png"/><Relationship Id="rId7" Type="http://schemas.openxmlformats.org/officeDocument/2006/relationships/image" Target="../media/image98.png"/><Relationship Id="rId2" Type="http://schemas.openxmlformats.org/officeDocument/2006/relationships/notesSlide" Target="../notesSlides/notesSlide15.xml"/><Relationship Id="rId1" Type="http://schemas.openxmlformats.org/officeDocument/2006/relationships/slideLayout" Target="../slideLayouts/slideLayout20.xml"/><Relationship Id="rId6" Type="http://schemas.openxmlformats.org/officeDocument/2006/relationships/image" Target="../media/image100.svg"/><Relationship Id="rId5" Type="http://schemas.openxmlformats.org/officeDocument/2006/relationships/image" Target="../media/image99.png"/><Relationship Id="rId10" Type="http://schemas.openxmlformats.org/officeDocument/2006/relationships/image" Target="../media/image103.svg"/><Relationship Id="rId4" Type="http://schemas.openxmlformats.org/officeDocument/2006/relationships/image" Target="../media/image97.png"/><Relationship Id="rId9" Type="http://schemas.openxmlformats.org/officeDocument/2006/relationships/image" Target="../media/image102.png"/></Relationships>
</file>

<file path=ppt/slides/_rels/slide2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6.xml"/><Relationship Id="rId1" Type="http://schemas.openxmlformats.org/officeDocument/2006/relationships/slideLayout" Target="../slideLayouts/slideLayout20.xml"/><Relationship Id="rId5" Type="http://schemas.openxmlformats.org/officeDocument/2006/relationships/image" Target="../media/image97.png"/><Relationship Id="rId4" Type="http://schemas.openxmlformats.org/officeDocument/2006/relationships/image" Target="../media/image98.png"/></Relationships>
</file>

<file path=ppt/slides/_rels/slide24.xml.rels><?xml version="1.0" encoding="UTF-8" standalone="yes"?>
<Relationships xmlns="http://schemas.openxmlformats.org/package/2006/relationships"><Relationship Id="rId8" Type="http://schemas.openxmlformats.org/officeDocument/2006/relationships/image" Target="../media/image103.svg"/><Relationship Id="rId3" Type="http://schemas.openxmlformats.org/officeDocument/2006/relationships/image" Target="../media/image91.png"/><Relationship Id="rId7" Type="http://schemas.openxmlformats.org/officeDocument/2006/relationships/image" Target="../media/image102.png"/><Relationship Id="rId2" Type="http://schemas.openxmlformats.org/officeDocument/2006/relationships/notesSlide" Target="../notesSlides/notesSlide17.xml"/><Relationship Id="rId1" Type="http://schemas.openxmlformats.org/officeDocument/2006/relationships/slideLayout" Target="../slideLayouts/slideLayout20.xml"/><Relationship Id="rId6" Type="http://schemas.openxmlformats.org/officeDocument/2006/relationships/image" Target="../media/image101.png"/><Relationship Id="rId5" Type="http://schemas.openxmlformats.org/officeDocument/2006/relationships/image" Target="../media/image98.png"/><Relationship Id="rId4" Type="http://schemas.openxmlformats.org/officeDocument/2006/relationships/image" Target="../media/image97.png"/></Relationships>
</file>

<file path=ppt/slides/_rels/slide25.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1.png"/><Relationship Id="rId7" Type="http://schemas.openxmlformats.org/officeDocument/2006/relationships/image" Target="../media/image100.svg"/><Relationship Id="rId2" Type="http://schemas.openxmlformats.org/officeDocument/2006/relationships/notesSlide" Target="../notesSlides/notesSlide18.xml"/><Relationship Id="rId1" Type="http://schemas.openxmlformats.org/officeDocument/2006/relationships/slideLayout" Target="../slideLayouts/slideLayout20.xml"/><Relationship Id="rId6" Type="http://schemas.openxmlformats.org/officeDocument/2006/relationships/image" Target="../media/image99.png"/><Relationship Id="rId5" Type="http://schemas.openxmlformats.org/officeDocument/2006/relationships/image" Target="../media/image98.png"/><Relationship Id="rId10" Type="http://schemas.openxmlformats.org/officeDocument/2006/relationships/image" Target="../media/image103.svg"/><Relationship Id="rId4" Type="http://schemas.openxmlformats.org/officeDocument/2006/relationships/image" Target="../media/image97.png"/><Relationship Id="rId9" Type="http://schemas.openxmlformats.org/officeDocument/2006/relationships/image" Target="../media/image102.png"/></Relationships>
</file>

<file path=ppt/slides/_rels/slide26.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1.png"/><Relationship Id="rId7" Type="http://schemas.openxmlformats.org/officeDocument/2006/relationships/image" Target="../media/image104.jpe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98.png"/><Relationship Id="rId5" Type="http://schemas.openxmlformats.org/officeDocument/2006/relationships/image" Target="../media/image88.svg"/><Relationship Id="rId4" Type="http://schemas.openxmlformats.org/officeDocument/2006/relationships/image" Target="../media/image87.png"/><Relationship Id="rId9" Type="http://schemas.openxmlformats.org/officeDocument/2006/relationships/image" Target="../media/image100.svg"/></Relationships>
</file>

<file path=ppt/slides/_rels/slide27.xml.rels><?xml version="1.0" encoding="UTF-8" standalone="yes"?>
<Relationships xmlns="http://schemas.openxmlformats.org/package/2006/relationships"><Relationship Id="rId8" Type="http://schemas.openxmlformats.org/officeDocument/2006/relationships/image" Target="../media/image88.svg"/><Relationship Id="rId3" Type="http://schemas.openxmlformats.org/officeDocument/2006/relationships/image" Target="../media/image105.jpeg"/><Relationship Id="rId7" Type="http://schemas.openxmlformats.org/officeDocument/2006/relationships/image" Target="../media/image87.png"/><Relationship Id="rId2" Type="http://schemas.openxmlformats.org/officeDocument/2006/relationships/notesSlide" Target="../notesSlides/notesSlide20.xml"/><Relationship Id="rId1" Type="http://schemas.openxmlformats.org/officeDocument/2006/relationships/slideLayout" Target="../slideLayouts/slideLayout20.xml"/><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91.png"/></Relationships>
</file>

<file path=ppt/slides/_rels/slide28.xml.rels><?xml version="1.0" encoding="UTF-8" standalone="yes"?>
<Relationships xmlns="http://schemas.openxmlformats.org/package/2006/relationships"><Relationship Id="rId8" Type="http://schemas.openxmlformats.org/officeDocument/2006/relationships/image" Target="../media/image108.svg"/><Relationship Id="rId3" Type="http://schemas.openxmlformats.org/officeDocument/2006/relationships/image" Target="../media/image91.png"/><Relationship Id="rId7" Type="http://schemas.openxmlformats.org/officeDocument/2006/relationships/image" Target="../media/image107.png"/><Relationship Id="rId2" Type="http://schemas.openxmlformats.org/officeDocument/2006/relationships/notesSlide" Target="../notesSlides/notesSlide21.xml"/><Relationship Id="rId1" Type="http://schemas.openxmlformats.org/officeDocument/2006/relationships/slideLayout" Target="../slideLayouts/slideLayout20.xml"/><Relationship Id="rId6" Type="http://schemas.openxmlformats.org/officeDocument/2006/relationships/image" Target="../media/image106.jpeg"/><Relationship Id="rId5" Type="http://schemas.openxmlformats.org/officeDocument/2006/relationships/image" Target="../media/image90.svg"/><Relationship Id="rId4" Type="http://schemas.openxmlformats.org/officeDocument/2006/relationships/image" Target="../media/image89.png"/></Relationships>
</file>

<file path=ppt/slides/_rels/slide29.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71.svg"/><Relationship Id="rId18" Type="http://schemas.openxmlformats.org/officeDocument/2006/relationships/image" Target="../media/image82.png"/><Relationship Id="rId3" Type="http://schemas.openxmlformats.org/officeDocument/2006/relationships/image" Target="../media/image91.png"/><Relationship Id="rId7" Type="http://schemas.openxmlformats.org/officeDocument/2006/relationships/image" Target="../media/image90.svg"/><Relationship Id="rId12" Type="http://schemas.openxmlformats.org/officeDocument/2006/relationships/image" Target="../media/image70.png"/><Relationship Id="rId17" Type="http://schemas.openxmlformats.org/officeDocument/2006/relationships/image" Target="../media/image73.svg"/><Relationship Id="rId2" Type="http://schemas.openxmlformats.org/officeDocument/2006/relationships/notesSlide" Target="../notesSlides/notesSlide22.xml"/><Relationship Id="rId16" Type="http://schemas.openxmlformats.org/officeDocument/2006/relationships/image" Target="../media/image72.png"/><Relationship Id="rId20" Type="http://schemas.openxmlformats.org/officeDocument/2006/relationships/image" Target="../media/image84.jpeg"/><Relationship Id="rId1" Type="http://schemas.openxmlformats.org/officeDocument/2006/relationships/slideLayout" Target="../slideLayouts/slideLayout20.xml"/><Relationship Id="rId6" Type="http://schemas.openxmlformats.org/officeDocument/2006/relationships/image" Target="../media/image89.png"/><Relationship Id="rId11" Type="http://schemas.openxmlformats.org/officeDocument/2006/relationships/image" Target="../media/image69.svg"/><Relationship Id="rId5" Type="http://schemas.openxmlformats.org/officeDocument/2006/relationships/image" Target="../media/image108.svg"/><Relationship Id="rId15" Type="http://schemas.openxmlformats.org/officeDocument/2006/relationships/image" Target="../media/image67.svg"/><Relationship Id="rId10" Type="http://schemas.openxmlformats.org/officeDocument/2006/relationships/image" Target="../media/image68.png"/><Relationship Id="rId19" Type="http://schemas.openxmlformats.org/officeDocument/2006/relationships/image" Target="../media/image83.png"/><Relationship Id="rId4" Type="http://schemas.openxmlformats.org/officeDocument/2006/relationships/image" Target="../media/image107.png"/><Relationship Id="rId9" Type="http://schemas.openxmlformats.org/officeDocument/2006/relationships/image" Target="../media/image96.svg"/><Relationship Id="rId14" Type="http://schemas.openxmlformats.org/officeDocument/2006/relationships/image" Target="../media/image66.png"/></Relationships>
</file>

<file path=ppt/slides/_rels/slide30.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80.png"/><Relationship Id="rId3" Type="http://schemas.openxmlformats.org/officeDocument/2006/relationships/image" Target="../media/image64.png"/><Relationship Id="rId7" Type="http://schemas.openxmlformats.org/officeDocument/2006/relationships/image" Target="../media/image74.png"/><Relationship Id="rId12" Type="http://schemas.openxmlformats.org/officeDocument/2006/relationships/image" Target="../media/image79.svg"/><Relationship Id="rId2" Type="http://schemas.openxmlformats.org/officeDocument/2006/relationships/notesSlide" Target="../notesSlides/notesSlide23.xml"/><Relationship Id="rId1" Type="http://schemas.openxmlformats.org/officeDocument/2006/relationships/slideLayout" Target="../slideLayouts/slideLayout20.xml"/><Relationship Id="rId6" Type="http://schemas.openxmlformats.org/officeDocument/2006/relationships/image" Target="../media/image84.jpeg"/><Relationship Id="rId11" Type="http://schemas.openxmlformats.org/officeDocument/2006/relationships/image" Target="../media/image78.png"/><Relationship Id="rId5" Type="http://schemas.openxmlformats.org/officeDocument/2006/relationships/image" Target="../media/image83.png"/><Relationship Id="rId10" Type="http://schemas.openxmlformats.org/officeDocument/2006/relationships/image" Target="../media/image77.svg"/><Relationship Id="rId4" Type="http://schemas.openxmlformats.org/officeDocument/2006/relationships/image" Target="../media/image82.png"/><Relationship Id="rId9" Type="http://schemas.openxmlformats.org/officeDocument/2006/relationships/image" Target="../media/image76.png"/><Relationship Id="rId14" Type="http://schemas.openxmlformats.org/officeDocument/2006/relationships/image" Target="../media/image81.svg"/></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4.xml"/><Relationship Id="rId1" Type="http://schemas.openxmlformats.org/officeDocument/2006/relationships/slideLayout" Target="../slideLayouts/slideLayout20.xml"/><Relationship Id="rId6" Type="http://schemas.openxmlformats.org/officeDocument/2006/relationships/image" Target="../media/image84.jpeg"/><Relationship Id="rId5" Type="http://schemas.openxmlformats.org/officeDocument/2006/relationships/image" Target="../media/image83.png"/><Relationship Id="rId4" Type="http://schemas.openxmlformats.org/officeDocument/2006/relationships/image" Target="../media/image82.png"/></Relationships>
</file>

<file path=ppt/slides/_rels/slide3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20.xml"/><Relationship Id="rId6" Type="http://schemas.openxmlformats.org/officeDocument/2006/relationships/image" Target="../media/image84.jpeg"/><Relationship Id="rId5" Type="http://schemas.openxmlformats.org/officeDocument/2006/relationships/image" Target="../media/image83.png"/><Relationship Id="rId4" Type="http://schemas.openxmlformats.org/officeDocument/2006/relationships/image" Target="../media/image82.png"/></Relationships>
</file>

<file path=ppt/slides/_rels/slide3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6.xml"/><Relationship Id="rId1" Type="http://schemas.openxmlformats.org/officeDocument/2006/relationships/slideLayout" Target="../slideLayouts/slideLayout20.xml"/><Relationship Id="rId6" Type="http://schemas.openxmlformats.org/officeDocument/2006/relationships/image" Target="../media/image84.jpeg"/><Relationship Id="rId5" Type="http://schemas.openxmlformats.org/officeDocument/2006/relationships/image" Target="../media/image83.png"/><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7.xml"/><Relationship Id="rId1" Type="http://schemas.openxmlformats.org/officeDocument/2006/relationships/slideLayout" Target="../slideLayouts/slideLayout20.xml"/><Relationship Id="rId5" Type="http://schemas.openxmlformats.org/officeDocument/2006/relationships/image" Target="../media/image110.svg"/><Relationship Id="rId4" Type="http://schemas.openxmlformats.org/officeDocument/2006/relationships/image" Target="../media/image109.png"/></Relationships>
</file>

<file path=ppt/slides/_rels/slide3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8.xml"/><Relationship Id="rId1" Type="http://schemas.openxmlformats.org/officeDocument/2006/relationships/slideLayout" Target="../slideLayouts/slideLayout20.xml"/><Relationship Id="rId5" Type="http://schemas.openxmlformats.org/officeDocument/2006/relationships/image" Target="../media/image110.svg"/><Relationship Id="rId4" Type="http://schemas.openxmlformats.org/officeDocument/2006/relationships/image" Target="../media/image109.png"/></Relationships>
</file>

<file path=ppt/slides/_rels/slide36.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3.svg"/><Relationship Id="rId3" Type="http://schemas.openxmlformats.org/officeDocument/2006/relationships/image" Target="../media/image64.png"/><Relationship Id="rId7" Type="http://schemas.openxmlformats.org/officeDocument/2006/relationships/image" Target="../media/image69.svg"/><Relationship Id="rId12" Type="http://schemas.openxmlformats.org/officeDocument/2006/relationships/image" Target="../media/image72.png"/><Relationship Id="rId2" Type="http://schemas.openxmlformats.org/officeDocument/2006/relationships/notesSlide" Target="../notesSlides/notesSlide29.xml"/><Relationship Id="rId1" Type="http://schemas.openxmlformats.org/officeDocument/2006/relationships/slideLayout" Target="../slideLayouts/slideLayout20.xml"/><Relationship Id="rId6" Type="http://schemas.openxmlformats.org/officeDocument/2006/relationships/image" Target="../media/image68.png"/><Relationship Id="rId11" Type="http://schemas.openxmlformats.org/officeDocument/2006/relationships/image" Target="../media/image67.svg"/><Relationship Id="rId5" Type="http://schemas.openxmlformats.org/officeDocument/2006/relationships/image" Target="../media/image110.svg"/><Relationship Id="rId10" Type="http://schemas.openxmlformats.org/officeDocument/2006/relationships/image" Target="../media/image66.png"/><Relationship Id="rId4" Type="http://schemas.openxmlformats.org/officeDocument/2006/relationships/image" Target="../media/image109.png"/><Relationship Id="rId9" Type="http://schemas.openxmlformats.org/officeDocument/2006/relationships/image" Target="../media/image71.svg"/></Relationships>
</file>

<file path=ppt/slides/_rels/slide37.xml.rels><?xml version="1.0" encoding="UTF-8" standalone="yes"?>
<Relationships xmlns="http://schemas.openxmlformats.org/package/2006/relationships"><Relationship Id="rId8" Type="http://schemas.openxmlformats.org/officeDocument/2006/relationships/image" Target="../media/image71.svg"/><Relationship Id="rId3" Type="http://schemas.openxmlformats.org/officeDocument/2006/relationships/image" Target="../media/image57.emf"/><Relationship Id="rId7" Type="http://schemas.openxmlformats.org/officeDocument/2006/relationships/image" Target="../media/image70.png"/><Relationship Id="rId12" Type="http://schemas.openxmlformats.org/officeDocument/2006/relationships/image" Target="../media/image73.svg"/><Relationship Id="rId2" Type="http://schemas.openxmlformats.org/officeDocument/2006/relationships/oleObject" Target="../embeddings/oleObject1.bin"/><Relationship Id="rId1" Type="http://schemas.openxmlformats.org/officeDocument/2006/relationships/slideLayout" Target="../slideLayouts/slideLayout20.xml"/><Relationship Id="rId6" Type="http://schemas.openxmlformats.org/officeDocument/2006/relationships/image" Target="../media/image69.svg"/><Relationship Id="rId11" Type="http://schemas.openxmlformats.org/officeDocument/2006/relationships/image" Target="../media/image72.png"/><Relationship Id="rId5" Type="http://schemas.openxmlformats.org/officeDocument/2006/relationships/image" Target="../media/image68.png"/><Relationship Id="rId10" Type="http://schemas.openxmlformats.org/officeDocument/2006/relationships/image" Target="../media/image67.svg"/><Relationship Id="rId4" Type="http://schemas.openxmlformats.org/officeDocument/2006/relationships/image" Target="../media/image64.png"/><Relationship Id="rId9" Type="http://schemas.openxmlformats.org/officeDocument/2006/relationships/image" Target="../media/image6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9.png"/><Relationship Id="rId7" Type="http://schemas.openxmlformats.org/officeDocument/2006/relationships/image" Target="../media/image41.png"/><Relationship Id="rId2" Type="http://schemas.openxmlformats.org/officeDocument/2006/relationships/image" Target="../media/image45.png"/><Relationship Id="rId1" Type="http://schemas.openxmlformats.org/officeDocument/2006/relationships/slideLayout" Target="../slideLayouts/slideLayout9.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4.png"/><Relationship Id="rId9" Type="http://schemas.openxmlformats.org/officeDocument/2006/relationships/image" Target="../media/image46.png"/></Relationships>
</file>

<file path=ppt/slides/_rels/slide4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9.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41.xml.rels><?xml version="1.0" encoding="UTF-8" standalone="yes"?>
<Relationships xmlns="http://schemas.openxmlformats.org/package/2006/relationships"><Relationship Id="rId8" Type="http://schemas.openxmlformats.org/officeDocument/2006/relationships/hyperlink" Target="https://github.com/neilhw-nhs" TargetMode="External"/><Relationship Id="rId13" Type="http://schemas.openxmlformats.org/officeDocument/2006/relationships/image" Target="../media/image52.png"/><Relationship Id="rId3" Type="http://schemas.openxmlformats.org/officeDocument/2006/relationships/hyperlink" Target="mailto:ilia.ryzhkov@dbax.co.uk" TargetMode="External"/><Relationship Id="rId7" Type="http://schemas.openxmlformats.org/officeDocument/2006/relationships/hyperlink" Target="mailto:Neil.Hayes-Webster@SomersetFT.NHS.UK" TargetMode="External"/><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notesSlide" Target="../notesSlides/notesSlide31.xml"/><Relationship Id="rId16" Type="http://schemas.openxmlformats.org/officeDocument/2006/relationships/image" Target="../media/image55.png"/><Relationship Id="rId1" Type="http://schemas.openxmlformats.org/officeDocument/2006/relationships/slideLayout" Target="../slideLayouts/slideLayout9.xml"/><Relationship Id="rId6" Type="http://schemas.openxmlformats.org/officeDocument/2006/relationships/image" Target="../media/image12.png"/><Relationship Id="rId11" Type="http://schemas.openxmlformats.org/officeDocument/2006/relationships/image" Target="../media/image50.png"/><Relationship Id="rId5" Type="http://schemas.openxmlformats.org/officeDocument/2006/relationships/image" Target="../media/image111.png"/><Relationship Id="rId15" Type="http://schemas.openxmlformats.org/officeDocument/2006/relationships/image" Target="../media/image54.png"/><Relationship Id="rId10" Type="http://schemas.openxmlformats.org/officeDocument/2006/relationships/image" Target="../media/image49.png"/><Relationship Id="rId4" Type="http://schemas.openxmlformats.org/officeDocument/2006/relationships/hyperlink" Target="https://github.com/IliaRyzhkovPR" TargetMode="External"/><Relationship Id="rId9" Type="http://schemas.openxmlformats.org/officeDocument/2006/relationships/image" Target="../media/image112.png"/><Relationship Id="rId1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CC850C43-8799-F103-395B-F3BA44B4C4F9}"/>
              </a:ext>
            </a:extLst>
          </p:cNvPr>
          <p:cNvGrpSpPr/>
          <p:nvPr/>
        </p:nvGrpSpPr>
        <p:grpSpPr>
          <a:xfrm>
            <a:off x="391943" y="4824255"/>
            <a:ext cx="1991952" cy="1802178"/>
            <a:chOff x="3683087" y="22444"/>
            <a:chExt cx="6740402" cy="6740402"/>
          </a:xfrm>
        </p:grpSpPr>
        <p:pic>
          <p:nvPicPr>
            <p:cNvPr id="35" name="Picture 34" descr="A white stone structure with a triangular top">
              <a:extLst>
                <a:ext uri="{FF2B5EF4-FFF2-40B4-BE49-F238E27FC236}">
                  <a16:creationId xmlns:a16="http://schemas.microsoft.com/office/drawing/2014/main" id="{ECFC2066-1E08-D94B-C939-372DC8C1E112}"/>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3683087" y="22444"/>
              <a:ext cx="6740402" cy="6740402"/>
            </a:xfrm>
            <a:prstGeom prst="rect">
              <a:avLst/>
            </a:prstGeom>
          </p:spPr>
        </p:pic>
        <p:pic>
          <p:nvPicPr>
            <p:cNvPr id="38" name="Picture 37" descr="A white pillar with a black background&#10;&#10;AI-generated content may be incorrect.">
              <a:extLst>
                <a:ext uri="{FF2B5EF4-FFF2-40B4-BE49-F238E27FC236}">
                  <a16:creationId xmlns:a16="http://schemas.microsoft.com/office/drawing/2014/main" id="{249BB73E-5727-B738-377E-C08B78C7B2D3}"/>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76352" y="2670766"/>
              <a:ext cx="705782" cy="2222511"/>
            </a:xfrm>
            <a:prstGeom prst="rect">
              <a:avLst/>
            </a:prstGeom>
          </p:spPr>
        </p:pic>
        <p:pic>
          <p:nvPicPr>
            <p:cNvPr id="39" name="Picture 38" descr="A white pillar with a black background&#10;&#10;AI-generated content may be incorrect.">
              <a:extLst>
                <a:ext uri="{FF2B5EF4-FFF2-40B4-BE49-F238E27FC236}">
                  <a16:creationId xmlns:a16="http://schemas.microsoft.com/office/drawing/2014/main" id="{70014BAA-E087-7856-489F-B966E4B3BF90}"/>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6700397" y="2670766"/>
              <a:ext cx="705782" cy="2222511"/>
            </a:xfrm>
            <a:prstGeom prst="rect">
              <a:avLst/>
            </a:prstGeom>
          </p:spPr>
        </p:pic>
        <p:pic>
          <p:nvPicPr>
            <p:cNvPr id="40" name="Picture 39" descr="A white pillar with a black background&#10;&#10;AI-generated content may be incorrect.">
              <a:extLst>
                <a:ext uri="{FF2B5EF4-FFF2-40B4-BE49-F238E27FC236}">
                  <a16:creationId xmlns:a16="http://schemas.microsoft.com/office/drawing/2014/main" id="{EECB92BD-6652-B794-5694-992FC6A90804}"/>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7408412" y="2670766"/>
              <a:ext cx="705782" cy="2222511"/>
            </a:xfrm>
            <a:prstGeom prst="rect">
              <a:avLst/>
            </a:prstGeom>
          </p:spPr>
        </p:pic>
        <p:pic>
          <p:nvPicPr>
            <p:cNvPr id="41" name="Picture 40" descr="A white pillar with a black background&#10;&#10;AI-generated content may be incorrect.">
              <a:extLst>
                <a:ext uri="{FF2B5EF4-FFF2-40B4-BE49-F238E27FC236}">
                  <a16:creationId xmlns:a16="http://schemas.microsoft.com/office/drawing/2014/main" id="{FBDA3D62-1797-9000-581D-C19C69B97111}"/>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8116427" y="2670766"/>
              <a:ext cx="705782" cy="2222511"/>
            </a:xfrm>
            <a:prstGeom prst="rect">
              <a:avLst/>
            </a:prstGeom>
          </p:spPr>
        </p:pic>
        <p:pic>
          <p:nvPicPr>
            <p:cNvPr id="42" name="Picture 41" descr="A white pillar with a black background&#10;&#10;AI-generated content may be incorrect.">
              <a:extLst>
                <a:ext uri="{FF2B5EF4-FFF2-40B4-BE49-F238E27FC236}">
                  <a16:creationId xmlns:a16="http://schemas.microsoft.com/office/drawing/2014/main" id="{4885C0FD-F4DC-F993-6ACE-391DFBFD667A}"/>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5284367" y="2670766"/>
              <a:ext cx="705782" cy="2222511"/>
            </a:xfrm>
            <a:prstGeom prst="rect">
              <a:avLst/>
            </a:prstGeom>
          </p:spPr>
        </p:pic>
        <p:pic>
          <p:nvPicPr>
            <p:cNvPr id="43" name="Picture 42" descr="A white pillar with a black background&#10;&#10;AI-generated content may be incorrect.">
              <a:extLst>
                <a:ext uri="{FF2B5EF4-FFF2-40B4-BE49-F238E27FC236}">
                  <a16:creationId xmlns:a16="http://schemas.microsoft.com/office/drawing/2014/main" id="{468F2A5F-8910-961C-4B23-14783634818C}"/>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5992382" y="2670766"/>
              <a:ext cx="705782" cy="2222511"/>
            </a:xfrm>
            <a:prstGeom prst="rect">
              <a:avLst/>
            </a:prstGeom>
          </p:spPr>
        </p:pic>
        <p:pic>
          <p:nvPicPr>
            <p:cNvPr id="44" name="Picture 43" descr="A white pillar with a black background&#10;&#10;AI-generated content may be incorrect.">
              <a:extLst>
                <a:ext uri="{FF2B5EF4-FFF2-40B4-BE49-F238E27FC236}">
                  <a16:creationId xmlns:a16="http://schemas.microsoft.com/office/drawing/2014/main" id="{0F31EA70-6053-3632-2658-064CD00BA176}"/>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8824439" y="2670766"/>
              <a:ext cx="705782" cy="2222511"/>
            </a:xfrm>
            <a:prstGeom prst="rect">
              <a:avLst/>
            </a:prstGeom>
          </p:spPr>
        </p:pic>
      </p:grpSp>
      <p:grpSp>
        <p:nvGrpSpPr>
          <p:cNvPr id="5" name="Group 4">
            <a:extLst>
              <a:ext uri="{FF2B5EF4-FFF2-40B4-BE49-F238E27FC236}">
                <a16:creationId xmlns:a16="http://schemas.microsoft.com/office/drawing/2014/main" id="{B262FA30-ABE8-EC72-56F1-5F50BC2671B2}"/>
              </a:ext>
            </a:extLst>
          </p:cNvPr>
          <p:cNvGrpSpPr/>
          <p:nvPr/>
        </p:nvGrpSpPr>
        <p:grpSpPr>
          <a:xfrm>
            <a:off x="0" y="-786"/>
            <a:ext cx="2851517" cy="6868014"/>
            <a:chOff x="0" y="-786"/>
            <a:chExt cx="2851517" cy="6868014"/>
          </a:xfrm>
        </p:grpSpPr>
        <p:grpSp>
          <p:nvGrpSpPr>
            <p:cNvPr id="6" name="Group 5">
              <a:extLst>
                <a:ext uri="{FF2B5EF4-FFF2-40B4-BE49-F238E27FC236}">
                  <a16:creationId xmlns:a16="http://schemas.microsoft.com/office/drawing/2014/main" id="{BD34E8CF-DEBD-16E4-3DCC-5AA61A71166A}"/>
                </a:ext>
              </a:extLst>
            </p:cNvPr>
            <p:cNvGrpSpPr/>
            <p:nvPr/>
          </p:nvGrpSpPr>
          <p:grpSpPr>
            <a:xfrm>
              <a:off x="1" y="228600"/>
              <a:ext cx="2851516" cy="6638628"/>
              <a:chOff x="2487613" y="285750"/>
              <a:chExt cx="2428875" cy="5654676"/>
            </a:xfrm>
          </p:grpSpPr>
          <p:sp>
            <p:nvSpPr>
              <p:cNvPr id="21" name="Freeform 11">
                <a:extLst>
                  <a:ext uri="{FF2B5EF4-FFF2-40B4-BE49-F238E27FC236}">
                    <a16:creationId xmlns:a16="http://schemas.microsoft.com/office/drawing/2014/main" id="{2F7802B6-8FE6-93FD-B885-13936373676C}"/>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22" name="Freeform 12">
                <a:extLst>
                  <a:ext uri="{FF2B5EF4-FFF2-40B4-BE49-F238E27FC236}">
                    <a16:creationId xmlns:a16="http://schemas.microsoft.com/office/drawing/2014/main" id="{68EDFE2C-2F4D-CE63-4544-1F87A3C2BD01}"/>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23" name="Freeform 13">
                <a:extLst>
                  <a:ext uri="{FF2B5EF4-FFF2-40B4-BE49-F238E27FC236}">
                    <a16:creationId xmlns:a16="http://schemas.microsoft.com/office/drawing/2014/main" id="{A9951D5D-BD8C-3CCA-58AC-7924E88B5656}"/>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24" name="Freeform 14">
                <a:extLst>
                  <a:ext uri="{FF2B5EF4-FFF2-40B4-BE49-F238E27FC236}">
                    <a16:creationId xmlns:a16="http://schemas.microsoft.com/office/drawing/2014/main" id="{57D4FFE2-0CFF-779B-7F45-6B6133FEAFBD}"/>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25" name="Freeform 15">
                <a:extLst>
                  <a:ext uri="{FF2B5EF4-FFF2-40B4-BE49-F238E27FC236}">
                    <a16:creationId xmlns:a16="http://schemas.microsoft.com/office/drawing/2014/main" id="{5124B6F6-85B3-7C80-3207-DBB3F37E4312}"/>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26" name="Freeform 16">
                <a:extLst>
                  <a:ext uri="{FF2B5EF4-FFF2-40B4-BE49-F238E27FC236}">
                    <a16:creationId xmlns:a16="http://schemas.microsoft.com/office/drawing/2014/main" id="{D820A408-6C9A-BACF-9A51-0166696F5EFE}"/>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27" name="Freeform 17">
                <a:extLst>
                  <a:ext uri="{FF2B5EF4-FFF2-40B4-BE49-F238E27FC236}">
                    <a16:creationId xmlns:a16="http://schemas.microsoft.com/office/drawing/2014/main" id="{F18AFD1D-7A24-DAA0-68E6-90E01C159D72}"/>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28" name="Freeform 18">
                <a:extLst>
                  <a:ext uri="{FF2B5EF4-FFF2-40B4-BE49-F238E27FC236}">
                    <a16:creationId xmlns:a16="http://schemas.microsoft.com/office/drawing/2014/main" id="{CFE23E8D-3A46-6417-57A6-83C776B0C778}"/>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29" name="Freeform 19">
                <a:extLst>
                  <a:ext uri="{FF2B5EF4-FFF2-40B4-BE49-F238E27FC236}">
                    <a16:creationId xmlns:a16="http://schemas.microsoft.com/office/drawing/2014/main" id="{138567C6-4B6B-7040-CAA3-C879C4870B85}"/>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30" name="Freeform 20">
                <a:extLst>
                  <a:ext uri="{FF2B5EF4-FFF2-40B4-BE49-F238E27FC236}">
                    <a16:creationId xmlns:a16="http://schemas.microsoft.com/office/drawing/2014/main" id="{F64F4706-E9C5-0559-CFCF-E7317D5D43CB}"/>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31" name="Freeform 21">
                <a:extLst>
                  <a:ext uri="{FF2B5EF4-FFF2-40B4-BE49-F238E27FC236}">
                    <a16:creationId xmlns:a16="http://schemas.microsoft.com/office/drawing/2014/main" id="{F7AE239C-8CD0-9479-FD62-096DB9C2EF7D}"/>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32" name="Freeform 22">
                <a:extLst>
                  <a:ext uri="{FF2B5EF4-FFF2-40B4-BE49-F238E27FC236}">
                    <a16:creationId xmlns:a16="http://schemas.microsoft.com/office/drawing/2014/main" id="{23298C8B-A510-C194-6732-4279BCCE0DCC}"/>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7" name="Group 6">
              <a:extLst>
                <a:ext uri="{FF2B5EF4-FFF2-40B4-BE49-F238E27FC236}">
                  <a16:creationId xmlns:a16="http://schemas.microsoft.com/office/drawing/2014/main" id="{27B340A4-5F2B-55CC-A366-588AFFAC1E80}"/>
                </a:ext>
              </a:extLst>
            </p:cNvPr>
            <p:cNvGrpSpPr/>
            <p:nvPr/>
          </p:nvGrpSpPr>
          <p:grpSpPr>
            <a:xfrm>
              <a:off x="27221" y="-786"/>
              <a:ext cx="2356674" cy="6854039"/>
              <a:chOff x="6627813" y="194833"/>
              <a:chExt cx="1952625" cy="5678918"/>
            </a:xfrm>
          </p:grpSpPr>
          <p:sp>
            <p:nvSpPr>
              <p:cNvPr id="9" name="Freeform 27">
                <a:extLst>
                  <a:ext uri="{FF2B5EF4-FFF2-40B4-BE49-F238E27FC236}">
                    <a16:creationId xmlns:a16="http://schemas.microsoft.com/office/drawing/2014/main" id="{F8250D8F-CCED-3B06-EA83-9F67397645F5}"/>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10" name="Freeform 28">
                <a:extLst>
                  <a:ext uri="{FF2B5EF4-FFF2-40B4-BE49-F238E27FC236}">
                    <a16:creationId xmlns:a16="http://schemas.microsoft.com/office/drawing/2014/main" id="{C266F9D3-97A5-F660-458D-6D03B193FBB5}"/>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11" name="Freeform 29">
                <a:extLst>
                  <a:ext uri="{FF2B5EF4-FFF2-40B4-BE49-F238E27FC236}">
                    <a16:creationId xmlns:a16="http://schemas.microsoft.com/office/drawing/2014/main" id="{FB317B69-C133-65BF-E5E5-C2DEDB54EC78}"/>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12" name="Freeform 30">
                <a:extLst>
                  <a:ext uri="{FF2B5EF4-FFF2-40B4-BE49-F238E27FC236}">
                    <a16:creationId xmlns:a16="http://schemas.microsoft.com/office/drawing/2014/main" id="{245FF63D-5D24-CA93-6CEF-4DE1C8DBE965}"/>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13" name="Freeform 31">
                <a:extLst>
                  <a:ext uri="{FF2B5EF4-FFF2-40B4-BE49-F238E27FC236}">
                    <a16:creationId xmlns:a16="http://schemas.microsoft.com/office/drawing/2014/main" id="{62817822-40F0-6812-A0CD-9F70E654A998}"/>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14" name="Freeform 32">
                <a:extLst>
                  <a:ext uri="{FF2B5EF4-FFF2-40B4-BE49-F238E27FC236}">
                    <a16:creationId xmlns:a16="http://schemas.microsoft.com/office/drawing/2014/main" id="{3BEEA252-732B-C97A-B8AA-E4011859FADE}"/>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15" name="Freeform 33">
                <a:extLst>
                  <a:ext uri="{FF2B5EF4-FFF2-40B4-BE49-F238E27FC236}">
                    <a16:creationId xmlns:a16="http://schemas.microsoft.com/office/drawing/2014/main" id="{0527A4B5-B8A7-2920-2365-66D1551798C2}"/>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16" name="Freeform 34">
                <a:extLst>
                  <a:ext uri="{FF2B5EF4-FFF2-40B4-BE49-F238E27FC236}">
                    <a16:creationId xmlns:a16="http://schemas.microsoft.com/office/drawing/2014/main" id="{6264CF18-98B2-5E61-1458-903A0B1F109B}"/>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17" name="Freeform 35">
                <a:extLst>
                  <a:ext uri="{FF2B5EF4-FFF2-40B4-BE49-F238E27FC236}">
                    <a16:creationId xmlns:a16="http://schemas.microsoft.com/office/drawing/2014/main" id="{42C08DF0-74E6-71DE-C23F-F83D07936563}"/>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18" name="Freeform 36">
                <a:extLst>
                  <a:ext uri="{FF2B5EF4-FFF2-40B4-BE49-F238E27FC236}">
                    <a16:creationId xmlns:a16="http://schemas.microsoft.com/office/drawing/2014/main" id="{582B4E9C-433B-19BF-9B86-E62387AC7BD6}"/>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19" name="Freeform 37">
                <a:extLst>
                  <a:ext uri="{FF2B5EF4-FFF2-40B4-BE49-F238E27FC236}">
                    <a16:creationId xmlns:a16="http://schemas.microsoft.com/office/drawing/2014/main" id="{397CDFB8-771B-981D-E8A4-64026AA09F03}"/>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20" name="Freeform 38">
                <a:extLst>
                  <a:ext uri="{FF2B5EF4-FFF2-40B4-BE49-F238E27FC236}">
                    <a16:creationId xmlns:a16="http://schemas.microsoft.com/office/drawing/2014/main" id="{9CB006E8-CBEB-0BE3-50ED-F3AEC0300A42}"/>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8" name="Rectangle 7">
              <a:extLst>
                <a:ext uri="{FF2B5EF4-FFF2-40B4-BE49-F238E27FC236}">
                  <a16:creationId xmlns:a16="http://schemas.microsoft.com/office/drawing/2014/main" id="{AC289A3E-B1B8-5F3C-4F0E-99608A9BE4E5}"/>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50ED4875-65E9-64FD-956C-1ADB0F720DE1}"/>
              </a:ext>
            </a:extLst>
          </p:cNvPr>
          <p:cNvSpPr>
            <a:spLocks noGrp="1"/>
          </p:cNvSpPr>
          <p:nvPr>
            <p:ph type="title" idx="4294967295"/>
          </p:nvPr>
        </p:nvSpPr>
        <p:spPr>
          <a:xfrm>
            <a:off x="2394557" y="587898"/>
            <a:ext cx="8912225" cy="731837"/>
          </a:xfrm>
        </p:spPr>
        <p:txBody>
          <a:bodyPr>
            <a:normAutofit fontScale="90000"/>
          </a:bodyPr>
          <a:lstStyle/>
          <a:p>
            <a:r>
              <a:rPr lang="en-GB" dirty="0">
                <a:solidFill>
                  <a:srgbClr val="4D4D4D"/>
                </a:solidFill>
                <a:effectLst/>
                <a:latin typeface="Helvetica" panose="020B0604020202020204" pitchFamily="34" charset="0"/>
                <a:ea typeface="Aptos" panose="020B0004020202020204" pitchFamily="34" charset="0"/>
                <a:cs typeface="Open Sans" panose="020B0606030504020204" pitchFamily="34" charset="0"/>
              </a:rPr>
              <a:t>Managing successful digital initiatives </a:t>
            </a:r>
            <a:br>
              <a:rPr lang="en-GB" sz="3600" dirty="0">
                <a:solidFill>
                  <a:srgbClr val="4D4D4D"/>
                </a:solidFill>
                <a:effectLst/>
                <a:latin typeface="Helvetica" panose="020B0604020202020204" pitchFamily="34" charset="0"/>
                <a:ea typeface="Aptos" panose="020B0004020202020204" pitchFamily="34" charset="0"/>
                <a:cs typeface="Open Sans" panose="020B0606030504020204" pitchFamily="34" charset="0"/>
              </a:rPr>
            </a:br>
            <a:endParaRPr lang="en-GB" dirty="0"/>
          </a:p>
        </p:txBody>
      </p:sp>
      <p:sp>
        <p:nvSpPr>
          <p:cNvPr id="3" name="Content Placeholder 2">
            <a:extLst>
              <a:ext uri="{FF2B5EF4-FFF2-40B4-BE49-F238E27FC236}">
                <a16:creationId xmlns:a16="http://schemas.microsoft.com/office/drawing/2014/main" id="{B0E55469-D1FC-C2D7-E8A6-152412751C92}"/>
              </a:ext>
            </a:extLst>
          </p:cNvPr>
          <p:cNvSpPr>
            <a:spLocks noGrp="1"/>
          </p:cNvSpPr>
          <p:nvPr>
            <p:ph idx="4294967295"/>
          </p:nvPr>
        </p:nvSpPr>
        <p:spPr>
          <a:xfrm>
            <a:off x="6594159" y="2469422"/>
            <a:ext cx="2594857" cy="731837"/>
          </a:xfrm>
        </p:spPr>
        <p:txBody>
          <a:bodyPr>
            <a:normAutofit lnSpcReduction="10000"/>
          </a:bodyPr>
          <a:lstStyle/>
          <a:p>
            <a:pPr marL="0" indent="0">
              <a:buNone/>
            </a:pPr>
            <a:r>
              <a:rPr lang="en-GB" b="1" dirty="0"/>
              <a:t>Ilia Ryzhkov </a:t>
            </a:r>
          </a:p>
          <a:p>
            <a:pPr marL="457200" lvl="1" indent="0">
              <a:buNone/>
            </a:pPr>
            <a:r>
              <a:rPr lang="en-GB" dirty="0"/>
              <a:t>DBAX</a:t>
            </a:r>
          </a:p>
        </p:txBody>
      </p:sp>
      <p:sp>
        <p:nvSpPr>
          <p:cNvPr id="4" name="Freeform 11">
            <a:extLst>
              <a:ext uri="{FF2B5EF4-FFF2-40B4-BE49-F238E27FC236}">
                <a16:creationId xmlns:a16="http://schemas.microsoft.com/office/drawing/2014/main" id="{187C54A6-5D19-6FA7-4CB8-051C986DA23B}"/>
              </a:ext>
            </a:extLst>
          </p:cNvPr>
          <p:cNvSpPr/>
          <p:nvPr/>
        </p:nvSpPr>
        <p:spPr bwMode="auto">
          <a:xfrm flipV="1">
            <a:off x="0" y="730587"/>
            <a:ext cx="1452340" cy="446460"/>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pic>
        <p:nvPicPr>
          <p:cNvPr id="34" name="Picture 33" descr="A computer with a cloud and arrow">
            <a:extLst>
              <a:ext uri="{FF2B5EF4-FFF2-40B4-BE49-F238E27FC236}">
                <a16:creationId xmlns:a16="http://schemas.microsoft.com/office/drawing/2014/main" id="{74D07E55-D8AF-96BD-AF1A-6C20F441DE1E}"/>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849873" y="2156837"/>
            <a:ext cx="1776632" cy="1396894"/>
          </a:xfrm>
          <a:prstGeom prst="rect">
            <a:avLst/>
          </a:prstGeom>
        </p:spPr>
      </p:pic>
      <p:pic>
        <p:nvPicPr>
          <p:cNvPr id="36" name="Picture 35" descr="A blue and white logo&#10;&#10;AI-generated content may be incorrect.">
            <a:extLst>
              <a:ext uri="{FF2B5EF4-FFF2-40B4-BE49-F238E27FC236}">
                <a16:creationId xmlns:a16="http://schemas.microsoft.com/office/drawing/2014/main" id="{9DB0C7AD-CFF4-6141-9757-C7D6D22082D0}"/>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7572651" y="4369618"/>
            <a:ext cx="1813683" cy="895863"/>
          </a:xfrm>
          <a:prstGeom prst="rect">
            <a:avLst/>
          </a:prstGeom>
        </p:spPr>
      </p:pic>
      <p:sp>
        <p:nvSpPr>
          <p:cNvPr id="37" name="Content Placeholder 2">
            <a:extLst>
              <a:ext uri="{FF2B5EF4-FFF2-40B4-BE49-F238E27FC236}">
                <a16:creationId xmlns:a16="http://schemas.microsoft.com/office/drawing/2014/main" id="{9C24085A-7EE0-600B-9A6F-6F7CA7526AD0}"/>
              </a:ext>
            </a:extLst>
          </p:cNvPr>
          <p:cNvSpPr txBox="1">
            <a:spLocks/>
          </p:cNvSpPr>
          <p:nvPr/>
        </p:nvSpPr>
        <p:spPr>
          <a:xfrm>
            <a:off x="3485843" y="4369618"/>
            <a:ext cx="4027627" cy="99863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b="1" dirty="0"/>
              <a:t>Neil Hayes-Webster </a:t>
            </a:r>
          </a:p>
          <a:p>
            <a:pPr marL="457200" lvl="1" indent="0">
              <a:buNone/>
            </a:pPr>
            <a:r>
              <a:rPr lang="en-GB" dirty="0"/>
              <a:t>Somerset NHS Foundation Trust</a:t>
            </a:r>
          </a:p>
        </p:txBody>
      </p:sp>
    </p:spTree>
    <p:extLst>
      <p:ext uri="{BB962C8B-B14F-4D97-AF65-F5344CB8AC3E}">
        <p14:creationId xmlns:p14="http://schemas.microsoft.com/office/powerpoint/2010/main" val="847376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01B9FFA8-3885-ED15-9D78-8DA03A528A3D}"/>
              </a:ext>
            </a:extLst>
          </p:cNvPr>
          <p:cNvGrpSpPr/>
          <p:nvPr/>
        </p:nvGrpSpPr>
        <p:grpSpPr>
          <a:xfrm>
            <a:off x="391943" y="4824255"/>
            <a:ext cx="1991952" cy="1802178"/>
            <a:chOff x="3683087" y="22444"/>
            <a:chExt cx="6740402" cy="6740402"/>
          </a:xfrm>
        </p:grpSpPr>
        <p:pic>
          <p:nvPicPr>
            <p:cNvPr id="43" name="Picture 42" descr="A white stone structure with a triangular top">
              <a:extLst>
                <a:ext uri="{FF2B5EF4-FFF2-40B4-BE49-F238E27FC236}">
                  <a16:creationId xmlns:a16="http://schemas.microsoft.com/office/drawing/2014/main" id="{08E0E54E-A8D8-05A6-69BC-476DCC40268D}"/>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3683087" y="22444"/>
              <a:ext cx="6740402" cy="6740402"/>
            </a:xfrm>
            <a:prstGeom prst="rect">
              <a:avLst/>
            </a:prstGeom>
          </p:spPr>
        </p:pic>
        <p:pic>
          <p:nvPicPr>
            <p:cNvPr id="44" name="Picture 43" descr="A white pillar with a black background&#10;&#10;AI-generated content may be incorrect.">
              <a:extLst>
                <a:ext uri="{FF2B5EF4-FFF2-40B4-BE49-F238E27FC236}">
                  <a16:creationId xmlns:a16="http://schemas.microsoft.com/office/drawing/2014/main" id="{D414984F-EBBF-4477-8CE0-52B71434A2BC}"/>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576352" y="2670766"/>
              <a:ext cx="705782" cy="2222511"/>
            </a:xfrm>
            <a:prstGeom prst="rect">
              <a:avLst/>
            </a:prstGeom>
          </p:spPr>
        </p:pic>
        <p:pic>
          <p:nvPicPr>
            <p:cNvPr id="45" name="Picture 44" descr="A white pillar with a black background&#10;&#10;AI-generated content may be incorrect.">
              <a:extLst>
                <a:ext uri="{FF2B5EF4-FFF2-40B4-BE49-F238E27FC236}">
                  <a16:creationId xmlns:a16="http://schemas.microsoft.com/office/drawing/2014/main" id="{20273442-CFB5-3420-6E73-F23F2C68BC5F}"/>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6700397" y="2670766"/>
              <a:ext cx="705782" cy="2222511"/>
            </a:xfrm>
            <a:prstGeom prst="rect">
              <a:avLst/>
            </a:prstGeom>
          </p:spPr>
        </p:pic>
        <p:pic>
          <p:nvPicPr>
            <p:cNvPr id="46" name="Picture 45" descr="A white pillar with a black background&#10;&#10;AI-generated content may be incorrect.">
              <a:extLst>
                <a:ext uri="{FF2B5EF4-FFF2-40B4-BE49-F238E27FC236}">
                  <a16:creationId xmlns:a16="http://schemas.microsoft.com/office/drawing/2014/main" id="{1ACD8EDB-C074-734C-EAAC-8CFDCF93BC70}"/>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7408412" y="2670766"/>
              <a:ext cx="705782" cy="2222511"/>
            </a:xfrm>
            <a:prstGeom prst="rect">
              <a:avLst/>
            </a:prstGeom>
          </p:spPr>
        </p:pic>
        <p:pic>
          <p:nvPicPr>
            <p:cNvPr id="47" name="Picture 46" descr="A white pillar with a black background&#10;&#10;AI-generated content may be incorrect.">
              <a:extLst>
                <a:ext uri="{FF2B5EF4-FFF2-40B4-BE49-F238E27FC236}">
                  <a16:creationId xmlns:a16="http://schemas.microsoft.com/office/drawing/2014/main" id="{C40AA9A2-5724-CFEA-A4F5-2409FA2A6847}"/>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8116427" y="2670766"/>
              <a:ext cx="705782" cy="2222511"/>
            </a:xfrm>
            <a:prstGeom prst="rect">
              <a:avLst/>
            </a:prstGeom>
          </p:spPr>
        </p:pic>
        <p:pic>
          <p:nvPicPr>
            <p:cNvPr id="48" name="Picture 47" descr="A white pillar with a black background&#10;&#10;AI-generated content may be incorrect.">
              <a:extLst>
                <a:ext uri="{FF2B5EF4-FFF2-40B4-BE49-F238E27FC236}">
                  <a16:creationId xmlns:a16="http://schemas.microsoft.com/office/drawing/2014/main" id="{EFA8A2C9-916A-8884-E49B-2C900B5DBF89}"/>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5284367" y="2670766"/>
              <a:ext cx="705782" cy="2222511"/>
            </a:xfrm>
            <a:prstGeom prst="rect">
              <a:avLst/>
            </a:prstGeom>
          </p:spPr>
        </p:pic>
        <p:pic>
          <p:nvPicPr>
            <p:cNvPr id="49" name="Picture 48" descr="A white pillar with a black background&#10;&#10;AI-generated content may be incorrect.">
              <a:extLst>
                <a:ext uri="{FF2B5EF4-FFF2-40B4-BE49-F238E27FC236}">
                  <a16:creationId xmlns:a16="http://schemas.microsoft.com/office/drawing/2014/main" id="{1068FE02-BCB3-E89B-44FE-7C4B6C232602}"/>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5992382" y="2670766"/>
              <a:ext cx="705782" cy="2222511"/>
            </a:xfrm>
            <a:prstGeom prst="rect">
              <a:avLst/>
            </a:prstGeom>
          </p:spPr>
        </p:pic>
        <p:pic>
          <p:nvPicPr>
            <p:cNvPr id="50" name="Picture 49" descr="A white pillar with a black background&#10;&#10;AI-generated content may be incorrect.">
              <a:extLst>
                <a:ext uri="{FF2B5EF4-FFF2-40B4-BE49-F238E27FC236}">
                  <a16:creationId xmlns:a16="http://schemas.microsoft.com/office/drawing/2014/main" id="{7EDC43D9-8DB9-9D8E-C0D9-126BBE5A50AD}"/>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8824439" y="2670766"/>
              <a:ext cx="705782" cy="2222511"/>
            </a:xfrm>
            <a:prstGeom prst="rect">
              <a:avLst/>
            </a:prstGeom>
          </p:spPr>
        </p:pic>
      </p:grpSp>
      <p:grpSp>
        <p:nvGrpSpPr>
          <p:cNvPr id="5" name="Group 4">
            <a:extLst>
              <a:ext uri="{FF2B5EF4-FFF2-40B4-BE49-F238E27FC236}">
                <a16:creationId xmlns:a16="http://schemas.microsoft.com/office/drawing/2014/main" id="{342B2892-5539-25CE-2848-83B0098E74CE}"/>
              </a:ext>
            </a:extLst>
          </p:cNvPr>
          <p:cNvGrpSpPr/>
          <p:nvPr/>
        </p:nvGrpSpPr>
        <p:grpSpPr>
          <a:xfrm>
            <a:off x="0" y="-786"/>
            <a:ext cx="2851517" cy="6868014"/>
            <a:chOff x="0" y="-786"/>
            <a:chExt cx="2851517" cy="6868014"/>
          </a:xfrm>
        </p:grpSpPr>
        <p:grpSp>
          <p:nvGrpSpPr>
            <p:cNvPr id="6" name="Group 5">
              <a:extLst>
                <a:ext uri="{FF2B5EF4-FFF2-40B4-BE49-F238E27FC236}">
                  <a16:creationId xmlns:a16="http://schemas.microsoft.com/office/drawing/2014/main" id="{4D626D5F-B01F-3229-9276-A92C93E3B64F}"/>
                </a:ext>
              </a:extLst>
            </p:cNvPr>
            <p:cNvGrpSpPr/>
            <p:nvPr/>
          </p:nvGrpSpPr>
          <p:grpSpPr>
            <a:xfrm>
              <a:off x="1" y="228600"/>
              <a:ext cx="2851516" cy="6638628"/>
              <a:chOff x="2487613" y="285750"/>
              <a:chExt cx="2428875" cy="5654676"/>
            </a:xfrm>
          </p:grpSpPr>
          <p:sp>
            <p:nvSpPr>
              <p:cNvPr id="21" name="Freeform 11">
                <a:extLst>
                  <a:ext uri="{FF2B5EF4-FFF2-40B4-BE49-F238E27FC236}">
                    <a16:creationId xmlns:a16="http://schemas.microsoft.com/office/drawing/2014/main" id="{AA733046-E718-6E24-8A08-528283F423FE}"/>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22" name="Freeform 12">
                <a:extLst>
                  <a:ext uri="{FF2B5EF4-FFF2-40B4-BE49-F238E27FC236}">
                    <a16:creationId xmlns:a16="http://schemas.microsoft.com/office/drawing/2014/main" id="{67EE6E20-6E57-075E-38E2-96D373CB161E}"/>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23" name="Freeform 13">
                <a:extLst>
                  <a:ext uri="{FF2B5EF4-FFF2-40B4-BE49-F238E27FC236}">
                    <a16:creationId xmlns:a16="http://schemas.microsoft.com/office/drawing/2014/main" id="{B04022F8-022E-BCA5-534E-6A795ADF03FC}"/>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24" name="Freeform 14">
                <a:extLst>
                  <a:ext uri="{FF2B5EF4-FFF2-40B4-BE49-F238E27FC236}">
                    <a16:creationId xmlns:a16="http://schemas.microsoft.com/office/drawing/2014/main" id="{1CC23B9E-98BA-733D-8DD5-E178B986A928}"/>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25" name="Freeform 15">
                <a:extLst>
                  <a:ext uri="{FF2B5EF4-FFF2-40B4-BE49-F238E27FC236}">
                    <a16:creationId xmlns:a16="http://schemas.microsoft.com/office/drawing/2014/main" id="{3FB704EC-8D5A-22CF-1744-B246DB6214F4}"/>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26" name="Freeform 16">
                <a:extLst>
                  <a:ext uri="{FF2B5EF4-FFF2-40B4-BE49-F238E27FC236}">
                    <a16:creationId xmlns:a16="http://schemas.microsoft.com/office/drawing/2014/main" id="{AC1905B7-8617-A7C3-510B-1B4A8BCB9D06}"/>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27" name="Freeform 17">
                <a:extLst>
                  <a:ext uri="{FF2B5EF4-FFF2-40B4-BE49-F238E27FC236}">
                    <a16:creationId xmlns:a16="http://schemas.microsoft.com/office/drawing/2014/main" id="{B0F51F0F-F05A-3837-8424-884809AFD860}"/>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28" name="Freeform 18">
                <a:extLst>
                  <a:ext uri="{FF2B5EF4-FFF2-40B4-BE49-F238E27FC236}">
                    <a16:creationId xmlns:a16="http://schemas.microsoft.com/office/drawing/2014/main" id="{BD41017B-BBFD-C2D2-C46D-FA855E06FF33}"/>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29" name="Freeform 19">
                <a:extLst>
                  <a:ext uri="{FF2B5EF4-FFF2-40B4-BE49-F238E27FC236}">
                    <a16:creationId xmlns:a16="http://schemas.microsoft.com/office/drawing/2014/main" id="{F680F20C-0206-2AA8-C9DA-8B9D7606476A}"/>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30" name="Freeform 20">
                <a:extLst>
                  <a:ext uri="{FF2B5EF4-FFF2-40B4-BE49-F238E27FC236}">
                    <a16:creationId xmlns:a16="http://schemas.microsoft.com/office/drawing/2014/main" id="{FC3D7AAA-7DF8-4853-7636-DF7138775FAA}"/>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31" name="Freeform 21">
                <a:extLst>
                  <a:ext uri="{FF2B5EF4-FFF2-40B4-BE49-F238E27FC236}">
                    <a16:creationId xmlns:a16="http://schemas.microsoft.com/office/drawing/2014/main" id="{5A66B047-E7ED-0B5B-D675-1E1BDB6A2760}"/>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32" name="Freeform 22">
                <a:extLst>
                  <a:ext uri="{FF2B5EF4-FFF2-40B4-BE49-F238E27FC236}">
                    <a16:creationId xmlns:a16="http://schemas.microsoft.com/office/drawing/2014/main" id="{3B80C680-2B04-604E-77A8-4FD46CB6162A}"/>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7" name="Group 6">
              <a:extLst>
                <a:ext uri="{FF2B5EF4-FFF2-40B4-BE49-F238E27FC236}">
                  <a16:creationId xmlns:a16="http://schemas.microsoft.com/office/drawing/2014/main" id="{FEE46676-FA51-08AE-4B89-597E6687B61A}"/>
                </a:ext>
              </a:extLst>
            </p:cNvPr>
            <p:cNvGrpSpPr/>
            <p:nvPr/>
          </p:nvGrpSpPr>
          <p:grpSpPr>
            <a:xfrm>
              <a:off x="27221" y="-786"/>
              <a:ext cx="2356674" cy="6854039"/>
              <a:chOff x="6627813" y="194833"/>
              <a:chExt cx="1952625" cy="5678918"/>
            </a:xfrm>
          </p:grpSpPr>
          <p:sp>
            <p:nvSpPr>
              <p:cNvPr id="9" name="Freeform 27">
                <a:extLst>
                  <a:ext uri="{FF2B5EF4-FFF2-40B4-BE49-F238E27FC236}">
                    <a16:creationId xmlns:a16="http://schemas.microsoft.com/office/drawing/2014/main" id="{859893CA-082C-8716-D084-F9016EDE591E}"/>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10" name="Freeform 28">
                <a:extLst>
                  <a:ext uri="{FF2B5EF4-FFF2-40B4-BE49-F238E27FC236}">
                    <a16:creationId xmlns:a16="http://schemas.microsoft.com/office/drawing/2014/main" id="{76A63E23-ECA9-4F06-23AE-04678A8C532A}"/>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11" name="Freeform 29">
                <a:extLst>
                  <a:ext uri="{FF2B5EF4-FFF2-40B4-BE49-F238E27FC236}">
                    <a16:creationId xmlns:a16="http://schemas.microsoft.com/office/drawing/2014/main" id="{E20EB4DE-FF26-5D14-82B9-A6466B817B1F}"/>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12" name="Freeform 30">
                <a:extLst>
                  <a:ext uri="{FF2B5EF4-FFF2-40B4-BE49-F238E27FC236}">
                    <a16:creationId xmlns:a16="http://schemas.microsoft.com/office/drawing/2014/main" id="{FC852393-5870-E720-D0C1-B941013688D7}"/>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13" name="Freeform 31">
                <a:extLst>
                  <a:ext uri="{FF2B5EF4-FFF2-40B4-BE49-F238E27FC236}">
                    <a16:creationId xmlns:a16="http://schemas.microsoft.com/office/drawing/2014/main" id="{D7F228F6-F3E4-625C-5B87-7D398147D36F}"/>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14" name="Freeform 32">
                <a:extLst>
                  <a:ext uri="{FF2B5EF4-FFF2-40B4-BE49-F238E27FC236}">
                    <a16:creationId xmlns:a16="http://schemas.microsoft.com/office/drawing/2014/main" id="{8492B52E-4CCB-9CC1-F483-7ABEE264DDD1}"/>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15" name="Freeform 33">
                <a:extLst>
                  <a:ext uri="{FF2B5EF4-FFF2-40B4-BE49-F238E27FC236}">
                    <a16:creationId xmlns:a16="http://schemas.microsoft.com/office/drawing/2014/main" id="{85F0499C-4665-BB82-95F2-E0414C2FEBEC}"/>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16" name="Freeform 34">
                <a:extLst>
                  <a:ext uri="{FF2B5EF4-FFF2-40B4-BE49-F238E27FC236}">
                    <a16:creationId xmlns:a16="http://schemas.microsoft.com/office/drawing/2014/main" id="{250909C3-D96E-F4E5-0DE0-7FA2EECA16C9}"/>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17" name="Freeform 35">
                <a:extLst>
                  <a:ext uri="{FF2B5EF4-FFF2-40B4-BE49-F238E27FC236}">
                    <a16:creationId xmlns:a16="http://schemas.microsoft.com/office/drawing/2014/main" id="{BA10984D-47E5-FA5C-FB82-E9A8E2F1D60D}"/>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18" name="Freeform 36">
                <a:extLst>
                  <a:ext uri="{FF2B5EF4-FFF2-40B4-BE49-F238E27FC236}">
                    <a16:creationId xmlns:a16="http://schemas.microsoft.com/office/drawing/2014/main" id="{953843C6-976A-6448-FEA8-ABD9E13E9B55}"/>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19" name="Freeform 37">
                <a:extLst>
                  <a:ext uri="{FF2B5EF4-FFF2-40B4-BE49-F238E27FC236}">
                    <a16:creationId xmlns:a16="http://schemas.microsoft.com/office/drawing/2014/main" id="{AFCBD1ED-1DF1-1211-BF40-450D9BD82383}"/>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20" name="Freeform 38">
                <a:extLst>
                  <a:ext uri="{FF2B5EF4-FFF2-40B4-BE49-F238E27FC236}">
                    <a16:creationId xmlns:a16="http://schemas.microsoft.com/office/drawing/2014/main" id="{0BFCDFB8-8D05-F452-3D03-718C17371B70}"/>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8" name="Rectangle 7">
              <a:extLst>
                <a:ext uri="{FF2B5EF4-FFF2-40B4-BE49-F238E27FC236}">
                  <a16:creationId xmlns:a16="http://schemas.microsoft.com/office/drawing/2014/main" id="{5937608E-357F-0E89-7301-01EC7D92E90F}"/>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2C16DFF7-078C-C330-AF0F-8295D09FA008}"/>
              </a:ext>
            </a:extLst>
          </p:cNvPr>
          <p:cNvSpPr>
            <a:spLocks noGrp="1"/>
          </p:cNvSpPr>
          <p:nvPr>
            <p:ph type="title" idx="4294967295"/>
          </p:nvPr>
        </p:nvSpPr>
        <p:spPr>
          <a:xfrm>
            <a:off x="1639887" y="729485"/>
            <a:ext cx="8912225" cy="827087"/>
          </a:xfrm>
        </p:spPr>
        <p:txBody>
          <a:bodyPr>
            <a:normAutofit/>
          </a:bodyPr>
          <a:lstStyle/>
          <a:p>
            <a:r>
              <a:rPr lang="en-US" dirty="0"/>
              <a:t>You Can't Build a House on Quicksand </a:t>
            </a:r>
            <a:endParaRPr lang="en-GB" dirty="0"/>
          </a:p>
        </p:txBody>
      </p:sp>
      <p:sp>
        <p:nvSpPr>
          <p:cNvPr id="3" name="Content Placeholder 2">
            <a:extLst>
              <a:ext uri="{FF2B5EF4-FFF2-40B4-BE49-F238E27FC236}">
                <a16:creationId xmlns:a16="http://schemas.microsoft.com/office/drawing/2014/main" id="{40F6C3E5-0BB0-B0E8-0339-58289840B75F}"/>
              </a:ext>
            </a:extLst>
          </p:cNvPr>
          <p:cNvSpPr>
            <a:spLocks noGrp="1"/>
          </p:cNvSpPr>
          <p:nvPr>
            <p:ph idx="4294967295"/>
          </p:nvPr>
        </p:nvSpPr>
        <p:spPr>
          <a:xfrm>
            <a:off x="2497696" y="1556572"/>
            <a:ext cx="7432897" cy="4765949"/>
          </a:xfrm>
        </p:spPr>
        <p:txBody>
          <a:bodyPr>
            <a:normAutofit/>
          </a:bodyPr>
          <a:lstStyle/>
          <a:p>
            <a:r>
              <a:rPr lang="en-US" dirty="0"/>
              <a:t>"You can't build a home on quicksand </a:t>
            </a:r>
          </a:p>
          <a:p>
            <a:pPr marL="457200" lvl="1" indent="0">
              <a:buNone/>
            </a:pPr>
            <a:r>
              <a:rPr lang="en-US" dirty="0"/>
              <a:t>	- or a lasting digital infrastructure on shaky foundations“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NHS data challenges: </a:t>
            </a:r>
          </a:p>
          <a:p>
            <a:pPr marL="457200" lvl="1" indent="0">
              <a:buNone/>
            </a:pPr>
            <a:r>
              <a:rPr lang="en-US" dirty="0"/>
              <a:t>Mergers, legacy and disconnected systems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Freeform 11">
            <a:extLst>
              <a:ext uri="{FF2B5EF4-FFF2-40B4-BE49-F238E27FC236}">
                <a16:creationId xmlns:a16="http://schemas.microsoft.com/office/drawing/2014/main" id="{6920F368-9B51-4D63-49C0-DBB57CDE18E1}"/>
              </a:ext>
            </a:extLst>
          </p:cNvPr>
          <p:cNvSpPr/>
          <p:nvPr/>
        </p:nvSpPr>
        <p:spPr bwMode="auto">
          <a:xfrm flipV="1">
            <a:off x="0" y="730587"/>
            <a:ext cx="1245794" cy="446460"/>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grpSp>
        <p:nvGrpSpPr>
          <p:cNvPr id="33" name="Group 32">
            <a:extLst>
              <a:ext uri="{FF2B5EF4-FFF2-40B4-BE49-F238E27FC236}">
                <a16:creationId xmlns:a16="http://schemas.microsoft.com/office/drawing/2014/main" id="{FDF5F950-5424-87A8-C204-592DC20540DA}"/>
              </a:ext>
            </a:extLst>
          </p:cNvPr>
          <p:cNvGrpSpPr/>
          <p:nvPr/>
        </p:nvGrpSpPr>
        <p:grpSpPr>
          <a:xfrm>
            <a:off x="12968296" y="2248648"/>
            <a:ext cx="1360031" cy="3648522"/>
            <a:chOff x="1962655" y="2674706"/>
            <a:chExt cx="1543581" cy="3778249"/>
          </a:xfrm>
        </p:grpSpPr>
        <p:sp>
          <p:nvSpPr>
            <p:cNvPr id="34" name="Freeform: Shape 33">
              <a:extLst>
                <a:ext uri="{FF2B5EF4-FFF2-40B4-BE49-F238E27FC236}">
                  <a16:creationId xmlns:a16="http://schemas.microsoft.com/office/drawing/2014/main" id="{86D6FEC0-E14C-8DC7-92DC-87D73B8A0B21}"/>
                </a:ext>
              </a:extLst>
            </p:cNvPr>
            <p:cNvSpPr/>
            <p:nvPr/>
          </p:nvSpPr>
          <p:spPr>
            <a:xfrm>
              <a:off x="1962655" y="2674706"/>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Version Control</a:t>
              </a:r>
              <a:endParaRPr lang="en-GB" sz="1600" kern="1200" dirty="0"/>
            </a:p>
          </p:txBody>
        </p:sp>
        <p:sp>
          <p:nvSpPr>
            <p:cNvPr id="35" name="Oval 34" descr="Architecture with solid fill">
              <a:extLst>
                <a:ext uri="{FF2B5EF4-FFF2-40B4-BE49-F238E27FC236}">
                  <a16:creationId xmlns:a16="http://schemas.microsoft.com/office/drawing/2014/main" id="{D380320F-288B-2D33-6B6D-B9BD4B01CDE5}"/>
                </a:ext>
              </a:extLst>
            </p:cNvPr>
            <p:cNvSpPr/>
            <p:nvPr/>
          </p:nvSpPr>
          <p:spPr>
            <a:xfrm>
              <a:off x="2071075" y="3015543"/>
              <a:ext cx="1324450" cy="1266509"/>
            </a:xfrm>
            <a:prstGeom prst="ellipse">
              <a:avLst/>
            </a:prstGeom>
            <a:blipFill>
              <a:blip r:embed="rId5">
                <a:extLst>
                  <a:ext uri="{96DAC541-7B7A-43D3-8B79-37D633B846F1}">
                    <asvg:svgBlip xmlns:asvg="http://schemas.microsoft.com/office/drawing/2016/SVG/main" r:embed="rId6"/>
                  </a:ext>
                </a:extLst>
              </a:blip>
              <a:srcRect/>
              <a:stretch>
                <a:fillRect l="6581" t="9941" r="6581"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36" name="Group 35">
            <a:extLst>
              <a:ext uri="{FF2B5EF4-FFF2-40B4-BE49-F238E27FC236}">
                <a16:creationId xmlns:a16="http://schemas.microsoft.com/office/drawing/2014/main" id="{5C889FD1-4EA5-EB30-DF4C-8D173D13E329}"/>
              </a:ext>
            </a:extLst>
          </p:cNvPr>
          <p:cNvGrpSpPr/>
          <p:nvPr/>
        </p:nvGrpSpPr>
        <p:grpSpPr>
          <a:xfrm>
            <a:off x="15082046" y="2214160"/>
            <a:ext cx="1360031" cy="3648522"/>
            <a:chOff x="2635145" y="2575044"/>
            <a:chExt cx="1543581" cy="3778249"/>
          </a:xfrm>
        </p:grpSpPr>
        <p:sp>
          <p:nvSpPr>
            <p:cNvPr id="37" name="Freeform: Shape 36">
              <a:extLst>
                <a:ext uri="{FF2B5EF4-FFF2-40B4-BE49-F238E27FC236}">
                  <a16:creationId xmlns:a16="http://schemas.microsoft.com/office/drawing/2014/main" id="{0917DEF7-4455-BB17-2CB0-96573092BE0E}"/>
                </a:ext>
              </a:extLst>
            </p:cNvPr>
            <p:cNvSpPr/>
            <p:nvPr/>
          </p:nvSpPr>
          <p:spPr>
            <a:xfrm>
              <a:off x="2635145"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Everything as Code</a:t>
              </a:r>
              <a:endParaRPr lang="en-GB" sz="1600" kern="1200" dirty="0"/>
            </a:p>
          </p:txBody>
        </p:sp>
        <p:sp>
          <p:nvSpPr>
            <p:cNvPr id="38" name="Oval 37" descr="Gears with solid fill">
              <a:extLst>
                <a:ext uri="{FF2B5EF4-FFF2-40B4-BE49-F238E27FC236}">
                  <a16:creationId xmlns:a16="http://schemas.microsoft.com/office/drawing/2014/main" id="{31531597-0B61-0F3D-FDBE-8857CD62843F}"/>
                </a:ext>
              </a:extLst>
            </p:cNvPr>
            <p:cNvSpPr/>
            <p:nvPr/>
          </p:nvSpPr>
          <p:spPr>
            <a:xfrm>
              <a:off x="2655864" y="3015544"/>
              <a:ext cx="1450967" cy="1258156"/>
            </a:xfrm>
            <a:prstGeom prst="ellipse">
              <a:avLst/>
            </a:prstGeom>
            <a:blipFill>
              <a:blip r:embed="rId7">
                <a:extLst>
                  <a:ext uri="{96DAC541-7B7A-43D3-8B79-37D633B846F1}">
                    <asvg:svgBlip xmlns:asvg="http://schemas.microsoft.com/office/drawing/2016/SVG/main" r:embed="rId8"/>
                  </a:ext>
                </a:extLst>
              </a:blip>
              <a:srcRect/>
              <a:stretch>
                <a:fillRect l="4100" t="9941" r="4100"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39" name="Group 38">
            <a:extLst>
              <a:ext uri="{FF2B5EF4-FFF2-40B4-BE49-F238E27FC236}">
                <a16:creationId xmlns:a16="http://schemas.microsoft.com/office/drawing/2014/main" id="{5823D95F-5BFD-16C5-8D5D-D7CB98F69ACF}"/>
              </a:ext>
            </a:extLst>
          </p:cNvPr>
          <p:cNvGrpSpPr/>
          <p:nvPr/>
        </p:nvGrpSpPr>
        <p:grpSpPr>
          <a:xfrm>
            <a:off x="20014402" y="2262767"/>
            <a:ext cx="1360031" cy="3648523"/>
            <a:chOff x="4057758" y="2575044"/>
            <a:chExt cx="1543581" cy="3778249"/>
          </a:xfrm>
        </p:grpSpPr>
        <p:sp>
          <p:nvSpPr>
            <p:cNvPr id="40" name="Freeform: Shape 39">
              <a:extLst>
                <a:ext uri="{FF2B5EF4-FFF2-40B4-BE49-F238E27FC236}">
                  <a16:creationId xmlns:a16="http://schemas.microsoft.com/office/drawing/2014/main" id="{4C84C5B8-A42D-E789-40E2-A9F77D5CC3A2}"/>
                </a:ext>
              </a:extLst>
            </p:cNvPr>
            <p:cNvSpPr/>
            <p:nvPr/>
          </p:nvSpPr>
          <p:spPr>
            <a:xfrm>
              <a:off x="4057758"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Testing</a:t>
              </a:r>
              <a:endParaRPr lang="en-GB" sz="1600" kern="1200" dirty="0"/>
            </a:p>
          </p:txBody>
        </p:sp>
        <p:sp>
          <p:nvSpPr>
            <p:cNvPr id="41" name="Oval 40" descr="Clipboard Mixed with solid fill">
              <a:extLst>
                <a:ext uri="{FF2B5EF4-FFF2-40B4-BE49-F238E27FC236}">
                  <a16:creationId xmlns:a16="http://schemas.microsoft.com/office/drawing/2014/main" id="{8F825AB6-8384-E22D-D82C-E3B76E0FFC31}"/>
                </a:ext>
              </a:extLst>
            </p:cNvPr>
            <p:cNvSpPr/>
            <p:nvPr/>
          </p:nvSpPr>
          <p:spPr>
            <a:xfrm>
              <a:off x="4211083" y="3036819"/>
              <a:ext cx="1252792" cy="1258156"/>
            </a:xfrm>
            <a:prstGeom prst="ellipse">
              <a:avLst/>
            </a:prstGeom>
            <a:blipFill>
              <a:blip r:embed="rId9">
                <a:extLst>
                  <a:ext uri="{96DAC541-7B7A-43D3-8B79-37D633B846F1}">
                    <asvg:svgBlip xmlns:asvg="http://schemas.microsoft.com/office/drawing/2016/SVG/main" r:embed="rId10"/>
                  </a:ext>
                </a:extLst>
              </a:blip>
              <a:srcRect/>
              <a:stretch>
                <a:fillRect l="11543" t="11372" r="11543" b="11372"/>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51" name="Group 50">
            <a:extLst>
              <a:ext uri="{FF2B5EF4-FFF2-40B4-BE49-F238E27FC236}">
                <a16:creationId xmlns:a16="http://schemas.microsoft.com/office/drawing/2014/main" id="{E9FFA8B0-6C34-08F3-06C1-027DAC5C5C28}"/>
              </a:ext>
            </a:extLst>
          </p:cNvPr>
          <p:cNvGrpSpPr/>
          <p:nvPr/>
        </p:nvGrpSpPr>
        <p:grpSpPr>
          <a:xfrm>
            <a:off x="22680715" y="2248646"/>
            <a:ext cx="1360031" cy="3648523"/>
            <a:chOff x="6498529" y="1701354"/>
            <a:chExt cx="1543581" cy="3778249"/>
          </a:xfrm>
        </p:grpSpPr>
        <p:sp>
          <p:nvSpPr>
            <p:cNvPr id="52" name="Freeform: Shape 51">
              <a:extLst>
                <a:ext uri="{FF2B5EF4-FFF2-40B4-BE49-F238E27FC236}">
                  <a16:creationId xmlns:a16="http://schemas.microsoft.com/office/drawing/2014/main" id="{8B444B79-E28B-C680-7225-2CFA90C0F223}"/>
                </a:ext>
              </a:extLst>
            </p:cNvPr>
            <p:cNvSpPr/>
            <p:nvPr/>
          </p:nvSpPr>
          <p:spPr>
            <a:xfrm>
              <a:off x="6498529" y="170135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Open Source First</a:t>
              </a:r>
              <a:endParaRPr lang="en-GB" sz="1600" kern="1200" dirty="0"/>
            </a:p>
          </p:txBody>
        </p:sp>
        <p:sp>
          <p:nvSpPr>
            <p:cNvPr id="53" name="Oval 52" descr="Open hand with solid fill">
              <a:extLst>
                <a:ext uri="{FF2B5EF4-FFF2-40B4-BE49-F238E27FC236}">
                  <a16:creationId xmlns:a16="http://schemas.microsoft.com/office/drawing/2014/main" id="{D4A07FB4-69C7-0F10-431D-0553D76F22D5}"/>
                </a:ext>
              </a:extLst>
            </p:cNvPr>
            <p:cNvSpPr/>
            <p:nvPr/>
          </p:nvSpPr>
          <p:spPr>
            <a:xfrm>
              <a:off x="6603697" y="2140995"/>
              <a:ext cx="1329999" cy="1258155"/>
            </a:xfrm>
            <a:prstGeom prst="ellipse">
              <a:avLst/>
            </a:prstGeom>
            <a:blipFill>
              <a:blip r:embed="rId11">
                <a:extLst>
                  <a:ext uri="{96DAC541-7B7A-43D3-8B79-37D633B846F1}">
                    <asvg:svgBlip xmlns:asvg="http://schemas.microsoft.com/office/drawing/2016/SVG/main" r:embed="rId12"/>
                  </a:ext>
                </a:extLst>
              </a:blip>
              <a:srcRect/>
              <a:stretch>
                <a:fillRect l="15265" t="7080" r="15265" b="708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54" name="Group 53">
            <a:extLst>
              <a:ext uri="{FF2B5EF4-FFF2-40B4-BE49-F238E27FC236}">
                <a16:creationId xmlns:a16="http://schemas.microsoft.com/office/drawing/2014/main" id="{21BAF66D-0D6B-701D-0A41-87F35D9FDAD5}"/>
              </a:ext>
            </a:extLst>
          </p:cNvPr>
          <p:cNvGrpSpPr/>
          <p:nvPr/>
        </p:nvGrpSpPr>
        <p:grpSpPr>
          <a:xfrm>
            <a:off x="25479758" y="2238109"/>
            <a:ext cx="1360031" cy="3648523"/>
            <a:chOff x="8089560" y="1700495"/>
            <a:chExt cx="1543581" cy="3880755"/>
          </a:xfrm>
        </p:grpSpPr>
        <p:sp>
          <p:nvSpPr>
            <p:cNvPr id="55" name="Freeform: Shape 54">
              <a:extLst>
                <a:ext uri="{FF2B5EF4-FFF2-40B4-BE49-F238E27FC236}">
                  <a16:creationId xmlns:a16="http://schemas.microsoft.com/office/drawing/2014/main" id="{283C69A6-BF9C-94EC-2153-DA7D4B3F7FA3}"/>
                </a:ext>
              </a:extLst>
            </p:cNvPr>
            <p:cNvSpPr/>
            <p:nvPr/>
          </p:nvSpPr>
          <p:spPr>
            <a:xfrm>
              <a:off x="8089560" y="1700495"/>
              <a:ext cx="1543581" cy="3880755"/>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Reference Architecture</a:t>
              </a:r>
              <a:endParaRPr lang="en-GB" sz="1600" kern="1200" dirty="0"/>
            </a:p>
          </p:txBody>
        </p:sp>
        <p:sp>
          <p:nvSpPr>
            <p:cNvPr id="56" name="Oval 55" descr="Books on shelf with solid fill">
              <a:extLst>
                <a:ext uri="{FF2B5EF4-FFF2-40B4-BE49-F238E27FC236}">
                  <a16:creationId xmlns:a16="http://schemas.microsoft.com/office/drawing/2014/main" id="{D79C4F48-BD3A-F9BB-D48A-35456CE816F8}"/>
                </a:ext>
              </a:extLst>
            </p:cNvPr>
            <p:cNvSpPr/>
            <p:nvPr/>
          </p:nvSpPr>
          <p:spPr>
            <a:xfrm>
              <a:off x="8135868" y="2172679"/>
              <a:ext cx="1450967" cy="1258156"/>
            </a:xfrm>
            <a:prstGeom prst="ellipse">
              <a:avLst/>
            </a:prstGeom>
            <a:blipFill>
              <a:blip r:embed="rId13">
                <a:extLst>
                  <a:ext uri="{96DAC541-7B7A-43D3-8B79-37D633B846F1}">
                    <asvg:svgBlip xmlns:asvg="http://schemas.microsoft.com/office/drawing/2016/SVG/main" r:embed="rId14"/>
                  </a:ext>
                </a:extLst>
              </a:blip>
              <a:srcRect/>
              <a:stretch>
                <a:fillRect l="12784" t="12803" r="12784" b="1280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57" name="Group 56">
            <a:extLst>
              <a:ext uri="{FF2B5EF4-FFF2-40B4-BE49-F238E27FC236}">
                <a16:creationId xmlns:a16="http://schemas.microsoft.com/office/drawing/2014/main" id="{4FB812C4-E325-2C7C-C69B-CC5E38147079}"/>
              </a:ext>
            </a:extLst>
          </p:cNvPr>
          <p:cNvGrpSpPr/>
          <p:nvPr/>
        </p:nvGrpSpPr>
        <p:grpSpPr>
          <a:xfrm>
            <a:off x="27931118" y="2238108"/>
            <a:ext cx="1343700" cy="3648523"/>
            <a:chOff x="9741055" y="1651927"/>
            <a:chExt cx="1525046" cy="3935709"/>
          </a:xfrm>
        </p:grpSpPr>
        <p:sp>
          <p:nvSpPr>
            <p:cNvPr id="58" name="Freeform: Shape 57">
              <a:extLst>
                <a:ext uri="{FF2B5EF4-FFF2-40B4-BE49-F238E27FC236}">
                  <a16:creationId xmlns:a16="http://schemas.microsoft.com/office/drawing/2014/main" id="{26BE0B66-CD3B-DA89-8B71-50B30EBD9020}"/>
                </a:ext>
              </a:extLst>
            </p:cNvPr>
            <p:cNvSpPr/>
            <p:nvPr/>
          </p:nvSpPr>
          <p:spPr>
            <a:xfrm>
              <a:off x="9741055" y="1651927"/>
              <a:ext cx="1525046" cy="393570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lvl="0" algn="ctr" defTabSz="311150">
                <a:lnSpc>
                  <a:spcPct val="90000"/>
                </a:lnSpc>
                <a:spcBef>
                  <a:spcPct val="0"/>
                </a:spcBef>
                <a:spcAft>
                  <a:spcPct val="35000"/>
                </a:spcAft>
              </a:pPr>
              <a:r>
                <a:rPr lang="en-US" kern="1200" dirty="0"/>
                <a:t>Security by </a:t>
              </a:r>
              <a:r>
                <a:rPr lang="en-US" dirty="0"/>
                <a:t>Design</a:t>
              </a:r>
              <a:endParaRPr lang="en-GB" kern="1200" dirty="0"/>
            </a:p>
          </p:txBody>
        </p:sp>
        <p:sp>
          <p:nvSpPr>
            <p:cNvPr id="59" name="Oval 58" descr="Lock with solid fill">
              <a:extLst>
                <a:ext uri="{FF2B5EF4-FFF2-40B4-BE49-F238E27FC236}">
                  <a16:creationId xmlns:a16="http://schemas.microsoft.com/office/drawing/2014/main" id="{E917310B-674E-FAF8-F8A4-0FBC3A477BF6}"/>
                </a:ext>
              </a:extLst>
            </p:cNvPr>
            <p:cNvSpPr/>
            <p:nvPr/>
          </p:nvSpPr>
          <p:spPr>
            <a:xfrm>
              <a:off x="9861201" y="2088561"/>
              <a:ext cx="1284754" cy="1310590"/>
            </a:xfrm>
            <a:prstGeom prst="ellipse">
              <a:avLst/>
            </a:prstGeom>
            <a:blipFill>
              <a:blip r:embed="rId15">
                <a:extLst>
                  <a:ext uri="{96DAC541-7B7A-43D3-8B79-37D633B846F1}">
                    <asvg:svgBlip xmlns:asvg="http://schemas.microsoft.com/office/drawing/2016/SVG/main" r:embed="rId16"/>
                  </a:ext>
                </a:extLst>
              </a:blip>
              <a:srcRect/>
              <a:stretch>
                <a:fillRect l="-2737" t="11544" r="-2737" b="11544"/>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grpSp>
        <p:nvGrpSpPr>
          <p:cNvPr id="60" name="Group 59">
            <a:extLst>
              <a:ext uri="{FF2B5EF4-FFF2-40B4-BE49-F238E27FC236}">
                <a16:creationId xmlns:a16="http://schemas.microsoft.com/office/drawing/2014/main" id="{659CBEBB-D477-5EC5-6DAE-5853779CFB67}"/>
              </a:ext>
            </a:extLst>
          </p:cNvPr>
          <p:cNvGrpSpPr/>
          <p:nvPr/>
        </p:nvGrpSpPr>
        <p:grpSpPr>
          <a:xfrm>
            <a:off x="17371501" y="2248646"/>
            <a:ext cx="1360031" cy="3648523"/>
            <a:chOff x="3381347" y="2620999"/>
            <a:chExt cx="1543581" cy="3778249"/>
          </a:xfrm>
        </p:grpSpPr>
        <p:sp>
          <p:nvSpPr>
            <p:cNvPr id="61" name="Freeform: Shape 60">
              <a:extLst>
                <a:ext uri="{FF2B5EF4-FFF2-40B4-BE49-F238E27FC236}">
                  <a16:creationId xmlns:a16="http://schemas.microsoft.com/office/drawing/2014/main" id="{CF16ABD4-9433-8FA9-3A08-BF0E6992FA54}"/>
                </a:ext>
              </a:extLst>
            </p:cNvPr>
            <p:cNvSpPr/>
            <p:nvPr/>
          </p:nvSpPr>
          <p:spPr>
            <a:xfrm>
              <a:off x="3381347" y="2620999"/>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CI/CD Pipelines</a:t>
              </a:r>
              <a:endParaRPr lang="en-GB" sz="1600" kern="1200" dirty="0"/>
            </a:p>
          </p:txBody>
        </p:sp>
        <p:sp>
          <p:nvSpPr>
            <p:cNvPr id="62" name="Oval 61" descr="Oil Rig with solid fill">
              <a:extLst>
                <a:ext uri="{FF2B5EF4-FFF2-40B4-BE49-F238E27FC236}">
                  <a16:creationId xmlns:a16="http://schemas.microsoft.com/office/drawing/2014/main" id="{BFA668B8-B73E-8194-CC77-CBDF6264BAB6}"/>
                </a:ext>
              </a:extLst>
            </p:cNvPr>
            <p:cNvSpPr/>
            <p:nvPr/>
          </p:nvSpPr>
          <p:spPr>
            <a:xfrm>
              <a:off x="3532419" y="3015544"/>
              <a:ext cx="1285718" cy="1258156"/>
            </a:xfrm>
            <a:prstGeom prst="ellipse">
              <a:avLst/>
            </a:prstGeom>
            <a:blipFill>
              <a:blip r:embed="rId17">
                <a:extLst>
                  <a:ext uri="{96DAC541-7B7A-43D3-8B79-37D633B846F1}">
                    <asvg:svgBlip xmlns:asvg="http://schemas.microsoft.com/office/drawing/2016/SVG/main" r:embed="rId18"/>
                  </a:ext>
                </a:extLst>
              </a:blip>
              <a:stretch>
                <a:fillRect l="15044" t="8517" r="15044" b="8517"/>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pic>
        <p:nvPicPr>
          <p:cNvPr id="64" name="Picture 63">
            <a:extLst>
              <a:ext uri="{FF2B5EF4-FFF2-40B4-BE49-F238E27FC236}">
                <a16:creationId xmlns:a16="http://schemas.microsoft.com/office/drawing/2014/main" id="{5624A114-B27D-DF45-6878-FA2A2755F4F2}"/>
              </a:ext>
            </a:extLst>
          </p:cNvPr>
          <p:cNvPicPr>
            <a:picLocks noChangeAspect="1"/>
          </p:cNvPicPr>
          <p:nvPr/>
        </p:nvPicPr>
        <p:blipFill>
          <a:blip r:embed="rId19">
            <a:extLst>
              <a:ext uri="{28A0092B-C50C-407E-A947-70E740481C1C}">
                <a14:useLocalDpi xmlns:a14="http://schemas.microsoft.com/office/drawing/2010/main" val="0"/>
              </a:ext>
            </a:extLst>
          </a:blip>
          <a:srcRect/>
          <a:stretch/>
        </p:blipFill>
        <p:spPr>
          <a:xfrm>
            <a:off x="3884641" y="2466111"/>
            <a:ext cx="4422715" cy="2948477"/>
          </a:xfrm>
          <a:prstGeom prst="rect">
            <a:avLst/>
          </a:prstGeom>
          <a:effectLst>
            <a:softEdge rad="127000"/>
          </a:effectLst>
        </p:spPr>
      </p:pic>
    </p:spTree>
    <p:extLst>
      <p:ext uri="{BB962C8B-B14F-4D97-AF65-F5344CB8AC3E}">
        <p14:creationId xmlns:p14="http://schemas.microsoft.com/office/powerpoint/2010/main" val="38165105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2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D1F56-CBF4-C90C-BE1A-51B1E4038AE5}"/>
            </a:ext>
          </a:extLst>
        </p:cNvPr>
        <p:cNvGrpSpPr/>
        <p:nvPr/>
      </p:nvGrpSpPr>
      <p:grpSpPr>
        <a:xfrm>
          <a:off x="0" y="0"/>
          <a:ext cx="0" cy="0"/>
          <a:chOff x="0" y="0"/>
          <a:chExt cx="0" cy="0"/>
        </a:xfrm>
      </p:grpSpPr>
      <p:pic>
        <p:nvPicPr>
          <p:cNvPr id="70" name="Picture 69" descr="A white pillar with a letter v&#10;&#10;AI-generated content may be incorrect.">
            <a:extLst>
              <a:ext uri="{FF2B5EF4-FFF2-40B4-BE49-F238E27FC236}">
                <a16:creationId xmlns:a16="http://schemas.microsoft.com/office/drawing/2014/main" id="{38E76203-7C62-A71B-3A36-6743D5799397}"/>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764250" y="5581250"/>
            <a:ext cx="159912" cy="554796"/>
          </a:xfrm>
          <a:prstGeom prst="rect">
            <a:avLst/>
          </a:prstGeom>
        </p:spPr>
      </p:pic>
      <p:grpSp>
        <p:nvGrpSpPr>
          <p:cNvPr id="61" name="Group 60">
            <a:extLst>
              <a:ext uri="{FF2B5EF4-FFF2-40B4-BE49-F238E27FC236}">
                <a16:creationId xmlns:a16="http://schemas.microsoft.com/office/drawing/2014/main" id="{5F1EDA8E-ACAF-A440-C17A-464DBBAAFD87}"/>
              </a:ext>
            </a:extLst>
          </p:cNvPr>
          <p:cNvGrpSpPr/>
          <p:nvPr/>
        </p:nvGrpSpPr>
        <p:grpSpPr>
          <a:xfrm>
            <a:off x="391943" y="4824255"/>
            <a:ext cx="1991952" cy="1802178"/>
            <a:chOff x="3683087" y="22444"/>
            <a:chExt cx="6740402" cy="6740402"/>
          </a:xfrm>
        </p:grpSpPr>
        <p:pic>
          <p:nvPicPr>
            <p:cNvPr id="62" name="Picture 61" descr="A white stone structure with a triangular top">
              <a:extLst>
                <a:ext uri="{FF2B5EF4-FFF2-40B4-BE49-F238E27FC236}">
                  <a16:creationId xmlns:a16="http://schemas.microsoft.com/office/drawing/2014/main" id="{038C4494-346F-5C48-B620-9E193D2DDF3E}"/>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683087" y="22444"/>
              <a:ext cx="6740402" cy="6740402"/>
            </a:xfrm>
            <a:prstGeom prst="rect">
              <a:avLst/>
            </a:prstGeom>
          </p:spPr>
        </p:pic>
        <p:pic>
          <p:nvPicPr>
            <p:cNvPr id="63" name="Picture 62" descr="A white pillar with a black background&#10;&#10;AI-generated content may be incorrect.">
              <a:extLst>
                <a:ext uri="{FF2B5EF4-FFF2-40B4-BE49-F238E27FC236}">
                  <a16:creationId xmlns:a16="http://schemas.microsoft.com/office/drawing/2014/main" id="{3398B86B-12C0-A4F9-40E0-F1E96F1A3382}"/>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576352" y="2670766"/>
              <a:ext cx="705782" cy="2222511"/>
            </a:xfrm>
            <a:prstGeom prst="rect">
              <a:avLst/>
            </a:prstGeom>
          </p:spPr>
        </p:pic>
        <p:pic>
          <p:nvPicPr>
            <p:cNvPr id="64" name="Picture 63" descr="A white pillar with a black background&#10;&#10;AI-generated content may be incorrect.">
              <a:extLst>
                <a:ext uri="{FF2B5EF4-FFF2-40B4-BE49-F238E27FC236}">
                  <a16:creationId xmlns:a16="http://schemas.microsoft.com/office/drawing/2014/main" id="{66D809E7-CFA5-338D-A424-0F2B7176AEB5}"/>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6700397" y="2670766"/>
              <a:ext cx="705782" cy="2222511"/>
            </a:xfrm>
            <a:prstGeom prst="rect">
              <a:avLst/>
            </a:prstGeom>
          </p:spPr>
        </p:pic>
        <p:pic>
          <p:nvPicPr>
            <p:cNvPr id="65" name="Picture 64" descr="A white pillar with a black background&#10;&#10;AI-generated content may be incorrect.">
              <a:extLst>
                <a:ext uri="{FF2B5EF4-FFF2-40B4-BE49-F238E27FC236}">
                  <a16:creationId xmlns:a16="http://schemas.microsoft.com/office/drawing/2014/main" id="{38D690D2-050F-BA19-2A0F-3B24754059CF}"/>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7408412" y="2670766"/>
              <a:ext cx="705782" cy="2222511"/>
            </a:xfrm>
            <a:prstGeom prst="rect">
              <a:avLst/>
            </a:prstGeom>
          </p:spPr>
        </p:pic>
        <p:pic>
          <p:nvPicPr>
            <p:cNvPr id="66" name="Picture 65" descr="A white pillar with a black background&#10;&#10;AI-generated content may be incorrect.">
              <a:extLst>
                <a:ext uri="{FF2B5EF4-FFF2-40B4-BE49-F238E27FC236}">
                  <a16:creationId xmlns:a16="http://schemas.microsoft.com/office/drawing/2014/main" id="{2BCD8920-DCD7-2337-CD7B-EB4C03D8999D}"/>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8116427" y="2670766"/>
              <a:ext cx="705782" cy="2222511"/>
            </a:xfrm>
            <a:prstGeom prst="rect">
              <a:avLst/>
            </a:prstGeom>
          </p:spPr>
        </p:pic>
        <p:pic>
          <p:nvPicPr>
            <p:cNvPr id="67" name="Picture 66" descr="A white pillar with a black background&#10;&#10;AI-generated content may be incorrect.">
              <a:extLst>
                <a:ext uri="{FF2B5EF4-FFF2-40B4-BE49-F238E27FC236}">
                  <a16:creationId xmlns:a16="http://schemas.microsoft.com/office/drawing/2014/main" id="{FC3C1202-8BC3-60D1-9C14-32978CC79282}"/>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5284367" y="2670766"/>
              <a:ext cx="705782" cy="2222511"/>
            </a:xfrm>
            <a:prstGeom prst="rect">
              <a:avLst/>
            </a:prstGeom>
          </p:spPr>
        </p:pic>
        <p:pic>
          <p:nvPicPr>
            <p:cNvPr id="68" name="Picture 67" descr="A white pillar with a black background&#10;&#10;AI-generated content may be incorrect.">
              <a:extLst>
                <a:ext uri="{FF2B5EF4-FFF2-40B4-BE49-F238E27FC236}">
                  <a16:creationId xmlns:a16="http://schemas.microsoft.com/office/drawing/2014/main" id="{5AFC8269-2137-4CAD-B309-96365D281A48}"/>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5992382" y="2670766"/>
              <a:ext cx="705782" cy="2222511"/>
            </a:xfrm>
            <a:prstGeom prst="rect">
              <a:avLst/>
            </a:prstGeom>
          </p:spPr>
        </p:pic>
        <p:pic>
          <p:nvPicPr>
            <p:cNvPr id="69" name="Picture 68" descr="A white pillar with a black background&#10;&#10;AI-generated content may be incorrect.">
              <a:extLst>
                <a:ext uri="{FF2B5EF4-FFF2-40B4-BE49-F238E27FC236}">
                  <a16:creationId xmlns:a16="http://schemas.microsoft.com/office/drawing/2014/main" id="{0C47B8D7-1719-7AD4-9C07-AE93C6CDE43C}"/>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8824439" y="2670766"/>
              <a:ext cx="705782" cy="2222511"/>
            </a:xfrm>
            <a:prstGeom prst="rect">
              <a:avLst/>
            </a:prstGeom>
          </p:spPr>
        </p:pic>
      </p:grpSp>
      <p:sp>
        <p:nvSpPr>
          <p:cNvPr id="7" name="Content Placeholder 2">
            <a:extLst>
              <a:ext uri="{FF2B5EF4-FFF2-40B4-BE49-F238E27FC236}">
                <a16:creationId xmlns:a16="http://schemas.microsoft.com/office/drawing/2014/main" id="{A24136ED-CD6B-7D60-B54A-C7DEBAD1A9CF}"/>
              </a:ext>
            </a:extLst>
          </p:cNvPr>
          <p:cNvSpPr txBox="1">
            <a:spLocks/>
          </p:cNvSpPr>
          <p:nvPr/>
        </p:nvSpPr>
        <p:spPr>
          <a:xfrm>
            <a:off x="1039352" y="426365"/>
            <a:ext cx="9804252" cy="153662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GB" sz="3500" dirty="0">
                <a:solidFill>
                  <a:schemeClr val="accent3">
                    <a:lumMod val="75000"/>
                  </a:schemeClr>
                </a:solidFill>
                <a:latin typeface="Castellar" panose="020A0402060406010301" pitchFamily="18" charset="0"/>
                <a:ea typeface="+mj-ea"/>
                <a:cs typeface="+mj-cs"/>
              </a:rPr>
              <a:t>VECTORS</a:t>
            </a:r>
            <a:r>
              <a:rPr lang="en-GB" sz="3500" dirty="0">
                <a:solidFill>
                  <a:srgbClr val="4D4D4D"/>
                </a:solidFill>
                <a:effectLst/>
                <a:latin typeface="Helvetica" panose="020B0604020202020204" pitchFamily="34" charset="0"/>
                <a:ea typeface="Aptos" panose="020B0004020202020204" pitchFamily="34" charset="0"/>
                <a:cs typeface="Open Sans" panose="020B0606030504020204" pitchFamily="34" charset="0"/>
              </a:rPr>
              <a:t> </a:t>
            </a:r>
            <a:r>
              <a:rPr lang="en-GB" sz="2600" dirty="0">
                <a:solidFill>
                  <a:srgbClr val="4D4D4D"/>
                </a:solidFill>
                <a:effectLst/>
                <a:latin typeface="Helvetica" panose="020B0604020202020204" pitchFamily="34" charset="0"/>
                <a:ea typeface="Aptos" panose="020B0004020202020204" pitchFamily="34" charset="0"/>
                <a:cs typeface="Open Sans" panose="020B0606030504020204" pitchFamily="34" charset="0"/>
              </a:rPr>
              <a:t>Framework: </a:t>
            </a:r>
            <a:endParaRPr lang="en-GB" dirty="0">
              <a:solidFill>
                <a:srgbClr val="4D4D4D"/>
              </a:solidFill>
              <a:latin typeface="Helvetica" panose="020B0604020202020204" pitchFamily="34" charset="0"/>
              <a:ea typeface="Aptos" panose="020B0004020202020204" pitchFamily="34" charset="0"/>
              <a:cs typeface="Open Sans" panose="020B0606030504020204" pitchFamily="34" charset="0"/>
            </a:endParaRPr>
          </a:p>
          <a:p>
            <a:pPr marL="0" indent="0">
              <a:lnSpc>
                <a:spcPct val="150000"/>
              </a:lnSpc>
              <a:buNone/>
            </a:pPr>
            <a:r>
              <a:rPr lang="en-GB" dirty="0">
                <a:solidFill>
                  <a:srgbClr val="4D4D4D"/>
                </a:solidFill>
                <a:latin typeface="Helvetica" panose="020B0604020202020204" pitchFamily="34" charset="0"/>
                <a:ea typeface="Aptos" panose="020B0004020202020204" pitchFamily="34" charset="0"/>
                <a:cs typeface="Open Sans" panose="020B0606030504020204" pitchFamily="34" charset="0"/>
              </a:rPr>
              <a:t>S</a:t>
            </a:r>
            <a:r>
              <a:rPr lang="en-GB" sz="1800" dirty="0">
                <a:solidFill>
                  <a:srgbClr val="4D4D4D"/>
                </a:solidFill>
                <a:effectLst/>
                <a:latin typeface="Helvetica" panose="020B0604020202020204" pitchFamily="34" charset="0"/>
                <a:ea typeface="Aptos" panose="020B0004020202020204" pitchFamily="34" charset="0"/>
                <a:cs typeface="Open Sans" panose="020B0606030504020204" pitchFamily="34" charset="0"/>
              </a:rPr>
              <a:t>even core pillars that support successful </a:t>
            </a:r>
            <a:r>
              <a:rPr lang="en-GB" dirty="0">
                <a:solidFill>
                  <a:srgbClr val="4D4D4D"/>
                </a:solidFill>
                <a:latin typeface="Helvetica" panose="020B0604020202020204" pitchFamily="34" charset="0"/>
                <a:cs typeface="Open Sans" panose="020B0606030504020204" pitchFamily="34" charset="0"/>
              </a:rPr>
              <a:t>digital transformation in healthcare. </a:t>
            </a:r>
          </a:p>
          <a:p>
            <a:pPr lvl="1"/>
            <a:endParaRPr lang="en-GB" dirty="0"/>
          </a:p>
        </p:txBody>
      </p:sp>
      <p:grpSp>
        <p:nvGrpSpPr>
          <p:cNvPr id="8" name="Group 7">
            <a:extLst>
              <a:ext uri="{FF2B5EF4-FFF2-40B4-BE49-F238E27FC236}">
                <a16:creationId xmlns:a16="http://schemas.microsoft.com/office/drawing/2014/main" id="{70DDF087-0A84-BD74-D7D1-BE672000F5D9}"/>
              </a:ext>
            </a:extLst>
          </p:cNvPr>
          <p:cNvGrpSpPr/>
          <p:nvPr/>
        </p:nvGrpSpPr>
        <p:grpSpPr>
          <a:xfrm>
            <a:off x="0" y="-786"/>
            <a:ext cx="2851517" cy="6868014"/>
            <a:chOff x="0" y="-786"/>
            <a:chExt cx="2851517" cy="6868014"/>
          </a:xfrm>
        </p:grpSpPr>
        <p:grpSp>
          <p:nvGrpSpPr>
            <p:cNvPr id="9" name="Group 8">
              <a:extLst>
                <a:ext uri="{FF2B5EF4-FFF2-40B4-BE49-F238E27FC236}">
                  <a16:creationId xmlns:a16="http://schemas.microsoft.com/office/drawing/2014/main" id="{D58DBA2E-2837-039D-14AA-F503CBBBF676}"/>
                </a:ext>
              </a:extLst>
            </p:cNvPr>
            <p:cNvGrpSpPr/>
            <p:nvPr/>
          </p:nvGrpSpPr>
          <p:grpSpPr>
            <a:xfrm>
              <a:off x="1" y="228600"/>
              <a:ext cx="2851516" cy="6638628"/>
              <a:chOff x="2487613" y="285750"/>
              <a:chExt cx="2428875" cy="5654676"/>
            </a:xfrm>
          </p:grpSpPr>
          <p:sp>
            <p:nvSpPr>
              <p:cNvPr id="24" name="Freeform 11">
                <a:extLst>
                  <a:ext uri="{FF2B5EF4-FFF2-40B4-BE49-F238E27FC236}">
                    <a16:creationId xmlns:a16="http://schemas.microsoft.com/office/drawing/2014/main" id="{73B6D0CF-AB86-A112-5C0E-6CF29E1B9F75}"/>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25" name="Freeform 12">
                <a:extLst>
                  <a:ext uri="{FF2B5EF4-FFF2-40B4-BE49-F238E27FC236}">
                    <a16:creationId xmlns:a16="http://schemas.microsoft.com/office/drawing/2014/main" id="{E505A512-7160-6AFF-DC68-475860DAC41B}"/>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26" name="Freeform 13">
                <a:extLst>
                  <a:ext uri="{FF2B5EF4-FFF2-40B4-BE49-F238E27FC236}">
                    <a16:creationId xmlns:a16="http://schemas.microsoft.com/office/drawing/2014/main" id="{FF565DAC-43D3-3293-2F72-E7455EB3E6B6}"/>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27" name="Freeform 14">
                <a:extLst>
                  <a:ext uri="{FF2B5EF4-FFF2-40B4-BE49-F238E27FC236}">
                    <a16:creationId xmlns:a16="http://schemas.microsoft.com/office/drawing/2014/main" id="{38F14121-6F2E-CD86-3EF9-1499CA3B2924}"/>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28" name="Freeform 15">
                <a:extLst>
                  <a:ext uri="{FF2B5EF4-FFF2-40B4-BE49-F238E27FC236}">
                    <a16:creationId xmlns:a16="http://schemas.microsoft.com/office/drawing/2014/main" id="{22EA7311-EA90-CA5E-8418-C6B01F9F1A82}"/>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29" name="Freeform 16">
                <a:extLst>
                  <a:ext uri="{FF2B5EF4-FFF2-40B4-BE49-F238E27FC236}">
                    <a16:creationId xmlns:a16="http://schemas.microsoft.com/office/drawing/2014/main" id="{59E498B5-03AF-ABD5-4459-5EAE6CE8B7B0}"/>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30" name="Freeform 17">
                <a:extLst>
                  <a:ext uri="{FF2B5EF4-FFF2-40B4-BE49-F238E27FC236}">
                    <a16:creationId xmlns:a16="http://schemas.microsoft.com/office/drawing/2014/main" id="{72E8E75D-2038-574A-1221-07D94F39AEE6}"/>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31" name="Freeform 18">
                <a:extLst>
                  <a:ext uri="{FF2B5EF4-FFF2-40B4-BE49-F238E27FC236}">
                    <a16:creationId xmlns:a16="http://schemas.microsoft.com/office/drawing/2014/main" id="{A13E1A3A-730A-F221-576E-8AD486FD893C}"/>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32" name="Freeform 19">
                <a:extLst>
                  <a:ext uri="{FF2B5EF4-FFF2-40B4-BE49-F238E27FC236}">
                    <a16:creationId xmlns:a16="http://schemas.microsoft.com/office/drawing/2014/main" id="{3F6E8B52-B171-D15D-EF6A-3F4150837DF5}"/>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33" name="Freeform 20">
                <a:extLst>
                  <a:ext uri="{FF2B5EF4-FFF2-40B4-BE49-F238E27FC236}">
                    <a16:creationId xmlns:a16="http://schemas.microsoft.com/office/drawing/2014/main" id="{55839F26-EA67-6B57-5F59-A1850F0E5B85}"/>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34" name="Freeform 21">
                <a:extLst>
                  <a:ext uri="{FF2B5EF4-FFF2-40B4-BE49-F238E27FC236}">
                    <a16:creationId xmlns:a16="http://schemas.microsoft.com/office/drawing/2014/main" id="{DBB3DE6A-917C-A461-E037-0EA20D7A273D}"/>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35" name="Freeform 22">
                <a:extLst>
                  <a:ext uri="{FF2B5EF4-FFF2-40B4-BE49-F238E27FC236}">
                    <a16:creationId xmlns:a16="http://schemas.microsoft.com/office/drawing/2014/main" id="{D3966CC8-1C41-F902-272D-5E5FF114B861}"/>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10" name="Group 9">
              <a:extLst>
                <a:ext uri="{FF2B5EF4-FFF2-40B4-BE49-F238E27FC236}">
                  <a16:creationId xmlns:a16="http://schemas.microsoft.com/office/drawing/2014/main" id="{4256230D-65A1-25B5-40CB-191C771E010C}"/>
                </a:ext>
              </a:extLst>
            </p:cNvPr>
            <p:cNvGrpSpPr/>
            <p:nvPr/>
          </p:nvGrpSpPr>
          <p:grpSpPr>
            <a:xfrm>
              <a:off x="27221" y="-786"/>
              <a:ext cx="2356674" cy="6854039"/>
              <a:chOff x="6627813" y="194833"/>
              <a:chExt cx="1952625" cy="5678918"/>
            </a:xfrm>
          </p:grpSpPr>
          <p:sp>
            <p:nvSpPr>
              <p:cNvPr id="12" name="Freeform 27">
                <a:extLst>
                  <a:ext uri="{FF2B5EF4-FFF2-40B4-BE49-F238E27FC236}">
                    <a16:creationId xmlns:a16="http://schemas.microsoft.com/office/drawing/2014/main" id="{2D42BF1C-493E-4C50-AA9B-D4D1C62085C2}"/>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13" name="Freeform 28">
                <a:extLst>
                  <a:ext uri="{FF2B5EF4-FFF2-40B4-BE49-F238E27FC236}">
                    <a16:creationId xmlns:a16="http://schemas.microsoft.com/office/drawing/2014/main" id="{5DFDF937-526B-53FC-F74C-4A8DC7087004}"/>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14" name="Freeform 29">
                <a:extLst>
                  <a:ext uri="{FF2B5EF4-FFF2-40B4-BE49-F238E27FC236}">
                    <a16:creationId xmlns:a16="http://schemas.microsoft.com/office/drawing/2014/main" id="{B4724068-8558-ED71-ADF0-382C187AD492}"/>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15" name="Freeform 30">
                <a:extLst>
                  <a:ext uri="{FF2B5EF4-FFF2-40B4-BE49-F238E27FC236}">
                    <a16:creationId xmlns:a16="http://schemas.microsoft.com/office/drawing/2014/main" id="{64AF4881-95E9-1D9B-2C64-3F4ABDE7BFB4}"/>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16" name="Freeform 31">
                <a:extLst>
                  <a:ext uri="{FF2B5EF4-FFF2-40B4-BE49-F238E27FC236}">
                    <a16:creationId xmlns:a16="http://schemas.microsoft.com/office/drawing/2014/main" id="{3BF6A75E-08C6-CD47-501C-A8C56B67416D}"/>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17" name="Freeform 32">
                <a:extLst>
                  <a:ext uri="{FF2B5EF4-FFF2-40B4-BE49-F238E27FC236}">
                    <a16:creationId xmlns:a16="http://schemas.microsoft.com/office/drawing/2014/main" id="{A403BCEC-BC48-9AA1-C474-4EEE06D06FDF}"/>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18" name="Freeform 33">
                <a:extLst>
                  <a:ext uri="{FF2B5EF4-FFF2-40B4-BE49-F238E27FC236}">
                    <a16:creationId xmlns:a16="http://schemas.microsoft.com/office/drawing/2014/main" id="{0994BDA6-6010-42A2-D1A4-4137C18311F1}"/>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19" name="Freeform 34">
                <a:extLst>
                  <a:ext uri="{FF2B5EF4-FFF2-40B4-BE49-F238E27FC236}">
                    <a16:creationId xmlns:a16="http://schemas.microsoft.com/office/drawing/2014/main" id="{F2CF9813-6CD4-5423-E764-6A8B8587CB21}"/>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20" name="Freeform 35">
                <a:extLst>
                  <a:ext uri="{FF2B5EF4-FFF2-40B4-BE49-F238E27FC236}">
                    <a16:creationId xmlns:a16="http://schemas.microsoft.com/office/drawing/2014/main" id="{5578BF65-9275-7E70-54C8-429536CD075D}"/>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21" name="Freeform 36">
                <a:extLst>
                  <a:ext uri="{FF2B5EF4-FFF2-40B4-BE49-F238E27FC236}">
                    <a16:creationId xmlns:a16="http://schemas.microsoft.com/office/drawing/2014/main" id="{22B8D65B-3DFB-6F68-AD96-B90A531EB9DF}"/>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22" name="Freeform 37">
                <a:extLst>
                  <a:ext uri="{FF2B5EF4-FFF2-40B4-BE49-F238E27FC236}">
                    <a16:creationId xmlns:a16="http://schemas.microsoft.com/office/drawing/2014/main" id="{251BFEAA-821F-4994-3AEB-3BDB1981661F}"/>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23" name="Freeform 38">
                <a:extLst>
                  <a:ext uri="{FF2B5EF4-FFF2-40B4-BE49-F238E27FC236}">
                    <a16:creationId xmlns:a16="http://schemas.microsoft.com/office/drawing/2014/main" id="{5203261C-5B0F-E4A9-57B6-9C635D890D3D}"/>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11" name="Rectangle 10">
              <a:extLst>
                <a:ext uri="{FF2B5EF4-FFF2-40B4-BE49-F238E27FC236}">
                  <a16:creationId xmlns:a16="http://schemas.microsoft.com/office/drawing/2014/main" id="{9599660F-6223-0AC4-CE26-36633764FC49}"/>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grpSp>
        <p:nvGrpSpPr>
          <p:cNvPr id="60" name="Group 59">
            <a:extLst>
              <a:ext uri="{FF2B5EF4-FFF2-40B4-BE49-F238E27FC236}">
                <a16:creationId xmlns:a16="http://schemas.microsoft.com/office/drawing/2014/main" id="{B724E902-5A35-BADD-5817-5C32796EBA36}"/>
              </a:ext>
            </a:extLst>
          </p:cNvPr>
          <p:cNvGrpSpPr/>
          <p:nvPr/>
        </p:nvGrpSpPr>
        <p:grpSpPr>
          <a:xfrm>
            <a:off x="1583945" y="2216416"/>
            <a:ext cx="1360031" cy="3648522"/>
            <a:chOff x="1962655" y="2674706"/>
            <a:chExt cx="1543581" cy="3778249"/>
          </a:xfrm>
        </p:grpSpPr>
        <p:sp>
          <p:nvSpPr>
            <p:cNvPr id="46" name="Freeform: Shape 45">
              <a:extLst>
                <a:ext uri="{FF2B5EF4-FFF2-40B4-BE49-F238E27FC236}">
                  <a16:creationId xmlns:a16="http://schemas.microsoft.com/office/drawing/2014/main" id="{3A8BF8BD-0850-CD91-529E-5D1A1D7E6DB9}"/>
                </a:ext>
              </a:extLst>
            </p:cNvPr>
            <p:cNvSpPr/>
            <p:nvPr/>
          </p:nvSpPr>
          <p:spPr>
            <a:xfrm>
              <a:off x="1962655" y="2674706"/>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Version Control</a:t>
              </a:r>
              <a:endParaRPr lang="en-GB" sz="1600" kern="1200" dirty="0"/>
            </a:p>
          </p:txBody>
        </p:sp>
        <p:sp>
          <p:nvSpPr>
            <p:cNvPr id="47" name="Oval 46" descr="Architecture with solid fill">
              <a:extLst>
                <a:ext uri="{FF2B5EF4-FFF2-40B4-BE49-F238E27FC236}">
                  <a16:creationId xmlns:a16="http://schemas.microsoft.com/office/drawing/2014/main" id="{4D69F672-637F-3006-BDF4-075BEBAD8AE8}"/>
                </a:ext>
              </a:extLst>
            </p:cNvPr>
            <p:cNvSpPr/>
            <p:nvPr/>
          </p:nvSpPr>
          <p:spPr>
            <a:xfrm>
              <a:off x="2071075" y="3015543"/>
              <a:ext cx="1324450" cy="1266509"/>
            </a:xfrm>
            <a:prstGeom prst="ellipse">
              <a:avLst/>
            </a:prstGeom>
            <a:blipFill>
              <a:blip r:embed="rId6">
                <a:extLst>
                  <a:ext uri="{96DAC541-7B7A-43D3-8B79-37D633B846F1}">
                    <asvg:svgBlip xmlns:asvg="http://schemas.microsoft.com/office/drawing/2016/SVG/main" r:embed="rId7"/>
                  </a:ext>
                </a:extLst>
              </a:blip>
              <a:srcRect/>
              <a:stretch>
                <a:fillRect l="6581" t="9941" r="6581"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45" name="Group 44">
            <a:extLst>
              <a:ext uri="{FF2B5EF4-FFF2-40B4-BE49-F238E27FC236}">
                <a16:creationId xmlns:a16="http://schemas.microsoft.com/office/drawing/2014/main" id="{C6ABA329-5DF3-CEAC-EA26-9F56F6DF361D}"/>
              </a:ext>
            </a:extLst>
          </p:cNvPr>
          <p:cNvGrpSpPr/>
          <p:nvPr/>
        </p:nvGrpSpPr>
        <p:grpSpPr>
          <a:xfrm>
            <a:off x="3017151" y="2216416"/>
            <a:ext cx="1360031" cy="3648522"/>
            <a:chOff x="2635145" y="2575044"/>
            <a:chExt cx="1543581" cy="3778249"/>
          </a:xfrm>
        </p:grpSpPr>
        <p:sp>
          <p:nvSpPr>
            <p:cNvPr id="48" name="Freeform: Shape 47">
              <a:extLst>
                <a:ext uri="{FF2B5EF4-FFF2-40B4-BE49-F238E27FC236}">
                  <a16:creationId xmlns:a16="http://schemas.microsoft.com/office/drawing/2014/main" id="{B4F9CCED-8131-DD40-2C1C-BEA9B7865094}"/>
                </a:ext>
              </a:extLst>
            </p:cNvPr>
            <p:cNvSpPr/>
            <p:nvPr/>
          </p:nvSpPr>
          <p:spPr>
            <a:xfrm>
              <a:off x="2635145"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Everything as Code</a:t>
              </a:r>
              <a:endParaRPr lang="en-GB" sz="1600" kern="1200" dirty="0"/>
            </a:p>
          </p:txBody>
        </p:sp>
        <p:sp>
          <p:nvSpPr>
            <p:cNvPr id="49" name="Oval 48" descr="Gears with solid fill">
              <a:extLst>
                <a:ext uri="{FF2B5EF4-FFF2-40B4-BE49-F238E27FC236}">
                  <a16:creationId xmlns:a16="http://schemas.microsoft.com/office/drawing/2014/main" id="{BCDE39BC-FC31-62D9-7185-D1B5DC696E63}"/>
                </a:ext>
              </a:extLst>
            </p:cNvPr>
            <p:cNvSpPr/>
            <p:nvPr/>
          </p:nvSpPr>
          <p:spPr>
            <a:xfrm>
              <a:off x="2655864" y="3015544"/>
              <a:ext cx="1450967" cy="1258156"/>
            </a:xfrm>
            <a:prstGeom prst="ellipse">
              <a:avLst/>
            </a:prstGeom>
            <a:blipFill>
              <a:blip r:embed="rId8">
                <a:extLst>
                  <a:ext uri="{96DAC541-7B7A-43D3-8B79-37D633B846F1}">
                    <asvg:svgBlip xmlns:asvg="http://schemas.microsoft.com/office/drawing/2016/SVG/main" r:embed="rId9"/>
                  </a:ext>
                </a:extLst>
              </a:blip>
              <a:srcRect/>
              <a:stretch>
                <a:fillRect l="4100" t="9941" r="4100"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44" name="Group 43">
            <a:extLst>
              <a:ext uri="{FF2B5EF4-FFF2-40B4-BE49-F238E27FC236}">
                <a16:creationId xmlns:a16="http://schemas.microsoft.com/office/drawing/2014/main" id="{6451EB79-090D-3FA6-34AA-D95A9DA89965}"/>
              </a:ext>
            </a:extLst>
          </p:cNvPr>
          <p:cNvGrpSpPr/>
          <p:nvPr/>
        </p:nvGrpSpPr>
        <p:grpSpPr>
          <a:xfrm>
            <a:off x="4450357" y="2216415"/>
            <a:ext cx="1360031" cy="3648523"/>
            <a:chOff x="3381347" y="2620999"/>
            <a:chExt cx="1543581" cy="3778249"/>
          </a:xfrm>
        </p:grpSpPr>
        <p:sp>
          <p:nvSpPr>
            <p:cNvPr id="50" name="Freeform: Shape 49">
              <a:extLst>
                <a:ext uri="{FF2B5EF4-FFF2-40B4-BE49-F238E27FC236}">
                  <a16:creationId xmlns:a16="http://schemas.microsoft.com/office/drawing/2014/main" id="{B07B93FD-668A-177B-3071-B44191F29689}"/>
                </a:ext>
              </a:extLst>
            </p:cNvPr>
            <p:cNvSpPr/>
            <p:nvPr/>
          </p:nvSpPr>
          <p:spPr>
            <a:xfrm>
              <a:off x="3381347" y="2620999"/>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CI/CD Pipelines</a:t>
              </a:r>
              <a:endParaRPr lang="en-GB" sz="1600" kern="1200" dirty="0"/>
            </a:p>
          </p:txBody>
        </p:sp>
        <p:sp>
          <p:nvSpPr>
            <p:cNvPr id="51" name="Oval 50" descr="Oil Rig with solid fill">
              <a:extLst>
                <a:ext uri="{FF2B5EF4-FFF2-40B4-BE49-F238E27FC236}">
                  <a16:creationId xmlns:a16="http://schemas.microsoft.com/office/drawing/2014/main" id="{151BDEC4-3919-B419-F5E6-94E53007F95F}"/>
                </a:ext>
              </a:extLst>
            </p:cNvPr>
            <p:cNvSpPr/>
            <p:nvPr/>
          </p:nvSpPr>
          <p:spPr>
            <a:xfrm>
              <a:off x="3532419" y="3015544"/>
              <a:ext cx="1285718" cy="1258156"/>
            </a:xfrm>
            <a:prstGeom prst="ellipse">
              <a:avLst/>
            </a:prstGeom>
            <a:blipFill>
              <a:blip r:embed="rId10">
                <a:extLst>
                  <a:ext uri="{96DAC541-7B7A-43D3-8B79-37D633B846F1}">
                    <asvg:svgBlip xmlns:asvg="http://schemas.microsoft.com/office/drawing/2016/SVG/main" r:embed="rId11"/>
                  </a:ext>
                </a:extLst>
              </a:blip>
              <a:stretch>
                <a:fillRect l="15044" t="8517" r="15044" b="8517"/>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grpSp>
        <p:nvGrpSpPr>
          <p:cNvPr id="43" name="Group 42">
            <a:extLst>
              <a:ext uri="{FF2B5EF4-FFF2-40B4-BE49-F238E27FC236}">
                <a16:creationId xmlns:a16="http://schemas.microsoft.com/office/drawing/2014/main" id="{284FB6A8-6220-1264-4824-9D47029DB0CA}"/>
              </a:ext>
            </a:extLst>
          </p:cNvPr>
          <p:cNvGrpSpPr/>
          <p:nvPr/>
        </p:nvGrpSpPr>
        <p:grpSpPr>
          <a:xfrm>
            <a:off x="5883563" y="2216415"/>
            <a:ext cx="1360031" cy="3648523"/>
            <a:chOff x="4057758" y="2575044"/>
            <a:chExt cx="1543581" cy="3778249"/>
          </a:xfrm>
        </p:grpSpPr>
        <p:sp>
          <p:nvSpPr>
            <p:cNvPr id="52" name="Freeform: Shape 51">
              <a:extLst>
                <a:ext uri="{FF2B5EF4-FFF2-40B4-BE49-F238E27FC236}">
                  <a16:creationId xmlns:a16="http://schemas.microsoft.com/office/drawing/2014/main" id="{45B36E57-332F-18DD-0405-671724F1CE65}"/>
                </a:ext>
              </a:extLst>
            </p:cNvPr>
            <p:cNvSpPr/>
            <p:nvPr/>
          </p:nvSpPr>
          <p:spPr>
            <a:xfrm>
              <a:off x="4057758"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Testing</a:t>
              </a:r>
              <a:endParaRPr lang="en-GB" sz="1600" kern="1200" dirty="0"/>
            </a:p>
          </p:txBody>
        </p:sp>
        <p:sp>
          <p:nvSpPr>
            <p:cNvPr id="53" name="Oval 52" descr="Clipboard Mixed with solid fill">
              <a:extLst>
                <a:ext uri="{FF2B5EF4-FFF2-40B4-BE49-F238E27FC236}">
                  <a16:creationId xmlns:a16="http://schemas.microsoft.com/office/drawing/2014/main" id="{11536B41-4F19-0A9D-853F-12E94BC6EAB2}"/>
                </a:ext>
              </a:extLst>
            </p:cNvPr>
            <p:cNvSpPr/>
            <p:nvPr/>
          </p:nvSpPr>
          <p:spPr>
            <a:xfrm>
              <a:off x="4211083" y="3036819"/>
              <a:ext cx="1252792" cy="1258156"/>
            </a:xfrm>
            <a:prstGeom prst="ellipse">
              <a:avLst/>
            </a:prstGeom>
            <a:blipFill>
              <a:blip r:embed="rId12">
                <a:extLst>
                  <a:ext uri="{96DAC541-7B7A-43D3-8B79-37D633B846F1}">
                    <asvg:svgBlip xmlns:asvg="http://schemas.microsoft.com/office/drawing/2016/SVG/main" r:embed="rId13"/>
                  </a:ext>
                </a:extLst>
              </a:blip>
              <a:srcRect/>
              <a:stretch>
                <a:fillRect l="11543" t="11372" r="11543" b="11372"/>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42" name="Group 41">
            <a:extLst>
              <a:ext uri="{FF2B5EF4-FFF2-40B4-BE49-F238E27FC236}">
                <a16:creationId xmlns:a16="http://schemas.microsoft.com/office/drawing/2014/main" id="{B9D78CBE-D73D-A500-9390-78D1F3F831AE}"/>
              </a:ext>
            </a:extLst>
          </p:cNvPr>
          <p:cNvGrpSpPr/>
          <p:nvPr/>
        </p:nvGrpSpPr>
        <p:grpSpPr>
          <a:xfrm>
            <a:off x="7316769" y="2216415"/>
            <a:ext cx="1360031" cy="3648523"/>
            <a:chOff x="6498529" y="1701354"/>
            <a:chExt cx="1543581" cy="3778249"/>
          </a:xfrm>
        </p:grpSpPr>
        <p:sp>
          <p:nvSpPr>
            <p:cNvPr id="54" name="Freeform: Shape 53">
              <a:extLst>
                <a:ext uri="{FF2B5EF4-FFF2-40B4-BE49-F238E27FC236}">
                  <a16:creationId xmlns:a16="http://schemas.microsoft.com/office/drawing/2014/main" id="{73F4129B-109C-6512-B0CE-B4522C80D98A}"/>
                </a:ext>
              </a:extLst>
            </p:cNvPr>
            <p:cNvSpPr/>
            <p:nvPr/>
          </p:nvSpPr>
          <p:spPr>
            <a:xfrm>
              <a:off x="6498529" y="170135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Open Source First</a:t>
              </a:r>
              <a:endParaRPr lang="en-GB" sz="1600" kern="1200" dirty="0"/>
            </a:p>
          </p:txBody>
        </p:sp>
        <p:sp>
          <p:nvSpPr>
            <p:cNvPr id="55" name="Oval 54" descr="Open hand with solid fill">
              <a:extLst>
                <a:ext uri="{FF2B5EF4-FFF2-40B4-BE49-F238E27FC236}">
                  <a16:creationId xmlns:a16="http://schemas.microsoft.com/office/drawing/2014/main" id="{7762DED2-DC4B-3671-CEFF-5D5A0D25F17C}"/>
                </a:ext>
              </a:extLst>
            </p:cNvPr>
            <p:cNvSpPr/>
            <p:nvPr/>
          </p:nvSpPr>
          <p:spPr>
            <a:xfrm>
              <a:off x="6603697" y="2140995"/>
              <a:ext cx="1329999" cy="1258155"/>
            </a:xfrm>
            <a:prstGeom prst="ellipse">
              <a:avLst/>
            </a:prstGeom>
            <a:blipFill>
              <a:blip r:embed="rId14">
                <a:extLst>
                  <a:ext uri="{96DAC541-7B7A-43D3-8B79-37D633B846F1}">
                    <asvg:svgBlip xmlns:asvg="http://schemas.microsoft.com/office/drawing/2016/SVG/main" r:embed="rId15"/>
                  </a:ext>
                </a:extLst>
              </a:blip>
              <a:srcRect/>
              <a:stretch>
                <a:fillRect l="15265" t="7080" r="15265" b="708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6" name="Group 5">
            <a:extLst>
              <a:ext uri="{FF2B5EF4-FFF2-40B4-BE49-F238E27FC236}">
                <a16:creationId xmlns:a16="http://schemas.microsoft.com/office/drawing/2014/main" id="{C2CA215B-4A94-1513-B180-698DF5F320F8}"/>
              </a:ext>
            </a:extLst>
          </p:cNvPr>
          <p:cNvGrpSpPr/>
          <p:nvPr/>
        </p:nvGrpSpPr>
        <p:grpSpPr>
          <a:xfrm>
            <a:off x="8749975" y="2216415"/>
            <a:ext cx="1360031" cy="3648523"/>
            <a:chOff x="8089560" y="1700495"/>
            <a:chExt cx="1543581" cy="3880755"/>
          </a:xfrm>
        </p:grpSpPr>
        <p:sp>
          <p:nvSpPr>
            <p:cNvPr id="56" name="Freeform: Shape 55">
              <a:extLst>
                <a:ext uri="{FF2B5EF4-FFF2-40B4-BE49-F238E27FC236}">
                  <a16:creationId xmlns:a16="http://schemas.microsoft.com/office/drawing/2014/main" id="{A5D87C1B-A024-AB71-5FCA-7182044B9AA3}"/>
                </a:ext>
              </a:extLst>
            </p:cNvPr>
            <p:cNvSpPr/>
            <p:nvPr/>
          </p:nvSpPr>
          <p:spPr>
            <a:xfrm>
              <a:off x="8089560" y="1700495"/>
              <a:ext cx="1543581" cy="3880755"/>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Reference Architecture</a:t>
              </a:r>
              <a:endParaRPr lang="en-GB" sz="1600" kern="1200" dirty="0"/>
            </a:p>
          </p:txBody>
        </p:sp>
        <p:sp>
          <p:nvSpPr>
            <p:cNvPr id="57" name="Oval 56" descr="Books on shelf with solid fill">
              <a:extLst>
                <a:ext uri="{FF2B5EF4-FFF2-40B4-BE49-F238E27FC236}">
                  <a16:creationId xmlns:a16="http://schemas.microsoft.com/office/drawing/2014/main" id="{86462475-69EA-149F-6EF6-CF4452A15B2E}"/>
                </a:ext>
              </a:extLst>
            </p:cNvPr>
            <p:cNvSpPr/>
            <p:nvPr/>
          </p:nvSpPr>
          <p:spPr>
            <a:xfrm>
              <a:off x="8135868" y="2172679"/>
              <a:ext cx="1450967" cy="1258156"/>
            </a:xfrm>
            <a:prstGeom prst="ellipse">
              <a:avLst/>
            </a:prstGeom>
            <a:blipFill>
              <a:blip r:embed="rId16">
                <a:extLst>
                  <a:ext uri="{96DAC541-7B7A-43D3-8B79-37D633B846F1}">
                    <asvg:svgBlip xmlns:asvg="http://schemas.microsoft.com/office/drawing/2016/SVG/main" r:embed="rId17"/>
                  </a:ext>
                </a:extLst>
              </a:blip>
              <a:srcRect/>
              <a:stretch>
                <a:fillRect l="12784" t="12803" r="12784" b="1280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2" name="Group 1">
            <a:extLst>
              <a:ext uri="{FF2B5EF4-FFF2-40B4-BE49-F238E27FC236}">
                <a16:creationId xmlns:a16="http://schemas.microsoft.com/office/drawing/2014/main" id="{825EBE7E-29B6-5DA4-5A9E-8EC13EF39D07}"/>
              </a:ext>
            </a:extLst>
          </p:cNvPr>
          <p:cNvGrpSpPr/>
          <p:nvPr/>
        </p:nvGrpSpPr>
        <p:grpSpPr>
          <a:xfrm>
            <a:off x="10183180" y="2216415"/>
            <a:ext cx="1343700" cy="3648523"/>
            <a:chOff x="9741055" y="1651927"/>
            <a:chExt cx="1525046" cy="3935709"/>
          </a:xfrm>
        </p:grpSpPr>
        <p:sp>
          <p:nvSpPr>
            <p:cNvPr id="58" name="Freeform: Shape 57">
              <a:extLst>
                <a:ext uri="{FF2B5EF4-FFF2-40B4-BE49-F238E27FC236}">
                  <a16:creationId xmlns:a16="http://schemas.microsoft.com/office/drawing/2014/main" id="{36A03E8A-A1BB-426F-91D3-A3D0D5BF68AB}"/>
                </a:ext>
              </a:extLst>
            </p:cNvPr>
            <p:cNvSpPr/>
            <p:nvPr/>
          </p:nvSpPr>
          <p:spPr>
            <a:xfrm>
              <a:off x="9741055" y="1651927"/>
              <a:ext cx="1525046" cy="393570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lvl="0" algn="ctr" defTabSz="311150">
                <a:lnSpc>
                  <a:spcPct val="90000"/>
                </a:lnSpc>
                <a:spcBef>
                  <a:spcPct val="0"/>
                </a:spcBef>
                <a:spcAft>
                  <a:spcPct val="35000"/>
                </a:spcAft>
              </a:pPr>
              <a:r>
                <a:rPr lang="en-US" kern="1200" dirty="0"/>
                <a:t>Security by </a:t>
              </a:r>
              <a:r>
                <a:rPr lang="en-US" dirty="0"/>
                <a:t>Design</a:t>
              </a:r>
              <a:endParaRPr lang="en-GB" kern="1200" dirty="0"/>
            </a:p>
          </p:txBody>
        </p:sp>
        <p:sp>
          <p:nvSpPr>
            <p:cNvPr id="59" name="Oval 58" descr="Lock with solid fill">
              <a:extLst>
                <a:ext uri="{FF2B5EF4-FFF2-40B4-BE49-F238E27FC236}">
                  <a16:creationId xmlns:a16="http://schemas.microsoft.com/office/drawing/2014/main" id="{2DBEAA27-629E-CFAB-D6C3-E60B7AAC3BEC}"/>
                </a:ext>
              </a:extLst>
            </p:cNvPr>
            <p:cNvSpPr/>
            <p:nvPr/>
          </p:nvSpPr>
          <p:spPr>
            <a:xfrm>
              <a:off x="9861201" y="2088561"/>
              <a:ext cx="1284754" cy="1310590"/>
            </a:xfrm>
            <a:prstGeom prst="ellipse">
              <a:avLst/>
            </a:prstGeom>
            <a:blipFill>
              <a:blip r:embed="rId18">
                <a:extLst>
                  <a:ext uri="{96DAC541-7B7A-43D3-8B79-37D633B846F1}">
                    <asvg:svgBlip xmlns:asvg="http://schemas.microsoft.com/office/drawing/2016/SVG/main" r:embed="rId19"/>
                  </a:ext>
                </a:extLst>
              </a:blip>
              <a:srcRect/>
              <a:stretch>
                <a:fillRect l="-2737" t="11544" r="-2737" b="11544"/>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spTree>
    <p:extLst>
      <p:ext uri="{BB962C8B-B14F-4D97-AF65-F5344CB8AC3E}">
        <p14:creationId xmlns:p14="http://schemas.microsoft.com/office/powerpoint/2010/main" val="1370298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a:extLst>
              <a:ext uri="{FF2B5EF4-FFF2-40B4-BE49-F238E27FC236}">
                <a16:creationId xmlns:a16="http://schemas.microsoft.com/office/drawing/2014/main" id="{6478C20D-7BCC-8F9B-019F-65F265E9357C}"/>
              </a:ext>
            </a:extLst>
          </p:cNvPr>
          <p:cNvGrpSpPr/>
          <p:nvPr/>
        </p:nvGrpSpPr>
        <p:grpSpPr>
          <a:xfrm>
            <a:off x="391943" y="4824255"/>
            <a:ext cx="1991952" cy="1802178"/>
            <a:chOff x="3683087" y="22444"/>
            <a:chExt cx="6740402" cy="6740402"/>
          </a:xfrm>
        </p:grpSpPr>
        <p:pic>
          <p:nvPicPr>
            <p:cNvPr id="57" name="Picture 56" descr="A white stone structure with a triangular top">
              <a:extLst>
                <a:ext uri="{FF2B5EF4-FFF2-40B4-BE49-F238E27FC236}">
                  <a16:creationId xmlns:a16="http://schemas.microsoft.com/office/drawing/2014/main" id="{7119A3E4-FD89-711C-9C71-9D1E6C320321}"/>
                </a:ext>
              </a:extLst>
            </p:cNvPr>
            <p:cNvPicPr>
              <a:picLocks noChangeAspect="1"/>
            </p:cNvPicPr>
            <p:nvPr/>
          </p:nvPicPr>
          <p:blipFill>
            <a:blip r:embed="rId3" cstate="screen">
              <a:alphaModFix amt="50000"/>
              <a:extLst>
                <a:ext uri="{28A0092B-C50C-407E-A947-70E740481C1C}">
                  <a14:useLocalDpi xmlns:a14="http://schemas.microsoft.com/office/drawing/2010/main" val="0"/>
                </a:ext>
              </a:extLst>
            </a:blip>
            <a:stretch>
              <a:fillRect/>
            </a:stretch>
          </p:blipFill>
          <p:spPr>
            <a:xfrm>
              <a:off x="3683087" y="22444"/>
              <a:ext cx="6740402" cy="6740402"/>
            </a:xfrm>
            <a:prstGeom prst="rect">
              <a:avLst/>
            </a:prstGeom>
          </p:spPr>
        </p:pic>
        <p:pic>
          <p:nvPicPr>
            <p:cNvPr id="58" name="Picture 57" descr="A white pillar with a black background&#10;&#10;AI-generated content may be incorrect.">
              <a:extLst>
                <a:ext uri="{FF2B5EF4-FFF2-40B4-BE49-F238E27FC236}">
                  <a16:creationId xmlns:a16="http://schemas.microsoft.com/office/drawing/2014/main" id="{07FB16C4-5B05-24C0-EBC3-96C5640433A6}"/>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4576352" y="2670766"/>
              <a:ext cx="705782" cy="2222511"/>
            </a:xfrm>
            <a:prstGeom prst="rect">
              <a:avLst/>
            </a:prstGeom>
          </p:spPr>
        </p:pic>
        <p:pic>
          <p:nvPicPr>
            <p:cNvPr id="59" name="Picture 58" descr="A white pillar with a black background&#10;&#10;AI-generated content may be incorrect.">
              <a:extLst>
                <a:ext uri="{FF2B5EF4-FFF2-40B4-BE49-F238E27FC236}">
                  <a16:creationId xmlns:a16="http://schemas.microsoft.com/office/drawing/2014/main" id="{F64D768E-64CE-9318-1C37-17A4CC1FCBD9}"/>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6700397" y="2670766"/>
              <a:ext cx="705782" cy="2222511"/>
            </a:xfrm>
            <a:prstGeom prst="rect">
              <a:avLst/>
            </a:prstGeom>
          </p:spPr>
        </p:pic>
        <p:pic>
          <p:nvPicPr>
            <p:cNvPr id="60" name="Picture 59" descr="A white pillar with a black background&#10;&#10;AI-generated content may be incorrect.">
              <a:extLst>
                <a:ext uri="{FF2B5EF4-FFF2-40B4-BE49-F238E27FC236}">
                  <a16:creationId xmlns:a16="http://schemas.microsoft.com/office/drawing/2014/main" id="{A282061A-7050-84AE-BE96-9B65E6BBC03D}"/>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7408412" y="2670766"/>
              <a:ext cx="705782" cy="2222511"/>
            </a:xfrm>
            <a:prstGeom prst="rect">
              <a:avLst/>
            </a:prstGeom>
          </p:spPr>
        </p:pic>
        <p:pic>
          <p:nvPicPr>
            <p:cNvPr id="61" name="Picture 60" descr="A white pillar with a black background&#10;&#10;AI-generated content may be incorrect.">
              <a:extLst>
                <a:ext uri="{FF2B5EF4-FFF2-40B4-BE49-F238E27FC236}">
                  <a16:creationId xmlns:a16="http://schemas.microsoft.com/office/drawing/2014/main" id="{AB0674E2-F4E7-5429-BBF3-F4DA2D533B40}"/>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8116427" y="2670766"/>
              <a:ext cx="705782" cy="2222511"/>
            </a:xfrm>
            <a:prstGeom prst="rect">
              <a:avLst/>
            </a:prstGeom>
          </p:spPr>
        </p:pic>
        <p:pic>
          <p:nvPicPr>
            <p:cNvPr id="62" name="Picture 61" descr="A white pillar with a black background&#10;&#10;AI-generated content may be incorrect.">
              <a:extLst>
                <a:ext uri="{FF2B5EF4-FFF2-40B4-BE49-F238E27FC236}">
                  <a16:creationId xmlns:a16="http://schemas.microsoft.com/office/drawing/2014/main" id="{3DE5FE7B-399E-8317-D4D3-46C7CDCEFA8B}"/>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5284367" y="2670766"/>
              <a:ext cx="705782" cy="2222511"/>
            </a:xfrm>
            <a:prstGeom prst="rect">
              <a:avLst/>
            </a:prstGeom>
          </p:spPr>
        </p:pic>
        <p:pic>
          <p:nvPicPr>
            <p:cNvPr id="63" name="Picture 62" descr="A white pillar with a black background&#10;&#10;AI-generated content may be incorrect.">
              <a:extLst>
                <a:ext uri="{FF2B5EF4-FFF2-40B4-BE49-F238E27FC236}">
                  <a16:creationId xmlns:a16="http://schemas.microsoft.com/office/drawing/2014/main" id="{E5ABCC81-BC46-853C-55A3-5A9648667C9E}"/>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5992382" y="2670766"/>
              <a:ext cx="705782" cy="2222511"/>
            </a:xfrm>
            <a:prstGeom prst="rect">
              <a:avLst/>
            </a:prstGeom>
          </p:spPr>
        </p:pic>
        <p:pic>
          <p:nvPicPr>
            <p:cNvPr id="64" name="Picture 63" descr="A white pillar with a black background&#10;&#10;AI-generated content may be incorrect.">
              <a:extLst>
                <a:ext uri="{FF2B5EF4-FFF2-40B4-BE49-F238E27FC236}">
                  <a16:creationId xmlns:a16="http://schemas.microsoft.com/office/drawing/2014/main" id="{3C13A993-3666-5571-30D2-17DD858F56F6}"/>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8824439" y="2670766"/>
              <a:ext cx="705782" cy="2222511"/>
            </a:xfrm>
            <a:prstGeom prst="rect">
              <a:avLst/>
            </a:prstGeom>
          </p:spPr>
        </p:pic>
      </p:grpSp>
      <p:sp>
        <p:nvSpPr>
          <p:cNvPr id="2" name="Title 1">
            <a:extLst>
              <a:ext uri="{FF2B5EF4-FFF2-40B4-BE49-F238E27FC236}">
                <a16:creationId xmlns:a16="http://schemas.microsoft.com/office/drawing/2014/main" id="{F17BE056-7ED5-DC81-12B5-7BABE9332567}"/>
              </a:ext>
            </a:extLst>
          </p:cNvPr>
          <p:cNvSpPr>
            <a:spLocks noGrp="1"/>
          </p:cNvSpPr>
          <p:nvPr>
            <p:ph type="title" idx="4294967295"/>
          </p:nvPr>
        </p:nvSpPr>
        <p:spPr>
          <a:xfrm>
            <a:off x="2880000" y="720000"/>
            <a:ext cx="8912225" cy="817308"/>
          </a:xfrm>
        </p:spPr>
        <p:txBody>
          <a:bodyPr>
            <a:normAutofit/>
          </a:bodyPr>
          <a:lstStyle/>
          <a:p>
            <a:r>
              <a:rPr lang="en-US" sz="3200" dirty="0"/>
              <a:t>Version Control  - The House Plans</a:t>
            </a:r>
            <a:endParaRPr lang="en-GB" sz="3200" dirty="0"/>
          </a:p>
        </p:txBody>
      </p:sp>
      <p:grpSp>
        <p:nvGrpSpPr>
          <p:cNvPr id="31" name="Group 30">
            <a:extLst>
              <a:ext uri="{FF2B5EF4-FFF2-40B4-BE49-F238E27FC236}">
                <a16:creationId xmlns:a16="http://schemas.microsoft.com/office/drawing/2014/main" id="{1EC7542E-E3EC-8B4F-F629-141C18637094}"/>
              </a:ext>
            </a:extLst>
          </p:cNvPr>
          <p:cNvGrpSpPr/>
          <p:nvPr/>
        </p:nvGrpSpPr>
        <p:grpSpPr>
          <a:xfrm>
            <a:off x="-423693" y="1238461"/>
            <a:ext cx="2851517" cy="6868014"/>
            <a:chOff x="0" y="-786"/>
            <a:chExt cx="2851517" cy="6868014"/>
          </a:xfrm>
        </p:grpSpPr>
        <p:grpSp>
          <p:nvGrpSpPr>
            <p:cNvPr id="4" name="Group 3">
              <a:extLst>
                <a:ext uri="{FF2B5EF4-FFF2-40B4-BE49-F238E27FC236}">
                  <a16:creationId xmlns:a16="http://schemas.microsoft.com/office/drawing/2014/main" id="{1B9B11F9-2EA7-024C-38A9-ED09AB09AE3D}"/>
                </a:ext>
              </a:extLst>
            </p:cNvPr>
            <p:cNvGrpSpPr/>
            <p:nvPr/>
          </p:nvGrpSpPr>
          <p:grpSpPr>
            <a:xfrm>
              <a:off x="1" y="228600"/>
              <a:ext cx="2851516" cy="6638628"/>
              <a:chOff x="2487613" y="285750"/>
              <a:chExt cx="2428875" cy="5654676"/>
            </a:xfrm>
          </p:grpSpPr>
          <p:sp>
            <p:nvSpPr>
              <p:cNvPr id="5" name="Freeform 11">
                <a:extLst>
                  <a:ext uri="{FF2B5EF4-FFF2-40B4-BE49-F238E27FC236}">
                    <a16:creationId xmlns:a16="http://schemas.microsoft.com/office/drawing/2014/main" id="{55B04CA8-4BFC-9F16-0E95-EE3C352C58B6}"/>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6" name="Freeform 12">
                <a:extLst>
                  <a:ext uri="{FF2B5EF4-FFF2-40B4-BE49-F238E27FC236}">
                    <a16:creationId xmlns:a16="http://schemas.microsoft.com/office/drawing/2014/main" id="{A9DB9876-4D64-385C-0B26-F6EF1B970E08}"/>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7" name="Freeform 13">
                <a:extLst>
                  <a:ext uri="{FF2B5EF4-FFF2-40B4-BE49-F238E27FC236}">
                    <a16:creationId xmlns:a16="http://schemas.microsoft.com/office/drawing/2014/main" id="{4189C661-CFF6-CD30-3C40-9EB1D1F0291A}"/>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8" name="Freeform 14">
                <a:extLst>
                  <a:ext uri="{FF2B5EF4-FFF2-40B4-BE49-F238E27FC236}">
                    <a16:creationId xmlns:a16="http://schemas.microsoft.com/office/drawing/2014/main" id="{E40FB76D-DEFF-ACB0-1F96-2CC2DF1E4EBB}"/>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9" name="Freeform 15">
                <a:extLst>
                  <a:ext uri="{FF2B5EF4-FFF2-40B4-BE49-F238E27FC236}">
                    <a16:creationId xmlns:a16="http://schemas.microsoft.com/office/drawing/2014/main" id="{4D866295-9695-9DFB-4934-B99500529D75}"/>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10" name="Freeform 16">
                <a:extLst>
                  <a:ext uri="{FF2B5EF4-FFF2-40B4-BE49-F238E27FC236}">
                    <a16:creationId xmlns:a16="http://schemas.microsoft.com/office/drawing/2014/main" id="{DA99A2F5-BA0E-4535-F09E-521E74B3BCCA}"/>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11" name="Freeform 17">
                <a:extLst>
                  <a:ext uri="{FF2B5EF4-FFF2-40B4-BE49-F238E27FC236}">
                    <a16:creationId xmlns:a16="http://schemas.microsoft.com/office/drawing/2014/main" id="{D2BA1C46-F88A-53D0-C75F-D8EDC39B54BA}"/>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12" name="Freeform 18">
                <a:extLst>
                  <a:ext uri="{FF2B5EF4-FFF2-40B4-BE49-F238E27FC236}">
                    <a16:creationId xmlns:a16="http://schemas.microsoft.com/office/drawing/2014/main" id="{0E475DF4-1E58-B5F5-F3BB-E5B7BE878FC4}"/>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13" name="Freeform 19">
                <a:extLst>
                  <a:ext uri="{FF2B5EF4-FFF2-40B4-BE49-F238E27FC236}">
                    <a16:creationId xmlns:a16="http://schemas.microsoft.com/office/drawing/2014/main" id="{E52DC392-D741-DA0A-03A4-E55EEB885305}"/>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14" name="Freeform 20">
                <a:extLst>
                  <a:ext uri="{FF2B5EF4-FFF2-40B4-BE49-F238E27FC236}">
                    <a16:creationId xmlns:a16="http://schemas.microsoft.com/office/drawing/2014/main" id="{3490BF2E-B650-A781-060A-C09700DC53D6}"/>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15" name="Freeform 21">
                <a:extLst>
                  <a:ext uri="{FF2B5EF4-FFF2-40B4-BE49-F238E27FC236}">
                    <a16:creationId xmlns:a16="http://schemas.microsoft.com/office/drawing/2014/main" id="{D1D742F3-EA6B-D61A-265A-EE762A6FA266}"/>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16" name="Freeform 22">
                <a:extLst>
                  <a:ext uri="{FF2B5EF4-FFF2-40B4-BE49-F238E27FC236}">
                    <a16:creationId xmlns:a16="http://schemas.microsoft.com/office/drawing/2014/main" id="{09D94600-BA04-BE21-6C5E-57ED60C46AC2}"/>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17" name="Group 16">
              <a:extLst>
                <a:ext uri="{FF2B5EF4-FFF2-40B4-BE49-F238E27FC236}">
                  <a16:creationId xmlns:a16="http://schemas.microsoft.com/office/drawing/2014/main" id="{2A7AA772-EDFA-947E-1F6B-CA36F78CCC49}"/>
                </a:ext>
              </a:extLst>
            </p:cNvPr>
            <p:cNvGrpSpPr/>
            <p:nvPr/>
          </p:nvGrpSpPr>
          <p:grpSpPr>
            <a:xfrm>
              <a:off x="27221" y="-786"/>
              <a:ext cx="2356674" cy="6854039"/>
              <a:chOff x="6627813" y="194833"/>
              <a:chExt cx="1952625" cy="5678918"/>
            </a:xfrm>
          </p:grpSpPr>
          <p:sp>
            <p:nvSpPr>
              <p:cNvPr id="18" name="Freeform 27">
                <a:extLst>
                  <a:ext uri="{FF2B5EF4-FFF2-40B4-BE49-F238E27FC236}">
                    <a16:creationId xmlns:a16="http://schemas.microsoft.com/office/drawing/2014/main" id="{9D616F77-86E5-86EA-44E8-A2433CCAE195}"/>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19" name="Freeform 28">
                <a:extLst>
                  <a:ext uri="{FF2B5EF4-FFF2-40B4-BE49-F238E27FC236}">
                    <a16:creationId xmlns:a16="http://schemas.microsoft.com/office/drawing/2014/main" id="{9D1F0A66-B17A-77BE-6375-32BEEDE71CBD}"/>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20" name="Freeform 29">
                <a:extLst>
                  <a:ext uri="{FF2B5EF4-FFF2-40B4-BE49-F238E27FC236}">
                    <a16:creationId xmlns:a16="http://schemas.microsoft.com/office/drawing/2014/main" id="{837E342C-2A79-3F13-30FF-DF008BC400F4}"/>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21" name="Freeform 30">
                <a:extLst>
                  <a:ext uri="{FF2B5EF4-FFF2-40B4-BE49-F238E27FC236}">
                    <a16:creationId xmlns:a16="http://schemas.microsoft.com/office/drawing/2014/main" id="{AB43F62A-5BF9-3BE7-3BFA-864A3B4F03A4}"/>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22" name="Freeform 31">
                <a:extLst>
                  <a:ext uri="{FF2B5EF4-FFF2-40B4-BE49-F238E27FC236}">
                    <a16:creationId xmlns:a16="http://schemas.microsoft.com/office/drawing/2014/main" id="{904F1FFB-C8B4-7900-54E9-08C5901DAB0C}"/>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23" name="Freeform 32">
                <a:extLst>
                  <a:ext uri="{FF2B5EF4-FFF2-40B4-BE49-F238E27FC236}">
                    <a16:creationId xmlns:a16="http://schemas.microsoft.com/office/drawing/2014/main" id="{DE4AD59E-F39A-090F-9606-F4E6E93B63F0}"/>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24" name="Freeform 33">
                <a:extLst>
                  <a:ext uri="{FF2B5EF4-FFF2-40B4-BE49-F238E27FC236}">
                    <a16:creationId xmlns:a16="http://schemas.microsoft.com/office/drawing/2014/main" id="{5B97C416-46BF-84A6-7630-F2BEA6577691}"/>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25" name="Freeform 34">
                <a:extLst>
                  <a:ext uri="{FF2B5EF4-FFF2-40B4-BE49-F238E27FC236}">
                    <a16:creationId xmlns:a16="http://schemas.microsoft.com/office/drawing/2014/main" id="{0973FF6E-0BE2-91FF-8E53-0ADBCCFF1E82}"/>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26" name="Freeform 35">
                <a:extLst>
                  <a:ext uri="{FF2B5EF4-FFF2-40B4-BE49-F238E27FC236}">
                    <a16:creationId xmlns:a16="http://schemas.microsoft.com/office/drawing/2014/main" id="{3AC342C2-4C77-53D7-9C55-334D17BFB73C}"/>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27" name="Freeform 36">
                <a:extLst>
                  <a:ext uri="{FF2B5EF4-FFF2-40B4-BE49-F238E27FC236}">
                    <a16:creationId xmlns:a16="http://schemas.microsoft.com/office/drawing/2014/main" id="{4E961FAA-3E9E-BEF3-0C6C-E4374DD87B47}"/>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28" name="Freeform 37">
                <a:extLst>
                  <a:ext uri="{FF2B5EF4-FFF2-40B4-BE49-F238E27FC236}">
                    <a16:creationId xmlns:a16="http://schemas.microsoft.com/office/drawing/2014/main" id="{349AA669-4541-5E63-CF14-46172981575F}"/>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29" name="Freeform 38">
                <a:extLst>
                  <a:ext uri="{FF2B5EF4-FFF2-40B4-BE49-F238E27FC236}">
                    <a16:creationId xmlns:a16="http://schemas.microsoft.com/office/drawing/2014/main" id="{B56C9EE8-C3D6-DA27-6FF3-F54A57181A64}"/>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30" name="Rectangle 29">
              <a:extLst>
                <a:ext uri="{FF2B5EF4-FFF2-40B4-BE49-F238E27FC236}">
                  <a16:creationId xmlns:a16="http://schemas.microsoft.com/office/drawing/2014/main" id="{D6FC9FF8-3B36-04C9-6149-838E5A82C6C9}"/>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pic>
        <p:nvPicPr>
          <p:cNvPr id="34" name="Picture 33" descr="A white pillar with a letter v&#10;&#10;AI-generated content may be incorrect.">
            <a:extLst>
              <a:ext uri="{FF2B5EF4-FFF2-40B4-BE49-F238E27FC236}">
                <a16:creationId xmlns:a16="http://schemas.microsoft.com/office/drawing/2014/main" id="{47986301-C9E6-EF57-558E-67B9053B3B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0000" y="720000"/>
            <a:ext cx="1244444" cy="4317460"/>
          </a:xfrm>
          <a:prstGeom prst="rect">
            <a:avLst/>
          </a:prstGeom>
        </p:spPr>
      </p:pic>
      <p:grpSp>
        <p:nvGrpSpPr>
          <p:cNvPr id="35" name="Group 34">
            <a:extLst>
              <a:ext uri="{FF2B5EF4-FFF2-40B4-BE49-F238E27FC236}">
                <a16:creationId xmlns:a16="http://schemas.microsoft.com/office/drawing/2014/main" id="{C0F22B1E-B055-AFDD-64D2-F1E13D05F085}"/>
              </a:ext>
            </a:extLst>
          </p:cNvPr>
          <p:cNvGrpSpPr/>
          <p:nvPr/>
        </p:nvGrpSpPr>
        <p:grpSpPr>
          <a:xfrm>
            <a:off x="2520000" y="1800000"/>
            <a:ext cx="1360031" cy="3648522"/>
            <a:chOff x="1962655" y="2674706"/>
            <a:chExt cx="1543581" cy="3778249"/>
          </a:xfrm>
        </p:grpSpPr>
        <p:sp>
          <p:nvSpPr>
            <p:cNvPr id="36" name="Freeform: Shape 35">
              <a:extLst>
                <a:ext uri="{FF2B5EF4-FFF2-40B4-BE49-F238E27FC236}">
                  <a16:creationId xmlns:a16="http://schemas.microsoft.com/office/drawing/2014/main" id="{DB50D505-17B2-8197-B320-3C0A8ECE4B84}"/>
                </a:ext>
              </a:extLst>
            </p:cNvPr>
            <p:cNvSpPr/>
            <p:nvPr/>
          </p:nvSpPr>
          <p:spPr>
            <a:xfrm>
              <a:off x="1962655" y="2674706"/>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Version Control</a:t>
              </a:r>
              <a:endParaRPr lang="en-GB" sz="1600" kern="1200" dirty="0"/>
            </a:p>
          </p:txBody>
        </p:sp>
        <p:sp>
          <p:nvSpPr>
            <p:cNvPr id="37" name="Oval 36" descr="Architecture with solid fill">
              <a:extLst>
                <a:ext uri="{FF2B5EF4-FFF2-40B4-BE49-F238E27FC236}">
                  <a16:creationId xmlns:a16="http://schemas.microsoft.com/office/drawing/2014/main" id="{86560F12-2D1B-993F-A159-8CD542782D03}"/>
                </a:ext>
              </a:extLst>
            </p:cNvPr>
            <p:cNvSpPr/>
            <p:nvPr/>
          </p:nvSpPr>
          <p:spPr>
            <a:xfrm>
              <a:off x="2071075" y="3015543"/>
              <a:ext cx="1324450" cy="1266509"/>
            </a:xfrm>
            <a:prstGeom prst="ellipse">
              <a:avLst/>
            </a:prstGeom>
            <a:blipFill>
              <a:blip r:embed="rId6">
                <a:extLst>
                  <a:ext uri="{96DAC541-7B7A-43D3-8B79-37D633B846F1}">
                    <asvg:svgBlip xmlns:asvg="http://schemas.microsoft.com/office/drawing/2016/SVG/main" r:embed="rId7"/>
                  </a:ext>
                </a:extLst>
              </a:blip>
              <a:srcRect/>
              <a:stretch>
                <a:fillRect l="6581" t="9941" r="6581"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38" name="Group 37">
            <a:extLst>
              <a:ext uri="{FF2B5EF4-FFF2-40B4-BE49-F238E27FC236}">
                <a16:creationId xmlns:a16="http://schemas.microsoft.com/office/drawing/2014/main" id="{84AE34BD-0158-2D8E-5ED0-20BF03066BA0}"/>
              </a:ext>
            </a:extLst>
          </p:cNvPr>
          <p:cNvGrpSpPr/>
          <p:nvPr/>
        </p:nvGrpSpPr>
        <p:grpSpPr>
          <a:xfrm>
            <a:off x="2643418" y="11983800"/>
            <a:ext cx="1360031" cy="3648522"/>
            <a:chOff x="2635145" y="2575044"/>
            <a:chExt cx="1543581" cy="3778249"/>
          </a:xfrm>
        </p:grpSpPr>
        <p:sp>
          <p:nvSpPr>
            <p:cNvPr id="39" name="Freeform: Shape 38">
              <a:extLst>
                <a:ext uri="{FF2B5EF4-FFF2-40B4-BE49-F238E27FC236}">
                  <a16:creationId xmlns:a16="http://schemas.microsoft.com/office/drawing/2014/main" id="{1C705F9A-053A-4CD0-7238-E3563A7FB73B}"/>
                </a:ext>
              </a:extLst>
            </p:cNvPr>
            <p:cNvSpPr/>
            <p:nvPr/>
          </p:nvSpPr>
          <p:spPr>
            <a:xfrm>
              <a:off x="2635145"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Everything as Code</a:t>
              </a:r>
              <a:endParaRPr lang="en-GB" sz="1600" kern="1200" dirty="0"/>
            </a:p>
          </p:txBody>
        </p:sp>
        <p:sp>
          <p:nvSpPr>
            <p:cNvPr id="40" name="Oval 39" descr="Gears with solid fill">
              <a:extLst>
                <a:ext uri="{FF2B5EF4-FFF2-40B4-BE49-F238E27FC236}">
                  <a16:creationId xmlns:a16="http://schemas.microsoft.com/office/drawing/2014/main" id="{AA1B0C96-D9D0-B920-0A28-B82D4E071795}"/>
                </a:ext>
              </a:extLst>
            </p:cNvPr>
            <p:cNvSpPr/>
            <p:nvPr/>
          </p:nvSpPr>
          <p:spPr>
            <a:xfrm>
              <a:off x="2655864" y="3015544"/>
              <a:ext cx="1450967" cy="1258156"/>
            </a:xfrm>
            <a:prstGeom prst="ellipse">
              <a:avLst/>
            </a:prstGeom>
            <a:blipFill>
              <a:blip r:embed="rId8">
                <a:extLst>
                  <a:ext uri="{96DAC541-7B7A-43D3-8B79-37D633B846F1}">
                    <asvg:svgBlip xmlns:asvg="http://schemas.microsoft.com/office/drawing/2016/SVG/main" r:embed="rId9"/>
                  </a:ext>
                </a:extLst>
              </a:blip>
              <a:srcRect/>
              <a:stretch>
                <a:fillRect l="4100" t="9941" r="4100"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44" name="Group 43">
            <a:extLst>
              <a:ext uri="{FF2B5EF4-FFF2-40B4-BE49-F238E27FC236}">
                <a16:creationId xmlns:a16="http://schemas.microsoft.com/office/drawing/2014/main" id="{3288D569-6D05-6E73-856A-5E4571B39313}"/>
              </a:ext>
            </a:extLst>
          </p:cNvPr>
          <p:cNvGrpSpPr/>
          <p:nvPr/>
        </p:nvGrpSpPr>
        <p:grpSpPr>
          <a:xfrm>
            <a:off x="4094241" y="10908394"/>
            <a:ext cx="1360031" cy="3648523"/>
            <a:chOff x="4057758" y="2575044"/>
            <a:chExt cx="1543581" cy="3778249"/>
          </a:xfrm>
        </p:grpSpPr>
        <p:sp>
          <p:nvSpPr>
            <p:cNvPr id="45" name="Freeform: Shape 44">
              <a:extLst>
                <a:ext uri="{FF2B5EF4-FFF2-40B4-BE49-F238E27FC236}">
                  <a16:creationId xmlns:a16="http://schemas.microsoft.com/office/drawing/2014/main" id="{B8F38676-8298-AC8D-5DC4-D584A019CFE2}"/>
                </a:ext>
              </a:extLst>
            </p:cNvPr>
            <p:cNvSpPr/>
            <p:nvPr/>
          </p:nvSpPr>
          <p:spPr>
            <a:xfrm>
              <a:off x="4057758"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Testing</a:t>
              </a:r>
              <a:endParaRPr lang="en-GB" sz="1600" kern="1200" dirty="0"/>
            </a:p>
          </p:txBody>
        </p:sp>
        <p:sp>
          <p:nvSpPr>
            <p:cNvPr id="46" name="Oval 45" descr="Clipboard Mixed with solid fill">
              <a:extLst>
                <a:ext uri="{FF2B5EF4-FFF2-40B4-BE49-F238E27FC236}">
                  <a16:creationId xmlns:a16="http://schemas.microsoft.com/office/drawing/2014/main" id="{74841F81-3D95-B26D-7197-AF382E2F58F9}"/>
                </a:ext>
              </a:extLst>
            </p:cNvPr>
            <p:cNvSpPr/>
            <p:nvPr/>
          </p:nvSpPr>
          <p:spPr>
            <a:xfrm>
              <a:off x="4211083" y="3036819"/>
              <a:ext cx="1252792" cy="1258156"/>
            </a:xfrm>
            <a:prstGeom prst="ellipse">
              <a:avLst/>
            </a:prstGeom>
            <a:blipFill>
              <a:blip r:embed="rId10">
                <a:extLst>
                  <a:ext uri="{96DAC541-7B7A-43D3-8B79-37D633B846F1}">
                    <asvg:svgBlip xmlns:asvg="http://schemas.microsoft.com/office/drawing/2016/SVG/main" r:embed="rId11"/>
                  </a:ext>
                </a:extLst>
              </a:blip>
              <a:srcRect/>
              <a:stretch>
                <a:fillRect l="11543" t="11372" r="11543" b="11372"/>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47" name="Group 46">
            <a:extLst>
              <a:ext uri="{FF2B5EF4-FFF2-40B4-BE49-F238E27FC236}">
                <a16:creationId xmlns:a16="http://schemas.microsoft.com/office/drawing/2014/main" id="{87ADF3A6-CD93-687F-AA01-78D42778BD35}"/>
              </a:ext>
            </a:extLst>
          </p:cNvPr>
          <p:cNvGrpSpPr/>
          <p:nvPr/>
        </p:nvGrpSpPr>
        <p:grpSpPr>
          <a:xfrm>
            <a:off x="5201781" y="10300916"/>
            <a:ext cx="1360031" cy="3648523"/>
            <a:chOff x="6498529" y="1701354"/>
            <a:chExt cx="1543581" cy="3778249"/>
          </a:xfrm>
        </p:grpSpPr>
        <p:sp>
          <p:nvSpPr>
            <p:cNvPr id="48" name="Freeform: Shape 47">
              <a:extLst>
                <a:ext uri="{FF2B5EF4-FFF2-40B4-BE49-F238E27FC236}">
                  <a16:creationId xmlns:a16="http://schemas.microsoft.com/office/drawing/2014/main" id="{ACA80B73-25EC-2BE9-A708-4FA594083F8D}"/>
                </a:ext>
              </a:extLst>
            </p:cNvPr>
            <p:cNvSpPr/>
            <p:nvPr/>
          </p:nvSpPr>
          <p:spPr>
            <a:xfrm>
              <a:off x="6498529" y="170135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Open Source First</a:t>
              </a:r>
              <a:endParaRPr lang="en-GB" sz="1600" kern="1200" dirty="0"/>
            </a:p>
          </p:txBody>
        </p:sp>
        <p:sp>
          <p:nvSpPr>
            <p:cNvPr id="49" name="Oval 48" descr="Open hand with solid fill">
              <a:extLst>
                <a:ext uri="{FF2B5EF4-FFF2-40B4-BE49-F238E27FC236}">
                  <a16:creationId xmlns:a16="http://schemas.microsoft.com/office/drawing/2014/main" id="{51A54231-16F8-164F-0E39-18B45B050646}"/>
                </a:ext>
              </a:extLst>
            </p:cNvPr>
            <p:cNvSpPr/>
            <p:nvPr/>
          </p:nvSpPr>
          <p:spPr>
            <a:xfrm>
              <a:off x="6603697" y="2140995"/>
              <a:ext cx="1329999" cy="1258155"/>
            </a:xfrm>
            <a:prstGeom prst="ellipse">
              <a:avLst/>
            </a:prstGeom>
            <a:blipFill>
              <a:blip r:embed="rId12">
                <a:extLst>
                  <a:ext uri="{96DAC541-7B7A-43D3-8B79-37D633B846F1}">
                    <asvg:svgBlip xmlns:asvg="http://schemas.microsoft.com/office/drawing/2016/SVG/main" r:embed="rId13"/>
                  </a:ext>
                </a:extLst>
              </a:blip>
              <a:srcRect/>
              <a:stretch>
                <a:fillRect l="15265" t="7080" r="15265" b="708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50" name="Group 49">
            <a:extLst>
              <a:ext uri="{FF2B5EF4-FFF2-40B4-BE49-F238E27FC236}">
                <a16:creationId xmlns:a16="http://schemas.microsoft.com/office/drawing/2014/main" id="{1229298A-30F5-5367-1438-60B3146EBC07}"/>
              </a:ext>
            </a:extLst>
          </p:cNvPr>
          <p:cNvGrpSpPr/>
          <p:nvPr/>
        </p:nvGrpSpPr>
        <p:grpSpPr>
          <a:xfrm>
            <a:off x="5878935" y="9693438"/>
            <a:ext cx="1360031" cy="3648523"/>
            <a:chOff x="8089560" y="1700495"/>
            <a:chExt cx="1543581" cy="3880755"/>
          </a:xfrm>
        </p:grpSpPr>
        <p:sp>
          <p:nvSpPr>
            <p:cNvPr id="51" name="Freeform: Shape 50">
              <a:extLst>
                <a:ext uri="{FF2B5EF4-FFF2-40B4-BE49-F238E27FC236}">
                  <a16:creationId xmlns:a16="http://schemas.microsoft.com/office/drawing/2014/main" id="{75ED0F6D-0538-4A73-4F1B-5D968F686FFB}"/>
                </a:ext>
              </a:extLst>
            </p:cNvPr>
            <p:cNvSpPr/>
            <p:nvPr/>
          </p:nvSpPr>
          <p:spPr>
            <a:xfrm>
              <a:off x="8089560" y="1700495"/>
              <a:ext cx="1543581" cy="3880755"/>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Reference Architecture</a:t>
              </a:r>
              <a:endParaRPr lang="en-GB" sz="1600" kern="1200" dirty="0"/>
            </a:p>
          </p:txBody>
        </p:sp>
        <p:sp>
          <p:nvSpPr>
            <p:cNvPr id="52" name="Oval 51" descr="Books on shelf with solid fill">
              <a:extLst>
                <a:ext uri="{FF2B5EF4-FFF2-40B4-BE49-F238E27FC236}">
                  <a16:creationId xmlns:a16="http://schemas.microsoft.com/office/drawing/2014/main" id="{6F915777-5D9E-5270-2F1E-AF0B1ED58874}"/>
                </a:ext>
              </a:extLst>
            </p:cNvPr>
            <p:cNvSpPr/>
            <p:nvPr/>
          </p:nvSpPr>
          <p:spPr>
            <a:xfrm>
              <a:off x="8135868" y="2172679"/>
              <a:ext cx="1450967" cy="1258156"/>
            </a:xfrm>
            <a:prstGeom prst="ellipse">
              <a:avLst/>
            </a:prstGeom>
            <a:blipFill>
              <a:blip r:embed="rId14">
                <a:extLst>
                  <a:ext uri="{96DAC541-7B7A-43D3-8B79-37D633B846F1}">
                    <asvg:svgBlip xmlns:asvg="http://schemas.microsoft.com/office/drawing/2016/SVG/main" r:embed="rId15"/>
                  </a:ext>
                </a:extLst>
              </a:blip>
              <a:srcRect/>
              <a:stretch>
                <a:fillRect l="12784" t="12803" r="12784" b="1280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53" name="Group 52">
            <a:extLst>
              <a:ext uri="{FF2B5EF4-FFF2-40B4-BE49-F238E27FC236}">
                <a16:creationId xmlns:a16="http://schemas.microsoft.com/office/drawing/2014/main" id="{BDC496CE-AB2D-6EDD-D64D-BC596FAF09BD}"/>
              </a:ext>
            </a:extLst>
          </p:cNvPr>
          <p:cNvGrpSpPr/>
          <p:nvPr/>
        </p:nvGrpSpPr>
        <p:grpSpPr>
          <a:xfrm>
            <a:off x="6699347" y="8967121"/>
            <a:ext cx="1343700" cy="3648523"/>
            <a:chOff x="9741055" y="1651927"/>
            <a:chExt cx="1525046" cy="3935709"/>
          </a:xfrm>
        </p:grpSpPr>
        <p:sp>
          <p:nvSpPr>
            <p:cNvPr id="54" name="Freeform: Shape 53">
              <a:extLst>
                <a:ext uri="{FF2B5EF4-FFF2-40B4-BE49-F238E27FC236}">
                  <a16:creationId xmlns:a16="http://schemas.microsoft.com/office/drawing/2014/main" id="{69FB4F3D-D2D4-E2C4-F01A-BA48FDC82B7A}"/>
                </a:ext>
              </a:extLst>
            </p:cNvPr>
            <p:cNvSpPr/>
            <p:nvPr/>
          </p:nvSpPr>
          <p:spPr>
            <a:xfrm>
              <a:off x="9741055" y="1651927"/>
              <a:ext cx="1525046" cy="393570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lvl="0" algn="ctr" defTabSz="311150">
                <a:lnSpc>
                  <a:spcPct val="90000"/>
                </a:lnSpc>
                <a:spcBef>
                  <a:spcPct val="0"/>
                </a:spcBef>
                <a:spcAft>
                  <a:spcPct val="35000"/>
                </a:spcAft>
              </a:pPr>
              <a:r>
                <a:rPr lang="en-US" kern="1200" dirty="0"/>
                <a:t>Security by </a:t>
              </a:r>
              <a:r>
                <a:rPr lang="en-US" dirty="0"/>
                <a:t>Design</a:t>
              </a:r>
              <a:endParaRPr lang="en-GB" kern="1200" dirty="0"/>
            </a:p>
          </p:txBody>
        </p:sp>
        <p:sp>
          <p:nvSpPr>
            <p:cNvPr id="55" name="Oval 54" descr="Lock with solid fill">
              <a:extLst>
                <a:ext uri="{FF2B5EF4-FFF2-40B4-BE49-F238E27FC236}">
                  <a16:creationId xmlns:a16="http://schemas.microsoft.com/office/drawing/2014/main" id="{B6A2B6DC-3A84-F5C8-25CA-9B2DD1FA2A12}"/>
                </a:ext>
              </a:extLst>
            </p:cNvPr>
            <p:cNvSpPr/>
            <p:nvPr/>
          </p:nvSpPr>
          <p:spPr>
            <a:xfrm>
              <a:off x="9861201" y="2088561"/>
              <a:ext cx="1284754" cy="1310590"/>
            </a:xfrm>
            <a:prstGeom prst="ellipse">
              <a:avLst/>
            </a:prstGeom>
            <a:blipFill>
              <a:blip r:embed="rId16">
                <a:extLst>
                  <a:ext uri="{96DAC541-7B7A-43D3-8B79-37D633B846F1}">
                    <asvg:svgBlip xmlns:asvg="http://schemas.microsoft.com/office/drawing/2016/SVG/main" r:embed="rId17"/>
                  </a:ext>
                </a:extLst>
              </a:blip>
              <a:srcRect/>
              <a:stretch>
                <a:fillRect l="-2737" t="11544" r="-2737" b="11544"/>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pic>
        <p:nvPicPr>
          <p:cNvPr id="65" name="Picture 64" descr="A white pillar with a letter e&#10;&#10;AI-generated content may be incorrect.">
            <a:extLst>
              <a:ext uri="{FF2B5EF4-FFF2-40B4-BE49-F238E27FC236}">
                <a16:creationId xmlns:a16="http://schemas.microsoft.com/office/drawing/2014/main" id="{5632B306-F769-3CCE-D6F4-9641F8B75910}"/>
              </a:ext>
            </a:extLst>
          </p:cNvPr>
          <p:cNvPicPr>
            <a:picLocks noChangeAspect="1"/>
          </p:cNvPicPr>
          <p:nvPr/>
        </p:nvPicPr>
        <p:blipFill>
          <a:blip r:embed="rId18" cstate="screen">
            <a:alphaModFix amt="0"/>
            <a:extLst>
              <a:ext uri="{28A0092B-C50C-407E-A947-70E740481C1C}">
                <a14:useLocalDpi xmlns:a14="http://schemas.microsoft.com/office/drawing/2010/main" val="0"/>
              </a:ext>
            </a:extLst>
          </a:blip>
          <a:stretch>
            <a:fillRect/>
          </a:stretch>
        </p:blipFill>
        <p:spPr>
          <a:xfrm>
            <a:off x="837526" y="5441683"/>
            <a:ext cx="238948" cy="829002"/>
          </a:xfrm>
          <a:prstGeom prst="rect">
            <a:avLst/>
          </a:prstGeom>
        </p:spPr>
      </p:pic>
      <p:grpSp>
        <p:nvGrpSpPr>
          <p:cNvPr id="32" name="Group 31">
            <a:extLst>
              <a:ext uri="{FF2B5EF4-FFF2-40B4-BE49-F238E27FC236}">
                <a16:creationId xmlns:a16="http://schemas.microsoft.com/office/drawing/2014/main" id="{8E0DF7C0-A5DB-D76A-C862-8CBF08B0C628}"/>
              </a:ext>
            </a:extLst>
          </p:cNvPr>
          <p:cNvGrpSpPr/>
          <p:nvPr/>
        </p:nvGrpSpPr>
        <p:grpSpPr>
          <a:xfrm>
            <a:off x="3199006" y="11354813"/>
            <a:ext cx="1360031" cy="3648523"/>
            <a:chOff x="3381347" y="2620999"/>
            <a:chExt cx="1543581" cy="3778249"/>
          </a:xfrm>
        </p:grpSpPr>
        <p:sp>
          <p:nvSpPr>
            <p:cNvPr id="33" name="Freeform: Shape 32">
              <a:extLst>
                <a:ext uri="{FF2B5EF4-FFF2-40B4-BE49-F238E27FC236}">
                  <a16:creationId xmlns:a16="http://schemas.microsoft.com/office/drawing/2014/main" id="{FEC4FBED-C4DB-97FB-2942-6A87ABB633D9}"/>
                </a:ext>
              </a:extLst>
            </p:cNvPr>
            <p:cNvSpPr/>
            <p:nvPr/>
          </p:nvSpPr>
          <p:spPr>
            <a:xfrm>
              <a:off x="3381347" y="2620999"/>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CI/CD Pipelines</a:t>
              </a:r>
              <a:endParaRPr lang="en-GB" sz="1600" kern="1200" dirty="0"/>
            </a:p>
          </p:txBody>
        </p:sp>
        <p:sp>
          <p:nvSpPr>
            <p:cNvPr id="66" name="Oval 65" descr="Oil Rig with solid fill">
              <a:extLst>
                <a:ext uri="{FF2B5EF4-FFF2-40B4-BE49-F238E27FC236}">
                  <a16:creationId xmlns:a16="http://schemas.microsoft.com/office/drawing/2014/main" id="{57E54A75-54CB-1047-1324-2F8FD902AA9E}"/>
                </a:ext>
              </a:extLst>
            </p:cNvPr>
            <p:cNvSpPr/>
            <p:nvPr/>
          </p:nvSpPr>
          <p:spPr>
            <a:xfrm>
              <a:off x="3532419" y="3015544"/>
              <a:ext cx="1285718" cy="1258156"/>
            </a:xfrm>
            <a:prstGeom prst="ellipse">
              <a:avLst/>
            </a:prstGeom>
            <a:blipFill>
              <a:blip r:embed="rId19">
                <a:extLst>
                  <a:ext uri="{96DAC541-7B7A-43D3-8B79-37D633B846F1}">
                    <asvg:svgBlip xmlns:asvg="http://schemas.microsoft.com/office/drawing/2016/SVG/main" r:embed="rId20"/>
                  </a:ext>
                </a:extLst>
              </a:blip>
              <a:stretch>
                <a:fillRect l="15044" t="8517" r="15044" b="8517"/>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pic>
        <p:nvPicPr>
          <p:cNvPr id="68" name="Picture 67">
            <a:extLst>
              <a:ext uri="{FF2B5EF4-FFF2-40B4-BE49-F238E27FC236}">
                <a16:creationId xmlns:a16="http://schemas.microsoft.com/office/drawing/2014/main" id="{AB0D226C-729E-1E70-CF6E-F719A553AF30}"/>
              </a:ext>
            </a:extLst>
          </p:cNvPr>
          <p:cNvPicPr>
            <a:picLocks noChangeAspect="1"/>
          </p:cNvPicPr>
          <p:nvPr/>
        </p:nvPicPr>
        <p:blipFill>
          <a:blip r:embed="rId21">
            <a:extLst>
              <a:ext uri="{28A0092B-C50C-407E-A947-70E740481C1C}">
                <a14:useLocalDpi xmlns:a14="http://schemas.microsoft.com/office/drawing/2010/main" val="0"/>
              </a:ext>
            </a:extLst>
          </a:blip>
          <a:srcRect/>
          <a:stretch/>
        </p:blipFill>
        <p:spPr>
          <a:xfrm>
            <a:off x="5484516" y="1693946"/>
            <a:ext cx="4279900" cy="4279900"/>
          </a:xfrm>
          <a:prstGeom prst="rect">
            <a:avLst/>
          </a:prstGeom>
          <a:effectLst>
            <a:softEdge rad="203200"/>
          </a:effectLst>
        </p:spPr>
      </p:pic>
      <p:sp>
        <p:nvSpPr>
          <p:cNvPr id="69" name="Content Placeholder 2">
            <a:extLst>
              <a:ext uri="{FF2B5EF4-FFF2-40B4-BE49-F238E27FC236}">
                <a16:creationId xmlns:a16="http://schemas.microsoft.com/office/drawing/2014/main" id="{5BA78DE5-7E5B-CEE6-5498-3A89DDE77850}"/>
              </a:ext>
            </a:extLst>
          </p:cNvPr>
          <p:cNvSpPr txBox="1">
            <a:spLocks/>
          </p:cNvSpPr>
          <p:nvPr/>
        </p:nvSpPr>
        <p:spPr>
          <a:xfrm>
            <a:off x="4136174" y="5747900"/>
            <a:ext cx="6981430" cy="118800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dirty="0"/>
          </a:p>
          <a:p>
            <a:r>
              <a:rPr lang="en-US" dirty="0"/>
              <a:t>"Every change to the blueprints tracked and approved “</a:t>
            </a:r>
          </a:p>
          <a:p>
            <a:endParaRPr lang="en-US" dirty="0"/>
          </a:p>
          <a:p>
            <a:endParaRPr lang="en-US" dirty="0"/>
          </a:p>
          <a:p>
            <a:endParaRPr lang="en-GB" dirty="0"/>
          </a:p>
        </p:txBody>
      </p:sp>
      <p:sp>
        <p:nvSpPr>
          <p:cNvPr id="3" name="Rectangle: Rounded Corners 2">
            <a:extLst>
              <a:ext uri="{FF2B5EF4-FFF2-40B4-BE49-F238E27FC236}">
                <a16:creationId xmlns:a16="http://schemas.microsoft.com/office/drawing/2014/main" id="{CCD9149F-22E8-CB0A-0C65-06120BDACB16}"/>
              </a:ext>
            </a:extLst>
          </p:cNvPr>
          <p:cNvSpPr/>
          <p:nvPr/>
        </p:nvSpPr>
        <p:spPr>
          <a:xfrm>
            <a:off x="5087481" y="2118427"/>
            <a:ext cx="5497352" cy="3183054"/>
          </a:xfrm>
          <a:prstGeom prst="roundRect">
            <a:avLst/>
          </a:prstGeom>
          <a:ln w="12700"/>
          <a:scene3d>
            <a:camera prst="orthographicFront"/>
            <a:lightRig rig="threePt" dir="t"/>
          </a:scene3d>
          <a:sp3d>
            <a:bevelT w="114300" prst="hardEdge"/>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2800" dirty="0">
                <a:latin typeface="Imprint MT Shadow" panose="04020605060303030202" pitchFamily="82" charset="0"/>
              </a:rPr>
              <a:t>Version control</a:t>
            </a:r>
          </a:p>
          <a:p>
            <a:pPr algn="ctr"/>
            <a:endParaRPr lang="en-GB" sz="2800" dirty="0">
              <a:latin typeface="Imprint MT Shadow" panose="04020605060303030202" pitchFamily="82" charset="0"/>
            </a:endParaRPr>
          </a:p>
          <a:p>
            <a:pPr algn="ctr"/>
            <a:r>
              <a:rPr lang="en-GB" sz="2800" dirty="0">
                <a:latin typeface="Imprint MT Shadow" panose="04020605060303030202" pitchFamily="82" charset="0"/>
              </a:rPr>
              <a:t>GIT</a:t>
            </a:r>
          </a:p>
          <a:p>
            <a:pPr algn="ctr"/>
            <a:endParaRPr lang="en-GB" dirty="0"/>
          </a:p>
        </p:txBody>
      </p:sp>
    </p:spTree>
    <p:extLst>
      <p:ext uri="{BB962C8B-B14F-4D97-AF65-F5344CB8AC3E}">
        <p14:creationId xmlns:p14="http://schemas.microsoft.com/office/powerpoint/2010/main" val="1039466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2000"/>
                                        <p:tgtEl>
                                          <p:spTgt spid="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2000"/>
                                        <p:tgtEl>
                                          <p:spTgt spid="68"/>
                                        </p:tgtEl>
                                      </p:cBhvr>
                                    </p:animEffect>
                                    <p:set>
                                      <p:cBhvr>
                                        <p:cTn id="12" dur="1" fill="hold">
                                          <p:stCondLst>
                                            <p:cond delay="1999"/>
                                          </p:stCondLst>
                                        </p:cTn>
                                        <p:tgtEl>
                                          <p:spTgt spid="68"/>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6C5D8-54DF-6973-5006-9ECAE9881A48}"/>
            </a:ext>
          </a:extLst>
        </p:cNvPr>
        <p:cNvGrpSpPr/>
        <p:nvPr/>
      </p:nvGrpSpPr>
      <p:grpSpPr>
        <a:xfrm>
          <a:off x="0" y="0"/>
          <a:ext cx="0" cy="0"/>
          <a:chOff x="0" y="0"/>
          <a:chExt cx="0" cy="0"/>
        </a:xfrm>
      </p:grpSpPr>
      <p:pic>
        <p:nvPicPr>
          <p:cNvPr id="69" name="Picture 68">
            <a:extLst>
              <a:ext uri="{FF2B5EF4-FFF2-40B4-BE49-F238E27FC236}">
                <a16:creationId xmlns:a16="http://schemas.microsoft.com/office/drawing/2014/main" id="{ED6F6412-AB46-8F9B-42D8-6088CD6B85A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17535" y="2181214"/>
            <a:ext cx="4329139" cy="2886093"/>
          </a:xfrm>
          <a:prstGeom prst="rect">
            <a:avLst/>
          </a:prstGeom>
          <a:effectLst>
            <a:softEdge rad="127000"/>
          </a:effectLst>
        </p:spPr>
      </p:pic>
      <p:sp>
        <p:nvSpPr>
          <p:cNvPr id="3" name="Rectangle: Rounded Corners 2">
            <a:extLst>
              <a:ext uri="{FF2B5EF4-FFF2-40B4-BE49-F238E27FC236}">
                <a16:creationId xmlns:a16="http://schemas.microsoft.com/office/drawing/2014/main" id="{A8454424-4AD9-8EC8-E731-C2BE887A7EDB}"/>
              </a:ext>
            </a:extLst>
          </p:cNvPr>
          <p:cNvSpPr/>
          <p:nvPr/>
        </p:nvSpPr>
        <p:spPr>
          <a:xfrm>
            <a:off x="5087481" y="2118427"/>
            <a:ext cx="5497352" cy="3183054"/>
          </a:xfrm>
          <a:prstGeom prst="roundRect">
            <a:avLst/>
          </a:prstGeom>
          <a:ln w="12700"/>
          <a:scene3d>
            <a:camera prst="orthographicFront"/>
            <a:lightRig rig="threePt" dir="t"/>
          </a:scene3d>
          <a:sp3d>
            <a:bevelT w="114300" prst="hardEdge"/>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2800" dirty="0">
                <a:latin typeface="Imprint MT Shadow" panose="04020605060303030202" pitchFamily="82" charset="0"/>
              </a:rPr>
              <a:t>Infrastructure as Code</a:t>
            </a:r>
          </a:p>
          <a:p>
            <a:pPr algn="ctr"/>
            <a:endParaRPr lang="en-GB" sz="2800" dirty="0">
              <a:latin typeface="Imprint MT Shadow" panose="04020605060303030202" pitchFamily="82" charset="0"/>
            </a:endParaRPr>
          </a:p>
          <a:p>
            <a:pPr algn="ctr"/>
            <a:r>
              <a:rPr lang="en-GB" sz="2800" dirty="0">
                <a:latin typeface="Imprint MT Shadow" panose="04020605060303030202" pitchFamily="82" charset="0"/>
              </a:rPr>
              <a:t>Terraform, </a:t>
            </a:r>
            <a:r>
              <a:rPr lang="en-GB" sz="2800" dirty="0" err="1">
                <a:latin typeface="Imprint MT Shadow" panose="04020605060303030202" pitchFamily="82" charset="0"/>
              </a:rPr>
              <a:t>dbt</a:t>
            </a:r>
            <a:r>
              <a:rPr lang="en-GB" sz="2800" dirty="0">
                <a:latin typeface="Imprint MT Shadow" panose="04020605060303030202" pitchFamily="82" charset="0"/>
              </a:rPr>
              <a:t>, </a:t>
            </a:r>
            <a:r>
              <a:rPr lang="en-GB" sz="2800" dirty="0" err="1">
                <a:latin typeface="Imprint MT Shadow" panose="04020605060303030202" pitchFamily="82" charset="0"/>
              </a:rPr>
              <a:t>SQLMesh</a:t>
            </a:r>
            <a:endParaRPr lang="en-GB" sz="2800" dirty="0">
              <a:latin typeface="Imprint MT Shadow" panose="04020605060303030202" pitchFamily="82" charset="0"/>
            </a:endParaRPr>
          </a:p>
          <a:p>
            <a:pPr algn="ctr"/>
            <a:endParaRPr lang="en-GB" dirty="0"/>
          </a:p>
        </p:txBody>
      </p:sp>
      <p:pic>
        <p:nvPicPr>
          <p:cNvPr id="43" name="Picture 42" descr="A white pillar with a letter v&#10;&#10;AI-generated content may be incorrect.">
            <a:extLst>
              <a:ext uri="{FF2B5EF4-FFF2-40B4-BE49-F238E27FC236}">
                <a16:creationId xmlns:a16="http://schemas.microsoft.com/office/drawing/2014/main" id="{D9E7D390-A1E6-1534-EA06-D2D2607E5E69}"/>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686490" y="5518363"/>
            <a:ext cx="155549" cy="575430"/>
          </a:xfrm>
          <a:prstGeom prst="rect">
            <a:avLst/>
          </a:prstGeom>
        </p:spPr>
      </p:pic>
      <p:grpSp>
        <p:nvGrpSpPr>
          <p:cNvPr id="34" name="Group 33">
            <a:extLst>
              <a:ext uri="{FF2B5EF4-FFF2-40B4-BE49-F238E27FC236}">
                <a16:creationId xmlns:a16="http://schemas.microsoft.com/office/drawing/2014/main" id="{9B67E013-1A60-DD84-B570-2B45C952FA94}"/>
              </a:ext>
            </a:extLst>
          </p:cNvPr>
          <p:cNvGrpSpPr/>
          <p:nvPr/>
        </p:nvGrpSpPr>
        <p:grpSpPr>
          <a:xfrm>
            <a:off x="391943" y="4824255"/>
            <a:ext cx="1991952" cy="1802178"/>
            <a:chOff x="3683087" y="22444"/>
            <a:chExt cx="6740402" cy="6740402"/>
          </a:xfrm>
        </p:grpSpPr>
        <p:pic>
          <p:nvPicPr>
            <p:cNvPr id="35" name="Picture 34" descr="A white stone structure with a triangular top">
              <a:extLst>
                <a:ext uri="{FF2B5EF4-FFF2-40B4-BE49-F238E27FC236}">
                  <a16:creationId xmlns:a16="http://schemas.microsoft.com/office/drawing/2014/main" id="{26CCAF3B-0053-4C58-697B-C84392CACC1C}"/>
                </a:ext>
              </a:extLst>
            </p:cNvPr>
            <p:cNvPicPr>
              <a:picLocks noChangeAspect="1"/>
            </p:cNvPicPr>
            <p:nvPr/>
          </p:nvPicPr>
          <p:blipFill>
            <a:blip r:embed="rId5" cstate="screen">
              <a:alphaModFix amt="50000"/>
              <a:extLst>
                <a:ext uri="{28A0092B-C50C-407E-A947-70E740481C1C}">
                  <a14:useLocalDpi xmlns:a14="http://schemas.microsoft.com/office/drawing/2010/main" val="0"/>
                </a:ext>
              </a:extLst>
            </a:blip>
            <a:stretch>
              <a:fillRect/>
            </a:stretch>
          </p:blipFill>
          <p:spPr>
            <a:xfrm>
              <a:off x="3683087" y="22444"/>
              <a:ext cx="6740402" cy="6740402"/>
            </a:xfrm>
            <a:prstGeom prst="rect">
              <a:avLst/>
            </a:prstGeom>
          </p:spPr>
        </p:pic>
        <p:pic>
          <p:nvPicPr>
            <p:cNvPr id="36" name="Picture 35" descr="A white pillar with a black background&#10;&#10;AI-generated content may be incorrect.">
              <a:extLst>
                <a:ext uri="{FF2B5EF4-FFF2-40B4-BE49-F238E27FC236}">
                  <a16:creationId xmlns:a16="http://schemas.microsoft.com/office/drawing/2014/main" id="{C931F157-D2E4-8DC0-1322-0C4743880316}"/>
                </a:ext>
              </a:extLst>
            </p:cNvPr>
            <p:cNvPicPr>
              <a:picLocks noChangeAspect="1"/>
            </p:cNvPicPr>
            <p:nvPr/>
          </p:nvPicPr>
          <p:blipFill>
            <a:blip r:embed="rId6" cstate="screen">
              <a:alphaModFix amt="50000"/>
              <a:extLst>
                <a:ext uri="{28A0092B-C50C-407E-A947-70E740481C1C}">
                  <a14:useLocalDpi xmlns:a14="http://schemas.microsoft.com/office/drawing/2010/main" val="0"/>
                </a:ext>
              </a:extLst>
            </a:blip>
            <a:stretch>
              <a:fillRect/>
            </a:stretch>
          </p:blipFill>
          <p:spPr>
            <a:xfrm>
              <a:off x="4576352" y="2670766"/>
              <a:ext cx="705782" cy="2222511"/>
            </a:xfrm>
            <a:prstGeom prst="rect">
              <a:avLst/>
            </a:prstGeom>
          </p:spPr>
        </p:pic>
        <p:pic>
          <p:nvPicPr>
            <p:cNvPr id="37" name="Picture 36" descr="A white pillar with a black background&#10;&#10;AI-generated content may be incorrect.">
              <a:extLst>
                <a:ext uri="{FF2B5EF4-FFF2-40B4-BE49-F238E27FC236}">
                  <a16:creationId xmlns:a16="http://schemas.microsoft.com/office/drawing/2014/main" id="{C7680172-8BEE-927B-3232-06A37E1D9880}"/>
                </a:ext>
              </a:extLst>
            </p:cNvPr>
            <p:cNvPicPr>
              <a:picLocks noChangeAspect="1"/>
            </p:cNvPicPr>
            <p:nvPr/>
          </p:nvPicPr>
          <p:blipFill>
            <a:blip r:embed="rId6" cstate="screen">
              <a:alphaModFix amt="50000"/>
              <a:extLst>
                <a:ext uri="{28A0092B-C50C-407E-A947-70E740481C1C}">
                  <a14:useLocalDpi xmlns:a14="http://schemas.microsoft.com/office/drawing/2010/main" val="0"/>
                </a:ext>
              </a:extLst>
            </a:blip>
            <a:stretch>
              <a:fillRect/>
            </a:stretch>
          </p:blipFill>
          <p:spPr>
            <a:xfrm>
              <a:off x="6700397" y="2670766"/>
              <a:ext cx="705782" cy="2222511"/>
            </a:xfrm>
            <a:prstGeom prst="rect">
              <a:avLst/>
            </a:prstGeom>
          </p:spPr>
        </p:pic>
        <p:pic>
          <p:nvPicPr>
            <p:cNvPr id="38" name="Picture 37" descr="A white pillar with a black background&#10;&#10;AI-generated content may be incorrect.">
              <a:extLst>
                <a:ext uri="{FF2B5EF4-FFF2-40B4-BE49-F238E27FC236}">
                  <a16:creationId xmlns:a16="http://schemas.microsoft.com/office/drawing/2014/main" id="{540D0759-6C09-6E7E-9D20-A7974D0C8C50}"/>
                </a:ext>
              </a:extLst>
            </p:cNvPr>
            <p:cNvPicPr>
              <a:picLocks noChangeAspect="1"/>
            </p:cNvPicPr>
            <p:nvPr/>
          </p:nvPicPr>
          <p:blipFill>
            <a:blip r:embed="rId6" cstate="screen">
              <a:alphaModFix amt="50000"/>
              <a:extLst>
                <a:ext uri="{28A0092B-C50C-407E-A947-70E740481C1C}">
                  <a14:useLocalDpi xmlns:a14="http://schemas.microsoft.com/office/drawing/2010/main" val="0"/>
                </a:ext>
              </a:extLst>
            </a:blip>
            <a:stretch>
              <a:fillRect/>
            </a:stretch>
          </p:blipFill>
          <p:spPr>
            <a:xfrm>
              <a:off x="7408412" y="2670766"/>
              <a:ext cx="705782" cy="2222511"/>
            </a:xfrm>
            <a:prstGeom prst="rect">
              <a:avLst/>
            </a:prstGeom>
          </p:spPr>
        </p:pic>
        <p:pic>
          <p:nvPicPr>
            <p:cNvPr id="39" name="Picture 38" descr="A white pillar with a black background&#10;&#10;AI-generated content may be incorrect.">
              <a:extLst>
                <a:ext uri="{FF2B5EF4-FFF2-40B4-BE49-F238E27FC236}">
                  <a16:creationId xmlns:a16="http://schemas.microsoft.com/office/drawing/2014/main" id="{9E64C021-D2EB-D33E-E49D-ED6655AF0ED9}"/>
                </a:ext>
              </a:extLst>
            </p:cNvPr>
            <p:cNvPicPr>
              <a:picLocks noChangeAspect="1"/>
            </p:cNvPicPr>
            <p:nvPr/>
          </p:nvPicPr>
          <p:blipFill>
            <a:blip r:embed="rId6" cstate="screen">
              <a:alphaModFix amt="50000"/>
              <a:extLst>
                <a:ext uri="{28A0092B-C50C-407E-A947-70E740481C1C}">
                  <a14:useLocalDpi xmlns:a14="http://schemas.microsoft.com/office/drawing/2010/main" val="0"/>
                </a:ext>
              </a:extLst>
            </a:blip>
            <a:stretch>
              <a:fillRect/>
            </a:stretch>
          </p:blipFill>
          <p:spPr>
            <a:xfrm>
              <a:off x="8116427" y="2670766"/>
              <a:ext cx="705782" cy="2222511"/>
            </a:xfrm>
            <a:prstGeom prst="rect">
              <a:avLst/>
            </a:prstGeom>
          </p:spPr>
        </p:pic>
        <p:pic>
          <p:nvPicPr>
            <p:cNvPr id="40" name="Picture 39" descr="A white pillar with a black background&#10;&#10;AI-generated content may be incorrect.">
              <a:extLst>
                <a:ext uri="{FF2B5EF4-FFF2-40B4-BE49-F238E27FC236}">
                  <a16:creationId xmlns:a16="http://schemas.microsoft.com/office/drawing/2014/main" id="{20121C3D-27BA-FFD4-D166-4313E1010BDB}"/>
                </a:ext>
              </a:extLst>
            </p:cNvPr>
            <p:cNvPicPr>
              <a:picLocks noChangeAspect="1"/>
            </p:cNvPicPr>
            <p:nvPr/>
          </p:nvPicPr>
          <p:blipFill>
            <a:blip r:embed="rId6" cstate="screen">
              <a:alphaModFix amt="50000"/>
              <a:extLst>
                <a:ext uri="{28A0092B-C50C-407E-A947-70E740481C1C}">
                  <a14:useLocalDpi xmlns:a14="http://schemas.microsoft.com/office/drawing/2010/main" val="0"/>
                </a:ext>
              </a:extLst>
            </a:blip>
            <a:stretch>
              <a:fillRect/>
            </a:stretch>
          </p:blipFill>
          <p:spPr>
            <a:xfrm>
              <a:off x="5284367" y="2670766"/>
              <a:ext cx="705782" cy="2222511"/>
            </a:xfrm>
            <a:prstGeom prst="rect">
              <a:avLst/>
            </a:prstGeom>
          </p:spPr>
        </p:pic>
        <p:pic>
          <p:nvPicPr>
            <p:cNvPr id="41" name="Picture 40" descr="A white pillar with a black background&#10;&#10;AI-generated content may be incorrect.">
              <a:extLst>
                <a:ext uri="{FF2B5EF4-FFF2-40B4-BE49-F238E27FC236}">
                  <a16:creationId xmlns:a16="http://schemas.microsoft.com/office/drawing/2014/main" id="{246AF60F-81E4-ADED-329D-87F7D1BA8082}"/>
                </a:ext>
              </a:extLst>
            </p:cNvPr>
            <p:cNvPicPr>
              <a:picLocks noChangeAspect="1"/>
            </p:cNvPicPr>
            <p:nvPr/>
          </p:nvPicPr>
          <p:blipFill>
            <a:blip r:embed="rId6" cstate="screen">
              <a:alphaModFix amt="50000"/>
              <a:extLst>
                <a:ext uri="{28A0092B-C50C-407E-A947-70E740481C1C}">
                  <a14:useLocalDpi xmlns:a14="http://schemas.microsoft.com/office/drawing/2010/main" val="0"/>
                </a:ext>
              </a:extLst>
            </a:blip>
            <a:stretch>
              <a:fillRect/>
            </a:stretch>
          </p:blipFill>
          <p:spPr>
            <a:xfrm>
              <a:off x="5992382" y="2670766"/>
              <a:ext cx="705782" cy="2222511"/>
            </a:xfrm>
            <a:prstGeom prst="rect">
              <a:avLst/>
            </a:prstGeom>
          </p:spPr>
        </p:pic>
        <p:pic>
          <p:nvPicPr>
            <p:cNvPr id="42" name="Picture 41" descr="A white pillar with a black background&#10;&#10;AI-generated content may be incorrect.">
              <a:extLst>
                <a:ext uri="{FF2B5EF4-FFF2-40B4-BE49-F238E27FC236}">
                  <a16:creationId xmlns:a16="http://schemas.microsoft.com/office/drawing/2014/main" id="{CF5F6442-FF94-F4E9-C2D0-FA615086B1F0}"/>
                </a:ext>
              </a:extLst>
            </p:cNvPr>
            <p:cNvPicPr>
              <a:picLocks noChangeAspect="1"/>
            </p:cNvPicPr>
            <p:nvPr/>
          </p:nvPicPr>
          <p:blipFill>
            <a:blip r:embed="rId6" cstate="screen">
              <a:alphaModFix amt="50000"/>
              <a:extLst>
                <a:ext uri="{28A0092B-C50C-407E-A947-70E740481C1C}">
                  <a14:useLocalDpi xmlns:a14="http://schemas.microsoft.com/office/drawing/2010/main" val="0"/>
                </a:ext>
              </a:extLst>
            </a:blip>
            <a:stretch>
              <a:fillRect/>
            </a:stretch>
          </p:blipFill>
          <p:spPr>
            <a:xfrm>
              <a:off x="8824439" y="2670766"/>
              <a:ext cx="705782" cy="2222511"/>
            </a:xfrm>
            <a:prstGeom prst="rect">
              <a:avLst/>
            </a:prstGeom>
          </p:spPr>
        </p:pic>
      </p:grpSp>
      <p:sp>
        <p:nvSpPr>
          <p:cNvPr id="2" name="Title 1">
            <a:extLst>
              <a:ext uri="{FF2B5EF4-FFF2-40B4-BE49-F238E27FC236}">
                <a16:creationId xmlns:a16="http://schemas.microsoft.com/office/drawing/2014/main" id="{2DBB714C-B01E-16B8-4DDF-8BEAA4C8BDEE}"/>
              </a:ext>
            </a:extLst>
          </p:cNvPr>
          <p:cNvSpPr>
            <a:spLocks noGrp="1"/>
          </p:cNvSpPr>
          <p:nvPr>
            <p:ph type="title" idx="4294967295"/>
          </p:nvPr>
        </p:nvSpPr>
        <p:spPr>
          <a:xfrm>
            <a:off x="2880000" y="720000"/>
            <a:ext cx="9229507" cy="839723"/>
          </a:xfrm>
        </p:spPr>
        <p:txBody>
          <a:bodyPr>
            <a:normAutofit/>
          </a:bodyPr>
          <a:lstStyle/>
          <a:p>
            <a:r>
              <a:rPr lang="en-US" sz="3200" dirty="0"/>
              <a:t>Everything as Code  - The Digital Design</a:t>
            </a:r>
            <a:endParaRPr lang="en-GB" sz="3200" dirty="0"/>
          </a:p>
        </p:txBody>
      </p:sp>
      <p:grpSp>
        <p:nvGrpSpPr>
          <p:cNvPr id="4" name="Group 3">
            <a:extLst>
              <a:ext uri="{FF2B5EF4-FFF2-40B4-BE49-F238E27FC236}">
                <a16:creationId xmlns:a16="http://schemas.microsoft.com/office/drawing/2014/main" id="{9862A1CB-81BC-1A9E-DAF0-3785CD7E9E83}"/>
              </a:ext>
            </a:extLst>
          </p:cNvPr>
          <p:cNvGrpSpPr/>
          <p:nvPr/>
        </p:nvGrpSpPr>
        <p:grpSpPr>
          <a:xfrm>
            <a:off x="-352023" y="986185"/>
            <a:ext cx="2851517" cy="6868014"/>
            <a:chOff x="0" y="-786"/>
            <a:chExt cx="2851517" cy="6868014"/>
          </a:xfrm>
        </p:grpSpPr>
        <p:grpSp>
          <p:nvGrpSpPr>
            <p:cNvPr id="5" name="Group 4">
              <a:extLst>
                <a:ext uri="{FF2B5EF4-FFF2-40B4-BE49-F238E27FC236}">
                  <a16:creationId xmlns:a16="http://schemas.microsoft.com/office/drawing/2014/main" id="{E34C38CF-7AB0-2794-7261-9BC37F810784}"/>
                </a:ext>
              </a:extLst>
            </p:cNvPr>
            <p:cNvGrpSpPr/>
            <p:nvPr/>
          </p:nvGrpSpPr>
          <p:grpSpPr>
            <a:xfrm>
              <a:off x="1" y="228600"/>
              <a:ext cx="2851516" cy="6638628"/>
              <a:chOff x="2487613" y="285750"/>
              <a:chExt cx="2428875" cy="5654676"/>
            </a:xfrm>
          </p:grpSpPr>
          <p:sp>
            <p:nvSpPr>
              <p:cNvPr id="20" name="Freeform 11">
                <a:extLst>
                  <a:ext uri="{FF2B5EF4-FFF2-40B4-BE49-F238E27FC236}">
                    <a16:creationId xmlns:a16="http://schemas.microsoft.com/office/drawing/2014/main" id="{E31A8F3F-6EBA-3D27-4176-D5A935BF2E95}"/>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21" name="Freeform 12">
                <a:extLst>
                  <a:ext uri="{FF2B5EF4-FFF2-40B4-BE49-F238E27FC236}">
                    <a16:creationId xmlns:a16="http://schemas.microsoft.com/office/drawing/2014/main" id="{6ADFE935-3196-94C1-141E-08586107FABC}"/>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22" name="Freeform 13">
                <a:extLst>
                  <a:ext uri="{FF2B5EF4-FFF2-40B4-BE49-F238E27FC236}">
                    <a16:creationId xmlns:a16="http://schemas.microsoft.com/office/drawing/2014/main" id="{94CCC457-B9F7-B7D7-82E0-8A8D5EA289A3}"/>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23" name="Freeform 14">
                <a:extLst>
                  <a:ext uri="{FF2B5EF4-FFF2-40B4-BE49-F238E27FC236}">
                    <a16:creationId xmlns:a16="http://schemas.microsoft.com/office/drawing/2014/main" id="{C3D579AC-D2E7-3F3C-4FE3-85BF860E5A0B}"/>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24" name="Freeform 15">
                <a:extLst>
                  <a:ext uri="{FF2B5EF4-FFF2-40B4-BE49-F238E27FC236}">
                    <a16:creationId xmlns:a16="http://schemas.microsoft.com/office/drawing/2014/main" id="{C94EA1D1-9694-24C1-4261-D29CDF6758A2}"/>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25" name="Freeform 16">
                <a:extLst>
                  <a:ext uri="{FF2B5EF4-FFF2-40B4-BE49-F238E27FC236}">
                    <a16:creationId xmlns:a16="http://schemas.microsoft.com/office/drawing/2014/main" id="{2B7B41E0-D8F9-B763-5314-EF053D365955}"/>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26" name="Freeform 17">
                <a:extLst>
                  <a:ext uri="{FF2B5EF4-FFF2-40B4-BE49-F238E27FC236}">
                    <a16:creationId xmlns:a16="http://schemas.microsoft.com/office/drawing/2014/main" id="{92F7397F-7B60-37D9-5A08-327EF3A8C1B7}"/>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27" name="Freeform 18">
                <a:extLst>
                  <a:ext uri="{FF2B5EF4-FFF2-40B4-BE49-F238E27FC236}">
                    <a16:creationId xmlns:a16="http://schemas.microsoft.com/office/drawing/2014/main" id="{412A72C9-947D-6F40-BD0D-5A5FAD4252F4}"/>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28" name="Freeform 19">
                <a:extLst>
                  <a:ext uri="{FF2B5EF4-FFF2-40B4-BE49-F238E27FC236}">
                    <a16:creationId xmlns:a16="http://schemas.microsoft.com/office/drawing/2014/main" id="{27C65C9E-F83B-DF59-EB42-8F7E83FC98CB}"/>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29" name="Freeform 20">
                <a:extLst>
                  <a:ext uri="{FF2B5EF4-FFF2-40B4-BE49-F238E27FC236}">
                    <a16:creationId xmlns:a16="http://schemas.microsoft.com/office/drawing/2014/main" id="{17EBF033-593F-9D0E-D01E-4B255DB52624}"/>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30" name="Freeform 21">
                <a:extLst>
                  <a:ext uri="{FF2B5EF4-FFF2-40B4-BE49-F238E27FC236}">
                    <a16:creationId xmlns:a16="http://schemas.microsoft.com/office/drawing/2014/main" id="{6B973D56-B8FB-ACB2-FA2D-88AD04965947}"/>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31" name="Freeform 22">
                <a:extLst>
                  <a:ext uri="{FF2B5EF4-FFF2-40B4-BE49-F238E27FC236}">
                    <a16:creationId xmlns:a16="http://schemas.microsoft.com/office/drawing/2014/main" id="{1881639C-4415-66B5-2F0F-F003616BF0BC}"/>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6" name="Group 5">
              <a:extLst>
                <a:ext uri="{FF2B5EF4-FFF2-40B4-BE49-F238E27FC236}">
                  <a16:creationId xmlns:a16="http://schemas.microsoft.com/office/drawing/2014/main" id="{242D3676-24F1-8EFA-02D3-A67D0B972D5B}"/>
                </a:ext>
              </a:extLst>
            </p:cNvPr>
            <p:cNvGrpSpPr/>
            <p:nvPr/>
          </p:nvGrpSpPr>
          <p:grpSpPr>
            <a:xfrm>
              <a:off x="27221" y="-786"/>
              <a:ext cx="2356674" cy="6854039"/>
              <a:chOff x="6627813" y="194833"/>
              <a:chExt cx="1952625" cy="5678918"/>
            </a:xfrm>
          </p:grpSpPr>
          <p:sp>
            <p:nvSpPr>
              <p:cNvPr id="8" name="Freeform 27">
                <a:extLst>
                  <a:ext uri="{FF2B5EF4-FFF2-40B4-BE49-F238E27FC236}">
                    <a16:creationId xmlns:a16="http://schemas.microsoft.com/office/drawing/2014/main" id="{35F2C032-FADC-0237-15E2-A6CCF3A5B267}"/>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9" name="Freeform 28">
                <a:extLst>
                  <a:ext uri="{FF2B5EF4-FFF2-40B4-BE49-F238E27FC236}">
                    <a16:creationId xmlns:a16="http://schemas.microsoft.com/office/drawing/2014/main" id="{79C09964-E7A8-DAB1-79A6-EA2C39A5BEEA}"/>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10" name="Freeform 29">
                <a:extLst>
                  <a:ext uri="{FF2B5EF4-FFF2-40B4-BE49-F238E27FC236}">
                    <a16:creationId xmlns:a16="http://schemas.microsoft.com/office/drawing/2014/main" id="{C07F74B1-03B5-2F92-263F-A5269117E655}"/>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11" name="Freeform 30">
                <a:extLst>
                  <a:ext uri="{FF2B5EF4-FFF2-40B4-BE49-F238E27FC236}">
                    <a16:creationId xmlns:a16="http://schemas.microsoft.com/office/drawing/2014/main" id="{A982FAF6-17F0-F1CE-D675-C95DA522943A}"/>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12" name="Freeform 31">
                <a:extLst>
                  <a:ext uri="{FF2B5EF4-FFF2-40B4-BE49-F238E27FC236}">
                    <a16:creationId xmlns:a16="http://schemas.microsoft.com/office/drawing/2014/main" id="{297DF328-CCDA-3803-D6CB-DE2CC249EF34}"/>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13" name="Freeform 32">
                <a:extLst>
                  <a:ext uri="{FF2B5EF4-FFF2-40B4-BE49-F238E27FC236}">
                    <a16:creationId xmlns:a16="http://schemas.microsoft.com/office/drawing/2014/main" id="{377779A0-7696-AB44-DC4C-FFE1D692C5AC}"/>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14" name="Freeform 33">
                <a:extLst>
                  <a:ext uri="{FF2B5EF4-FFF2-40B4-BE49-F238E27FC236}">
                    <a16:creationId xmlns:a16="http://schemas.microsoft.com/office/drawing/2014/main" id="{1371D260-7FD6-A24A-F718-EF6039DBAD7C}"/>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15" name="Freeform 34">
                <a:extLst>
                  <a:ext uri="{FF2B5EF4-FFF2-40B4-BE49-F238E27FC236}">
                    <a16:creationId xmlns:a16="http://schemas.microsoft.com/office/drawing/2014/main" id="{DF7868E8-F94C-3674-102C-6FA6E88716AF}"/>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16" name="Freeform 35">
                <a:extLst>
                  <a:ext uri="{FF2B5EF4-FFF2-40B4-BE49-F238E27FC236}">
                    <a16:creationId xmlns:a16="http://schemas.microsoft.com/office/drawing/2014/main" id="{6B9E8314-2557-3746-2EC9-5ABBAF85D094}"/>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17" name="Freeform 36">
                <a:extLst>
                  <a:ext uri="{FF2B5EF4-FFF2-40B4-BE49-F238E27FC236}">
                    <a16:creationId xmlns:a16="http://schemas.microsoft.com/office/drawing/2014/main" id="{222D6801-3B5C-5B7F-E904-837E20AC4F7F}"/>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18" name="Freeform 37">
                <a:extLst>
                  <a:ext uri="{FF2B5EF4-FFF2-40B4-BE49-F238E27FC236}">
                    <a16:creationId xmlns:a16="http://schemas.microsoft.com/office/drawing/2014/main" id="{09419139-ABCC-E30F-853C-FF3DFC24EB30}"/>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19" name="Freeform 38">
                <a:extLst>
                  <a:ext uri="{FF2B5EF4-FFF2-40B4-BE49-F238E27FC236}">
                    <a16:creationId xmlns:a16="http://schemas.microsoft.com/office/drawing/2014/main" id="{FE112184-2D94-9177-C7A2-7D597F11A865}"/>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7" name="Rectangle 6">
              <a:extLst>
                <a:ext uri="{FF2B5EF4-FFF2-40B4-BE49-F238E27FC236}">
                  <a16:creationId xmlns:a16="http://schemas.microsoft.com/office/drawing/2014/main" id="{2094E158-9CD1-0B64-AEEF-7F4D28899F65}"/>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pic>
        <p:nvPicPr>
          <p:cNvPr id="33" name="Picture 32" descr="A white pillar with a letter e&#10;&#10;AI-generated content may be incorrect.">
            <a:extLst>
              <a:ext uri="{FF2B5EF4-FFF2-40B4-BE49-F238E27FC236}">
                <a16:creationId xmlns:a16="http://schemas.microsoft.com/office/drawing/2014/main" id="{44A31F54-6183-D5EF-82C0-CC4846E1A62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0000" y="720000"/>
            <a:ext cx="1244444" cy="4317460"/>
          </a:xfrm>
          <a:prstGeom prst="rect">
            <a:avLst/>
          </a:prstGeom>
        </p:spPr>
      </p:pic>
      <p:grpSp>
        <p:nvGrpSpPr>
          <p:cNvPr id="45" name="Group 44">
            <a:extLst>
              <a:ext uri="{FF2B5EF4-FFF2-40B4-BE49-F238E27FC236}">
                <a16:creationId xmlns:a16="http://schemas.microsoft.com/office/drawing/2014/main" id="{D5AFC113-5806-7843-A3A0-59DCC2E18CC8}"/>
              </a:ext>
            </a:extLst>
          </p:cNvPr>
          <p:cNvGrpSpPr/>
          <p:nvPr/>
        </p:nvGrpSpPr>
        <p:grpSpPr>
          <a:xfrm>
            <a:off x="2383895" y="9208293"/>
            <a:ext cx="1360031" cy="3648522"/>
            <a:chOff x="1962655" y="2674706"/>
            <a:chExt cx="1543581" cy="3778249"/>
          </a:xfrm>
        </p:grpSpPr>
        <p:sp>
          <p:nvSpPr>
            <p:cNvPr id="46" name="Freeform: Shape 45">
              <a:extLst>
                <a:ext uri="{FF2B5EF4-FFF2-40B4-BE49-F238E27FC236}">
                  <a16:creationId xmlns:a16="http://schemas.microsoft.com/office/drawing/2014/main" id="{983977CB-990C-F539-DDD6-2048475925A2}"/>
                </a:ext>
              </a:extLst>
            </p:cNvPr>
            <p:cNvSpPr/>
            <p:nvPr/>
          </p:nvSpPr>
          <p:spPr>
            <a:xfrm>
              <a:off x="1962655" y="2674706"/>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Version Control</a:t>
              </a:r>
              <a:endParaRPr lang="en-GB" sz="1600" kern="1200" dirty="0"/>
            </a:p>
          </p:txBody>
        </p:sp>
        <p:sp>
          <p:nvSpPr>
            <p:cNvPr id="47" name="Oval 46" descr="Architecture with solid fill">
              <a:extLst>
                <a:ext uri="{FF2B5EF4-FFF2-40B4-BE49-F238E27FC236}">
                  <a16:creationId xmlns:a16="http://schemas.microsoft.com/office/drawing/2014/main" id="{37FF3D4B-AE67-D353-6F06-7E6A9413E188}"/>
                </a:ext>
              </a:extLst>
            </p:cNvPr>
            <p:cNvSpPr/>
            <p:nvPr/>
          </p:nvSpPr>
          <p:spPr>
            <a:xfrm>
              <a:off x="2071075" y="3015543"/>
              <a:ext cx="1324450" cy="1266509"/>
            </a:xfrm>
            <a:prstGeom prst="ellipse">
              <a:avLst/>
            </a:prstGeom>
            <a:blipFill>
              <a:blip r:embed="rId8">
                <a:extLst>
                  <a:ext uri="{96DAC541-7B7A-43D3-8B79-37D633B846F1}">
                    <asvg:svgBlip xmlns:asvg="http://schemas.microsoft.com/office/drawing/2016/SVG/main" r:embed="rId9"/>
                  </a:ext>
                </a:extLst>
              </a:blip>
              <a:srcRect/>
              <a:stretch>
                <a:fillRect l="6581" t="9941" r="6581"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48" name="Group 47">
            <a:extLst>
              <a:ext uri="{FF2B5EF4-FFF2-40B4-BE49-F238E27FC236}">
                <a16:creationId xmlns:a16="http://schemas.microsoft.com/office/drawing/2014/main" id="{715F4250-FE40-08A2-48A3-8CF22FC1E497}"/>
              </a:ext>
            </a:extLst>
          </p:cNvPr>
          <p:cNvGrpSpPr/>
          <p:nvPr/>
        </p:nvGrpSpPr>
        <p:grpSpPr>
          <a:xfrm>
            <a:off x="2520000" y="1800000"/>
            <a:ext cx="1360031" cy="3648522"/>
            <a:chOff x="2635145" y="2575044"/>
            <a:chExt cx="1543581" cy="3778249"/>
          </a:xfrm>
        </p:grpSpPr>
        <p:sp>
          <p:nvSpPr>
            <p:cNvPr id="49" name="Freeform: Shape 48">
              <a:extLst>
                <a:ext uri="{FF2B5EF4-FFF2-40B4-BE49-F238E27FC236}">
                  <a16:creationId xmlns:a16="http://schemas.microsoft.com/office/drawing/2014/main" id="{455266D7-E4C9-17BE-C1C0-FE1FDC6E480B}"/>
                </a:ext>
              </a:extLst>
            </p:cNvPr>
            <p:cNvSpPr/>
            <p:nvPr/>
          </p:nvSpPr>
          <p:spPr>
            <a:xfrm>
              <a:off x="2635145"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Everything as Code</a:t>
              </a:r>
              <a:endParaRPr lang="en-GB" sz="1600" kern="1200" dirty="0"/>
            </a:p>
          </p:txBody>
        </p:sp>
        <p:sp>
          <p:nvSpPr>
            <p:cNvPr id="50" name="Oval 49" descr="Gears with solid fill">
              <a:extLst>
                <a:ext uri="{FF2B5EF4-FFF2-40B4-BE49-F238E27FC236}">
                  <a16:creationId xmlns:a16="http://schemas.microsoft.com/office/drawing/2014/main" id="{1D0D44EC-BFDA-B9CC-8094-90F6D52CFE83}"/>
                </a:ext>
              </a:extLst>
            </p:cNvPr>
            <p:cNvSpPr/>
            <p:nvPr/>
          </p:nvSpPr>
          <p:spPr>
            <a:xfrm>
              <a:off x="2655864" y="3015544"/>
              <a:ext cx="1450967" cy="1258156"/>
            </a:xfrm>
            <a:prstGeom prst="ellipse">
              <a:avLst/>
            </a:prstGeom>
            <a:blipFill>
              <a:blip r:embed="rId10">
                <a:extLst>
                  <a:ext uri="{96DAC541-7B7A-43D3-8B79-37D633B846F1}">
                    <asvg:svgBlip xmlns:asvg="http://schemas.microsoft.com/office/drawing/2016/SVG/main" r:embed="rId11"/>
                  </a:ext>
                </a:extLst>
              </a:blip>
              <a:srcRect/>
              <a:stretch>
                <a:fillRect l="4100" t="9941" r="4100"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54" name="Group 53">
            <a:extLst>
              <a:ext uri="{FF2B5EF4-FFF2-40B4-BE49-F238E27FC236}">
                <a16:creationId xmlns:a16="http://schemas.microsoft.com/office/drawing/2014/main" id="{0F783AC1-5C09-9DA1-782B-4444E7B5F198}"/>
              </a:ext>
            </a:extLst>
          </p:cNvPr>
          <p:cNvGrpSpPr/>
          <p:nvPr/>
        </p:nvGrpSpPr>
        <p:grpSpPr>
          <a:xfrm>
            <a:off x="2383895" y="9248187"/>
            <a:ext cx="1360031" cy="3648523"/>
            <a:chOff x="4057758" y="2575044"/>
            <a:chExt cx="1543581" cy="3778249"/>
          </a:xfrm>
        </p:grpSpPr>
        <p:sp>
          <p:nvSpPr>
            <p:cNvPr id="55" name="Freeform: Shape 54">
              <a:extLst>
                <a:ext uri="{FF2B5EF4-FFF2-40B4-BE49-F238E27FC236}">
                  <a16:creationId xmlns:a16="http://schemas.microsoft.com/office/drawing/2014/main" id="{50B1D304-5F4D-C564-D839-6363644DDAA6}"/>
                </a:ext>
              </a:extLst>
            </p:cNvPr>
            <p:cNvSpPr/>
            <p:nvPr/>
          </p:nvSpPr>
          <p:spPr>
            <a:xfrm>
              <a:off x="4057758"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Testing</a:t>
              </a:r>
              <a:endParaRPr lang="en-GB" sz="1600" kern="1200" dirty="0"/>
            </a:p>
          </p:txBody>
        </p:sp>
        <p:sp>
          <p:nvSpPr>
            <p:cNvPr id="56" name="Oval 55" descr="Clipboard Mixed with solid fill">
              <a:extLst>
                <a:ext uri="{FF2B5EF4-FFF2-40B4-BE49-F238E27FC236}">
                  <a16:creationId xmlns:a16="http://schemas.microsoft.com/office/drawing/2014/main" id="{A448CF06-B8AE-0117-677A-052F2B65C0A9}"/>
                </a:ext>
              </a:extLst>
            </p:cNvPr>
            <p:cNvSpPr/>
            <p:nvPr/>
          </p:nvSpPr>
          <p:spPr>
            <a:xfrm>
              <a:off x="4211083" y="3036819"/>
              <a:ext cx="1252792" cy="1258156"/>
            </a:xfrm>
            <a:prstGeom prst="ellipse">
              <a:avLst/>
            </a:prstGeom>
            <a:blipFill>
              <a:blip r:embed="rId12">
                <a:extLst>
                  <a:ext uri="{96DAC541-7B7A-43D3-8B79-37D633B846F1}">
                    <asvg:svgBlip xmlns:asvg="http://schemas.microsoft.com/office/drawing/2016/SVG/main" r:embed="rId13"/>
                  </a:ext>
                </a:extLst>
              </a:blip>
              <a:srcRect/>
              <a:stretch>
                <a:fillRect l="11543" t="11372" r="11543" b="11372"/>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57" name="Group 56">
            <a:extLst>
              <a:ext uri="{FF2B5EF4-FFF2-40B4-BE49-F238E27FC236}">
                <a16:creationId xmlns:a16="http://schemas.microsoft.com/office/drawing/2014/main" id="{F9CD5020-78FD-2F65-C405-A6FB35DDFBB8}"/>
              </a:ext>
            </a:extLst>
          </p:cNvPr>
          <p:cNvGrpSpPr/>
          <p:nvPr/>
        </p:nvGrpSpPr>
        <p:grpSpPr>
          <a:xfrm>
            <a:off x="2383895" y="9248187"/>
            <a:ext cx="1360031" cy="3648523"/>
            <a:chOff x="6498529" y="1701354"/>
            <a:chExt cx="1543581" cy="3778249"/>
          </a:xfrm>
        </p:grpSpPr>
        <p:sp>
          <p:nvSpPr>
            <p:cNvPr id="58" name="Freeform: Shape 57">
              <a:extLst>
                <a:ext uri="{FF2B5EF4-FFF2-40B4-BE49-F238E27FC236}">
                  <a16:creationId xmlns:a16="http://schemas.microsoft.com/office/drawing/2014/main" id="{955CD3BE-1FDE-20B8-19B8-BA00EB4566B3}"/>
                </a:ext>
              </a:extLst>
            </p:cNvPr>
            <p:cNvSpPr/>
            <p:nvPr/>
          </p:nvSpPr>
          <p:spPr>
            <a:xfrm>
              <a:off x="6498529" y="170135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Open Source First</a:t>
              </a:r>
              <a:endParaRPr lang="en-GB" sz="1600" kern="1200" dirty="0"/>
            </a:p>
          </p:txBody>
        </p:sp>
        <p:sp>
          <p:nvSpPr>
            <p:cNvPr id="59" name="Oval 58" descr="Open hand with solid fill">
              <a:extLst>
                <a:ext uri="{FF2B5EF4-FFF2-40B4-BE49-F238E27FC236}">
                  <a16:creationId xmlns:a16="http://schemas.microsoft.com/office/drawing/2014/main" id="{84B1350B-C00F-7328-DB4F-D7982874F114}"/>
                </a:ext>
              </a:extLst>
            </p:cNvPr>
            <p:cNvSpPr/>
            <p:nvPr/>
          </p:nvSpPr>
          <p:spPr>
            <a:xfrm>
              <a:off x="6603697" y="2140995"/>
              <a:ext cx="1329999" cy="1258155"/>
            </a:xfrm>
            <a:prstGeom prst="ellipse">
              <a:avLst/>
            </a:prstGeom>
            <a:blipFill>
              <a:blip r:embed="rId14">
                <a:extLst>
                  <a:ext uri="{96DAC541-7B7A-43D3-8B79-37D633B846F1}">
                    <asvg:svgBlip xmlns:asvg="http://schemas.microsoft.com/office/drawing/2016/SVG/main" r:embed="rId15"/>
                  </a:ext>
                </a:extLst>
              </a:blip>
              <a:srcRect/>
              <a:stretch>
                <a:fillRect l="15265" t="7080" r="15265" b="708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60" name="Group 59">
            <a:extLst>
              <a:ext uri="{FF2B5EF4-FFF2-40B4-BE49-F238E27FC236}">
                <a16:creationId xmlns:a16="http://schemas.microsoft.com/office/drawing/2014/main" id="{727E8B34-489F-9BFF-34B2-C53EC97684B4}"/>
              </a:ext>
            </a:extLst>
          </p:cNvPr>
          <p:cNvGrpSpPr/>
          <p:nvPr/>
        </p:nvGrpSpPr>
        <p:grpSpPr>
          <a:xfrm>
            <a:off x="2383895" y="9064691"/>
            <a:ext cx="1360031" cy="3648523"/>
            <a:chOff x="8089560" y="1700495"/>
            <a:chExt cx="1543581" cy="3880755"/>
          </a:xfrm>
        </p:grpSpPr>
        <p:sp>
          <p:nvSpPr>
            <p:cNvPr id="61" name="Freeform: Shape 60">
              <a:extLst>
                <a:ext uri="{FF2B5EF4-FFF2-40B4-BE49-F238E27FC236}">
                  <a16:creationId xmlns:a16="http://schemas.microsoft.com/office/drawing/2014/main" id="{C14CB9CC-155B-2D05-E1FB-D1DD1A35681C}"/>
                </a:ext>
              </a:extLst>
            </p:cNvPr>
            <p:cNvSpPr/>
            <p:nvPr/>
          </p:nvSpPr>
          <p:spPr>
            <a:xfrm>
              <a:off x="8089560" y="1700495"/>
              <a:ext cx="1543581" cy="3880755"/>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Reference Architecture</a:t>
              </a:r>
              <a:endParaRPr lang="en-GB" sz="1600" kern="1200" dirty="0"/>
            </a:p>
          </p:txBody>
        </p:sp>
        <p:sp>
          <p:nvSpPr>
            <p:cNvPr id="62" name="Oval 61" descr="Books on shelf with solid fill">
              <a:extLst>
                <a:ext uri="{FF2B5EF4-FFF2-40B4-BE49-F238E27FC236}">
                  <a16:creationId xmlns:a16="http://schemas.microsoft.com/office/drawing/2014/main" id="{57D908E1-E4E9-2963-641F-06556D0F5046}"/>
                </a:ext>
              </a:extLst>
            </p:cNvPr>
            <p:cNvSpPr/>
            <p:nvPr/>
          </p:nvSpPr>
          <p:spPr>
            <a:xfrm>
              <a:off x="8135868" y="2172679"/>
              <a:ext cx="1450967" cy="1258156"/>
            </a:xfrm>
            <a:prstGeom prst="ellipse">
              <a:avLst/>
            </a:prstGeom>
            <a:blipFill>
              <a:blip r:embed="rId16">
                <a:extLst>
                  <a:ext uri="{96DAC541-7B7A-43D3-8B79-37D633B846F1}">
                    <asvg:svgBlip xmlns:asvg="http://schemas.microsoft.com/office/drawing/2016/SVG/main" r:embed="rId17"/>
                  </a:ext>
                </a:extLst>
              </a:blip>
              <a:srcRect/>
              <a:stretch>
                <a:fillRect l="12784" t="12803" r="12784" b="1280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63" name="Group 62">
            <a:extLst>
              <a:ext uri="{FF2B5EF4-FFF2-40B4-BE49-F238E27FC236}">
                <a16:creationId xmlns:a16="http://schemas.microsoft.com/office/drawing/2014/main" id="{CEA7437A-D2B6-2CED-300E-0547A51D780A}"/>
              </a:ext>
            </a:extLst>
          </p:cNvPr>
          <p:cNvGrpSpPr/>
          <p:nvPr/>
        </p:nvGrpSpPr>
        <p:grpSpPr>
          <a:xfrm>
            <a:off x="2383895" y="9208292"/>
            <a:ext cx="1343700" cy="3648523"/>
            <a:chOff x="9741055" y="1651927"/>
            <a:chExt cx="1525046" cy="3935709"/>
          </a:xfrm>
        </p:grpSpPr>
        <p:sp>
          <p:nvSpPr>
            <p:cNvPr id="64" name="Freeform: Shape 63">
              <a:extLst>
                <a:ext uri="{FF2B5EF4-FFF2-40B4-BE49-F238E27FC236}">
                  <a16:creationId xmlns:a16="http://schemas.microsoft.com/office/drawing/2014/main" id="{99D15C88-78BA-8F1B-DD33-6334000B9286}"/>
                </a:ext>
              </a:extLst>
            </p:cNvPr>
            <p:cNvSpPr/>
            <p:nvPr/>
          </p:nvSpPr>
          <p:spPr>
            <a:xfrm>
              <a:off x="9741055" y="1651927"/>
              <a:ext cx="1525046" cy="393570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lvl="0" algn="ctr" defTabSz="311150">
                <a:lnSpc>
                  <a:spcPct val="90000"/>
                </a:lnSpc>
                <a:spcBef>
                  <a:spcPct val="0"/>
                </a:spcBef>
                <a:spcAft>
                  <a:spcPct val="35000"/>
                </a:spcAft>
              </a:pPr>
              <a:r>
                <a:rPr lang="en-US" kern="1200" dirty="0"/>
                <a:t>Security by </a:t>
              </a:r>
              <a:r>
                <a:rPr lang="en-US" dirty="0"/>
                <a:t>Design</a:t>
              </a:r>
              <a:endParaRPr lang="en-GB" kern="1200" dirty="0"/>
            </a:p>
          </p:txBody>
        </p:sp>
        <p:sp>
          <p:nvSpPr>
            <p:cNvPr id="65" name="Oval 64" descr="Lock with solid fill">
              <a:extLst>
                <a:ext uri="{FF2B5EF4-FFF2-40B4-BE49-F238E27FC236}">
                  <a16:creationId xmlns:a16="http://schemas.microsoft.com/office/drawing/2014/main" id="{9FDF30D6-7985-C157-D102-F120A1429ABE}"/>
                </a:ext>
              </a:extLst>
            </p:cNvPr>
            <p:cNvSpPr/>
            <p:nvPr/>
          </p:nvSpPr>
          <p:spPr>
            <a:xfrm>
              <a:off x="9861201" y="2088561"/>
              <a:ext cx="1284754" cy="1310590"/>
            </a:xfrm>
            <a:prstGeom prst="ellipse">
              <a:avLst/>
            </a:prstGeom>
            <a:blipFill>
              <a:blip r:embed="rId18">
                <a:extLst>
                  <a:ext uri="{96DAC541-7B7A-43D3-8B79-37D633B846F1}">
                    <asvg:svgBlip xmlns:asvg="http://schemas.microsoft.com/office/drawing/2016/SVG/main" r:embed="rId19"/>
                  </a:ext>
                </a:extLst>
              </a:blip>
              <a:srcRect/>
              <a:stretch>
                <a:fillRect l="-2737" t="11544" r="-2737" b="11544"/>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grpSp>
        <p:nvGrpSpPr>
          <p:cNvPr id="32" name="Group 31">
            <a:extLst>
              <a:ext uri="{FF2B5EF4-FFF2-40B4-BE49-F238E27FC236}">
                <a16:creationId xmlns:a16="http://schemas.microsoft.com/office/drawing/2014/main" id="{89DC337A-DA20-5CE9-1D09-D434929194FA}"/>
              </a:ext>
            </a:extLst>
          </p:cNvPr>
          <p:cNvGrpSpPr/>
          <p:nvPr/>
        </p:nvGrpSpPr>
        <p:grpSpPr>
          <a:xfrm>
            <a:off x="2383895" y="9210348"/>
            <a:ext cx="1360031" cy="3648523"/>
            <a:chOff x="3381347" y="2620999"/>
            <a:chExt cx="1543581" cy="3778249"/>
          </a:xfrm>
        </p:grpSpPr>
        <p:sp>
          <p:nvSpPr>
            <p:cNvPr id="44" name="Freeform: Shape 43">
              <a:extLst>
                <a:ext uri="{FF2B5EF4-FFF2-40B4-BE49-F238E27FC236}">
                  <a16:creationId xmlns:a16="http://schemas.microsoft.com/office/drawing/2014/main" id="{6C5A96F5-1B3B-3375-A8F5-6ADD5FE88868}"/>
                </a:ext>
              </a:extLst>
            </p:cNvPr>
            <p:cNvSpPr/>
            <p:nvPr/>
          </p:nvSpPr>
          <p:spPr>
            <a:xfrm>
              <a:off x="3381347" y="2620999"/>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CI/CD Pipelines</a:t>
              </a:r>
              <a:endParaRPr lang="en-GB" sz="1600" kern="1200" dirty="0"/>
            </a:p>
          </p:txBody>
        </p:sp>
        <p:sp>
          <p:nvSpPr>
            <p:cNvPr id="66" name="Oval 65" descr="Oil Rig with solid fill">
              <a:extLst>
                <a:ext uri="{FF2B5EF4-FFF2-40B4-BE49-F238E27FC236}">
                  <a16:creationId xmlns:a16="http://schemas.microsoft.com/office/drawing/2014/main" id="{D79DE44D-32A7-E084-0E7A-635534F7B0F9}"/>
                </a:ext>
              </a:extLst>
            </p:cNvPr>
            <p:cNvSpPr/>
            <p:nvPr/>
          </p:nvSpPr>
          <p:spPr>
            <a:xfrm>
              <a:off x="3532419" y="3015544"/>
              <a:ext cx="1285718" cy="1258156"/>
            </a:xfrm>
            <a:prstGeom prst="ellipse">
              <a:avLst/>
            </a:prstGeom>
            <a:blipFill>
              <a:blip r:embed="rId20">
                <a:extLst>
                  <a:ext uri="{96DAC541-7B7A-43D3-8B79-37D633B846F1}">
                    <asvg:svgBlip xmlns:asvg="http://schemas.microsoft.com/office/drawing/2016/SVG/main" r:embed="rId21"/>
                  </a:ext>
                </a:extLst>
              </a:blip>
              <a:stretch>
                <a:fillRect l="15044" t="8517" r="15044" b="8517"/>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sp>
        <p:nvSpPr>
          <p:cNvPr id="67" name="Content Placeholder 2">
            <a:extLst>
              <a:ext uri="{FF2B5EF4-FFF2-40B4-BE49-F238E27FC236}">
                <a16:creationId xmlns:a16="http://schemas.microsoft.com/office/drawing/2014/main" id="{46276B1D-C625-9C58-3F61-86015710DD20}"/>
              </a:ext>
            </a:extLst>
          </p:cNvPr>
          <p:cNvSpPr txBox="1">
            <a:spLocks/>
          </p:cNvSpPr>
          <p:nvPr/>
        </p:nvSpPr>
        <p:spPr>
          <a:xfrm>
            <a:off x="4058701" y="5387452"/>
            <a:ext cx="7446809" cy="118800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dirty="0"/>
          </a:p>
          <a:p>
            <a:r>
              <a:rPr lang="en-US" dirty="0"/>
              <a:t>"House plans, permits, certifications - all stored electronically “</a:t>
            </a:r>
          </a:p>
          <a:p>
            <a:endParaRPr lang="en-US" dirty="0"/>
          </a:p>
          <a:p>
            <a:endParaRPr lang="en-US" dirty="0"/>
          </a:p>
          <a:p>
            <a:endParaRPr lang="en-GB" dirty="0"/>
          </a:p>
        </p:txBody>
      </p:sp>
    </p:spTree>
    <p:extLst>
      <p:ext uri="{BB962C8B-B14F-4D97-AF65-F5344CB8AC3E}">
        <p14:creationId xmlns:p14="http://schemas.microsoft.com/office/powerpoint/2010/main" val="4266554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20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1500"/>
                                        <p:tgtEl>
                                          <p:spTgt spid="69"/>
                                        </p:tgtEl>
                                      </p:cBhvr>
                                    </p:animEffect>
                                    <p:set>
                                      <p:cBhvr>
                                        <p:cTn id="12" dur="1" fill="hold">
                                          <p:stCondLst>
                                            <p:cond delay="1499"/>
                                          </p:stCondLst>
                                        </p:cTn>
                                        <p:tgtEl>
                                          <p:spTgt spid="69"/>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E8F76-E61F-0199-A0A1-52D37522CAA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91A4E4D-823F-AD47-26A9-6DD16049B1A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72289" y="1882935"/>
            <a:ext cx="5065855" cy="3377237"/>
          </a:xfrm>
          <a:prstGeom prst="rect">
            <a:avLst/>
          </a:prstGeom>
          <a:effectLst>
            <a:softEdge rad="127000"/>
          </a:effectLst>
        </p:spPr>
      </p:pic>
      <p:sp>
        <p:nvSpPr>
          <p:cNvPr id="3" name="Rectangle: Rounded Corners 2">
            <a:extLst>
              <a:ext uri="{FF2B5EF4-FFF2-40B4-BE49-F238E27FC236}">
                <a16:creationId xmlns:a16="http://schemas.microsoft.com/office/drawing/2014/main" id="{E84D2A3C-34B3-06CA-BC78-EDD983DEC61F}"/>
              </a:ext>
            </a:extLst>
          </p:cNvPr>
          <p:cNvSpPr/>
          <p:nvPr/>
        </p:nvSpPr>
        <p:spPr>
          <a:xfrm>
            <a:off x="5087481" y="2118427"/>
            <a:ext cx="5497352" cy="3183054"/>
          </a:xfrm>
          <a:prstGeom prst="roundRect">
            <a:avLst/>
          </a:prstGeom>
          <a:ln w="12700"/>
          <a:scene3d>
            <a:camera prst="orthographicFront"/>
            <a:lightRig rig="threePt" dir="t"/>
          </a:scene3d>
          <a:sp3d>
            <a:bevelT w="114300" prst="hardEdge"/>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2800" dirty="0">
                <a:latin typeface="Imprint MT Shadow" panose="04020605060303030202" pitchFamily="82" charset="0"/>
              </a:rPr>
              <a:t>Automation</a:t>
            </a:r>
          </a:p>
          <a:p>
            <a:pPr algn="ctr"/>
            <a:endParaRPr lang="en-GB" sz="2800" dirty="0">
              <a:latin typeface="Imprint MT Shadow" panose="04020605060303030202" pitchFamily="82" charset="0"/>
            </a:endParaRPr>
          </a:p>
          <a:p>
            <a:pPr algn="ctr"/>
            <a:r>
              <a:rPr lang="en-GB" sz="2800" dirty="0" err="1">
                <a:latin typeface="Imprint MT Shadow" panose="04020605060303030202" pitchFamily="82" charset="0"/>
              </a:rPr>
              <a:t>Github</a:t>
            </a:r>
            <a:r>
              <a:rPr lang="en-GB" sz="2800" dirty="0">
                <a:latin typeface="Imprint MT Shadow" panose="04020605060303030202" pitchFamily="82" charset="0"/>
              </a:rPr>
              <a:t> Actions.</a:t>
            </a:r>
          </a:p>
          <a:p>
            <a:pPr algn="ctr"/>
            <a:endParaRPr lang="en-GB" dirty="0"/>
          </a:p>
        </p:txBody>
      </p:sp>
      <p:grpSp>
        <p:nvGrpSpPr>
          <p:cNvPr id="34" name="Group 33">
            <a:extLst>
              <a:ext uri="{FF2B5EF4-FFF2-40B4-BE49-F238E27FC236}">
                <a16:creationId xmlns:a16="http://schemas.microsoft.com/office/drawing/2014/main" id="{57A4EF2A-E1EB-DF7F-0D11-19A5B6A317BE}"/>
              </a:ext>
            </a:extLst>
          </p:cNvPr>
          <p:cNvGrpSpPr/>
          <p:nvPr/>
        </p:nvGrpSpPr>
        <p:grpSpPr>
          <a:xfrm>
            <a:off x="391943" y="4824255"/>
            <a:ext cx="1991952" cy="1802178"/>
            <a:chOff x="3683087" y="22444"/>
            <a:chExt cx="6740402" cy="6740402"/>
          </a:xfrm>
        </p:grpSpPr>
        <p:pic>
          <p:nvPicPr>
            <p:cNvPr id="35" name="Picture 34" descr="A white stone structure with a triangular top">
              <a:extLst>
                <a:ext uri="{FF2B5EF4-FFF2-40B4-BE49-F238E27FC236}">
                  <a16:creationId xmlns:a16="http://schemas.microsoft.com/office/drawing/2014/main" id="{1483C111-FAEC-9DD7-36F8-98CEBC3B07D7}"/>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3683087" y="22444"/>
              <a:ext cx="6740402" cy="6740402"/>
            </a:xfrm>
            <a:prstGeom prst="rect">
              <a:avLst/>
            </a:prstGeom>
          </p:spPr>
        </p:pic>
        <p:pic>
          <p:nvPicPr>
            <p:cNvPr id="36" name="Picture 35" descr="A white pillar with a black background&#10;&#10;AI-generated content may be incorrect.">
              <a:extLst>
                <a:ext uri="{FF2B5EF4-FFF2-40B4-BE49-F238E27FC236}">
                  <a16:creationId xmlns:a16="http://schemas.microsoft.com/office/drawing/2014/main" id="{7636F15E-1377-F5EF-FA63-5F9C0DB01F66}"/>
                </a:ext>
              </a:extLst>
            </p:cNvPr>
            <p:cNvPicPr>
              <a:picLocks noChangeAspect="1"/>
            </p:cNvPicPr>
            <p:nvPr/>
          </p:nvPicPr>
          <p:blipFill>
            <a:blip r:embed="rId5" cstate="screen">
              <a:alphaModFix amt="50000"/>
              <a:extLst>
                <a:ext uri="{28A0092B-C50C-407E-A947-70E740481C1C}">
                  <a14:useLocalDpi xmlns:a14="http://schemas.microsoft.com/office/drawing/2010/main" val="0"/>
                </a:ext>
              </a:extLst>
            </a:blip>
            <a:stretch>
              <a:fillRect/>
            </a:stretch>
          </p:blipFill>
          <p:spPr>
            <a:xfrm>
              <a:off x="4576352" y="2670766"/>
              <a:ext cx="705782" cy="2222511"/>
            </a:xfrm>
            <a:prstGeom prst="rect">
              <a:avLst/>
            </a:prstGeom>
          </p:spPr>
        </p:pic>
        <p:pic>
          <p:nvPicPr>
            <p:cNvPr id="37" name="Picture 36" descr="A white pillar with a black background&#10;&#10;AI-generated content may be incorrect.">
              <a:extLst>
                <a:ext uri="{FF2B5EF4-FFF2-40B4-BE49-F238E27FC236}">
                  <a16:creationId xmlns:a16="http://schemas.microsoft.com/office/drawing/2014/main" id="{F38699FA-0105-3039-139B-EF188980C2C8}"/>
                </a:ext>
              </a:extLst>
            </p:cNvPr>
            <p:cNvPicPr>
              <a:picLocks noChangeAspect="1"/>
            </p:cNvPicPr>
            <p:nvPr/>
          </p:nvPicPr>
          <p:blipFill>
            <a:blip r:embed="rId5" cstate="screen">
              <a:alphaModFix amt="50000"/>
              <a:extLst>
                <a:ext uri="{28A0092B-C50C-407E-A947-70E740481C1C}">
                  <a14:useLocalDpi xmlns:a14="http://schemas.microsoft.com/office/drawing/2010/main" val="0"/>
                </a:ext>
              </a:extLst>
            </a:blip>
            <a:stretch>
              <a:fillRect/>
            </a:stretch>
          </p:blipFill>
          <p:spPr>
            <a:xfrm>
              <a:off x="6700397" y="2670766"/>
              <a:ext cx="705782" cy="2222511"/>
            </a:xfrm>
            <a:prstGeom prst="rect">
              <a:avLst/>
            </a:prstGeom>
          </p:spPr>
        </p:pic>
        <p:pic>
          <p:nvPicPr>
            <p:cNvPr id="38" name="Picture 37" descr="A white pillar with a black background&#10;&#10;AI-generated content may be incorrect.">
              <a:extLst>
                <a:ext uri="{FF2B5EF4-FFF2-40B4-BE49-F238E27FC236}">
                  <a16:creationId xmlns:a16="http://schemas.microsoft.com/office/drawing/2014/main" id="{17DAFEAA-37A8-4941-7B3C-74252CABBBD9}"/>
                </a:ext>
              </a:extLst>
            </p:cNvPr>
            <p:cNvPicPr>
              <a:picLocks noChangeAspect="1"/>
            </p:cNvPicPr>
            <p:nvPr/>
          </p:nvPicPr>
          <p:blipFill>
            <a:blip r:embed="rId5" cstate="screen">
              <a:alphaModFix amt="50000"/>
              <a:extLst>
                <a:ext uri="{28A0092B-C50C-407E-A947-70E740481C1C}">
                  <a14:useLocalDpi xmlns:a14="http://schemas.microsoft.com/office/drawing/2010/main" val="0"/>
                </a:ext>
              </a:extLst>
            </a:blip>
            <a:stretch>
              <a:fillRect/>
            </a:stretch>
          </p:blipFill>
          <p:spPr>
            <a:xfrm>
              <a:off x="7408412" y="2670766"/>
              <a:ext cx="705782" cy="2222511"/>
            </a:xfrm>
            <a:prstGeom prst="rect">
              <a:avLst/>
            </a:prstGeom>
          </p:spPr>
        </p:pic>
        <p:pic>
          <p:nvPicPr>
            <p:cNvPr id="39" name="Picture 38" descr="A white pillar with a black background&#10;&#10;AI-generated content may be incorrect.">
              <a:extLst>
                <a:ext uri="{FF2B5EF4-FFF2-40B4-BE49-F238E27FC236}">
                  <a16:creationId xmlns:a16="http://schemas.microsoft.com/office/drawing/2014/main" id="{1C11B733-EB9E-1FDF-59B6-C58C6C7705D8}"/>
                </a:ext>
              </a:extLst>
            </p:cNvPr>
            <p:cNvPicPr>
              <a:picLocks noChangeAspect="1"/>
            </p:cNvPicPr>
            <p:nvPr/>
          </p:nvPicPr>
          <p:blipFill>
            <a:blip r:embed="rId5" cstate="screen">
              <a:alphaModFix amt="50000"/>
              <a:extLst>
                <a:ext uri="{28A0092B-C50C-407E-A947-70E740481C1C}">
                  <a14:useLocalDpi xmlns:a14="http://schemas.microsoft.com/office/drawing/2010/main" val="0"/>
                </a:ext>
              </a:extLst>
            </a:blip>
            <a:stretch>
              <a:fillRect/>
            </a:stretch>
          </p:blipFill>
          <p:spPr>
            <a:xfrm>
              <a:off x="8116427" y="2670766"/>
              <a:ext cx="705782" cy="2222511"/>
            </a:xfrm>
            <a:prstGeom prst="rect">
              <a:avLst/>
            </a:prstGeom>
          </p:spPr>
        </p:pic>
        <p:pic>
          <p:nvPicPr>
            <p:cNvPr id="40" name="Picture 39" descr="A white pillar with a black background&#10;&#10;AI-generated content may be incorrect.">
              <a:extLst>
                <a:ext uri="{FF2B5EF4-FFF2-40B4-BE49-F238E27FC236}">
                  <a16:creationId xmlns:a16="http://schemas.microsoft.com/office/drawing/2014/main" id="{45FF3651-8DC2-6DD9-ABF0-1BECC3248F57}"/>
                </a:ext>
              </a:extLst>
            </p:cNvPr>
            <p:cNvPicPr>
              <a:picLocks noChangeAspect="1"/>
            </p:cNvPicPr>
            <p:nvPr/>
          </p:nvPicPr>
          <p:blipFill>
            <a:blip r:embed="rId5" cstate="screen">
              <a:alphaModFix amt="50000"/>
              <a:extLst>
                <a:ext uri="{28A0092B-C50C-407E-A947-70E740481C1C}">
                  <a14:useLocalDpi xmlns:a14="http://schemas.microsoft.com/office/drawing/2010/main" val="0"/>
                </a:ext>
              </a:extLst>
            </a:blip>
            <a:stretch>
              <a:fillRect/>
            </a:stretch>
          </p:blipFill>
          <p:spPr>
            <a:xfrm>
              <a:off x="5284367" y="2670766"/>
              <a:ext cx="705782" cy="2222511"/>
            </a:xfrm>
            <a:prstGeom prst="rect">
              <a:avLst/>
            </a:prstGeom>
          </p:spPr>
        </p:pic>
        <p:pic>
          <p:nvPicPr>
            <p:cNvPr id="41" name="Picture 40" descr="A white pillar with a black background&#10;&#10;AI-generated content may be incorrect.">
              <a:extLst>
                <a:ext uri="{FF2B5EF4-FFF2-40B4-BE49-F238E27FC236}">
                  <a16:creationId xmlns:a16="http://schemas.microsoft.com/office/drawing/2014/main" id="{B9E73EF2-61F8-280A-0619-7869D693098B}"/>
                </a:ext>
              </a:extLst>
            </p:cNvPr>
            <p:cNvPicPr>
              <a:picLocks noChangeAspect="1"/>
            </p:cNvPicPr>
            <p:nvPr/>
          </p:nvPicPr>
          <p:blipFill>
            <a:blip r:embed="rId5" cstate="screen">
              <a:alphaModFix amt="50000"/>
              <a:extLst>
                <a:ext uri="{28A0092B-C50C-407E-A947-70E740481C1C}">
                  <a14:useLocalDpi xmlns:a14="http://schemas.microsoft.com/office/drawing/2010/main" val="0"/>
                </a:ext>
              </a:extLst>
            </a:blip>
            <a:stretch>
              <a:fillRect/>
            </a:stretch>
          </p:blipFill>
          <p:spPr>
            <a:xfrm>
              <a:off x="5992382" y="2670766"/>
              <a:ext cx="705782" cy="2222511"/>
            </a:xfrm>
            <a:prstGeom prst="rect">
              <a:avLst/>
            </a:prstGeom>
          </p:spPr>
        </p:pic>
        <p:pic>
          <p:nvPicPr>
            <p:cNvPr id="42" name="Picture 41" descr="A white pillar with a black background&#10;&#10;AI-generated content may be incorrect.">
              <a:extLst>
                <a:ext uri="{FF2B5EF4-FFF2-40B4-BE49-F238E27FC236}">
                  <a16:creationId xmlns:a16="http://schemas.microsoft.com/office/drawing/2014/main" id="{B3F7C908-2986-DE66-FC1F-2EDC1DB376BA}"/>
                </a:ext>
              </a:extLst>
            </p:cNvPr>
            <p:cNvPicPr>
              <a:picLocks noChangeAspect="1"/>
            </p:cNvPicPr>
            <p:nvPr/>
          </p:nvPicPr>
          <p:blipFill>
            <a:blip r:embed="rId5" cstate="screen">
              <a:alphaModFix amt="50000"/>
              <a:extLst>
                <a:ext uri="{28A0092B-C50C-407E-A947-70E740481C1C}">
                  <a14:useLocalDpi xmlns:a14="http://schemas.microsoft.com/office/drawing/2010/main" val="0"/>
                </a:ext>
              </a:extLst>
            </a:blip>
            <a:stretch>
              <a:fillRect/>
            </a:stretch>
          </p:blipFill>
          <p:spPr>
            <a:xfrm>
              <a:off x="8824439" y="2670766"/>
              <a:ext cx="705782" cy="2222511"/>
            </a:xfrm>
            <a:prstGeom prst="rect">
              <a:avLst/>
            </a:prstGeom>
          </p:spPr>
        </p:pic>
      </p:grpSp>
      <p:sp>
        <p:nvSpPr>
          <p:cNvPr id="2" name="Title 1">
            <a:extLst>
              <a:ext uri="{FF2B5EF4-FFF2-40B4-BE49-F238E27FC236}">
                <a16:creationId xmlns:a16="http://schemas.microsoft.com/office/drawing/2014/main" id="{9FC3C9CE-D734-06A8-702F-F5EC6495446E}"/>
              </a:ext>
            </a:extLst>
          </p:cNvPr>
          <p:cNvSpPr>
            <a:spLocks noGrp="1"/>
          </p:cNvSpPr>
          <p:nvPr>
            <p:ph type="title" idx="4294967295"/>
          </p:nvPr>
        </p:nvSpPr>
        <p:spPr>
          <a:xfrm>
            <a:off x="2880000" y="720000"/>
            <a:ext cx="8912225" cy="918815"/>
          </a:xfrm>
        </p:spPr>
        <p:txBody>
          <a:bodyPr>
            <a:normAutofit/>
          </a:bodyPr>
          <a:lstStyle/>
          <a:p>
            <a:r>
              <a:rPr lang="en-US" sz="3200" dirty="0"/>
              <a:t>CI/CD Pipelines  - The Plumbing System</a:t>
            </a:r>
            <a:endParaRPr lang="en-GB" sz="3200" dirty="0"/>
          </a:p>
        </p:txBody>
      </p:sp>
      <p:pic>
        <p:nvPicPr>
          <p:cNvPr id="33" name="Picture 32" descr="A white pillar with a letter c&#10;&#10;AI-generated content may be incorrect.">
            <a:extLst>
              <a:ext uri="{FF2B5EF4-FFF2-40B4-BE49-F238E27FC236}">
                <a16:creationId xmlns:a16="http://schemas.microsoft.com/office/drawing/2014/main" id="{65B72563-C58C-9C9B-C2DA-FDAE63DBB7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0000" y="720000"/>
            <a:ext cx="1244444" cy="4317460"/>
          </a:xfrm>
          <a:prstGeom prst="rect">
            <a:avLst/>
          </a:prstGeom>
        </p:spPr>
      </p:pic>
      <p:grpSp>
        <p:nvGrpSpPr>
          <p:cNvPr id="43" name="Group 42">
            <a:extLst>
              <a:ext uri="{FF2B5EF4-FFF2-40B4-BE49-F238E27FC236}">
                <a16:creationId xmlns:a16="http://schemas.microsoft.com/office/drawing/2014/main" id="{6EC99582-AE24-706C-60A0-7241F5E991AA}"/>
              </a:ext>
            </a:extLst>
          </p:cNvPr>
          <p:cNvGrpSpPr/>
          <p:nvPr/>
        </p:nvGrpSpPr>
        <p:grpSpPr>
          <a:xfrm>
            <a:off x="-352023" y="986185"/>
            <a:ext cx="2851517" cy="6868014"/>
            <a:chOff x="0" y="-786"/>
            <a:chExt cx="2851517" cy="6868014"/>
          </a:xfrm>
        </p:grpSpPr>
        <p:grpSp>
          <p:nvGrpSpPr>
            <p:cNvPr id="44" name="Group 43">
              <a:extLst>
                <a:ext uri="{FF2B5EF4-FFF2-40B4-BE49-F238E27FC236}">
                  <a16:creationId xmlns:a16="http://schemas.microsoft.com/office/drawing/2014/main" id="{F6AB0EF1-EFA3-FED1-AF7D-00BD520A4DC0}"/>
                </a:ext>
              </a:extLst>
            </p:cNvPr>
            <p:cNvGrpSpPr/>
            <p:nvPr/>
          </p:nvGrpSpPr>
          <p:grpSpPr>
            <a:xfrm>
              <a:off x="1" y="228600"/>
              <a:ext cx="2851516" cy="6638628"/>
              <a:chOff x="2487613" y="285750"/>
              <a:chExt cx="2428875" cy="5654676"/>
            </a:xfrm>
          </p:grpSpPr>
          <p:sp>
            <p:nvSpPr>
              <p:cNvPr id="59" name="Freeform 11">
                <a:extLst>
                  <a:ext uri="{FF2B5EF4-FFF2-40B4-BE49-F238E27FC236}">
                    <a16:creationId xmlns:a16="http://schemas.microsoft.com/office/drawing/2014/main" id="{E2B39FCE-B671-0C43-2E44-CA7E3119A11F}"/>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60" name="Freeform 12">
                <a:extLst>
                  <a:ext uri="{FF2B5EF4-FFF2-40B4-BE49-F238E27FC236}">
                    <a16:creationId xmlns:a16="http://schemas.microsoft.com/office/drawing/2014/main" id="{624E5F90-74D6-D2E2-776C-E49C917DB294}"/>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61" name="Freeform 13">
                <a:extLst>
                  <a:ext uri="{FF2B5EF4-FFF2-40B4-BE49-F238E27FC236}">
                    <a16:creationId xmlns:a16="http://schemas.microsoft.com/office/drawing/2014/main" id="{03714F46-B9EF-F3B1-E6DE-62831EBC44B5}"/>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62" name="Freeform 14">
                <a:extLst>
                  <a:ext uri="{FF2B5EF4-FFF2-40B4-BE49-F238E27FC236}">
                    <a16:creationId xmlns:a16="http://schemas.microsoft.com/office/drawing/2014/main" id="{9B37ED42-EF23-735E-DBD7-520970984348}"/>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63" name="Freeform 15">
                <a:extLst>
                  <a:ext uri="{FF2B5EF4-FFF2-40B4-BE49-F238E27FC236}">
                    <a16:creationId xmlns:a16="http://schemas.microsoft.com/office/drawing/2014/main" id="{5BAFB4B8-C243-1F47-C785-8E7081E1710A}"/>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64" name="Freeform 16">
                <a:extLst>
                  <a:ext uri="{FF2B5EF4-FFF2-40B4-BE49-F238E27FC236}">
                    <a16:creationId xmlns:a16="http://schemas.microsoft.com/office/drawing/2014/main" id="{1B285009-CB7B-F382-9400-30AE57D29FD5}"/>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65" name="Freeform 17">
                <a:extLst>
                  <a:ext uri="{FF2B5EF4-FFF2-40B4-BE49-F238E27FC236}">
                    <a16:creationId xmlns:a16="http://schemas.microsoft.com/office/drawing/2014/main" id="{3BAB0A89-BF50-2E16-D044-0DCC9091A12A}"/>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66" name="Freeform 18">
                <a:extLst>
                  <a:ext uri="{FF2B5EF4-FFF2-40B4-BE49-F238E27FC236}">
                    <a16:creationId xmlns:a16="http://schemas.microsoft.com/office/drawing/2014/main" id="{AAC471F3-E77A-DE3D-108E-5A5680952073}"/>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67" name="Freeform 19">
                <a:extLst>
                  <a:ext uri="{FF2B5EF4-FFF2-40B4-BE49-F238E27FC236}">
                    <a16:creationId xmlns:a16="http://schemas.microsoft.com/office/drawing/2014/main" id="{3866A265-386E-D1D3-962D-E90BD6AE79FB}"/>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68" name="Freeform 20">
                <a:extLst>
                  <a:ext uri="{FF2B5EF4-FFF2-40B4-BE49-F238E27FC236}">
                    <a16:creationId xmlns:a16="http://schemas.microsoft.com/office/drawing/2014/main" id="{708688F4-DC35-87E1-C087-CBAE06DCA3C0}"/>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69" name="Freeform 21">
                <a:extLst>
                  <a:ext uri="{FF2B5EF4-FFF2-40B4-BE49-F238E27FC236}">
                    <a16:creationId xmlns:a16="http://schemas.microsoft.com/office/drawing/2014/main" id="{5450910B-07EE-6D5D-1CF3-4B94C237344A}"/>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70" name="Freeform 22">
                <a:extLst>
                  <a:ext uri="{FF2B5EF4-FFF2-40B4-BE49-F238E27FC236}">
                    <a16:creationId xmlns:a16="http://schemas.microsoft.com/office/drawing/2014/main" id="{38A861F8-D2FC-2104-DFE9-D4FB873D0925}"/>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45" name="Group 44">
              <a:extLst>
                <a:ext uri="{FF2B5EF4-FFF2-40B4-BE49-F238E27FC236}">
                  <a16:creationId xmlns:a16="http://schemas.microsoft.com/office/drawing/2014/main" id="{06CF481A-B0A4-16E9-3439-8C9D2502DA92}"/>
                </a:ext>
              </a:extLst>
            </p:cNvPr>
            <p:cNvGrpSpPr/>
            <p:nvPr/>
          </p:nvGrpSpPr>
          <p:grpSpPr>
            <a:xfrm>
              <a:off x="27221" y="-786"/>
              <a:ext cx="2356674" cy="6854039"/>
              <a:chOff x="6627813" y="194833"/>
              <a:chExt cx="1952625" cy="5678918"/>
            </a:xfrm>
          </p:grpSpPr>
          <p:sp>
            <p:nvSpPr>
              <p:cNvPr id="47" name="Freeform 27">
                <a:extLst>
                  <a:ext uri="{FF2B5EF4-FFF2-40B4-BE49-F238E27FC236}">
                    <a16:creationId xmlns:a16="http://schemas.microsoft.com/office/drawing/2014/main" id="{5295047F-2F35-22AC-7B17-3B7A7986219D}"/>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48" name="Freeform 28">
                <a:extLst>
                  <a:ext uri="{FF2B5EF4-FFF2-40B4-BE49-F238E27FC236}">
                    <a16:creationId xmlns:a16="http://schemas.microsoft.com/office/drawing/2014/main" id="{A70D364B-4839-6945-F318-330FEE290CF5}"/>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49" name="Freeform 29">
                <a:extLst>
                  <a:ext uri="{FF2B5EF4-FFF2-40B4-BE49-F238E27FC236}">
                    <a16:creationId xmlns:a16="http://schemas.microsoft.com/office/drawing/2014/main" id="{91DD7764-CAA2-EE76-7948-AA3D8DA86084}"/>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50" name="Freeform 30">
                <a:extLst>
                  <a:ext uri="{FF2B5EF4-FFF2-40B4-BE49-F238E27FC236}">
                    <a16:creationId xmlns:a16="http://schemas.microsoft.com/office/drawing/2014/main" id="{FD96C3D3-5665-D15A-62DB-99BB8EB6B5C4}"/>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51" name="Freeform 31">
                <a:extLst>
                  <a:ext uri="{FF2B5EF4-FFF2-40B4-BE49-F238E27FC236}">
                    <a16:creationId xmlns:a16="http://schemas.microsoft.com/office/drawing/2014/main" id="{1A86A57F-BE20-65E1-6C65-A32C61574771}"/>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52" name="Freeform 32">
                <a:extLst>
                  <a:ext uri="{FF2B5EF4-FFF2-40B4-BE49-F238E27FC236}">
                    <a16:creationId xmlns:a16="http://schemas.microsoft.com/office/drawing/2014/main" id="{F888D091-77BF-C788-27F8-434D28AB3353}"/>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53" name="Freeform 33">
                <a:extLst>
                  <a:ext uri="{FF2B5EF4-FFF2-40B4-BE49-F238E27FC236}">
                    <a16:creationId xmlns:a16="http://schemas.microsoft.com/office/drawing/2014/main" id="{C056C7AA-1BD1-A298-A8A5-217070FEF2A0}"/>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54" name="Freeform 34">
                <a:extLst>
                  <a:ext uri="{FF2B5EF4-FFF2-40B4-BE49-F238E27FC236}">
                    <a16:creationId xmlns:a16="http://schemas.microsoft.com/office/drawing/2014/main" id="{5CEE2748-ECBA-9438-9847-4230DC42DE9F}"/>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55" name="Freeform 35">
                <a:extLst>
                  <a:ext uri="{FF2B5EF4-FFF2-40B4-BE49-F238E27FC236}">
                    <a16:creationId xmlns:a16="http://schemas.microsoft.com/office/drawing/2014/main" id="{A01EBE71-9F6A-E0B9-5C56-B63450148AFE}"/>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56" name="Freeform 36">
                <a:extLst>
                  <a:ext uri="{FF2B5EF4-FFF2-40B4-BE49-F238E27FC236}">
                    <a16:creationId xmlns:a16="http://schemas.microsoft.com/office/drawing/2014/main" id="{00C4AC86-D459-D15F-00D3-4E1919FB256A}"/>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57" name="Freeform 37">
                <a:extLst>
                  <a:ext uri="{FF2B5EF4-FFF2-40B4-BE49-F238E27FC236}">
                    <a16:creationId xmlns:a16="http://schemas.microsoft.com/office/drawing/2014/main" id="{ECAFD933-8027-7ABD-66F8-D9AC735F4378}"/>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58" name="Freeform 38">
                <a:extLst>
                  <a:ext uri="{FF2B5EF4-FFF2-40B4-BE49-F238E27FC236}">
                    <a16:creationId xmlns:a16="http://schemas.microsoft.com/office/drawing/2014/main" id="{2F62734E-52B1-FD36-838B-F04AD0ADE7AC}"/>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46" name="Rectangle 45">
              <a:extLst>
                <a:ext uri="{FF2B5EF4-FFF2-40B4-BE49-F238E27FC236}">
                  <a16:creationId xmlns:a16="http://schemas.microsoft.com/office/drawing/2014/main" id="{588DEDEE-8F1D-8440-D1B1-C17B39839433}"/>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grpSp>
        <p:nvGrpSpPr>
          <p:cNvPr id="71" name="Group 70">
            <a:extLst>
              <a:ext uri="{FF2B5EF4-FFF2-40B4-BE49-F238E27FC236}">
                <a16:creationId xmlns:a16="http://schemas.microsoft.com/office/drawing/2014/main" id="{7213EF3F-065F-43BA-5754-678B9D14B117}"/>
              </a:ext>
            </a:extLst>
          </p:cNvPr>
          <p:cNvGrpSpPr/>
          <p:nvPr/>
        </p:nvGrpSpPr>
        <p:grpSpPr>
          <a:xfrm>
            <a:off x="2520000" y="9130289"/>
            <a:ext cx="1360031" cy="3648522"/>
            <a:chOff x="1962655" y="2674706"/>
            <a:chExt cx="1543581" cy="3778249"/>
          </a:xfrm>
        </p:grpSpPr>
        <p:sp>
          <p:nvSpPr>
            <p:cNvPr id="72" name="Freeform: Shape 71">
              <a:extLst>
                <a:ext uri="{FF2B5EF4-FFF2-40B4-BE49-F238E27FC236}">
                  <a16:creationId xmlns:a16="http://schemas.microsoft.com/office/drawing/2014/main" id="{B8BC19AD-E8E7-1C8D-6487-E664B62F3590}"/>
                </a:ext>
              </a:extLst>
            </p:cNvPr>
            <p:cNvSpPr/>
            <p:nvPr/>
          </p:nvSpPr>
          <p:spPr>
            <a:xfrm>
              <a:off x="1962655" y="2674706"/>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Version Control</a:t>
              </a:r>
              <a:endParaRPr lang="en-GB" sz="1600" kern="1200" dirty="0"/>
            </a:p>
          </p:txBody>
        </p:sp>
        <p:sp>
          <p:nvSpPr>
            <p:cNvPr id="73" name="Oval 72" descr="Architecture with solid fill">
              <a:extLst>
                <a:ext uri="{FF2B5EF4-FFF2-40B4-BE49-F238E27FC236}">
                  <a16:creationId xmlns:a16="http://schemas.microsoft.com/office/drawing/2014/main" id="{BE78DB82-4A8E-7932-E4A4-FDB178A4EA44}"/>
                </a:ext>
              </a:extLst>
            </p:cNvPr>
            <p:cNvSpPr/>
            <p:nvPr/>
          </p:nvSpPr>
          <p:spPr>
            <a:xfrm>
              <a:off x="2071075" y="3015543"/>
              <a:ext cx="1324450" cy="1266509"/>
            </a:xfrm>
            <a:prstGeom prst="ellipse">
              <a:avLst/>
            </a:prstGeom>
            <a:blipFill>
              <a:blip r:embed="rId7">
                <a:extLst>
                  <a:ext uri="{96DAC541-7B7A-43D3-8B79-37D633B846F1}">
                    <asvg:svgBlip xmlns:asvg="http://schemas.microsoft.com/office/drawing/2016/SVG/main" r:embed="rId8"/>
                  </a:ext>
                </a:extLst>
              </a:blip>
              <a:srcRect/>
              <a:stretch>
                <a:fillRect l="6581" t="9941" r="6581"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74" name="Group 73">
            <a:extLst>
              <a:ext uri="{FF2B5EF4-FFF2-40B4-BE49-F238E27FC236}">
                <a16:creationId xmlns:a16="http://schemas.microsoft.com/office/drawing/2014/main" id="{F7E04692-E163-C5A1-3A0D-637F6F08B3F4}"/>
              </a:ext>
            </a:extLst>
          </p:cNvPr>
          <p:cNvGrpSpPr/>
          <p:nvPr/>
        </p:nvGrpSpPr>
        <p:grpSpPr>
          <a:xfrm>
            <a:off x="2520000" y="9171249"/>
            <a:ext cx="1360031" cy="3648522"/>
            <a:chOff x="2635145" y="2575044"/>
            <a:chExt cx="1543581" cy="3778249"/>
          </a:xfrm>
        </p:grpSpPr>
        <p:sp>
          <p:nvSpPr>
            <p:cNvPr id="75" name="Freeform: Shape 74">
              <a:extLst>
                <a:ext uri="{FF2B5EF4-FFF2-40B4-BE49-F238E27FC236}">
                  <a16:creationId xmlns:a16="http://schemas.microsoft.com/office/drawing/2014/main" id="{C79B3B03-E54C-19F6-E85F-306D936BCAD5}"/>
                </a:ext>
              </a:extLst>
            </p:cNvPr>
            <p:cNvSpPr/>
            <p:nvPr/>
          </p:nvSpPr>
          <p:spPr>
            <a:xfrm>
              <a:off x="2635145"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Everything as Code</a:t>
              </a:r>
              <a:endParaRPr lang="en-GB" sz="1600" kern="1200" dirty="0"/>
            </a:p>
          </p:txBody>
        </p:sp>
        <p:sp>
          <p:nvSpPr>
            <p:cNvPr id="76" name="Oval 75" descr="Gears with solid fill">
              <a:extLst>
                <a:ext uri="{FF2B5EF4-FFF2-40B4-BE49-F238E27FC236}">
                  <a16:creationId xmlns:a16="http://schemas.microsoft.com/office/drawing/2014/main" id="{C830DA3A-5BDB-423C-8630-79459729C18A}"/>
                </a:ext>
              </a:extLst>
            </p:cNvPr>
            <p:cNvSpPr/>
            <p:nvPr/>
          </p:nvSpPr>
          <p:spPr>
            <a:xfrm>
              <a:off x="2655864" y="3015544"/>
              <a:ext cx="1450967" cy="1258156"/>
            </a:xfrm>
            <a:prstGeom prst="ellipse">
              <a:avLst/>
            </a:prstGeom>
            <a:blipFill>
              <a:blip r:embed="rId9">
                <a:extLst>
                  <a:ext uri="{96DAC541-7B7A-43D3-8B79-37D633B846F1}">
                    <asvg:svgBlip xmlns:asvg="http://schemas.microsoft.com/office/drawing/2016/SVG/main" r:embed="rId10"/>
                  </a:ext>
                </a:extLst>
              </a:blip>
              <a:srcRect/>
              <a:stretch>
                <a:fillRect l="4100" t="9941" r="4100"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0" name="Group 79">
            <a:extLst>
              <a:ext uri="{FF2B5EF4-FFF2-40B4-BE49-F238E27FC236}">
                <a16:creationId xmlns:a16="http://schemas.microsoft.com/office/drawing/2014/main" id="{C4AC146F-54B5-1509-F0D7-FAAB7654B3FC}"/>
              </a:ext>
            </a:extLst>
          </p:cNvPr>
          <p:cNvGrpSpPr/>
          <p:nvPr/>
        </p:nvGrpSpPr>
        <p:grpSpPr>
          <a:xfrm>
            <a:off x="2520000" y="9210079"/>
            <a:ext cx="1360031" cy="3648523"/>
            <a:chOff x="4057758" y="2575044"/>
            <a:chExt cx="1543581" cy="3778249"/>
          </a:xfrm>
        </p:grpSpPr>
        <p:sp>
          <p:nvSpPr>
            <p:cNvPr id="81" name="Freeform: Shape 80">
              <a:extLst>
                <a:ext uri="{FF2B5EF4-FFF2-40B4-BE49-F238E27FC236}">
                  <a16:creationId xmlns:a16="http://schemas.microsoft.com/office/drawing/2014/main" id="{9B614799-FC81-971C-A107-E505C496D042}"/>
                </a:ext>
              </a:extLst>
            </p:cNvPr>
            <p:cNvSpPr/>
            <p:nvPr/>
          </p:nvSpPr>
          <p:spPr>
            <a:xfrm>
              <a:off x="4057758"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Testing</a:t>
              </a:r>
              <a:endParaRPr lang="en-GB" sz="1600" kern="1200" dirty="0"/>
            </a:p>
          </p:txBody>
        </p:sp>
        <p:sp>
          <p:nvSpPr>
            <p:cNvPr id="82" name="Oval 81" descr="Clipboard Mixed with solid fill">
              <a:extLst>
                <a:ext uri="{FF2B5EF4-FFF2-40B4-BE49-F238E27FC236}">
                  <a16:creationId xmlns:a16="http://schemas.microsoft.com/office/drawing/2014/main" id="{26DA7D41-8925-95B6-9384-97B350CB9466}"/>
                </a:ext>
              </a:extLst>
            </p:cNvPr>
            <p:cNvSpPr/>
            <p:nvPr/>
          </p:nvSpPr>
          <p:spPr>
            <a:xfrm>
              <a:off x="4211083" y="3036819"/>
              <a:ext cx="1252792" cy="1258156"/>
            </a:xfrm>
            <a:prstGeom prst="ellipse">
              <a:avLst/>
            </a:prstGeom>
            <a:blipFill>
              <a:blip r:embed="rId11">
                <a:extLst>
                  <a:ext uri="{96DAC541-7B7A-43D3-8B79-37D633B846F1}">
                    <asvg:svgBlip xmlns:asvg="http://schemas.microsoft.com/office/drawing/2016/SVG/main" r:embed="rId12"/>
                  </a:ext>
                </a:extLst>
              </a:blip>
              <a:srcRect/>
              <a:stretch>
                <a:fillRect l="11543" t="11372" r="11543" b="11372"/>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3" name="Group 82">
            <a:extLst>
              <a:ext uri="{FF2B5EF4-FFF2-40B4-BE49-F238E27FC236}">
                <a16:creationId xmlns:a16="http://schemas.microsoft.com/office/drawing/2014/main" id="{F2B05F26-9B13-067E-EB41-CF6078C13C1B}"/>
              </a:ext>
            </a:extLst>
          </p:cNvPr>
          <p:cNvGrpSpPr/>
          <p:nvPr/>
        </p:nvGrpSpPr>
        <p:grpSpPr>
          <a:xfrm>
            <a:off x="2520000" y="9066477"/>
            <a:ext cx="1360031" cy="3648523"/>
            <a:chOff x="6498529" y="1701354"/>
            <a:chExt cx="1543581" cy="3778249"/>
          </a:xfrm>
        </p:grpSpPr>
        <p:sp>
          <p:nvSpPr>
            <p:cNvPr id="84" name="Freeform: Shape 83">
              <a:extLst>
                <a:ext uri="{FF2B5EF4-FFF2-40B4-BE49-F238E27FC236}">
                  <a16:creationId xmlns:a16="http://schemas.microsoft.com/office/drawing/2014/main" id="{1EC79A0B-CFBF-A7EC-4147-6D8E55D20D10}"/>
                </a:ext>
              </a:extLst>
            </p:cNvPr>
            <p:cNvSpPr/>
            <p:nvPr/>
          </p:nvSpPr>
          <p:spPr>
            <a:xfrm>
              <a:off x="6498529" y="170135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Open Source First</a:t>
              </a:r>
              <a:endParaRPr lang="en-GB" sz="1600" kern="1200" dirty="0"/>
            </a:p>
          </p:txBody>
        </p:sp>
        <p:sp>
          <p:nvSpPr>
            <p:cNvPr id="85" name="Oval 84" descr="Open hand with solid fill">
              <a:extLst>
                <a:ext uri="{FF2B5EF4-FFF2-40B4-BE49-F238E27FC236}">
                  <a16:creationId xmlns:a16="http://schemas.microsoft.com/office/drawing/2014/main" id="{46FFDF4B-A8AC-721C-888D-50871774F55F}"/>
                </a:ext>
              </a:extLst>
            </p:cNvPr>
            <p:cNvSpPr/>
            <p:nvPr/>
          </p:nvSpPr>
          <p:spPr>
            <a:xfrm>
              <a:off x="6603697" y="2140995"/>
              <a:ext cx="1329999" cy="1258155"/>
            </a:xfrm>
            <a:prstGeom prst="ellipse">
              <a:avLst/>
            </a:prstGeom>
            <a:blipFill>
              <a:blip r:embed="rId13">
                <a:extLst>
                  <a:ext uri="{96DAC541-7B7A-43D3-8B79-37D633B846F1}">
                    <asvg:svgBlip xmlns:asvg="http://schemas.microsoft.com/office/drawing/2016/SVG/main" r:embed="rId14"/>
                  </a:ext>
                </a:extLst>
              </a:blip>
              <a:srcRect/>
              <a:stretch>
                <a:fillRect l="15265" t="7080" r="15265" b="708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6" name="Group 85">
            <a:extLst>
              <a:ext uri="{FF2B5EF4-FFF2-40B4-BE49-F238E27FC236}">
                <a16:creationId xmlns:a16="http://schemas.microsoft.com/office/drawing/2014/main" id="{6EC603EB-8ABC-5FF1-7FFF-FC8931750E87}"/>
              </a:ext>
            </a:extLst>
          </p:cNvPr>
          <p:cNvGrpSpPr/>
          <p:nvPr/>
        </p:nvGrpSpPr>
        <p:grpSpPr>
          <a:xfrm>
            <a:off x="2520000" y="9066477"/>
            <a:ext cx="1360031" cy="3648523"/>
            <a:chOff x="8089560" y="1700495"/>
            <a:chExt cx="1543581" cy="3880755"/>
          </a:xfrm>
        </p:grpSpPr>
        <p:sp>
          <p:nvSpPr>
            <p:cNvPr id="87" name="Freeform: Shape 86">
              <a:extLst>
                <a:ext uri="{FF2B5EF4-FFF2-40B4-BE49-F238E27FC236}">
                  <a16:creationId xmlns:a16="http://schemas.microsoft.com/office/drawing/2014/main" id="{21F3BE81-0F12-0966-E92B-E9DFD285CC9D}"/>
                </a:ext>
              </a:extLst>
            </p:cNvPr>
            <p:cNvSpPr/>
            <p:nvPr/>
          </p:nvSpPr>
          <p:spPr>
            <a:xfrm>
              <a:off x="8089560" y="1700495"/>
              <a:ext cx="1543581" cy="3880755"/>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Reference Architecture</a:t>
              </a:r>
              <a:endParaRPr lang="en-GB" sz="1600" kern="1200" dirty="0"/>
            </a:p>
          </p:txBody>
        </p:sp>
        <p:sp>
          <p:nvSpPr>
            <p:cNvPr id="88" name="Oval 87" descr="Books on shelf with solid fill">
              <a:extLst>
                <a:ext uri="{FF2B5EF4-FFF2-40B4-BE49-F238E27FC236}">
                  <a16:creationId xmlns:a16="http://schemas.microsoft.com/office/drawing/2014/main" id="{28EC40BB-9904-6601-8056-EFF6548A7127}"/>
                </a:ext>
              </a:extLst>
            </p:cNvPr>
            <p:cNvSpPr/>
            <p:nvPr/>
          </p:nvSpPr>
          <p:spPr>
            <a:xfrm>
              <a:off x="8135868" y="2172679"/>
              <a:ext cx="1450967" cy="1258156"/>
            </a:xfrm>
            <a:prstGeom prst="ellipse">
              <a:avLst/>
            </a:prstGeom>
            <a:blipFill>
              <a:blip r:embed="rId15">
                <a:extLst>
                  <a:ext uri="{96DAC541-7B7A-43D3-8B79-37D633B846F1}">
                    <asvg:svgBlip xmlns:asvg="http://schemas.microsoft.com/office/drawing/2016/SVG/main" r:embed="rId16"/>
                  </a:ext>
                </a:extLst>
              </a:blip>
              <a:srcRect/>
              <a:stretch>
                <a:fillRect l="12784" t="12803" r="12784" b="1280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9" name="Group 88">
            <a:extLst>
              <a:ext uri="{FF2B5EF4-FFF2-40B4-BE49-F238E27FC236}">
                <a16:creationId xmlns:a16="http://schemas.microsoft.com/office/drawing/2014/main" id="{933CBC1E-5CDB-D1E9-B1A6-D7D005A3CD12}"/>
              </a:ext>
            </a:extLst>
          </p:cNvPr>
          <p:cNvGrpSpPr/>
          <p:nvPr/>
        </p:nvGrpSpPr>
        <p:grpSpPr>
          <a:xfrm>
            <a:off x="2520000" y="9002873"/>
            <a:ext cx="1343700" cy="3648523"/>
            <a:chOff x="9741055" y="1651927"/>
            <a:chExt cx="1525046" cy="3935709"/>
          </a:xfrm>
        </p:grpSpPr>
        <p:sp>
          <p:nvSpPr>
            <p:cNvPr id="90" name="Freeform: Shape 89">
              <a:extLst>
                <a:ext uri="{FF2B5EF4-FFF2-40B4-BE49-F238E27FC236}">
                  <a16:creationId xmlns:a16="http://schemas.microsoft.com/office/drawing/2014/main" id="{B412E299-A9B8-820C-32AF-358621D8037F}"/>
                </a:ext>
              </a:extLst>
            </p:cNvPr>
            <p:cNvSpPr/>
            <p:nvPr/>
          </p:nvSpPr>
          <p:spPr>
            <a:xfrm>
              <a:off x="9741055" y="1651927"/>
              <a:ext cx="1525046" cy="393570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lvl="0" algn="ctr" defTabSz="311150">
                <a:lnSpc>
                  <a:spcPct val="90000"/>
                </a:lnSpc>
                <a:spcBef>
                  <a:spcPct val="0"/>
                </a:spcBef>
                <a:spcAft>
                  <a:spcPct val="35000"/>
                </a:spcAft>
              </a:pPr>
              <a:r>
                <a:rPr lang="en-US" kern="1200" dirty="0"/>
                <a:t>Security by </a:t>
              </a:r>
              <a:r>
                <a:rPr lang="en-US" dirty="0"/>
                <a:t>Design</a:t>
              </a:r>
              <a:endParaRPr lang="en-GB" kern="1200" dirty="0"/>
            </a:p>
          </p:txBody>
        </p:sp>
        <p:sp>
          <p:nvSpPr>
            <p:cNvPr id="91" name="Oval 90" descr="Lock with solid fill">
              <a:extLst>
                <a:ext uri="{FF2B5EF4-FFF2-40B4-BE49-F238E27FC236}">
                  <a16:creationId xmlns:a16="http://schemas.microsoft.com/office/drawing/2014/main" id="{A3A0B268-614D-D035-7DDD-B7C6D2A3C2ED}"/>
                </a:ext>
              </a:extLst>
            </p:cNvPr>
            <p:cNvSpPr/>
            <p:nvPr/>
          </p:nvSpPr>
          <p:spPr>
            <a:xfrm>
              <a:off x="9861201" y="2088561"/>
              <a:ext cx="1284754" cy="1310590"/>
            </a:xfrm>
            <a:prstGeom prst="ellipse">
              <a:avLst/>
            </a:prstGeom>
            <a:blipFill>
              <a:blip r:embed="rId17">
                <a:extLst>
                  <a:ext uri="{96DAC541-7B7A-43D3-8B79-37D633B846F1}">
                    <asvg:svgBlip xmlns:asvg="http://schemas.microsoft.com/office/drawing/2016/SVG/main" r:embed="rId18"/>
                  </a:ext>
                </a:extLst>
              </a:blip>
              <a:srcRect/>
              <a:stretch>
                <a:fillRect l="-2737" t="11544" r="-2737" b="11544"/>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grpSp>
        <p:nvGrpSpPr>
          <p:cNvPr id="4" name="Group 3">
            <a:extLst>
              <a:ext uri="{FF2B5EF4-FFF2-40B4-BE49-F238E27FC236}">
                <a16:creationId xmlns:a16="http://schemas.microsoft.com/office/drawing/2014/main" id="{8E84DF8B-2F96-6119-38BF-558A4A71B7DF}"/>
              </a:ext>
            </a:extLst>
          </p:cNvPr>
          <p:cNvGrpSpPr/>
          <p:nvPr/>
        </p:nvGrpSpPr>
        <p:grpSpPr>
          <a:xfrm>
            <a:off x="2520000" y="1800000"/>
            <a:ext cx="1360031" cy="3648523"/>
            <a:chOff x="3381347" y="2620999"/>
            <a:chExt cx="1543581" cy="3778249"/>
          </a:xfrm>
        </p:grpSpPr>
        <p:sp>
          <p:nvSpPr>
            <p:cNvPr id="5" name="Freeform: Shape 4">
              <a:extLst>
                <a:ext uri="{FF2B5EF4-FFF2-40B4-BE49-F238E27FC236}">
                  <a16:creationId xmlns:a16="http://schemas.microsoft.com/office/drawing/2014/main" id="{32DE644C-AB65-FB63-E9D3-B427EC2AA5F2}"/>
                </a:ext>
              </a:extLst>
            </p:cNvPr>
            <p:cNvSpPr/>
            <p:nvPr/>
          </p:nvSpPr>
          <p:spPr>
            <a:xfrm>
              <a:off x="3381347" y="2620999"/>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CI/CD Pipelines</a:t>
              </a:r>
              <a:endParaRPr lang="en-GB" sz="1600" kern="1200" dirty="0"/>
            </a:p>
          </p:txBody>
        </p:sp>
        <p:sp>
          <p:nvSpPr>
            <p:cNvPr id="6" name="Oval 5" descr="Oil Rig with solid fill">
              <a:extLst>
                <a:ext uri="{FF2B5EF4-FFF2-40B4-BE49-F238E27FC236}">
                  <a16:creationId xmlns:a16="http://schemas.microsoft.com/office/drawing/2014/main" id="{12C741E6-7E76-69C7-9222-EDD77B263EAC}"/>
                </a:ext>
              </a:extLst>
            </p:cNvPr>
            <p:cNvSpPr/>
            <p:nvPr/>
          </p:nvSpPr>
          <p:spPr>
            <a:xfrm>
              <a:off x="3532419" y="3015544"/>
              <a:ext cx="1285718" cy="1258156"/>
            </a:xfrm>
            <a:prstGeom prst="ellipse">
              <a:avLst/>
            </a:prstGeom>
            <a:blipFill>
              <a:blip r:embed="rId19">
                <a:extLst>
                  <a:ext uri="{96DAC541-7B7A-43D3-8B79-37D633B846F1}">
                    <asvg:svgBlip xmlns:asvg="http://schemas.microsoft.com/office/drawing/2016/SVG/main" r:embed="rId20"/>
                  </a:ext>
                </a:extLst>
              </a:blip>
              <a:stretch>
                <a:fillRect l="15044" t="8517" r="15044" b="8517"/>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sp>
        <p:nvSpPr>
          <p:cNvPr id="10" name="Content Placeholder 2">
            <a:extLst>
              <a:ext uri="{FF2B5EF4-FFF2-40B4-BE49-F238E27FC236}">
                <a16:creationId xmlns:a16="http://schemas.microsoft.com/office/drawing/2014/main" id="{0965E16E-1259-CF45-4765-66D85CEAAD0A}"/>
              </a:ext>
            </a:extLst>
          </p:cNvPr>
          <p:cNvSpPr txBox="1">
            <a:spLocks/>
          </p:cNvSpPr>
          <p:nvPr/>
        </p:nvSpPr>
        <p:spPr>
          <a:xfrm>
            <a:off x="3999078" y="5606172"/>
            <a:ext cx="7737946" cy="112598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dirty="0"/>
          </a:p>
          <a:p>
            <a:r>
              <a:rPr lang="en-US" dirty="0"/>
              <a:t>"Automated pipes that deliver clean water and remove waste “</a:t>
            </a:r>
          </a:p>
          <a:p>
            <a:endParaRPr lang="en-US" dirty="0"/>
          </a:p>
          <a:p>
            <a:endParaRPr lang="en-US" dirty="0"/>
          </a:p>
          <a:p>
            <a:endParaRPr lang="en-GB" dirty="0"/>
          </a:p>
        </p:txBody>
      </p:sp>
    </p:spTree>
    <p:extLst>
      <p:ext uri="{BB962C8B-B14F-4D97-AF65-F5344CB8AC3E}">
        <p14:creationId xmlns:p14="http://schemas.microsoft.com/office/powerpoint/2010/main" val="2107357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1000"/>
                                        <p:tgtEl>
                                          <p:spTgt spid="9"/>
                                        </p:tgtEl>
                                      </p:cBhvr>
                                    </p:animEffect>
                                    <p:set>
                                      <p:cBhvr>
                                        <p:cTn id="12" dur="1" fill="hold">
                                          <p:stCondLst>
                                            <p:cond delay="999"/>
                                          </p:stCondLst>
                                        </p:cTn>
                                        <p:tgtEl>
                                          <p:spTgt spid="9"/>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66B46-8131-7D67-4942-EEFB86D3449E}"/>
            </a:ext>
          </a:extLst>
        </p:cNvPr>
        <p:cNvGrpSpPr/>
        <p:nvPr/>
      </p:nvGrpSpPr>
      <p:grpSpPr>
        <a:xfrm>
          <a:off x="0" y="0"/>
          <a:ext cx="0" cy="0"/>
          <a:chOff x="0" y="0"/>
          <a:chExt cx="0" cy="0"/>
        </a:xfrm>
      </p:grpSpPr>
      <p:grpSp>
        <p:nvGrpSpPr>
          <p:cNvPr id="34" name="Group 33">
            <a:extLst>
              <a:ext uri="{FF2B5EF4-FFF2-40B4-BE49-F238E27FC236}">
                <a16:creationId xmlns:a16="http://schemas.microsoft.com/office/drawing/2014/main" id="{B0EEC73E-3AE7-CEA0-C532-82307DB926C3}"/>
              </a:ext>
            </a:extLst>
          </p:cNvPr>
          <p:cNvGrpSpPr/>
          <p:nvPr/>
        </p:nvGrpSpPr>
        <p:grpSpPr>
          <a:xfrm>
            <a:off x="391943" y="4824255"/>
            <a:ext cx="1991952" cy="1802178"/>
            <a:chOff x="3683087" y="22444"/>
            <a:chExt cx="6740402" cy="6740402"/>
          </a:xfrm>
        </p:grpSpPr>
        <p:pic>
          <p:nvPicPr>
            <p:cNvPr id="35" name="Picture 34" descr="A white stone structure with a triangular top">
              <a:extLst>
                <a:ext uri="{FF2B5EF4-FFF2-40B4-BE49-F238E27FC236}">
                  <a16:creationId xmlns:a16="http://schemas.microsoft.com/office/drawing/2014/main" id="{80B7C3EA-63E9-C7A0-132B-B537799E42F4}"/>
                </a:ext>
              </a:extLst>
            </p:cNvPr>
            <p:cNvPicPr>
              <a:picLocks noChangeAspect="1"/>
            </p:cNvPicPr>
            <p:nvPr/>
          </p:nvPicPr>
          <p:blipFill>
            <a:blip r:embed="rId3" cstate="screen">
              <a:alphaModFix amt="50000"/>
              <a:extLst>
                <a:ext uri="{28A0092B-C50C-407E-A947-70E740481C1C}">
                  <a14:useLocalDpi xmlns:a14="http://schemas.microsoft.com/office/drawing/2010/main" val="0"/>
                </a:ext>
              </a:extLst>
            </a:blip>
            <a:stretch>
              <a:fillRect/>
            </a:stretch>
          </p:blipFill>
          <p:spPr>
            <a:xfrm>
              <a:off x="3683087" y="22444"/>
              <a:ext cx="6740402" cy="6740402"/>
            </a:xfrm>
            <a:prstGeom prst="rect">
              <a:avLst/>
            </a:prstGeom>
          </p:spPr>
        </p:pic>
        <p:pic>
          <p:nvPicPr>
            <p:cNvPr id="36" name="Picture 35" descr="A white pillar with a black background&#10;&#10;AI-generated content may be incorrect.">
              <a:extLst>
                <a:ext uri="{FF2B5EF4-FFF2-40B4-BE49-F238E27FC236}">
                  <a16:creationId xmlns:a16="http://schemas.microsoft.com/office/drawing/2014/main" id="{C3FB57E0-139F-82E9-A38B-9CCD60593DEB}"/>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4576352" y="2670766"/>
              <a:ext cx="705782" cy="2222511"/>
            </a:xfrm>
            <a:prstGeom prst="rect">
              <a:avLst/>
            </a:prstGeom>
          </p:spPr>
        </p:pic>
        <p:pic>
          <p:nvPicPr>
            <p:cNvPr id="37" name="Picture 36" descr="A white pillar with a black background&#10;&#10;AI-generated content may be incorrect.">
              <a:extLst>
                <a:ext uri="{FF2B5EF4-FFF2-40B4-BE49-F238E27FC236}">
                  <a16:creationId xmlns:a16="http://schemas.microsoft.com/office/drawing/2014/main" id="{2508E45F-77D4-B070-1379-2846C8BE069E}"/>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6700397" y="2670766"/>
              <a:ext cx="705782" cy="2222511"/>
            </a:xfrm>
            <a:prstGeom prst="rect">
              <a:avLst/>
            </a:prstGeom>
          </p:spPr>
        </p:pic>
        <p:pic>
          <p:nvPicPr>
            <p:cNvPr id="38" name="Picture 37" descr="A white pillar with a black background&#10;&#10;AI-generated content may be incorrect.">
              <a:extLst>
                <a:ext uri="{FF2B5EF4-FFF2-40B4-BE49-F238E27FC236}">
                  <a16:creationId xmlns:a16="http://schemas.microsoft.com/office/drawing/2014/main" id="{5C145261-B3F0-616A-596F-D523A2A7E42E}"/>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7408412" y="2670766"/>
              <a:ext cx="705782" cy="2222511"/>
            </a:xfrm>
            <a:prstGeom prst="rect">
              <a:avLst/>
            </a:prstGeom>
          </p:spPr>
        </p:pic>
        <p:pic>
          <p:nvPicPr>
            <p:cNvPr id="39" name="Picture 38" descr="A white pillar with a black background&#10;&#10;AI-generated content may be incorrect.">
              <a:extLst>
                <a:ext uri="{FF2B5EF4-FFF2-40B4-BE49-F238E27FC236}">
                  <a16:creationId xmlns:a16="http://schemas.microsoft.com/office/drawing/2014/main" id="{07939FF3-D6FB-84FA-C0D8-176A55B6C4FA}"/>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8116427" y="2670766"/>
              <a:ext cx="705782" cy="2222511"/>
            </a:xfrm>
            <a:prstGeom prst="rect">
              <a:avLst/>
            </a:prstGeom>
          </p:spPr>
        </p:pic>
        <p:pic>
          <p:nvPicPr>
            <p:cNvPr id="40" name="Picture 39" descr="A white pillar with a black background&#10;&#10;AI-generated content may be incorrect.">
              <a:extLst>
                <a:ext uri="{FF2B5EF4-FFF2-40B4-BE49-F238E27FC236}">
                  <a16:creationId xmlns:a16="http://schemas.microsoft.com/office/drawing/2014/main" id="{5693560F-6C73-FB09-3268-2AB6231CC3D7}"/>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5284367" y="2670766"/>
              <a:ext cx="705782" cy="2222511"/>
            </a:xfrm>
            <a:prstGeom prst="rect">
              <a:avLst/>
            </a:prstGeom>
          </p:spPr>
        </p:pic>
        <p:pic>
          <p:nvPicPr>
            <p:cNvPr id="41" name="Picture 40" descr="A white pillar with a black background&#10;&#10;AI-generated content may be incorrect.">
              <a:extLst>
                <a:ext uri="{FF2B5EF4-FFF2-40B4-BE49-F238E27FC236}">
                  <a16:creationId xmlns:a16="http://schemas.microsoft.com/office/drawing/2014/main" id="{265F8D0E-38BE-BF8B-5592-5FC4829712DD}"/>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5992382" y="2670766"/>
              <a:ext cx="705782" cy="2222511"/>
            </a:xfrm>
            <a:prstGeom prst="rect">
              <a:avLst/>
            </a:prstGeom>
          </p:spPr>
        </p:pic>
        <p:pic>
          <p:nvPicPr>
            <p:cNvPr id="42" name="Picture 41" descr="A white pillar with a black background&#10;&#10;AI-generated content may be incorrect.">
              <a:extLst>
                <a:ext uri="{FF2B5EF4-FFF2-40B4-BE49-F238E27FC236}">
                  <a16:creationId xmlns:a16="http://schemas.microsoft.com/office/drawing/2014/main" id="{2F93BE4F-3134-1072-42B4-A83791522225}"/>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8824439" y="2670766"/>
              <a:ext cx="705782" cy="2222511"/>
            </a:xfrm>
            <a:prstGeom prst="rect">
              <a:avLst/>
            </a:prstGeom>
          </p:spPr>
        </p:pic>
      </p:grpSp>
      <p:sp>
        <p:nvSpPr>
          <p:cNvPr id="2" name="Title 1">
            <a:extLst>
              <a:ext uri="{FF2B5EF4-FFF2-40B4-BE49-F238E27FC236}">
                <a16:creationId xmlns:a16="http://schemas.microsoft.com/office/drawing/2014/main" id="{EA579EFD-BB72-E486-5124-597ABE95B6B0}"/>
              </a:ext>
            </a:extLst>
          </p:cNvPr>
          <p:cNvSpPr>
            <a:spLocks noGrp="1"/>
          </p:cNvSpPr>
          <p:nvPr>
            <p:ph type="title" idx="4294967295"/>
          </p:nvPr>
        </p:nvSpPr>
        <p:spPr>
          <a:xfrm>
            <a:off x="2880000" y="720000"/>
            <a:ext cx="8912225" cy="773112"/>
          </a:xfrm>
        </p:spPr>
        <p:txBody>
          <a:bodyPr>
            <a:normAutofit/>
          </a:bodyPr>
          <a:lstStyle/>
          <a:p>
            <a:r>
              <a:rPr lang="en-US" sz="3200" dirty="0"/>
              <a:t>Testing - The Electrical Inspection</a:t>
            </a:r>
            <a:endParaRPr lang="en-GB" sz="3200" dirty="0"/>
          </a:p>
        </p:txBody>
      </p:sp>
      <p:pic>
        <p:nvPicPr>
          <p:cNvPr id="33" name="Picture 32" descr="A white pillar with a letter&#10;&#10;AI-generated content may be incorrect.">
            <a:extLst>
              <a:ext uri="{FF2B5EF4-FFF2-40B4-BE49-F238E27FC236}">
                <a16:creationId xmlns:a16="http://schemas.microsoft.com/office/drawing/2014/main" id="{EA604D2B-8349-AFB5-9737-02068ED27C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0000" y="720000"/>
            <a:ext cx="1244444" cy="4317460"/>
          </a:xfrm>
          <a:prstGeom prst="rect">
            <a:avLst/>
          </a:prstGeom>
        </p:spPr>
      </p:pic>
      <p:grpSp>
        <p:nvGrpSpPr>
          <p:cNvPr id="43" name="Group 42">
            <a:extLst>
              <a:ext uri="{FF2B5EF4-FFF2-40B4-BE49-F238E27FC236}">
                <a16:creationId xmlns:a16="http://schemas.microsoft.com/office/drawing/2014/main" id="{36566BC1-4AD4-2773-D404-41AA4E44A49F}"/>
              </a:ext>
            </a:extLst>
          </p:cNvPr>
          <p:cNvGrpSpPr/>
          <p:nvPr/>
        </p:nvGrpSpPr>
        <p:grpSpPr>
          <a:xfrm>
            <a:off x="-352023" y="986185"/>
            <a:ext cx="2851517" cy="6868014"/>
            <a:chOff x="0" y="-786"/>
            <a:chExt cx="2851517" cy="6868014"/>
          </a:xfrm>
        </p:grpSpPr>
        <p:grpSp>
          <p:nvGrpSpPr>
            <p:cNvPr id="44" name="Group 43">
              <a:extLst>
                <a:ext uri="{FF2B5EF4-FFF2-40B4-BE49-F238E27FC236}">
                  <a16:creationId xmlns:a16="http://schemas.microsoft.com/office/drawing/2014/main" id="{F0487A89-F517-E346-4169-5FA05B554149}"/>
                </a:ext>
              </a:extLst>
            </p:cNvPr>
            <p:cNvGrpSpPr/>
            <p:nvPr/>
          </p:nvGrpSpPr>
          <p:grpSpPr>
            <a:xfrm>
              <a:off x="1" y="228600"/>
              <a:ext cx="2851516" cy="6638628"/>
              <a:chOff x="2487613" y="285750"/>
              <a:chExt cx="2428875" cy="5654676"/>
            </a:xfrm>
          </p:grpSpPr>
          <p:sp>
            <p:nvSpPr>
              <p:cNvPr id="59" name="Freeform 11">
                <a:extLst>
                  <a:ext uri="{FF2B5EF4-FFF2-40B4-BE49-F238E27FC236}">
                    <a16:creationId xmlns:a16="http://schemas.microsoft.com/office/drawing/2014/main" id="{8D2CB486-88E7-DC04-2AFF-2376E2C189EC}"/>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60" name="Freeform 12">
                <a:extLst>
                  <a:ext uri="{FF2B5EF4-FFF2-40B4-BE49-F238E27FC236}">
                    <a16:creationId xmlns:a16="http://schemas.microsoft.com/office/drawing/2014/main" id="{B8C1BE2D-C73D-29C1-5BB1-F0469EC01AFE}"/>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61" name="Freeform 13">
                <a:extLst>
                  <a:ext uri="{FF2B5EF4-FFF2-40B4-BE49-F238E27FC236}">
                    <a16:creationId xmlns:a16="http://schemas.microsoft.com/office/drawing/2014/main" id="{78D996C6-4A43-6AE8-FEA2-27C3DAAD183C}"/>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62" name="Freeform 14">
                <a:extLst>
                  <a:ext uri="{FF2B5EF4-FFF2-40B4-BE49-F238E27FC236}">
                    <a16:creationId xmlns:a16="http://schemas.microsoft.com/office/drawing/2014/main" id="{732AC5FF-55E5-3785-7577-0AC9153D06EC}"/>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63" name="Freeform 15">
                <a:extLst>
                  <a:ext uri="{FF2B5EF4-FFF2-40B4-BE49-F238E27FC236}">
                    <a16:creationId xmlns:a16="http://schemas.microsoft.com/office/drawing/2014/main" id="{6188BBC7-3677-58E6-8452-202FA7B96EC7}"/>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64" name="Freeform 16">
                <a:extLst>
                  <a:ext uri="{FF2B5EF4-FFF2-40B4-BE49-F238E27FC236}">
                    <a16:creationId xmlns:a16="http://schemas.microsoft.com/office/drawing/2014/main" id="{162B6976-53D6-AB17-1DBC-65B2908C2C1F}"/>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65" name="Freeform 17">
                <a:extLst>
                  <a:ext uri="{FF2B5EF4-FFF2-40B4-BE49-F238E27FC236}">
                    <a16:creationId xmlns:a16="http://schemas.microsoft.com/office/drawing/2014/main" id="{4C48A64A-8B47-C377-B70F-ED69AADF7F75}"/>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66" name="Freeform 18">
                <a:extLst>
                  <a:ext uri="{FF2B5EF4-FFF2-40B4-BE49-F238E27FC236}">
                    <a16:creationId xmlns:a16="http://schemas.microsoft.com/office/drawing/2014/main" id="{FAB9E1B7-F973-6E87-D2ED-238FCF52FDE8}"/>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67" name="Freeform 19">
                <a:extLst>
                  <a:ext uri="{FF2B5EF4-FFF2-40B4-BE49-F238E27FC236}">
                    <a16:creationId xmlns:a16="http://schemas.microsoft.com/office/drawing/2014/main" id="{49285588-062C-295C-C34F-D5B5A15C2819}"/>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68" name="Freeform 20">
                <a:extLst>
                  <a:ext uri="{FF2B5EF4-FFF2-40B4-BE49-F238E27FC236}">
                    <a16:creationId xmlns:a16="http://schemas.microsoft.com/office/drawing/2014/main" id="{2A97380F-3169-8DA3-5540-E0DF6560F92E}"/>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69" name="Freeform 21">
                <a:extLst>
                  <a:ext uri="{FF2B5EF4-FFF2-40B4-BE49-F238E27FC236}">
                    <a16:creationId xmlns:a16="http://schemas.microsoft.com/office/drawing/2014/main" id="{4453F9B1-6556-FCD6-6556-8684949BB61E}"/>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70" name="Freeform 22">
                <a:extLst>
                  <a:ext uri="{FF2B5EF4-FFF2-40B4-BE49-F238E27FC236}">
                    <a16:creationId xmlns:a16="http://schemas.microsoft.com/office/drawing/2014/main" id="{FD9870B7-415B-8931-EEAD-4BEE3E625395}"/>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45" name="Group 44">
              <a:extLst>
                <a:ext uri="{FF2B5EF4-FFF2-40B4-BE49-F238E27FC236}">
                  <a16:creationId xmlns:a16="http://schemas.microsoft.com/office/drawing/2014/main" id="{E2C35968-5624-35CF-677E-D71F18421C44}"/>
                </a:ext>
              </a:extLst>
            </p:cNvPr>
            <p:cNvGrpSpPr/>
            <p:nvPr/>
          </p:nvGrpSpPr>
          <p:grpSpPr>
            <a:xfrm>
              <a:off x="27221" y="-786"/>
              <a:ext cx="2356674" cy="6854039"/>
              <a:chOff x="6627813" y="194833"/>
              <a:chExt cx="1952625" cy="5678918"/>
            </a:xfrm>
          </p:grpSpPr>
          <p:sp>
            <p:nvSpPr>
              <p:cNvPr id="47" name="Freeform 27">
                <a:extLst>
                  <a:ext uri="{FF2B5EF4-FFF2-40B4-BE49-F238E27FC236}">
                    <a16:creationId xmlns:a16="http://schemas.microsoft.com/office/drawing/2014/main" id="{E529B092-3A5B-080D-8529-B82EF1324767}"/>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48" name="Freeform 28">
                <a:extLst>
                  <a:ext uri="{FF2B5EF4-FFF2-40B4-BE49-F238E27FC236}">
                    <a16:creationId xmlns:a16="http://schemas.microsoft.com/office/drawing/2014/main" id="{67DC195E-DDC4-DDD7-AEA8-0AFC56BB06B4}"/>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49" name="Freeform 29">
                <a:extLst>
                  <a:ext uri="{FF2B5EF4-FFF2-40B4-BE49-F238E27FC236}">
                    <a16:creationId xmlns:a16="http://schemas.microsoft.com/office/drawing/2014/main" id="{8DA13849-0328-1DA9-6B26-718E7F2D4C57}"/>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50" name="Freeform 30">
                <a:extLst>
                  <a:ext uri="{FF2B5EF4-FFF2-40B4-BE49-F238E27FC236}">
                    <a16:creationId xmlns:a16="http://schemas.microsoft.com/office/drawing/2014/main" id="{DF7E0091-0FDB-357E-7AB8-8CDC5DE27C63}"/>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51" name="Freeform 31">
                <a:extLst>
                  <a:ext uri="{FF2B5EF4-FFF2-40B4-BE49-F238E27FC236}">
                    <a16:creationId xmlns:a16="http://schemas.microsoft.com/office/drawing/2014/main" id="{054568DC-0FB0-A891-C03E-A9AF3D3396A6}"/>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52" name="Freeform 32">
                <a:extLst>
                  <a:ext uri="{FF2B5EF4-FFF2-40B4-BE49-F238E27FC236}">
                    <a16:creationId xmlns:a16="http://schemas.microsoft.com/office/drawing/2014/main" id="{ACC2C0DD-9525-1558-9886-C82F2BFA46A4}"/>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53" name="Freeform 33">
                <a:extLst>
                  <a:ext uri="{FF2B5EF4-FFF2-40B4-BE49-F238E27FC236}">
                    <a16:creationId xmlns:a16="http://schemas.microsoft.com/office/drawing/2014/main" id="{DA226CC3-7CC3-A484-957E-371ABB9002FD}"/>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54" name="Freeform 34">
                <a:extLst>
                  <a:ext uri="{FF2B5EF4-FFF2-40B4-BE49-F238E27FC236}">
                    <a16:creationId xmlns:a16="http://schemas.microsoft.com/office/drawing/2014/main" id="{29422A0E-959B-DD7E-2747-7AABE7DFEE0B}"/>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55" name="Freeform 35">
                <a:extLst>
                  <a:ext uri="{FF2B5EF4-FFF2-40B4-BE49-F238E27FC236}">
                    <a16:creationId xmlns:a16="http://schemas.microsoft.com/office/drawing/2014/main" id="{2AF2710E-A2CF-0EDA-48D4-40BD99C48EAF}"/>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56" name="Freeform 36">
                <a:extLst>
                  <a:ext uri="{FF2B5EF4-FFF2-40B4-BE49-F238E27FC236}">
                    <a16:creationId xmlns:a16="http://schemas.microsoft.com/office/drawing/2014/main" id="{9DD3A235-B038-1312-00BD-9516FDE06DD7}"/>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57" name="Freeform 37">
                <a:extLst>
                  <a:ext uri="{FF2B5EF4-FFF2-40B4-BE49-F238E27FC236}">
                    <a16:creationId xmlns:a16="http://schemas.microsoft.com/office/drawing/2014/main" id="{C4855014-4C79-32F5-9FD5-BC0849F0B781}"/>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58" name="Freeform 38">
                <a:extLst>
                  <a:ext uri="{FF2B5EF4-FFF2-40B4-BE49-F238E27FC236}">
                    <a16:creationId xmlns:a16="http://schemas.microsoft.com/office/drawing/2014/main" id="{2552D80C-CEF4-FF5F-5EDE-E7987DF8BE56}"/>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46" name="Rectangle 45">
              <a:extLst>
                <a:ext uri="{FF2B5EF4-FFF2-40B4-BE49-F238E27FC236}">
                  <a16:creationId xmlns:a16="http://schemas.microsoft.com/office/drawing/2014/main" id="{4F3BAD15-24C2-41D8-E2B9-4E9B30610607}"/>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grpSp>
        <p:nvGrpSpPr>
          <p:cNvPr id="71" name="Group 70">
            <a:extLst>
              <a:ext uri="{FF2B5EF4-FFF2-40B4-BE49-F238E27FC236}">
                <a16:creationId xmlns:a16="http://schemas.microsoft.com/office/drawing/2014/main" id="{62EF53D1-B89D-E808-AA45-66EA9A93B5A0}"/>
              </a:ext>
            </a:extLst>
          </p:cNvPr>
          <p:cNvGrpSpPr/>
          <p:nvPr/>
        </p:nvGrpSpPr>
        <p:grpSpPr>
          <a:xfrm>
            <a:off x="2398882" y="9192107"/>
            <a:ext cx="1360031" cy="3648522"/>
            <a:chOff x="1962655" y="2674706"/>
            <a:chExt cx="1543581" cy="3778249"/>
          </a:xfrm>
        </p:grpSpPr>
        <p:sp>
          <p:nvSpPr>
            <p:cNvPr id="72" name="Freeform: Shape 71">
              <a:extLst>
                <a:ext uri="{FF2B5EF4-FFF2-40B4-BE49-F238E27FC236}">
                  <a16:creationId xmlns:a16="http://schemas.microsoft.com/office/drawing/2014/main" id="{DDEF7640-3B26-A2FB-40AD-E769F615429E}"/>
                </a:ext>
              </a:extLst>
            </p:cNvPr>
            <p:cNvSpPr/>
            <p:nvPr/>
          </p:nvSpPr>
          <p:spPr>
            <a:xfrm>
              <a:off x="1962655" y="2674706"/>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Version Control</a:t>
              </a:r>
              <a:endParaRPr lang="en-GB" sz="1600" kern="1200" dirty="0"/>
            </a:p>
          </p:txBody>
        </p:sp>
        <p:sp>
          <p:nvSpPr>
            <p:cNvPr id="73" name="Oval 72" descr="Architecture with solid fill">
              <a:extLst>
                <a:ext uri="{FF2B5EF4-FFF2-40B4-BE49-F238E27FC236}">
                  <a16:creationId xmlns:a16="http://schemas.microsoft.com/office/drawing/2014/main" id="{305858B1-3EC6-F0B9-4150-DAED35D1B94F}"/>
                </a:ext>
              </a:extLst>
            </p:cNvPr>
            <p:cNvSpPr/>
            <p:nvPr/>
          </p:nvSpPr>
          <p:spPr>
            <a:xfrm>
              <a:off x="2071075" y="3015543"/>
              <a:ext cx="1324450" cy="1266509"/>
            </a:xfrm>
            <a:prstGeom prst="ellipse">
              <a:avLst/>
            </a:prstGeom>
            <a:blipFill>
              <a:blip r:embed="rId6">
                <a:extLst>
                  <a:ext uri="{96DAC541-7B7A-43D3-8B79-37D633B846F1}">
                    <asvg:svgBlip xmlns:asvg="http://schemas.microsoft.com/office/drawing/2016/SVG/main" r:embed="rId7"/>
                  </a:ext>
                </a:extLst>
              </a:blip>
              <a:srcRect/>
              <a:stretch>
                <a:fillRect l="6581" t="9941" r="6581"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74" name="Group 73">
            <a:extLst>
              <a:ext uri="{FF2B5EF4-FFF2-40B4-BE49-F238E27FC236}">
                <a16:creationId xmlns:a16="http://schemas.microsoft.com/office/drawing/2014/main" id="{EDFECF6E-0F4C-C8CC-081D-D62D2260D1FC}"/>
              </a:ext>
            </a:extLst>
          </p:cNvPr>
          <p:cNvGrpSpPr/>
          <p:nvPr/>
        </p:nvGrpSpPr>
        <p:grpSpPr>
          <a:xfrm>
            <a:off x="2398882" y="9303971"/>
            <a:ext cx="1360031" cy="3648522"/>
            <a:chOff x="2635145" y="2575044"/>
            <a:chExt cx="1543581" cy="3778249"/>
          </a:xfrm>
        </p:grpSpPr>
        <p:sp>
          <p:nvSpPr>
            <p:cNvPr id="75" name="Freeform: Shape 74">
              <a:extLst>
                <a:ext uri="{FF2B5EF4-FFF2-40B4-BE49-F238E27FC236}">
                  <a16:creationId xmlns:a16="http://schemas.microsoft.com/office/drawing/2014/main" id="{AB2F72AF-BC72-2AEB-4EA0-AA6B7D6991E7}"/>
                </a:ext>
              </a:extLst>
            </p:cNvPr>
            <p:cNvSpPr/>
            <p:nvPr/>
          </p:nvSpPr>
          <p:spPr>
            <a:xfrm>
              <a:off x="2635145"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Everything as Code</a:t>
              </a:r>
              <a:endParaRPr lang="en-GB" sz="1600" kern="1200" dirty="0"/>
            </a:p>
          </p:txBody>
        </p:sp>
        <p:sp>
          <p:nvSpPr>
            <p:cNvPr id="76" name="Oval 75" descr="Gears with solid fill">
              <a:extLst>
                <a:ext uri="{FF2B5EF4-FFF2-40B4-BE49-F238E27FC236}">
                  <a16:creationId xmlns:a16="http://schemas.microsoft.com/office/drawing/2014/main" id="{9818FF84-4892-E1BD-3181-AFB0B9AD6F3D}"/>
                </a:ext>
              </a:extLst>
            </p:cNvPr>
            <p:cNvSpPr/>
            <p:nvPr/>
          </p:nvSpPr>
          <p:spPr>
            <a:xfrm>
              <a:off x="2655864" y="3015544"/>
              <a:ext cx="1450967" cy="1258156"/>
            </a:xfrm>
            <a:prstGeom prst="ellipse">
              <a:avLst/>
            </a:prstGeom>
            <a:blipFill>
              <a:blip r:embed="rId8">
                <a:extLst>
                  <a:ext uri="{96DAC541-7B7A-43D3-8B79-37D633B846F1}">
                    <asvg:svgBlip xmlns:asvg="http://schemas.microsoft.com/office/drawing/2016/SVG/main" r:embed="rId9"/>
                  </a:ext>
                </a:extLst>
              </a:blip>
              <a:srcRect/>
              <a:stretch>
                <a:fillRect l="4100" t="9941" r="4100"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77" name="Group 76">
            <a:extLst>
              <a:ext uri="{FF2B5EF4-FFF2-40B4-BE49-F238E27FC236}">
                <a16:creationId xmlns:a16="http://schemas.microsoft.com/office/drawing/2014/main" id="{E71FFACA-7DE3-A453-E035-6503725BE95B}"/>
              </a:ext>
            </a:extLst>
          </p:cNvPr>
          <p:cNvGrpSpPr/>
          <p:nvPr/>
        </p:nvGrpSpPr>
        <p:grpSpPr>
          <a:xfrm>
            <a:off x="2398882" y="9292998"/>
            <a:ext cx="1360031" cy="3648523"/>
            <a:chOff x="3381347" y="2620999"/>
            <a:chExt cx="1543581" cy="3778249"/>
          </a:xfrm>
        </p:grpSpPr>
        <p:sp>
          <p:nvSpPr>
            <p:cNvPr id="78" name="Freeform: Shape 77">
              <a:extLst>
                <a:ext uri="{FF2B5EF4-FFF2-40B4-BE49-F238E27FC236}">
                  <a16:creationId xmlns:a16="http://schemas.microsoft.com/office/drawing/2014/main" id="{83197785-A680-9AD3-21AD-CC38942FDCF0}"/>
                </a:ext>
              </a:extLst>
            </p:cNvPr>
            <p:cNvSpPr/>
            <p:nvPr/>
          </p:nvSpPr>
          <p:spPr>
            <a:xfrm>
              <a:off x="3381347" y="2620999"/>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CI/CD Pipelines</a:t>
              </a:r>
              <a:endParaRPr lang="en-GB" sz="1600" kern="1200" dirty="0"/>
            </a:p>
          </p:txBody>
        </p:sp>
        <p:sp>
          <p:nvSpPr>
            <p:cNvPr id="79" name="Oval 78" descr="Fire Hydrant with solid fill">
              <a:extLst>
                <a:ext uri="{FF2B5EF4-FFF2-40B4-BE49-F238E27FC236}">
                  <a16:creationId xmlns:a16="http://schemas.microsoft.com/office/drawing/2014/main" id="{056880E1-6BBF-243D-E62A-F105D8926DD6}"/>
                </a:ext>
              </a:extLst>
            </p:cNvPr>
            <p:cNvSpPr/>
            <p:nvPr/>
          </p:nvSpPr>
          <p:spPr>
            <a:xfrm>
              <a:off x="3532419" y="3015544"/>
              <a:ext cx="1285718" cy="1258156"/>
            </a:xfrm>
            <a:prstGeom prst="ellipse">
              <a:avLst/>
            </a:prstGeom>
            <a:blipFill>
              <a:blip r:embed="rId10">
                <a:extLst>
                  <a:ext uri="{96DAC541-7B7A-43D3-8B79-37D633B846F1}">
                    <asvg:svgBlip xmlns:asvg="http://schemas.microsoft.com/office/drawing/2016/SVG/main" r:embed="rId11"/>
                  </a:ext>
                </a:extLst>
              </a:blip>
              <a:srcRect/>
              <a:stretch>
                <a:fillRect l="-3343" t="14233" r="-3343" b="1423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0" name="Group 79">
            <a:extLst>
              <a:ext uri="{FF2B5EF4-FFF2-40B4-BE49-F238E27FC236}">
                <a16:creationId xmlns:a16="http://schemas.microsoft.com/office/drawing/2014/main" id="{4C05FEF6-FE09-1B32-6842-E1C1B9E7B464}"/>
              </a:ext>
            </a:extLst>
          </p:cNvPr>
          <p:cNvGrpSpPr/>
          <p:nvPr/>
        </p:nvGrpSpPr>
        <p:grpSpPr>
          <a:xfrm>
            <a:off x="2520000" y="1800000"/>
            <a:ext cx="1360031" cy="3648523"/>
            <a:chOff x="4057758" y="2575044"/>
            <a:chExt cx="1543581" cy="3778249"/>
          </a:xfrm>
        </p:grpSpPr>
        <p:sp>
          <p:nvSpPr>
            <p:cNvPr id="81" name="Freeform: Shape 80">
              <a:extLst>
                <a:ext uri="{FF2B5EF4-FFF2-40B4-BE49-F238E27FC236}">
                  <a16:creationId xmlns:a16="http://schemas.microsoft.com/office/drawing/2014/main" id="{F0DC0656-0E2A-55F9-2D69-B2B06C12E1BA}"/>
                </a:ext>
              </a:extLst>
            </p:cNvPr>
            <p:cNvSpPr/>
            <p:nvPr/>
          </p:nvSpPr>
          <p:spPr>
            <a:xfrm>
              <a:off x="4057758"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Testing</a:t>
              </a:r>
              <a:endParaRPr lang="en-GB" sz="1600" kern="1200" dirty="0"/>
            </a:p>
          </p:txBody>
        </p:sp>
        <p:sp>
          <p:nvSpPr>
            <p:cNvPr id="82" name="Oval 81" descr="Clipboard Mixed with solid fill">
              <a:extLst>
                <a:ext uri="{FF2B5EF4-FFF2-40B4-BE49-F238E27FC236}">
                  <a16:creationId xmlns:a16="http://schemas.microsoft.com/office/drawing/2014/main" id="{EE6ACAC2-413B-9060-4DBF-B02005F4C5DE}"/>
                </a:ext>
              </a:extLst>
            </p:cNvPr>
            <p:cNvSpPr/>
            <p:nvPr/>
          </p:nvSpPr>
          <p:spPr>
            <a:xfrm>
              <a:off x="4211083" y="3036819"/>
              <a:ext cx="1252792" cy="1258156"/>
            </a:xfrm>
            <a:prstGeom prst="ellipse">
              <a:avLst/>
            </a:prstGeom>
            <a:blipFill>
              <a:blip r:embed="rId12">
                <a:extLst>
                  <a:ext uri="{96DAC541-7B7A-43D3-8B79-37D633B846F1}">
                    <asvg:svgBlip xmlns:asvg="http://schemas.microsoft.com/office/drawing/2016/SVG/main" r:embed="rId13"/>
                  </a:ext>
                </a:extLst>
              </a:blip>
              <a:srcRect/>
              <a:stretch>
                <a:fillRect l="11543" t="11372" r="11543" b="11372"/>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3" name="Group 82">
            <a:extLst>
              <a:ext uri="{FF2B5EF4-FFF2-40B4-BE49-F238E27FC236}">
                <a16:creationId xmlns:a16="http://schemas.microsoft.com/office/drawing/2014/main" id="{508F862C-D12A-D2CC-37B5-6BEB4591A1EB}"/>
              </a:ext>
            </a:extLst>
          </p:cNvPr>
          <p:cNvGrpSpPr/>
          <p:nvPr/>
        </p:nvGrpSpPr>
        <p:grpSpPr>
          <a:xfrm>
            <a:off x="2398882" y="9128295"/>
            <a:ext cx="1360031" cy="3648523"/>
            <a:chOff x="6498529" y="1701354"/>
            <a:chExt cx="1543581" cy="3778249"/>
          </a:xfrm>
        </p:grpSpPr>
        <p:sp>
          <p:nvSpPr>
            <p:cNvPr id="84" name="Freeform: Shape 83">
              <a:extLst>
                <a:ext uri="{FF2B5EF4-FFF2-40B4-BE49-F238E27FC236}">
                  <a16:creationId xmlns:a16="http://schemas.microsoft.com/office/drawing/2014/main" id="{516908CE-62D1-2193-20C8-18790DE5DA3E}"/>
                </a:ext>
              </a:extLst>
            </p:cNvPr>
            <p:cNvSpPr/>
            <p:nvPr/>
          </p:nvSpPr>
          <p:spPr>
            <a:xfrm>
              <a:off x="6498529" y="170135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Open Source First</a:t>
              </a:r>
              <a:endParaRPr lang="en-GB" sz="1600" kern="1200" dirty="0"/>
            </a:p>
          </p:txBody>
        </p:sp>
        <p:sp>
          <p:nvSpPr>
            <p:cNvPr id="85" name="Oval 84" descr="Open hand with solid fill">
              <a:extLst>
                <a:ext uri="{FF2B5EF4-FFF2-40B4-BE49-F238E27FC236}">
                  <a16:creationId xmlns:a16="http://schemas.microsoft.com/office/drawing/2014/main" id="{220E0249-640B-7129-CA40-93342AEEE7C2}"/>
                </a:ext>
              </a:extLst>
            </p:cNvPr>
            <p:cNvSpPr/>
            <p:nvPr/>
          </p:nvSpPr>
          <p:spPr>
            <a:xfrm>
              <a:off x="6603697" y="2140995"/>
              <a:ext cx="1329999" cy="1258155"/>
            </a:xfrm>
            <a:prstGeom prst="ellipse">
              <a:avLst/>
            </a:prstGeom>
            <a:blipFill>
              <a:blip r:embed="rId14">
                <a:extLst>
                  <a:ext uri="{96DAC541-7B7A-43D3-8B79-37D633B846F1}">
                    <asvg:svgBlip xmlns:asvg="http://schemas.microsoft.com/office/drawing/2016/SVG/main" r:embed="rId15"/>
                  </a:ext>
                </a:extLst>
              </a:blip>
              <a:srcRect/>
              <a:stretch>
                <a:fillRect l="15265" t="7080" r="15265" b="708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6" name="Group 85">
            <a:extLst>
              <a:ext uri="{FF2B5EF4-FFF2-40B4-BE49-F238E27FC236}">
                <a16:creationId xmlns:a16="http://schemas.microsoft.com/office/drawing/2014/main" id="{D0A2ECC8-EFC6-4195-1E44-CFB4E34CCE76}"/>
              </a:ext>
            </a:extLst>
          </p:cNvPr>
          <p:cNvGrpSpPr/>
          <p:nvPr/>
        </p:nvGrpSpPr>
        <p:grpSpPr>
          <a:xfrm>
            <a:off x="2398882" y="9128295"/>
            <a:ext cx="1360031" cy="3648523"/>
            <a:chOff x="8089560" y="1700495"/>
            <a:chExt cx="1543581" cy="3880755"/>
          </a:xfrm>
        </p:grpSpPr>
        <p:sp>
          <p:nvSpPr>
            <p:cNvPr id="87" name="Freeform: Shape 86">
              <a:extLst>
                <a:ext uri="{FF2B5EF4-FFF2-40B4-BE49-F238E27FC236}">
                  <a16:creationId xmlns:a16="http://schemas.microsoft.com/office/drawing/2014/main" id="{12862A10-D6D1-BB59-D7A7-1183C50A8B12}"/>
                </a:ext>
              </a:extLst>
            </p:cNvPr>
            <p:cNvSpPr/>
            <p:nvPr/>
          </p:nvSpPr>
          <p:spPr>
            <a:xfrm>
              <a:off x="8089560" y="1700495"/>
              <a:ext cx="1543581" cy="3880755"/>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Reference Architecture</a:t>
              </a:r>
              <a:endParaRPr lang="en-GB" sz="1600" kern="1200" dirty="0"/>
            </a:p>
          </p:txBody>
        </p:sp>
        <p:sp>
          <p:nvSpPr>
            <p:cNvPr id="88" name="Oval 87" descr="Books on shelf with solid fill">
              <a:extLst>
                <a:ext uri="{FF2B5EF4-FFF2-40B4-BE49-F238E27FC236}">
                  <a16:creationId xmlns:a16="http://schemas.microsoft.com/office/drawing/2014/main" id="{49574A49-8A30-0A2B-A45B-13DD95F2F993}"/>
                </a:ext>
              </a:extLst>
            </p:cNvPr>
            <p:cNvSpPr/>
            <p:nvPr/>
          </p:nvSpPr>
          <p:spPr>
            <a:xfrm>
              <a:off x="8135868" y="2172679"/>
              <a:ext cx="1450967" cy="1258156"/>
            </a:xfrm>
            <a:prstGeom prst="ellipse">
              <a:avLst/>
            </a:prstGeom>
            <a:blipFill>
              <a:blip r:embed="rId16">
                <a:extLst>
                  <a:ext uri="{96DAC541-7B7A-43D3-8B79-37D633B846F1}">
                    <asvg:svgBlip xmlns:asvg="http://schemas.microsoft.com/office/drawing/2016/SVG/main" r:embed="rId17"/>
                  </a:ext>
                </a:extLst>
              </a:blip>
              <a:srcRect/>
              <a:stretch>
                <a:fillRect l="12784" t="12803" r="12784" b="1280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9" name="Group 88">
            <a:extLst>
              <a:ext uri="{FF2B5EF4-FFF2-40B4-BE49-F238E27FC236}">
                <a16:creationId xmlns:a16="http://schemas.microsoft.com/office/drawing/2014/main" id="{5ACB987D-3800-DBAC-EEFA-1E3B913BBEE1}"/>
              </a:ext>
            </a:extLst>
          </p:cNvPr>
          <p:cNvGrpSpPr/>
          <p:nvPr/>
        </p:nvGrpSpPr>
        <p:grpSpPr>
          <a:xfrm>
            <a:off x="2398882" y="9064691"/>
            <a:ext cx="1343700" cy="3648523"/>
            <a:chOff x="9741055" y="1651927"/>
            <a:chExt cx="1525046" cy="3935709"/>
          </a:xfrm>
        </p:grpSpPr>
        <p:sp>
          <p:nvSpPr>
            <p:cNvPr id="90" name="Freeform: Shape 89">
              <a:extLst>
                <a:ext uri="{FF2B5EF4-FFF2-40B4-BE49-F238E27FC236}">
                  <a16:creationId xmlns:a16="http://schemas.microsoft.com/office/drawing/2014/main" id="{39537BC0-E12A-4CA1-42ED-4230B248061D}"/>
                </a:ext>
              </a:extLst>
            </p:cNvPr>
            <p:cNvSpPr/>
            <p:nvPr/>
          </p:nvSpPr>
          <p:spPr>
            <a:xfrm>
              <a:off x="9741055" y="1651927"/>
              <a:ext cx="1525046" cy="393570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lvl="0" algn="ctr" defTabSz="311150">
                <a:lnSpc>
                  <a:spcPct val="90000"/>
                </a:lnSpc>
                <a:spcBef>
                  <a:spcPct val="0"/>
                </a:spcBef>
                <a:spcAft>
                  <a:spcPct val="35000"/>
                </a:spcAft>
              </a:pPr>
              <a:r>
                <a:rPr lang="en-US" kern="1200" dirty="0"/>
                <a:t>Security by </a:t>
              </a:r>
              <a:r>
                <a:rPr lang="en-US" dirty="0"/>
                <a:t>Design</a:t>
              </a:r>
              <a:endParaRPr lang="en-GB" kern="1200" dirty="0"/>
            </a:p>
          </p:txBody>
        </p:sp>
        <p:sp>
          <p:nvSpPr>
            <p:cNvPr id="91" name="Oval 90" descr="Lock with solid fill">
              <a:extLst>
                <a:ext uri="{FF2B5EF4-FFF2-40B4-BE49-F238E27FC236}">
                  <a16:creationId xmlns:a16="http://schemas.microsoft.com/office/drawing/2014/main" id="{AC15CA23-F2FF-E19E-A200-7886BE30E6F5}"/>
                </a:ext>
              </a:extLst>
            </p:cNvPr>
            <p:cNvSpPr/>
            <p:nvPr/>
          </p:nvSpPr>
          <p:spPr>
            <a:xfrm>
              <a:off x="9861201" y="2088561"/>
              <a:ext cx="1284754" cy="1310590"/>
            </a:xfrm>
            <a:prstGeom prst="ellipse">
              <a:avLst/>
            </a:prstGeom>
            <a:blipFill>
              <a:blip r:embed="rId18">
                <a:extLst>
                  <a:ext uri="{96DAC541-7B7A-43D3-8B79-37D633B846F1}">
                    <asvg:svgBlip xmlns:asvg="http://schemas.microsoft.com/office/drawing/2016/SVG/main" r:embed="rId19"/>
                  </a:ext>
                </a:extLst>
              </a:blip>
              <a:srcRect/>
              <a:stretch>
                <a:fillRect l="-2737" t="11544" r="-2737" b="11544"/>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grpSp>
        <p:nvGrpSpPr>
          <p:cNvPr id="4" name="Group 3">
            <a:extLst>
              <a:ext uri="{FF2B5EF4-FFF2-40B4-BE49-F238E27FC236}">
                <a16:creationId xmlns:a16="http://schemas.microsoft.com/office/drawing/2014/main" id="{DA7A2AA4-3FE5-E1BD-3A37-CE7676EEED8E}"/>
              </a:ext>
            </a:extLst>
          </p:cNvPr>
          <p:cNvGrpSpPr/>
          <p:nvPr/>
        </p:nvGrpSpPr>
        <p:grpSpPr>
          <a:xfrm>
            <a:off x="2359043" y="9236636"/>
            <a:ext cx="1360031" cy="3648523"/>
            <a:chOff x="3381347" y="2620999"/>
            <a:chExt cx="1543581" cy="3778249"/>
          </a:xfrm>
        </p:grpSpPr>
        <p:sp>
          <p:nvSpPr>
            <p:cNvPr id="5" name="Freeform: Shape 4">
              <a:extLst>
                <a:ext uri="{FF2B5EF4-FFF2-40B4-BE49-F238E27FC236}">
                  <a16:creationId xmlns:a16="http://schemas.microsoft.com/office/drawing/2014/main" id="{CE531DCE-ED73-667D-E2B1-2D991A66D5C1}"/>
                </a:ext>
              </a:extLst>
            </p:cNvPr>
            <p:cNvSpPr/>
            <p:nvPr/>
          </p:nvSpPr>
          <p:spPr>
            <a:xfrm>
              <a:off x="3381347" y="2620999"/>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CI/CD Pipelines</a:t>
              </a:r>
              <a:endParaRPr lang="en-GB" sz="1600" kern="1200" dirty="0"/>
            </a:p>
          </p:txBody>
        </p:sp>
        <p:sp>
          <p:nvSpPr>
            <p:cNvPr id="6" name="Oval 5" descr="Oil Rig with solid fill">
              <a:extLst>
                <a:ext uri="{FF2B5EF4-FFF2-40B4-BE49-F238E27FC236}">
                  <a16:creationId xmlns:a16="http://schemas.microsoft.com/office/drawing/2014/main" id="{98C53BC2-C7FA-5DC5-0A6F-C857BA00D0D3}"/>
                </a:ext>
              </a:extLst>
            </p:cNvPr>
            <p:cNvSpPr/>
            <p:nvPr/>
          </p:nvSpPr>
          <p:spPr>
            <a:xfrm>
              <a:off x="3532419" y="3015544"/>
              <a:ext cx="1285718" cy="1258156"/>
            </a:xfrm>
            <a:prstGeom prst="ellipse">
              <a:avLst/>
            </a:prstGeom>
            <a:blipFill>
              <a:blip r:embed="rId20">
                <a:extLst>
                  <a:ext uri="{96DAC541-7B7A-43D3-8B79-37D633B846F1}">
                    <asvg:svgBlip xmlns:asvg="http://schemas.microsoft.com/office/drawing/2016/SVG/main" r:embed="rId21"/>
                  </a:ext>
                </a:extLst>
              </a:blip>
              <a:stretch>
                <a:fillRect l="15044" t="8517" r="15044" b="8517"/>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pic>
        <p:nvPicPr>
          <p:cNvPr id="8" name="Picture 7">
            <a:extLst>
              <a:ext uri="{FF2B5EF4-FFF2-40B4-BE49-F238E27FC236}">
                <a16:creationId xmlns:a16="http://schemas.microsoft.com/office/drawing/2014/main" id="{544FA890-0703-4F5E-B714-C09B7FAE76C7}"/>
              </a:ext>
            </a:extLst>
          </p:cNvPr>
          <p:cNvPicPr>
            <a:picLocks noChangeAspect="1"/>
          </p:cNvPicPr>
          <p:nvPr/>
        </p:nvPicPr>
        <p:blipFill>
          <a:blip r:embed="rId22">
            <a:extLst>
              <a:ext uri="{28A0092B-C50C-407E-A947-70E740481C1C}">
                <a14:useLocalDpi xmlns:a14="http://schemas.microsoft.com/office/drawing/2010/main" val="0"/>
              </a:ext>
            </a:extLst>
          </a:blip>
          <a:srcRect/>
          <a:stretch/>
        </p:blipFill>
        <p:spPr>
          <a:xfrm>
            <a:off x="5681090" y="1716864"/>
            <a:ext cx="3855817" cy="3855817"/>
          </a:xfrm>
          <a:prstGeom prst="rect">
            <a:avLst/>
          </a:prstGeom>
          <a:effectLst>
            <a:softEdge rad="317500"/>
          </a:effectLst>
        </p:spPr>
      </p:pic>
      <p:sp>
        <p:nvSpPr>
          <p:cNvPr id="9" name="Content Placeholder 2">
            <a:extLst>
              <a:ext uri="{FF2B5EF4-FFF2-40B4-BE49-F238E27FC236}">
                <a16:creationId xmlns:a16="http://schemas.microsoft.com/office/drawing/2014/main" id="{95ADA038-8089-F30A-C9D9-0DCD9E273399}"/>
              </a:ext>
            </a:extLst>
          </p:cNvPr>
          <p:cNvSpPr txBox="1">
            <a:spLocks/>
          </p:cNvSpPr>
          <p:nvPr/>
        </p:nvSpPr>
        <p:spPr>
          <a:xfrm>
            <a:off x="4696100" y="5626708"/>
            <a:ext cx="6421504" cy="10278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dirty="0"/>
          </a:p>
          <a:p>
            <a:r>
              <a:rPr lang="en-US" dirty="0"/>
              <a:t>"Every wire tested before the power goes live “</a:t>
            </a:r>
          </a:p>
          <a:p>
            <a:endParaRPr lang="en-US" dirty="0"/>
          </a:p>
          <a:p>
            <a:endParaRPr lang="en-US" dirty="0"/>
          </a:p>
          <a:p>
            <a:endParaRPr lang="en-GB" dirty="0"/>
          </a:p>
        </p:txBody>
      </p:sp>
      <p:sp>
        <p:nvSpPr>
          <p:cNvPr id="3" name="Rectangle: Rounded Corners 2">
            <a:extLst>
              <a:ext uri="{FF2B5EF4-FFF2-40B4-BE49-F238E27FC236}">
                <a16:creationId xmlns:a16="http://schemas.microsoft.com/office/drawing/2014/main" id="{25B7FB41-8A2D-3ECB-73C6-802830513D51}"/>
              </a:ext>
            </a:extLst>
          </p:cNvPr>
          <p:cNvSpPr/>
          <p:nvPr/>
        </p:nvSpPr>
        <p:spPr>
          <a:xfrm>
            <a:off x="5087481" y="2118427"/>
            <a:ext cx="5497352" cy="3183054"/>
          </a:xfrm>
          <a:prstGeom prst="roundRect">
            <a:avLst/>
          </a:prstGeom>
          <a:ln w="12700"/>
          <a:scene3d>
            <a:camera prst="orthographicFront"/>
            <a:lightRig rig="threePt" dir="t"/>
          </a:scene3d>
          <a:sp3d>
            <a:bevelT w="114300" prst="hardEdge"/>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2800" dirty="0">
                <a:latin typeface="Imprint MT Shadow" panose="04020605060303030202" pitchFamily="82" charset="0"/>
              </a:rPr>
              <a:t>Automated Testing </a:t>
            </a:r>
          </a:p>
          <a:p>
            <a:pPr algn="ctr"/>
            <a:endParaRPr lang="en-GB" sz="2800" dirty="0">
              <a:latin typeface="Imprint MT Shadow" panose="04020605060303030202" pitchFamily="82" charset="0"/>
            </a:endParaRPr>
          </a:p>
          <a:p>
            <a:pPr algn="ctr"/>
            <a:r>
              <a:rPr lang="en-GB" sz="2800" dirty="0">
                <a:latin typeface="Imprint MT Shadow" panose="04020605060303030202" pitchFamily="82" charset="0"/>
              </a:rPr>
              <a:t>multiple levels</a:t>
            </a:r>
          </a:p>
          <a:p>
            <a:pPr algn="ctr"/>
            <a:endParaRPr lang="en-GB" sz="2800" dirty="0">
              <a:latin typeface="Imprint MT Shadow" panose="04020605060303030202" pitchFamily="82" charset="0"/>
            </a:endParaRPr>
          </a:p>
          <a:p>
            <a:pPr algn="ctr"/>
            <a:r>
              <a:rPr lang="en-GB" sz="2800" dirty="0">
                <a:latin typeface="Imprint MT Shadow" panose="04020605060303030202" pitchFamily="82" charset="0"/>
              </a:rPr>
              <a:t>Regression, Unit, Data Quality</a:t>
            </a:r>
          </a:p>
          <a:p>
            <a:pPr algn="ctr"/>
            <a:endParaRPr lang="en-GB" sz="2800" dirty="0">
              <a:latin typeface="Imprint MT Shadow" panose="04020605060303030202" pitchFamily="82" charset="0"/>
            </a:endParaRPr>
          </a:p>
          <a:p>
            <a:pPr algn="ctr"/>
            <a:endParaRPr lang="en-GB" dirty="0"/>
          </a:p>
        </p:txBody>
      </p:sp>
    </p:spTree>
    <p:extLst>
      <p:ext uri="{BB962C8B-B14F-4D97-AF65-F5344CB8AC3E}">
        <p14:creationId xmlns:p14="http://schemas.microsoft.com/office/powerpoint/2010/main" val="3622099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2000"/>
                                        <p:tgtEl>
                                          <p:spTgt spid="8"/>
                                        </p:tgtEl>
                                      </p:cBhvr>
                                    </p:animEffect>
                                    <p:set>
                                      <p:cBhvr>
                                        <p:cTn id="12" dur="1" fill="hold">
                                          <p:stCondLst>
                                            <p:cond delay="1999"/>
                                          </p:stCondLst>
                                        </p:cTn>
                                        <p:tgtEl>
                                          <p:spTgt spid="8"/>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2ECF4-E87C-6690-0D95-5B2910141CF0}"/>
            </a:ext>
          </a:extLst>
        </p:cNvPr>
        <p:cNvGrpSpPr/>
        <p:nvPr/>
      </p:nvGrpSpPr>
      <p:grpSpPr>
        <a:xfrm>
          <a:off x="0" y="0"/>
          <a:ext cx="0" cy="0"/>
          <a:chOff x="0" y="0"/>
          <a:chExt cx="0" cy="0"/>
        </a:xfrm>
      </p:grpSpPr>
      <p:grpSp>
        <p:nvGrpSpPr>
          <p:cNvPr id="34" name="Group 33">
            <a:extLst>
              <a:ext uri="{FF2B5EF4-FFF2-40B4-BE49-F238E27FC236}">
                <a16:creationId xmlns:a16="http://schemas.microsoft.com/office/drawing/2014/main" id="{D32FCCA9-5E9C-3BAB-EBF8-4CACC8761BCB}"/>
              </a:ext>
            </a:extLst>
          </p:cNvPr>
          <p:cNvGrpSpPr/>
          <p:nvPr/>
        </p:nvGrpSpPr>
        <p:grpSpPr>
          <a:xfrm>
            <a:off x="391943" y="4824255"/>
            <a:ext cx="1991952" cy="1802178"/>
            <a:chOff x="3683087" y="22444"/>
            <a:chExt cx="6740402" cy="6740402"/>
          </a:xfrm>
        </p:grpSpPr>
        <p:pic>
          <p:nvPicPr>
            <p:cNvPr id="35" name="Picture 34" descr="A white stone structure with a triangular top">
              <a:extLst>
                <a:ext uri="{FF2B5EF4-FFF2-40B4-BE49-F238E27FC236}">
                  <a16:creationId xmlns:a16="http://schemas.microsoft.com/office/drawing/2014/main" id="{4C62491E-5A3F-0E1C-05F5-6CD4768D4631}"/>
                </a:ext>
              </a:extLst>
            </p:cNvPr>
            <p:cNvPicPr>
              <a:picLocks noChangeAspect="1"/>
            </p:cNvPicPr>
            <p:nvPr/>
          </p:nvPicPr>
          <p:blipFill>
            <a:blip r:embed="rId3" cstate="screen">
              <a:alphaModFix amt="50000"/>
              <a:extLst>
                <a:ext uri="{28A0092B-C50C-407E-A947-70E740481C1C}">
                  <a14:useLocalDpi xmlns:a14="http://schemas.microsoft.com/office/drawing/2010/main" val="0"/>
                </a:ext>
              </a:extLst>
            </a:blip>
            <a:stretch>
              <a:fillRect/>
            </a:stretch>
          </p:blipFill>
          <p:spPr>
            <a:xfrm>
              <a:off x="3683087" y="22444"/>
              <a:ext cx="6740402" cy="6740402"/>
            </a:xfrm>
            <a:prstGeom prst="rect">
              <a:avLst/>
            </a:prstGeom>
          </p:spPr>
        </p:pic>
        <p:pic>
          <p:nvPicPr>
            <p:cNvPr id="36" name="Picture 35" descr="A white pillar with a black background&#10;&#10;AI-generated content may be incorrect.">
              <a:extLst>
                <a:ext uri="{FF2B5EF4-FFF2-40B4-BE49-F238E27FC236}">
                  <a16:creationId xmlns:a16="http://schemas.microsoft.com/office/drawing/2014/main" id="{323F1C20-94E3-ACAA-D24C-B360498E4F29}"/>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4576352" y="2670766"/>
              <a:ext cx="705782" cy="2222511"/>
            </a:xfrm>
            <a:prstGeom prst="rect">
              <a:avLst/>
            </a:prstGeom>
          </p:spPr>
        </p:pic>
        <p:pic>
          <p:nvPicPr>
            <p:cNvPr id="37" name="Picture 36" descr="A white pillar with a black background&#10;&#10;AI-generated content may be incorrect.">
              <a:extLst>
                <a:ext uri="{FF2B5EF4-FFF2-40B4-BE49-F238E27FC236}">
                  <a16:creationId xmlns:a16="http://schemas.microsoft.com/office/drawing/2014/main" id="{E123EB58-61A7-1FF9-4CB3-66107973FDFD}"/>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6700397" y="2670766"/>
              <a:ext cx="705782" cy="2222511"/>
            </a:xfrm>
            <a:prstGeom prst="rect">
              <a:avLst/>
            </a:prstGeom>
          </p:spPr>
        </p:pic>
        <p:pic>
          <p:nvPicPr>
            <p:cNvPr id="38" name="Picture 37" descr="A white pillar with a black background&#10;&#10;AI-generated content may be incorrect.">
              <a:extLst>
                <a:ext uri="{FF2B5EF4-FFF2-40B4-BE49-F238E27FC236}">
                  <a16:creationId xmlns:a16="http://schemas.microsoft.com/office/drawing/2014/main" id="{18D4AD99-F173-B26C-D69B-C0D6CC2ADDAF}"/>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7408412" y="2670766"/>
              <a:ext cx="705782" cy="2222511"/>
            </a:xfrm>
            <a:prstGeom prst="rect">
              <a:avLst/>
            </a:prstGeom>
          </p:spPr>
        </p:pic>
        <p:pic>
          <p:nvPicPr>
            <p:cNvPr id="39" name="Picture 38" descr="A white pillar with a black background&#10;&#10;AI-generated content may be incorrect.">
              <a:extLst>
                <a:ext uri="{FF2B5EF4-FFF2-40B4-BE49-F238E27FC236}">
                  <a16:creationId xmlns:a16="http://schemas.microsoft.com/office/drawing/2014/main" id="{D3D77E40-1226-A7FF-77BB-D7DAE67B1219}"/>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8116427" y="2670766"/>
              <a:ext cx="705782" cy="2222511"/>
            </a:xfrm>
            <a:prstGeom prst="rect">
              <a:avLst/>
            </a:prstGeom>
          </p:spPr>
        </p:pic>
        <p:pic>
          <p:nvPicPr>
            <p:cNvPr id="40" name="Picture 39" descr="A white pillar with a black background&#10;&#10;AI-generated content may be incorrect.">
              <a:extLst>
                <a:ext uri="{FF2B5EF4-FFF2-40B4-BE49-F238E27FC236}">
                  <a16:creationId xmlns:a16="http://schemas.microsoft.com/office/drawing/2014/main" id="{96FF2A64-BD66-4943-DF3C-2B39EDE38B00}"/>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5284367" y="2670766"/>
              <a:ext cx="705782" cy="2222511"/>
            </a:xfrm>
            <a:prstGeom prst="rect">
              <a:avLst/>
            </a:prstGeom>
          </p:spPr>
        </p:pic>
        <p:pic>
          <p:nvPicPr>
            <p:cNvPr id="41" name="Picture 40" descr="A white pillar with a black background&#10;&#10;AI-generated content may be incorrect.">
              <a:extLst>
                <a:ext uri="{FF2B5EF4-FFF2-40B4-BE49-F238E27FC236}">
                  <a16:creationId xmlns:a16="http://schemas.microsoft.com/office/drawing/2014/main" id="{60AA840A-AF26-26D2-23F9-4B215168C43F}"/>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5992382" y="2670766"/>
              <a:ext cx="705782" cy="2222511"/>
            </a:xfrm>
            <a:prstGeom prst="rect">
              <a:avLst/>
            </a:prstGeom>
          </p:spPr>
        </p:pic>
        <p:pic>
          <p:nvPicPr>
            <p:cNvPr id="42" name="Picture 41" descr="A white pillar with a black background&#10;&#10;AI-generated content may be incorrect.">
              <a:extLst>
                <a:ext uri="{FF2B5EF4-FFF2-40B4-BE49-F238E27FC236}">
                  <a16:creationId xmlns:a16="http://schemas.microsoft.com/office/drawing/2014/main" id="{24AB2BB0-B0BD-3B6E-0105-0A9BF3F41F91}"/>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8824439" y="2670766"/>
              <a:ext cx="705782" cy="2222511"/>
            </a:xfrm>
            <a:prstGeom prst="rect">
              <a:avLst/>
            </a:prstGeom>
          </p:spPr>
        </p:pic>
      </p:grpSp>
      <p:sp>
        <p:nvSpPr>
          <p:cNvPr id="2" name="Title 1">
            <a:extLst>
              <a:ext uri="{FF2B5EF4-FFF2-40B4-BE49-F238E27FC236}">
                <a16:creationId xmlns:a16="http://schemas.microsoft.com/office/drawing/2014/main" id="{ADBA2B84-C24D-F672-7A28-6C7925C9E798}"/>
              </a:ext>
            </a:extLst>
          </p:cNvPr>
          <p:cNvSpPr>
            <a:spLocks noGrp="1"/>
          </p:cNvSpPr>
          <p:nvPr>
            <p:ph type="title" idx="4294967295"/>
          </p:nvPr>
        </p:nvSpPr>
        <p:spPr>
          <a:xfrm>
            <a:off x="2880000" y="720000"/>
            <a:ext cx="9065741" cy="778600"/>
          </a:xfrm>
        </p:spPr>
        <p:txBody>
          <a:bodyPr>
            <a:normAutofit/>
          </a:bodyPr>
          <a:lstStyle/>
          <a:p>
            <a:r>
              <a:rPr lang="en-US" sz="3200" dirty="0"/>
              <a:t>Open Source First - The Building Supplies</a:t>
            </a:r>
            <a:endParaRPr lang="en-GB" sz="3200" dirty="0"/>
          </a:p>
        </p:txBody>
      </p:sp>
      <p:pic>
        <p:nvPicPr>
          <p:cNvPr id="33" name="Picture 32" descr="A white pillar with a letter o&#10;&#10;AI-generated content may be incorrect.">
            <a:extLst>
              <a:ext uri="{FF2B5EF4-FFF2-40B4-BE49-F238E27FC236}">
                <a16:creationId xmlns:a16="http://schemas.microsoft.com/office/drawing/2014/main" id="{C03F0BEB-6DCD-045F-5EB8-A541A78CF9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0000" y="720000"/>
            <a:ext cx="1244444" cy="4317460"/>
          </a:xfrm>
          <a:prstGeom prst="rect">
            <a:avLst/>
          </a:prstGeom>
        </p:spPr>
      </p:pic>
      <p:grpSp>
        <p:nvGrpSpPr>
          <p:cNvPr id="43" name="Group 42">
            <a:extLst>
              <a:ext uri="{FF2B5EF4-FFF2-40B4-BE49-F238E27FC236}">
                <a16:creationId xmlns:a16="http://schemas.microsoft.com/office/drawing/2014/main" id="{E421F82D-32C5-7050-B978-774D47404F3D}"/>
              </a:ext>
            </a:extLst>
          </p:cNvPr>
          <p:cNvGrpSpPr/>
          <p:nvPr/>
        </p:nvGrpSpPr>
        <p:grpSpPr>
          <a:xfrm>
            <a:off x="-352023" y="986185"/>
            <a:ext cx="2851517" cy="6868014"/>
            <a:chOff x="0" y="-786"/>
            <a:chExt cx="2851517" cy="6868014"/>
          </a:xfrm>
        </p:grpSpPr>
        <p:grpSp>
          <p:nvGrpSpPr>
            <p:cNvPr id="44" name="Group 43">
              <a:extLst>
                <a:ext uri="{FF2B5EF4-FFF2-40B4-BE49-F238E27FC236}">
                  <a16:creationId xmlns:a16="http://schemas.microsoft.com/office/drawing/2014/main" id="{E2CE0876-A686-F6EB-20AB-44834A9C908F}"/>
                </a:ext>
              </a:extLst>
            </p:cNvPr>
            <p:cNvGrpSpPr/>
            <p:nvPr/>
          </p:nvGrpSpPr>
          <p:grpSpPr>
            <a:xfrm>
              <a:off x="1" y="228600"/>
              <a:ext cx="2851516" cy="6638628"/>
              <a:chOff x="2487613" y="285750"/>
              <a:chExt cx="2428875" cy="5654676"/>
            </a:xfrm>
          </p:grpSpPr>
          <p:sp>
            <p:nvSpPr>
              <p:cNvPr id="59" name="Freeform 11">
                <a:extLst>
                  <a:ext uri="{FF2B5EF4-FFF2-40B4-BE49-F238E27FC236}">
                    <a16:creationId xmlns:a16="http://schemas.microsoft.com/office/drawing/2014/main" id="{7879FA03-6FBD-14B9-785E-773273BBE664}"/>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60" name="Freeform 12">
                <a:extLst>
                  <a:ext uri="{FF2B5EF4-FFF2-40B4-BE49-F238E27FC236}">
                    <a16:creationId xmlns:a16="http://schemas.microsoft.com/office/drawing/2014/main" id="{A0ABF94E-DEEB-F969-C21B-6D080F022499}"/>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61" name="Freeform 13">
                <a:extLst>
                  <a:ext uri="{FF2B5EF4-FFF2-40B4-BE49-F238E27FC236}">
                    <a16:creationId xmlns:a16="http://schemas.microsoft.com/office/drawing/2014/main" id="{FB8D0B41-D065-C448-AF01-122BD7A9C7E3}"/>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62" name="Freeform 14">
                <a:extLst>
                  <a:ext uri="{FF2B5EF4-FFF2-40B4-BE49-F238E27FC236}">
                    <a16:creationId xmlns:a16="http://schemas.microsoft.com/office/drawing/2014/main" id="{D919CFA6-DE81-85AD-F76E-41D8C739477E}"/>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63" name="Freeform 15">
                <a:extLst>
                  <a:ext uri="{FF2B5EF4-FFF2-40B4-BE49-F238E27FC236}">
                    <a16:creationId xmlns:a16="http://schemas.microsoft.com/office/drawing/2014/main" id="{B157153E-DC8C-8828-02C4-C054B82922F5}"/>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64" name="Freeform 16">
                <a:extLst>
                  <a:ext uri="{FF2B5EF4-FFF2-40B4-BE49-F238E27FC236}">
                    <a16:creationId xmlns:a16="http://schemas.microsoft.com/office/drawing/2014/main" id="{8C3CEFE1-094C-A7E8-A988-DC44117AA4DE}"/>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65" name="Freeform 17">
                <a:extLst>
                  <a:ext uri="{FF2B5EF4-FFF2-40B4-BE49-F238E27FC236}">
                    <a16:creationId xmlns:a16="http://schemas.microsoft.com/office/drawing/2014/main" id="{2CE20C36-39A5-9EA1-16FF-E8E8B85C2ABB}"/>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66" name="Freeform 18">
                <a:extLst>
                  <a:ext uri="{FF2B5EF4-FFF2-40B4-BE49-F238E27FC236}">
                    <a16:creationId xmlns:a16="http://schemas.microsoft.com/office/drawing/2014/main" id="{BF935E8B-C3E6-3A7B-08A3-93C3CFD2BDB3}"/>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67" name="Freeform 19">
                <a:extLst>
                  <a:ext uri="{FF2B5EF4-FFF2-40B4-BE49-F238E27FC236}">
                    <a16:creationId xmlns:a16="http://schemas.microsoft.com/office/drawing/2014/main" id="{9440CD3A-C7F8-FFAA-C3CE-A19DE4700DB9}"/>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68" name="Freeform 20">
                <a:extLst>
                  <a:ext uri="{FF2B5EF4-FFF2-40B4-BE49-F238E27FC236}">
                    <a16:creationId xmlns:a16="http://schemas.microsoft.com/office/drawing/2014/main" id="{81E8917B-DEC2-001D-EEE4-476282C92735}"/>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69" name="Freeform 21">
                <a:extLst>
                  <a:ext uri="{FF2B5EF4-FFF2-40B4-BE49-F238E27FC236}">
                    <a16:creationId xmlns:a16="http://schemas.microsoft.com/office/drawing/2014/main" id="{A6FE3AE1-0FC2-BA5B-C856-4F7E18CFC4C4}"/>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70" name="Freeform 22">
                <a:extLst>
                  <a:ext uri="{FF2B5EF4-FFF2-40B4-BE49-F238E27FC236}">
                    <a16:creationId xmlns:a16="http://schemas.microsoft.com/office/drawing/2014/main" id="{ED46D95D-7054-615B-7456-C76073A6FBB0}"/>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45" name="Group 44">
              <a:extLst>
                <a:ext uri="{FF2B5EF4-FFF2-40B4-BE49-F238E27FC236}">
                  <a16:creationId xmlns:a16="http://schemas.microsoft.com/office/drawing/2014/main" id="{72FEAAF4-47B4-A33A-2E50-1E20DCC6EE3D}"/>
                </a:ext>
              </a:extLst>
            </p:cNvPr>
            <p:cNvGrpSpPr/>
            <p:nvPr/>
          </p:nvGrpSpPr>
          <p:grpSpPr>
            <a:xfrm>
              <a:off x="27221" y="-786"/>
              <a:ext cx="2356674" cy="6854039"/>
              <a:chOff x="6627813" y="194833"/>
              <a:chExt cx="1952625" cy="5678918"/>
            </a:xfrm>
          </p:grpSpPr>
          <p:sp>
            <p:nvSpPr>
              <p:cNvPr id="47" name="Freeform 27">
                <a:extLst>
                  <a:ext uri="{FF2B5EF4-FFF2-40B4-BE49-F238E27FC236}">
                    <a16:creationId xmlns:a16="http://schemas.microsoft.com/office/drawing/2014/main" id="{D5997DC3-B1A5-73FE-0A38-F9640F3FA25D}"/>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48" name="Freeform 28">
                <a:extLst>
                  <a:ext uri="{FF2B5EF4-FFF2-40B4-BE49-F238E27FC236}">
                    <a16:creationId xmlns:a16="http://schemas.microsoft.com/office/drawing/2014/main" id="{1CE4639A-B243-C4BE-863A-6B78813DF78E}"/>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49" name="Freeform 29">
                <a:extLst>
                  <a:ext uri="{FF2B5EF4-FFF2-40B4-BE49-F238E27FC236}">
                    <a16:creationId xmlns:a16="http://schemas.microsoft.com/office/drawing/2014/main" id="{BA52FEBA-2B39-4C4B-EED2-196B638F15E9}"/>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50" name="Freeform 30">
                <a:extLst>
                  <a:ext uri="{FF2B5EF4-FFF2-40B4-BE49-F238E27FC236}">
                    <a16:creationId xmlns:a16="http://schemas.microsoft.com/office/drawing/2014/main" id="{2C09DDC1-47E8-9BB4-E822-F6C7037D2AA6}"/>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51" name="Freeform 31">
                <a:extLst>
                  <a:ext uri="{FF2B5EF4-FFF2-40B4-BE49-F238E27FC236}">
                    <a16:creationId xmlns:a16="http://schemas.microsoft.com/office/drawing/2014/main" id="{65639EA1-CC0C-20D1-8240-9DC8383EEFA3}"/>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52" name="Freeform 32">
                <a:extLst>
                  <a:ext uri="{FF2B5EF4-FFF2-40B4-BE49-F238E27FC236}">
                    <a16:creationId xmlns:a16="http://schemas.microsoft.com/office/drawing/2014/main" id="{D86F417C-8608-D7FB-AA1D-53B1E00CCCCB}"/>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53" name="Freeform 33">
                <a:extLst>
                  <a:ext uri="{FF2B5EF4-FFF2-40B4-BE49-F238E27FC236}">
                    <a16:creationId xmlns:a16="http://schemas.microsoft.com/office/drawing/2014/main" id="{FFF817AE-8287-C065-E991-56FD19D4ECF5}"/>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54" name="Freeform 34">
                <a:extLst>
                  <a:ext uri="{FF2B5EF4-FFF2-40B4-BE49-F238E27FC236}">
                    <a16:creationId xmlns:a16="http://schemas.microsoft.com/office/drawing/2014/main" id="{B1E4DC19-D106-8B18-BAE7-F53154EBF5BD}"/>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55" name="Freeform 35">
                <a:extLst>
                  <a:ext uri="{FF2B5EF4-FFF2-40B4-BE49-F238E27FC236}">
                    <a16:creationId xmlns:a16="http://schemas.microsoft.com/office/drawing/2014/main" id="{C4EF9821-E6C7-6E7B-D533-5041ABA6EF76}"/>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56" name="Freeform 36">
                <a:extLst>
                  <a:ext uri="{FF2B5EF4-FFF2-40B4-BE49-F238E27FC236}">
                    <a16:creationId xmlns:a16="http://schemas.microsoft.com/office/drawing/2014/main" id="{008760E6-C9D2-3404-4F8B-BA017DAADF3D}"/>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57" name="Freeform 37">
                <a:extLst>
                  <a:ext uri="{FF2B5EF4-FFF2-40B4-BE49-F238E27FC236}">
                    <a16:creationId xmlns:a16="http://schemas.microsoft.com/office/drawing/2014/main" id="{FF3C43FB-AEEE-34C2-48C9-20734E0D3B61}"/>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58" name="Freeform 38">
                <a:extLst>
                  <a:ext uri="{FF2B5EF4-FFF2-40B4-BE49-F238E27FC236}">
                    <a16:creationId xmlns:a16="http://schemas.microsoft.com/office/drawing/2014/main" id="{F537B254-E6B0-DF57-F583-AC519053C72E}"/>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46" name="Rectangle 45">
              <a:extLst>
                <a:ext uri="{FF2B5EF4-FFF2-40B4-BE49-F238E27FC236}">
                  <a16:creationId xmlns:a16="http://schemas.microsoft.com/office/drawing/2014/main" id="{12C964BD-39CE-8DD7-B601-83071D37149C}"/>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grpSp>
        <p:nvGrpSpPr>
          <p:cNvPr id="71" name="Group 70">
            <a:extLst>
              <a:ext uri="{FF2B5EF4-FFF2-40B4-BE49-F238E27FC236}">
                <a16:creationId xmlns:a16="http://schemas.microsoft.com/office/drawing/2014/main" id="{D69CB908-556B-FD02-8C4B-3C2F3DF4AACE}"/>
              </a:ext>
            </a:extLst>
          </p:cNvPr>
          <p:cNvGrpSpPr/>
          <p:nvPr/>
        </p:nvGrpSpPr>
        <p:grpSpPr>
          <a:xfrm>
            <a:off x="2628008" y="9303583"/>
            <a:ext cx="1360031" cy="3648522"/>
            <a:chOff x="1962655" y="2674706"/>
            <a:chExt cx="1543581" cy="3778249"/>
          </a:xfrm>
        </p:grpSpPr>
        <p:sp>
          <p:nvSpPr>
            <p:cNvPr id="72" name="Freeform: Shape 71">
              <a:extLst>
                <a:ext uri="{FF2B5EF4-FFF2-40B4-BE49-F238E27FC236}">
                  <a16:creationId xmlns:a16="http://schemas.microsoft.com/office/drawing/2014/main" id="{E6EA3809-ABE4-81D7-B542-8F034BA83931}"/>
                </a:ext>
              </a:extLst>
            </p:cNvPr>
            <p:cNvSpPr/>
            <p:nvPr/>
          </p:nvSpPr>
          <p:spPr>
            <a:xfrm>
              <a:off x="1962655" y="2674706"/>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Version Control</a:t>
              </a:r>
              <a:endParaRPr lang="en-GB" sz="1600" kern="1200" dirty="0"/>
            </a:p>
          </p:txBody>
        </p:sp>
        <p:sp>
          <p:nvSpPr>
            <p:cNvPr id="73" name="Oval 72" descr="Architecture with solid fill">
              <a:extLst>
                <a:ext uri="{FF2B5EF4-FFF2-40B4-BE49-F238E27FC236}">
                  <a16:creationId xmlns:a16="http://schemas.microsoft.com/office/drawing/2014/main" id="{B4BA97B9-35FF-8865-D804-E91D46342765}"/>
                </a:ext>
              </a:extLst>
            </p:cNvPr>
            <p:cNvSpPr/>
            <p:nvPr/>
          </p:nvSpPr>
          <p:spPr>
            <a:xfrm>
              <a:off x="2071075" y="3015543"/>
              <a:ext cx="1324450" cy="1266509"/>
            </a:xfrm>
            <a:prstGeom prst="ellipse">
              <a:avLst/>
            </a:prstGeom>
            <a:blipFill>
              <a:blip r:embed="rId6">
                <a:extLst>
                  <a:ext uri="{96DAC541-7B7A-43D3-8B79-37D633B846F1}">
                    <asvg:svgBlip xmlns:asvg="http://schemas.microsoft.com/office/drawing/2016/SVG/main" r:embed="rId7"/>
                  </a:ext>
                </a:extLst>
              </a:blip>
              <a:srcRect/>
              <a:stretch>
                <a:fillRect l="6581" t="9941" r="6581"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74" name="Group 73">
            <a:extLst>
              <a:ext uri="{FF2B5EF4-FFF2-40B4-BE49-F238E27FC236}">
                <a16:creationId xmlns:a16="http://schemas.microsoft.com/office/drawing/2014/main" id="{987186FD-1119-5787-7956-671BA4A3F83A}"/>
              </a:ext>
            </a:extLst>
          </p:cNvPr>
          <p:cNvGrpSpPr/>
          <p:nvPr/>
        </p:nvGrpSpPr>
        <p:grpSpPr>
          <a:xfrm>
            <a:off x="2628008" y="9415447"/>
            <a:ext cx="1360031" cy="3648522"/>
            <a:chOff x="2635145" y="2575044"/>
            <a:chExt cx="1543581" cy="3778249"/>
          </a:xfrm>
        </p:grpSpPr>
        <p:sp>
          <p:nvSpPr>
            <p:cNvPr id="75" name="Freeform: Shape 74">
              <a:extLst>
                <a:ext uri="{FF2B5EF4-FFF2-40B4-BE49-F238E27FC236}">
                  <a16:creationId xmlns:a16="http://schemas.microsoft.com/office/drawing/2014/main" id="{1F678339-39A9-5B0F-E58C-C284E3794681}"/>
                </a:ext>
              </a:extLst>
            </p:cNvPr>
            <p:cNvSpPr/>
            <p:nvPr/>
          </p:nvSpPr>
          <p:spPr>
            <a:xfrm>
              <a:off x="2635145"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Everything as Code</a:t>
              </a:r>
              <a:endParaRPr lang="en-GB" sz="1600" kern="1200" dirty="0"/>
            </a:p>
          </p:txBody>
        </p:sp>
        <p:sp>
          <p:nvSpPr>
            <p:cNvPr id="76" name="Oval 75" descr="Gears with solid fill">
              <a:extLst>
                <a:ext uri="{FF2B5EF4-FFF2-40B4-BE49-F238E27FC236}">
                  <a16:creationId xmlns:a16="http://schemas.microsoft.com/office/drawing/2014/main" id="{5429FBBF-6FDB-7A0B-3B6D-680C7E81FE9E}"/>
                </a:ext>
              </a:extLst>
            </p:cNvPr>
            <p:cNvSpPr/>
            <p:nvPr/>
          </p:nvSpPr>
          <p:spPr>
            <a:xfrm>
              <a:off x="2655864" y="3015544"/>
              <a:ext cx="1450967" cy="1258156"/>
            </a:xfrm>
            <a:prstGeom prst="ellipse">
              <a:avLst/>
            </a:prstGeom>
            <a:blipFill>
              <a:blip r:embed="rId8">
                <a:extLst>
                  <a:ext uri="{96DAC541-7B7A-43D3-8B79-37D633B846F1}">
                    <asvg:svgBlip xmlns:asvg="http://schemas.microsoft.com/office/drawing/2016/SVG/main" r:embed="rId9"/>
                  </a:ext>
                </a:extLst>
              </a:blip>
              <a:srcRect/>
              <a:stretch>
                <a:fillRect l="4100" t="9941" r="4100"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77" name="Group 76">
            <a:extLst>
              <a:ext uri="{FF2B5EF4-FFF2-40B4-BE49-F238E27FC236}">
                <a16:creationId xmlns:a16="http://schemas.microsoft.com/office/drawing/2014/main" id="{5BE7AFC3-62CA-34C3-3850-5EA3A6681D28}"/>
              </a:ext>
            </a:extLst>
          </p:cNvPr>
          <p:cNvGrpSpPr/>
          <p:nvPr/>
        </p:nvGrpSpPr>
        <p:grpSpPr>
          <a:xfrm>
            <a:off x="2628008" y="9404474"/>
            <a:ext cx="1360031" cy="3648523"/>
            <a:chOff x="3381347" y="2620999"/>
            <a:chExt cx="1543581" cy="3778249"/>
          </a:xfrm>
        </p:grpSpPr>
        <p:sp>
          <p:nvSpPr>
            <p:cNvPr id="78" name="Freeform: Shape 77">
              <a:extLst>
                <a:ext uri="{FF2B5EF4-FFF2-40B4-BE49-F238E27FC236}">
                  <a16:creationId xmlns:a16="http://schemas.microsoft.com/office/drawing/2014/main" id="{966678E1-9469-28B1-5CAA-4D64EF81626F}"/>
                </a:ext>
              </a:extLst>
            </p:cNvPr>
            <p:cNvSpPr/>
            <p:nvPr/>
          </p:nvSpPr>
          <p:spPr>
            <a:xfrm>
              <a:off x="3381347" y="2620999"/>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CI/CD Pipelines</a:t>
              </a:r>
              <a:endParaRPr lang="en-GB" sz="1600" kern="1200" dirty="0"/>
            </a:p>
          </p:txBody>
        </p:sp>
        <p:sp>
          <p:nvSpPr>
            <p:cNvPr id="79" name="Oval 78" descr="Fire Hydrant with solid fill">
              <a:extLst>
                <a:ext uri="{FF2B5EF4-FFF2-40B4-BE49-F238E27FC236}">
                  <a16:creationId xmlns:a16="http://schemas.microsoft.com/office/drawing/2014/main" id="{F9B2B4CC-FE4E-8FDE-0262-9068F96E2B55}"/>
                </a:ext>
              </a:extLst>
            </p:cNvPr>
            <p:cNvSpPr/>
            <p:nvPr/>
          </p:nvSpPr>
          <p:spPr>
            <a:xfrm>
              <a:off x="3532419" y="3015544"/>
              <a:ext cx="1285718" cy="1258156"/>
            </a:xfrm>
            <a:prstGeom prst="ellipse">
              <a:avLst/>
            </a:prstGeom>
            <a:blipFill>
              <a:blip r:embed="rId10">
                <a:extLst>
                  <a:ext uri="{96DAC541-7B7A-43D3-8B79-37D633B846F1}">
                    <asvg:svgBlip xmlns:asvg="http://schemas.microsoft.com/office/drawing/2016/SVG/main" r:embed="rId11"/>
                  </a:ext>
                </a:extLst>
              </a:blip>
              <a:srcRect/>
              <a:stretch>
                <a:fillRect l="-3343" t="14233" r="-3343" b="1423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0" name="Group 79">
            <a:extLst>
              <a:ext uri="{FF2B5EF4-FFF2-40B4-BE49-F238E27FC236}">
                <a16:creationId xmlns:a16="http://schemas.microsoft.com/office/drawing/2014/main" id="{1533A697-6A3A-8305-13D5-E7BFBB2FD79C}"/>
              </a:ext>
            </a:extLst>
          </p:cNvPr>
          <p:cNvGrpSpPr/>
          <p:nvPr/>
        </p:nvGrpSpPr>
        <p:grpSpPr>
          <a:xfrm>
            <a:off x="2628008" y="9383373"/>
            <a:ext cx="1360031" cy="3648523"/>
            <a:chOff x="4057758" y="2575044"/>
            <a:chExt cx="1543581" cy="3778249"/>
          </a:xfrm>
        </p:grpSpPr>
        <p:sp>
          <p:nvSpPr>
            <p:cNvPr id="81" name="Freeform: Shape 80">
              <a:extLst>
                <a:ext uri="{FF2B5EF4-FFF2-40B4-BE49-F238E27FC236}">
                  <a16:creationId xmlns:a16="http://schemas.microsoft.com/office/drawing/2014/main" id="{97F4C15E-C79B-98B7-8EF6-25A1967B0137}"/>
                </a:ext>
              </a:extLst>
            </p:cNvPr>
            <p:cNvSpPr/>
            <p:nvPr/>
          </p:nvSpPr>
          <p:spPr>
            <a:xfrm>
              <a:off x="4057758"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Testing</a:t>
              </a:r>
              <a:endParaRPr lang="en-GB" sz="1600" kern="1200" dirty="0"/>
            </a:p>
          </p:txBody>
        </p:sp>
        <p:sp>
          <p:nvSpPr>
            <p:cNvPr id="82" name="Oval 81" descr="Clipboard Mixed with solid fill">
              <a:extLst>
                <a:ext uri="{FF2B5EF4-FFF2-40B4-BE49-F238E27FC236}">
                  <a16:creationId xmlns:a16="http://schemas.microsoft.com/office/drawing/2014/main" id="{86C5A594-22C8-7BDA-450F-5FDB9EAA2ED0}"/>
                </a:ext>
              </a:extLst>
            </p:cNvPr>
            <p:cNvSpPr/>
            <p:nvPr/>
          </p:nvSpPr>
          <p:spPr>
            <a:xfrm>
              <a:off x="4211083" y="3036819"/>
              <a:ext cx="1252792" cy="1258156"/>
            </a:xfrm>
            <a:prstGeom prst="ellipse">
              <a:avLst/>
            </a:prstGeom>
            <a:blipFill>
              <a:blip r:embed="rId12">
                <a:extLst>
                  <a:ext uri="{96DAC541-7B7A-43D3-8B79-37D633B846F1}">
                    <asvg:svgBlip xmlns:asvg="http://schemas.microsoft.com/office/drawing/2016/SVG/main" r:embed="rId13"/>
                  </a:ext>
                </a:extLst>
              </a:blip>
              <a:srcRect/>
              <a:stretch>
                <a:fillRect l="11543" t="11372" r="11543" b="11372"/>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3" name="Group 82">
            <a:extLst>
              <a:ext uri="{FF2B5EF4-FFF2-40B4-BE49-F238E27FC236}">
                <a16:creationId xmlns:a16="http://schemas.microsoft.com/office/drawing/2014/main" id="{08C9AB8C-490F-DBD8-C620-30C24C3E0229}"/>
              </a:ext>
            </a:extLst>
          </p:cNvPr>
          <p:cNvGrpSpPr/>
          <p:nvPr/>
        </p:nvGrpSpPr>
        <p:grpSpPr>
          <a:xfrm>
            <a:off x="2520000" y="1800000"/>
            <a:ext cx="1360031" cy="3648523"/>
            <a:chOff x="6498529" y="1701354"/>
            <a:chExt cx="1543581" cy="3778249"/>
          </a:xfrm>
        </p:grpSpPr>
        <p:sp>
          <p:nvSpPr>
            <p:cNvPr id="84" name="Freeform: Shape 83">
              <a:extLst>
                <a:ext uri="{FF2B5EF4-FFF2-40B4-BE49-F238E27FC236}">
                  <a16:creationId xmlns:a16="http://schemas.microsoft.com/office/drawing/2014/main" id="{B91F6887-A6DD-34D3-1396-64B2D8EFE148}"/>
                </a:ext>
              </a:extLst>
            </p:cNvPr>
            <p:cNvSpPr/>
            <p:nvPr/>
          </p:nvSpPr>
          <p:spPr>
            <a:xfrm>
              <a:off x="6498529" y="170135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Open Source First</a:t>
              </a:r>
              <a:endParaRPr lang="en-GB" sz="1600" kern="1200" dirty="0"/>
            </a:p>
          </p:txBody>
        </p:sp>
        <p:sp>
          <p:nvSpPr>
            <p:cNvPr id="85" name="Oval 84" descr="Open hand with solid fill">
              <a:extLst>
                <a:ext uri="{FF2B5EF4-FFF2-40B4-BE49-F238E27FC236}">
                  <a16:creationId xmlns:a16="http://schemas.microsoft.com/office/drawing/2014/main" id="{8A85CDD5-180C-3CD0-360E-BD984948D23C}"/>
                </a:ext>
              </a:extLst>
            </p:cNvPr>
            <p:cNvSpPr/>
            <p:nvPr/>
          </p:nvSpPr>
          <p:spPr>
            <a:xfrm>
              <a:off x="6603697" y="2140995"/>
              <a:ext cx="1329999" cy="1258155"/>
            </a:xfrm>
            <a:prstGeom prst="ellipse">
              <a:avLst/>
            </a:prstGeom>
            <a:blipFill>
              <a:blip r:embed="rId14">
                <a:extLst>
                  <a:ext uri="{96DAC541-7B7A-43D3-8B79-37D633B846F1}">
                    <asvg:svgBlip xmlns:asvg="http://schemas.microsoft.com/office/drawing/2016/SVG/main" r:embed="rId15"/>
                  </a:ext>
                </a:extLst>
              </a:blip>
              <a:srcRect/>
              <a:stretch>
                <a:fillRect l="15265" t="7080" r="15265" b="708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6" name="Group 85">
            <a:extLst>
              <a:ext uri="{FF2B5EF4-FFF2-40B4-BE49-F238E27FC236}">
                <a16:creationId xmlns:a16="http://schemas.microsoft.com/office/drawing/2014/main" id="{22CD6FC2-4DFF-965E-CC7E-22CFF76D2650}"/>
              </a:ext>
            </a:extLst>
          </p:cNvPr>
          <p:cNvGrpSpPr/>
          <p:nvPr/>
        </p:nvGrpSpPr>
        <p:grpSpPr>
          <a:xfrm>
            <a:off x="2628008" y="9239771"/>
            <a:ext cx="1360031" cy="3648523"/>
            <a:chOff x="8089560" y="1700495"/>
            <a:chExt cx="1543581" cy="3880755"/>
          </a:xfrm>
        </p:grpSpPr>
        <p:sp>
          <p:nvSpPr>
            <p:cNvPr id="87" name="Freeform: Shape 86">
              <a:extLst>
                <a:ext uri="{FF2B5EF4-FFF2-40B4-BE49-F238E27FC236}">
                  <a16:creationId xmlns:a16="http://schemas.microsoft.com/office/drawing/2014/main" id="{EFADCED6-22B0-1ACF-6136-2A1A03FD43FD}"/>
                </a:ext>
              </a:extLst>
            </p:cNvPr>
            <p:cNvSpPr/>
            <p:nvPr/>
          </p:nvSpPr>
          <p:spPr>
            <a:xfrm>
              <a:off x="8089560" y="1700495"/>
              <a:ext cx="1543581" cy="3880755"/>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Reference Architecture</a:t>
              </a:r>
              <a:endParaRPr lang="en-GB" sz="1600" kern="1200" dirty="0"/>
            </a:p>
          </p:txBody>
        </p:sp>
        <p:sp>
          <p:nvSpPr>
            <p:cNvPr id="88" name="Oval 87" descr="Books on shelf with solid fill">
              <a:extLst>
                <a:ext uri="{FF2B5EF4-FFF2-40B4-BE49-F238E27FC236}">
                  <a16:creationId xmlns:a16="http://schemas.microsoft.com/office/drawing/2014/main" id="{D92F9E4C-5ABF-15B9-145F-6F32C3C3F86C}"/>
                </a:ext>
              </a:extLst>
            </p:cNvPr>
            <p:cNvSpPr/>
            <p:nvPr/>
          </p:nvSpPr>
          <p:spPr>
            <a:xfrm>
              <a:off x="8135868" y="2172679"/>
              <a:ext cx="1450967" cy="1258156"/>
            </a:xfrm>
            <a:prstGeom prst="ellipse">
              <a:avLst/>
            </a:prstGeom>
            <a:blipFill>
              <a:blip r:embed="rId16">
                <a:extLst>
                  <a:ext uri="{96DAC541-7B7A-43D3-8B79-37D633B846F1}">
                    <asvg:svgBlip xmlns:asvg="http://schemas.microsoft.com/office/drawing/2016/SVG/main" r:embed="rId17"/>
                  </a:ext>
                </a:extLst>
              </a:blip>
              <a:srcRect/>
              <a:stretch>
                <a:fillRect l="12784" t="12803" r="12784" b="1280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9" name="Group 88">
            <a:extLst>
              <a:ext uri="{FF2B5EF4-FFF2-40B4-BE49-F238E27FC236}">
                <a16:creationId xmlns:a16="http://schemas.microsoft.com/office/drawing/2014/main" id="{60F33BC4-D70E-EA54-3F22-6406EA85E9D9}"/>
              </a:ext>
            </a:extLst>
          </p:cNvPr>
          <p:cNvGrpSpPr/>
          <p:nvPr/>
        </p:nvGrpSpPr>
        <p:grpSpPr>
          <a:xfrm>
            <a:off x="2628008" y="9176167"/>
            <a:ext cx="1343700" cy="3648523"/>
            <a:chOff x="9741055" y="1651927"/>
            <a:chExt cx="1525046" cy="3935709"/>
          </a:xfrm>
        </p:grpSpPr>
        <p:sp>
          <p:nvSpPr>
            <p:cNvPr id="90" name="Freeform: Shape 89">
              <a:extLst>
                <a:ext uri="{FF2B5EF4-FFF2-40B4-BE49-F238E27FC236}">
                  <a16:creationId xmlns:a16="http://schemas.microsoft.com/office/drawing/2014/main" id="{36D24DA8-DA88-EB5B-14B4-9B51DD9C327C}"/>
                </a:ext>
              </a:extLst>
            </p:cNvPr>
            <p:cNvSpPr/>
            <p:nvPr/>
          </p:nvSpPr>
          <p:spPr>
            <a:xfrm>
              <a:off x="9741055" y="1651927"/>
              <a:ext cx="1525046" cy="393570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lvl="0" algn="ctr" defTabSz="311150">
                <a:lnSpc>
                  <a:spcPct val="90000"/>
                </a:lnSpc>
                <a:spcBef>
                  <a:spcPct val="0"/>
                </a:spcBef>
                <a:spcAft>
                  <a:spcPct val="35000"/>
                </a:spcAft>
              </a:pPr>
              <a:r>
                <a:rPr lang="en-US" kern="1200" dirty="0"/>
                <a:t>Security by </a:t>
              </a:r>
              <a:r>
                <a:rPr lang="en-US" dirty="0"/>
                <a:t>Design</a:t>
              </a:r>
              <a:endParaRPr lang="en-GB" kern="1200" dirty="0"/>
            </a:p>
          </p:txBody>
        </p:sp>
        <p:sp>
          <p:nvSpPr>
            <p:cNvPr id="91" name="Oval 90" descr="Lock with solid fill">
              <a:extLst>
                <a:ext uri="{FF2B5EF4-FFF2-40B4-BE49-F238E27FC236}">
                  <a16:creationId xmlns:a16="http://schemas.microsoft.com/office/drawing/2014/main" id="{69A0D087-B613-C036-D2EF-271226B9F319}"/>
                </a:ext>
              </a:extLst>
            </p:cNvPr>
            <p:cNvSpPr/>
            <p:nvPr/>
          </p:nvSpPr>
          <p:spPr>
            <a:xfrm>
              <a:off x="9861201" y="2088561"/>
              <a:ext cx="1284754" cy="1310590"/>
            </a:xfrm>
            <a:prstGeom prst="ellipse">
              <a:avLst/>
            </a:prstGeom>
            <a:blipFill>
              <a:blip r:embed="rId18">
                <a:extLst>
                  <a:ext uri="{96DAC541-7B7A-43D3-8B79-37D633B846F1}">
                    <asvg:svgBlip xmlns:asvg="http://schemas.microsoft.com/office/drawing/2016/SVG/main" r:embed="rId19"/>
                  </a:ext>
                </a:extLst>
              </a:blip>
              <a:srcRect/>
              <a:stretch>
                <a:fillRect l="-2737" t="11544" r="-2737" b="11544"/>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sp>
        <p:nvSpPr>
          <p:cNvPr id="4" name="Content Placeholder 2">
            <a:extLst>
              <a:ext uri="{FF2B5EF4-FFF2-40B4-BE49-F238E27FC236}">
                <a16:creationId xmlns:a16="http://schemas.microsoft.com/office/drawing/2014/main" id="{DA0B89DD-2735-2DF5-AE8A-BFAF48DC3430}"/>
              </a:ext>
            </a:extLst>
          </p:cNvPr>
          <p:cNvSpPr txBox="1">
            <a:spLocks/>
          </p:cNvSpPr>
          <p:nvPr/>
        </p:nvSpPr>
        <p:spPr>
          <a:xfrm>
            <a:off x="3947239" y="5628895"/>
            <a:ext cx="7847023" cy="11440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dirty="0"/>
          </a:p>
          <a:p>
            <a:r>
              <a:rPr lang="en-US" dirty="0"/>
              <a:t>"Standard bricks, standard fittings - never locked to one supplier “</a:t>
            </a:r>
          </a:p>
          <a:p>
            <a:endParaRPr lang="en-US" dirty="0"/>
          </a:p>
          <a:p>
            <a:endParaRPr lang="en-US" dirty="0"/>
          </a:p>
          <a:p>
            <a:endParaRPr lang="en-GB" dirty="0"/>
          </a:p>
        </p:txBody>
      </p:sp>
      <p:pic>
        <p:nvPicPr>
          <p:cNvPr id="6" name="Picture 5">
            <a:extLst>
              <a:ext uri="{FF2B5EF4-FFF2-40B4-BE49-F238E27FC236}">
                <a16:creationId xmlns:a16="http://schemas.microsoft.com/office/drawing/2014/main" id="{284F9E0A-CB5E-59B1-174C-DBF4972F0A95}"/>
              </a:ext>
            </a:extLst>
          </p:cNvPr>
          <p:cNvPicPr>
            <a:picLocks noChangeAspect="1"/>
          </p:cNvPicPr>
          <p:nvPr/>
        </p:nvPicPr>
        <p:blipFill>
          <a:blip r:embed="rId20">
            <a:extLst>
              <a:ext uri="{28A0092B-C50C-407E-A947-70E740481C1C}">
                <a14:useLocalDpi xmlns:a14="http://schemas.microsoft.com/office/drawing/2010/main" val="0"/>
              </a:ext>
            </a:extLst>
          </a:blip>
          <a:srcRect/>
          <a:stretch/>
        </p:blipFill>
        <p:spPr>
          <a:xfrm>
            <a:off x="4965625" y="1643793"/>
            <a:ext cx="5810250" cy="3873500"/>
          </a:xfrm>
          <a:prstGeom prst="rect">
            <a:avLst/>
          </a:prstGeom>
          <a:effectLst>
            <a:softEdge rad="127000"/>
          </a:effectLst>
        </p:spPr>
      </p:pic>
      <p:sp>
        <p:nvSpPr>
          <p:cNvPr id="3" name="Rectangle: Rounded Corners 2">
            <a:extLst>
              <a:ext uri="{FF2B5EF4-FFF2-40B4-BE49-F238E27FC236}">
                <a16:creationId xmlns:a16="http://schemas.microsoft.com/office/drawing/2014/main" id="{772E3178-2F53-19EE-55C6-510BB8BA6203}"/>
              </a:ext>
            </a:extLst>
          </p:cNvPr>
          <p:cNvSpPr/>
          <p:nvPr/>
        </p:nvSpPr>
        <p:spPr>
          <a:xfrm>
            <a:off x="5087481" y="2118427"/>
            <a:ext cx="5497352" cy="3183054"/>
          </a:xfrm>
          <a:prstGeom prst="roundRect">
            <a:avLst/>
          </a:prstGeom>
          <a:ln w="12700"/>
          <a:scene3d>
            <a:camera prst="orthographicFront"/>
            <a:lightRig rig="threePt" dir="t"/>
          </a:scene3d>
          <a:sp3d>
            <a:bevelT w="114300" prst="hardEdge"/>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2800" dirty="0">
                <a:latin typeface="Imprint MT Shadow" panose="04020605060303030202" pitchFamily="82" charset="0"/>
              </a:rPr>
              <a:t>Open source providers</a:t>
            </a:r>
          </a:p>
          <a:p>
            <a:pPr algn="ctr"/>
            <a:endParaRPr lang="en-GB" sz="2800" dirty="0">
              <a:latin typeface="Imprint MT Shadow" panose="04020605060303030202" pitchFamily="82" charset="0"/>
            </a:endParaRPr>
          </a:p>
          <a:p>
            <a:pPr algn="ctr"/>
            <a:r>
              <a:rPr lang="en-GB" sz="2800" dirty="0">
                <a:latin typeface="Imprint MT Shadow" panose="04020605060303030202" pitchFamily="82" charset="0"/>
              </a:rPr>
              <a:t>Python, GIT, ANSI SQL</a:t>
            </a:r>
          </a:p>
          <a:p>
            <a:pPr algn="ctr"/>
            <a:endParaRPr lang="en-GB" sz="2800" dirty="0">
              <a:latin typeface="Imprint MT Shadow" panose="04020605060303030202" pitchFamily="82" charset="0"/>
            </a:endParaRPr>
          </a:p>
          <a:p>
            <a:pPr algn="ctr"/>
            <a:r>
              <a:rPr lang="en-GB" sz="2800" dirty="0">
                <a:latin typeface="Imprint MT Shadow" panose="04020605060303030202" pitchFamily="82" charset="0"/>
              </a:rPr>
              <a:t>No lock-in</a:t>
            </a:r>
          </a:p>
          <a:p>
            <a:pPr algn="ctr"/>
            <a:endParaRPr lang="en-GB" dirty="0"/>
          </a:p>
        </p:txBody>
      </p:sp>
    </p:spTree>
    <p:extLst>
      <p:ext uri="{BB962C8B-B14F-4D97-AF65-F5344CB8AC3E}">
        <p14:creationId xmlns:p14="http://schemas.microsoft.com/office/powerpoint/2010/main" val="2407829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2000"/>
                                        <p:tgtEl>
                                          <p:spTgt spid="6"/>
                                        </p:tgtEl>
                                      </p:cBhvr>
                                    </p:animEffect>
                                    <p:set>
                                      <p:cBhvr>
                                        <p:cTn id="12" dur="1" fill="hold">
                                          <p:stCondLst>
                                            <p:cond delay="1999"/>
                                          </p:stCondLst>
                                        </p:cTn>
                                        <p:tgtEl>
                                          <p:spTgt spid="6"/>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287F7-86EF-B345-6F33-100E6B361FB3}"/>
            </a:ext>
          </a:extLst>
        </p:cNvPr>
        <p:cNvGrpSpPr/>
        <p:nvPr/>
      </p:nvGrpSpPr>
      <p:grpSpPr>
        <a:xfrm>
          <a:off x="0" y="0"/>
          <a:ext cx="0" cy="0"/>
          <a:chOff x="0" y="0"/>
          <a:chExt cx="0" cy="0"/>
        </a:xfrm>
      </p:grpSpPr>
      <p:grpSp>
        <p:nvGrpSpPr>
          <p:cNvPr id="34" name="Group 33">
            <a:extLst>
              <a:ext uri="{FF2B5EF4-FFF2-40B4-BE49-F238E27FC236}">
                <a16:creationId xmlns:a16="http://schemas.microsoft.com/office/drawing/2014/main" id="{0F1917D6-CEE9-34AE-B61E-B3C7F9388B45}"/>
              </a:ext>
            </a:extLst>
          </p:cNvPr>
          <p:cNvGrpSpPr/>
          <p:nvPr/>
        </p:nvGrpSpPr>
        <p:grpSpPr>
          <a:xfrm>
            <a:off x="391943" y="4824255"/>
            <a:ext cx="1991952" cy="1802178"/>
            <a:chOff x="3683087" y="22444"/>
            <a:chExt cx="6740402" cy="6740402"/>
          </a:xfrm>
        </p:grpSpPr>
        <p:pic>
          <p:nvPicPr>
            <p:cNvPr id="35" name="Picture 34" descr="A white stone structure with a triangular top">
              <a:extLst>
                <a:ext uri="{FF2B5EF4-FFF2-40B4-BE49-F238E27FC236}">
                  <a16:creationId xmlns:a16="http://schemas.microsoft.com/office/drawing/2014/main" id="{CE5682FF-4926-11EA-032B-C4C6CD5A5330}"/>
                </a:ext>
              </a:extLst>
            </p:cNvPr>
            <p:cNvPicPr>
              <a:picLocks noChangeAspect="1"/>
            </p:cNvPicPr>
            <p:nvPr/>
          </p:nvPicPr>
          <p:blipFill>
            <a:blip r:embed="rId3" cstate="screen">
              <a:alphaModFix amt="50000"/>
              <a:extLst>
                <a:ext uri="{28A0092B-C50C-407E-A947-70E740481C1C}">
                  <a14:useLocalDpi xmlns:a14="http://schemas.microsoft.com/office/drawing/2010/main" val="0"/>
                </a:ext>
              </a:extLst>
            </a:blip>
            <a:stretch>
              <a:fillRect/>
            </a:stretch>
          </p:blipFill>
          <p:spPr>
            <a:xfrm>
              <a:off x="3683087" y="22444"/>
              <a:ext cx="6740402" cy="6740402"/>
            </a:xfrm>
            <a:prstGeom prst="rect">
              <a:avLst/>
            </a:prstGeom>
          </p:spPr>
        </p:pic>
        <p:pic>
          <p:nvPicPr>
            <p:cNvPr id="36" name="Picture 35" descr="A white pillar with a black background&#10;&#10;AI-generated content may be incorrect.">
              <a:extLst>
                <a:ext uri="{FF2B5EF4-FFF2-40B4-BE49-F238E27FC236}">
                  <a16:creationId xmlns:a16="http://schemas.microsoft.com/office/drawing/2014/main" id="{D8F0743C-9F8B-DCF8-7084-E4FBABC0FF61}"/>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4576352" y="2670766"/>
              <a:ext cx="705782" cy="2222511"/>
            </a:xfrm>
            <a:prstGeom prst="rect">
              <a:avLst/>
            </a:prstGeom>
          </p:spPr>
        </p:pic>
        <p:pic>
          <p:nvPicPr>
            <p:cNvPr id="37" name="Picture 36" descr="A white pillar with a black background&#10;&#10;AI-generated content may be incorrect.">
              <a:extLst>
                <a:ext uri="{FF2B5EF4-FFF2-40B4-BE49-F238E27FC236}">
                  <a16:creationId xmlns:a16="http://schemas.microsoft.com/office/drawing/2014/main" id="{EDD4EFFC-A8AE-DCF4-58A7-6F0BB5C51696}"/>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6700397" y="2670766"/>
              <a:ext cx="705782" cy="2222511"/>
            </a:xfrm>
            <a:prstGeom prst="rect">
              <a:avLst/>
            </a:prstGeom>
          </p:spPr>
        </p:pic>
        <p:pic>
          <p:nvPicPr>
            <p:cNvPr id="38" name="Picture 37" descr="A white pillar with a black background&#10;&#10;AI-generated content may be incorrect.">
              <a:extLst>
                <a:ext uri="{FF2B5EF4-FFF2-40B4-BE49-F238E27FC236}">
                  <a16:creationId xmlns:a16="http://schemas.microsoft.com/office/drawing/2014/main" id="{7155D743-3C3B-264A-6BDC-5C4153B0C328}"/>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7408412" y="2670766"/>
              <a:ext cx="705782" cy="2222511"/>
            </a:xfrm>
            <a:prstGeom prst="rect">
              <a:avLst/>
            </a:prstGeom>
          </p:spPr>
        </p:pic>
        <p:pic>
          <p:nvPicPr>
            <p:cNvPr id="39" name="Picture 38" descr="A white pillar with a black background&#10;&#10;AI-generated content may be incorrect.">
              <a:extLst>
                <a:ext uri="{FF2B5EF4-FFF2-40B4-BE49-F238E27FC236}">
                  <a16:creationId xmlns:a16="http://schemas.microsoft.com/office/drawing/2014/main" id="{65D1A422-B564-E444-09A3-A3133CCCEA22}"/>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8116427" y="2670766"/>
              <a:ext cx="705782" cy="2222511"/>
            </a:xfrm>
            <a:prstGeom prst="rect">
              <a:avLst/>
            </a:prstGeom>
          </p:spPr>
        </p:pic>
        <p:pic>
          <p:nvPicPr>
            <p:cNvPr id="40" name="Picture 39" descr="A white pillar with a black background&#10;&#10;AI-generated content may be incorrect.">
              <a:extLst>
                <a:ext uri="{FF2B5EF4-FFF2-40B4-BE49-F238E27FC236}">
                  <a16:creationId xmlns:a16="http://schemas.microsoft.com/office/drawing/2014/main" id="{D5B57A06-8DD4-48B4-D707-BF6C8434A40B}"/>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5284367" y="2670766"/>
              <a:ext cx="705782" cy="2222511"/>
            </a:xfrm>
            <a:prstGeom prst="rect">
              <a:avLst/>
            </a:prstGeom>
          </p:spPr>
        </p:pic>
        <p:pic>
          <p:nvPicPr>
            <p:cNvPr id="41" name="Picture 40" descr="A white pillar with a black background&#10;&#10;AI-generated content may be incorrect.">
              <a:extLst>
                <a:ext uri="{FF2B5EF4-FFF2-40B4-BE49-F238E27FC236}">
                  <a16:creationId xmlns:a16="http://schemas.microsoft.com/office/drawing/2014/main" id="{2F45E58E-69A5-6711-FA1E-6C1D9EF0D048}"/>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5992382" y="2670766"/>
              <a:ext cx="705782" cy="2222511"/>
            </a:xfrm>
            <a:prstGeom prst="rect">
              <a:avLst/>
            </a:prstGeom>
          </p:spPr>
        </p:pic>
        <p:pic>
          <p:nvPicPr>
            <p:cNvPr id="42" name="Picture 41" descr="A white pillar with a black background&#10;&#10;AI-generated content may be incorrect.">
              <a:extLst>
                <a:ext uri="{FF2B5EF4-FFF2-40B4-BE49-F238E27FC236}">
                  <a16:creationId xmlns:a16="http://schemas.microsoft.com/office/drawing/2014/main" id="{86E7855B-8837-1A4F-8AE4-595DBC1A5376}"/>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8824439" y="2670766"/>
              <a:ext cx="705782" cy="2222511"/>
            </a:xfrm>
            <a:prstGeom prst="rect">
              <a:avLst/>
            </a:prstGeom>
          </p:spPr>
        </p:pic>
      </p:grpSp>
      <p:sp>
        <p:nvSpPr>
          <p:cNvPr id="2" name="Title 1">
            <a:extLst>
              <a:ext uri="{FF2B5EF4-FFF2-40B4-BE49-F238E27FC236}">
                <a16:creationId xmlns:a16="http://schemas.microsoft.com/office/drawing/2014/main" id="{385AD05F-038F-D305-381F-67EF0AF4DCFC}"/>
              </a:ext>
            </a:extLst>
          </p:cNvPr>
          <p:cNvSpPr>
            <a:spLocks noGrp="1"/>
          </p:cNvSpPr>
          <p:nvPr>
            <p:ph type="title" idx="4294967295"/>
          </p:nvPr>
        </p:nvSpPr>
        <p:spPr>
          <a:xfrm>
            <a:off x="2880000" y="719999"/>
            <a:ext cx="8912225" cy="720000"/>
          </a:xfrm>
        </p:spPr>
        <p:txBody>
          <a:bodyPr>
            <a:normAutofit fontScale="90000"/>
          </a:bodyPr>
          <a:lstStyle/>
          <a:p>
            <a:r>
              <a:rPr lang="en-US" dirty="0"/>
              <a:t>Reference Architecture - The Consumer Unit</a:t>
            </a:r>
            <a:endParaRPr lang="en-GB" dirty="0"/>
          </a:p>
        </p:txBody>
      </p:sp>
      <p:pic>
        <p:nvPicPr>
          <p:cNvPr id="33" name="Picture 32" descr="A white pillar with a letter&#10;&#10;AI-generated content may be incorrect.">
            <a:extLst>
              <a:ext uri="{FF2B5EF4-FFF2-40B4-BE49-F238E27FC236}">
                <a16:creationId xmlns:a16="http://schemas.microsoft.com/office/drawing/2014/main" id="{2F66842F-8DDE-0B8A-A5E7-5A660789BC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0000" y="720000"/>
            <a:ext cx="1244444" cy="4317460"/>
          </a:xfrm>
          <a:prstGeom prst="rect">
            <a:avLst/>
          </a:prstGeom>
        </p:spPr>
      </p:pic>
      <p:grpSp>
        <p:nvGrpSpPr>
          <p:cNvPr id="43" name="Group 42">
            <a:extLst>
              <a:ext uri="{FF2B5EF4-FFF2-40B4-BE49-F238E27FC236}">
                <a16:creationId xmlns:a16="http://schemas.microsoft.com/office/drawing/2014/main" id="{DF3801D3-2905-39B6-2788-1E09F14266CA}"/>
              </a:ext>
            </a:extLst>
          </p:cNvPr>
          <p:cNvGrpSpPr/>
          <p:nvPr/>
        </p:nvGrpSpPr>
        <p:grpSpPr>
          <a:xfrm>
            <a:off x="-352023" y="986185"/>
            <a:ext cx="2851517" cy="6868014"/>
            <a:chOff x="0" y="-786"/>
            <a:chExt cx="2851517" cy="6868014"/>
          </a:xfrm>
        </p:grpSpPr>
        <p:grpSp>
          <p:nvGrpSpPr>
            <p:cNvPr id="44" name="Group 43">
              <a:extLst>
                <a:ext uri="{FF2B5EF4-FFF2-40B4-BE49-F238E27FC236}">
                  <a16:creationId xmlns:a16="http://schemas.microsoft.com/office/drawing/2014/main" id="{8C9F02F8-AA05-072A-042A-2D9FB3D336AC}"/>
                </a:ext>
              </a:extLst>
            </p:cNvPr>
            <p:cNvGrpSpPr/>
            <p:nvPr/>
          </p:nvGrpSpPr>
          <p:grpSpPr>
            <a:xfrm>
              <a:off x="1" y="228600"/>
              <a:ext cx="2851516" cy="6638628"/>
              <a:chOff x="2487613" y="285750"/>
              <a:chExt cx="2428875" cy="5654676"/>
            </a:xfrm>
          </p:grpSpPr>
          <p:sp>
            <p:nvSpPr>
              <p:cNvPr id="59" name="Freeform 11">
                <a:extLst>
                  <a:ext uri="{FF2B5EF4-FFF2-40B4-BE49-F238E27FC236}">
                    <a16:creationId xmlns:a16="http://schemas.microsoft.com/office/drawing/2014/main" id="{539AFC0C-B6FB-9CC5-3860-43805E9EE522}"/>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60" name="Freeform 12">
                <a:extLst>
                  <a:ext uri="{FF2B5EF4-FFF2-40B4-BE49-F238E27FC236}">
                    <a16:creationId xmlns:a16="http://schemas.microsoft.com/office/drawing/2014/main" id="{57353869-B269-3DF2-B2E9-BD455F5B56D4}"/>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61" name="Freeform 13">
                <a:extLst>
                  <a:ext uri="{FF2B5EF4-FFF2-40B4-BE49-F238E27FC236}">
                    <a16:creationId xmlns:a16="http://schemas.microsoft.com/office/drawing/2014/main" id="{3D525A06-F51C-5B51-ACA6-110E4CB6CD18}"/>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62" name="Freeform 14">
                <a:extLst>
                  <a:ext uri="{FF2B5EF4-FFF2-40B4-BE49-F238E27FC236}">
                    <a16:creationId xmlns:a16="http://schemas.microsoft.com/office/drawing/2014/main" id="{CD9B2C08-2724-83E4-36C2-54322D2878A9}"/>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63" name="Freeform 15">
                <a:extLst>
                  <a:ext uri="{FF2B5EF4-FFF2-40B4-BE49-F238E27FC236}">
                    <a16:creationId xmlns:a16="http://schemas.microsoft.com/office/drawing/2014/main" id="{1FC4098D-B1C6-8CBC-C523-93774A70227A}"/>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64" name="Freeform 16">
                <a:extLst>
                  <a:ext uri="{FF2B5EF4-FFF2-40B4-BE49-F238E27FC236}">
                    <a16:creationId xmlns:a16="http://schemas.microsoft.com/office/drawing/2014/main" id="{6BC3EAFD-3FC8-BB39-2029-628BF4AE272E}"/>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65" name="Freeform 17">
                <a:extLst>
                  <a:ext uri="{FF2B5EF4-FFF2-40B4-BE49-F238E27FC236}">
                    <a16:creationId xmlns:a16="http://schemas.microsoft.com/office/drawing/2014/main" id="{4CAF9168-C501-95DC-3A25-504458E03A6A}"/>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66" name="Freeform 18">
                <a:extLst>
                  <a:ext uri="{FF2B5EF4-FFF2-40B4-BE49-F238E27FC236}">
                    <a16:creationId xmlns:a16="http://schemas.microsoft.com/office/drawing/2014/main" id="{AE123147-28C3-5D20-C241-5DEC66690519}"/>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67" name="Freeform 19">
                <a:extLst>
                  <a:ext uri="{FF2B5EF4-FFF2-40B4-BE49-F238E27FC236}">
                    <a16:creationId xmlns:a16="http://schemas.microsoft.com/office/drawing/2014/main" id="{ACA953ED-6CC9-7BAF-9DF8-5CFF5F64F26E}"/>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68" name="Freeform 20">
                <a:extLst>
                  <a:ext uri="{FF2B5EF4-FFF2-40B4-BE49-F238E27FC236}">
                    <a16:creationId xmlns:a16="http://schemas.microsoft.com/office/drawing/2014/main" id="{80C8A270-8C80-DC30-7727-8347494D0E48}"/>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69" name="Freeform 21">
                <a:extLst>
                  <a:ext uri="{FF2B5EF4-FFF2-40B4-BE49-F238E27FC236}">
                    <a16:creationId xmlns:a16="http://schemas.microsoft.com/office/drawing/2014/main" id="{D2673F9E-E1D0-33E6-DF07-FEF671501422}"/>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70" name="Freeform 22">
                <a:extLst>
                  <a:ext uri="{FF2B5EF4-FFF2-40B4-BE49-F238E27FC236}">
                    <a16:creationId xmlns:a16="http://schemas.microsoft.com/office/drawing/2014/main" id="{6B4F2ACC-8BCD-BE78-C18A-2A46DE2189DA}"/>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45" name="Group 44">
              <a:extLst>
                <a:ext uri="{FF2B5EF4-FFF2-40B4-BE49-F238E27FC236}">
                  <a16:creationId xmlns:a16="http://schemas.microsoft.com/office/drawing/2014/main" id="{62BFA2DF-A937-F0DA-757A-07529E8C8E1B}"/>
                </a:ext>
              </a:extLst>
            </p:cNvPr>
            <p:cNvGrpSpPr/>
            <p:nvPr/>
          </p:nvGrpSpPr>
          <p:grpSpPr>
            <a:xfrm>
              <a:off x="27221" y="-786"/>
              <a:ext cx="2356674" cy="6854039"/>
              <a:chOff x="6627813" y="194833"/>
              <a:chExt cx="1952625" cy="5678918"/>
            </a:xfrm>
          </p:grpSpPr>
          <p:sp>
            <p:nvSpPr>
              <p:cNvPr id="47" name="Freeform 27">
                <a:extLst>
                  <a:ext uri="{FF2B5EF4-FFF2-40B4-BE49-F238E27FC236}">
                    <a16:creationId xmlns:a16="http://schemas.microsoft.com/office/drawing/2014/main" id="{63A6C659-0999-3757-1E10-571E559E3B2D}"/>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48" name="Freeform 28">
                <a:extLst>
                  <a:ext uri="{FF2B5EF4-FFF2-40B4-BE49-F238E27FC236}">
                    <a16:creationId xmlns:a16="http://schemas.microsoft.com/office/drawing/2014/main" id="{2368C853-1891-DEC7-9F41-7FFF0C75DAA6}"/>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49" name="Freeform 29">
                <a:extLst>
                  <a:ext uri="{FF2B5EF4-FFF2-40B4-BE49-F238E27FC236}">
                    <a16:creationId xmlns:a16="http://schemas.microsoft.com/office/drawing/2014/main" id="{6786AF3D-25AA-7ABA-C633-948AD8D80374}"/>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50" name="Freeform 30">
                <a:extLst>
                  <a:ext uri="{FF2B5EF4-FFF2-40B4-BE49-F238E27FC236}">
                    <a16:creationId xmlns:a16="http://schemas.microsoft.com/office/drawing/2014/main" id="{DFE945FE-F48D-E679-D554-84DEC4C0592A}"/>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51" name="Freeform 31">
                <a:extLst>
                  <a:ext uri="{FF2B5EF4-FFF2-40B4-BE49-F238E27FC236}">
                    <a16:creationId xmlns:a16="http://schemas.microsoft.com/office/drawing/2014/main" id="{6A89B2EB-8CCD-7DC4-A522-03078E1EAADC}"/>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52" name="Freeform 32">
                <a:extLst>
                  <a:ext uri="{FF2B5EF4-FFF2-40B4-BE49-F238E27FC236}">
                    <a16:creationId xmlns:a16="http://schemas.microsoft.com/office/drawing/2014/main" id="{E81D6D5B-6B6B-C5A1-A6C8-3B69747EA943}"/>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53" name="Freeform 33">
                <a:extLst>
                  <a:ext uri="{FF2B5EF4-FFF2-40B4-BE49-F238E27FC236}">
                    <a16:creationId xmlns:a16="http://schemas.microsoft.com/office/drawing/2014/main" id="{22ABEF58-FEEE-B963-CFD2-4A51AD8E9C71}"/>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54" name="Freeform 34">
                <a:extLst>
                  <a:ext uri="{FF2B5EF4-FFF2-40B4-BE49-F238E27FC236}">
                    <a16:creationId xmlns:a16="http://schemas.microsoft.com/office/drawing/2014/main" id="{2013A9DF-AA7C-8050-2385-4ABCC54A059D}"/>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55" name="Freeform 35">
                <a:extLst>
                  <a:ext uri="{FF2B5EF4-FFF2-40B4-BE49-F238E27FC236}">
                    <a16:creationId xmlns:a16="http://schemas.microsoft.com/office/drawing/2014/main" id="{A91A58FE-64C4-CB8A-993C-D336F238A776}"/>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56" name="Freeform 36">
                <a:extLst>
                  <a:ext uri="{FF2B5EF4-FFF2-40B4-BE49-F238E27FC236}">
                    <a16:creationId xmlns:a16="http://schemas.microsoft.com/office/drawing/2014/main" id="{6123B219-83E8-3993-88B8-4EF18A0ED377}"/>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57" name="Freeform 37">
                <a:extLst>
                  <a:ext uri="{FF2B5EF4-FFF2-40B4-BE49-F238E27FC236}">
                    <a16:creationId xmlns:a16="http://schemas.microsoft.com/office/drawing/2014/main" id="{5BDC658A-A234-1792-9E57-4E40781C37EE}"/>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58" name="Freeform 38">
                <a:extLst>
                  <a:ext uri="{FF2B5EF4-FFF2-40B4-BE49-F238E27FC236}">
                    <a16:creationId xmlns:a16="http://schemas.microsoft.com/office/drawing/2014/main" id="{1B01845E-9C08-2CFD-145D-DE7A86394F3A}"/>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46" name="Rectangle 45">
              <a:extLst>
                <a:ext uri="{FF2B5EF4-FFF2-40B4-BE49-F238E27FC236}">
                  <a16:creationId xmlns:a16="http://schemas.microsoft.com/office/drawing/2014/main" id="{C3123870-BFF0-E17F-9AD4-B4D412AB6E8A}"/>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grpSp>
        <p:nvGrpSpPr>
          <p:cNvPr id="71" name="Group 70">
            <a:extLst>
              <a:ext uri="{FF2B5EF4-FFF2-40B4-BE49-F238E27FC236}">
                <a16:creationId xmlns:a16="http://schemas.microsoft.com/office/drawing/2014/main" id="{A2F373C4-E08A-09B3-6538-5B9302AF3FFC}"/>
              </a:ext>
            </a:extLst>
          </p:cNvPr>
          <p:cNvGrpSpPr/>
          <p:nvPr/>
        </p:nvGrpSpPr>
        <p:grpSpPr>
          <a:xfrm>
            <a:off x="3074329" y="9341683"/>
            <a:ext cx="1360031" cy="3648522"/>
            <a:chOff x="1962655" y="2674706"/>
            <a:chExt cx="1543581" cy="3778249"/>
          </a:xfrm>
        </p:grpSpPr>
        <p:sp>
          <p:nvSpPr>
            <p:cNvPr id="72" name="Freeform: Shape 71">
              <a:extLst>
                <a:ext uri="{FF2B5EF4-FFF2-40B4-BE49-F238E27FC236}">
                  <a16:creationId xmlns:a16="http://schemas.microsoft.com/office/drawing/2014/main" id="{27C6B3C9-3190-C95D-D0BB-4C0FC5D0EB90}"/>
                </a:ext>
              </a:extLst>
            </p:cNvPr>
            <p:cNvSpPr/>
            <p:nvPr/>
          </p:nvSpPr>
          <p:spPr>
            <a:xfrm>
              <a:off x="1962655" y="2674706"/>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Version Control</a:t>
              </a:r>
              <a:endParaRPr lang="en-GB" sz="1600" kern="1200" dirty="0"/>
            </a:p>
          </p:txBody>
        </p:sp>
        <p:sp>
          <p:nvSpPr>
            <p:cNvPr id="73" name="Oval 72" descr="Architecture with solid fill">
              <a:extLst>
                <a:ext uri="{FF2B5EF4-FFF2-40B4-BE49-F238E27FC236}">
                  <a16:creationId xmlns:a16="http://schemas.microsoft.com/office/drawing/2014/main" id="{7CF44302-E31C-FE09-B9AD-C53235B6F4FB}"/>
                </a:ext>
              </a:extLst>
            </p:cNvPr>
            <p:cNvSpPr/>
            <p:nvPr/>
          </p:nvSpPr>
          <p:spPr>
            <a:xfrm>
              <a:off x="2071075" y="3015543"/>
              <a:ext cx="1324450" cy="1266509"/>
            </a:xfrm>
            <a:prstGeom prst="ellipse">
              <a:avLst/>
            </a:prstGeom>
            <a:blipFill>
              <a:blip r:embed="rId6">
                <a:extLst>
                  <a:ext uri="{96DAC541-7B7A-43D3-8B79-37D633B846F1}">
                    <asvg:svgBlip xmlns:asvg="http://schemas.microsoft.com/office/drawing/2016/SVG/main" r:embed="rId7"/>
                  </a:ext>
                </a:extLst>
              </a:blip>
              <a:srcRect/>
              <a:stretch>
                <a:fillRect l="6581" t="9941" r="6581"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74" name="Group 73">
            <a:extLst>
              <a:ext uri="{FF2B5EF4-FFF2-40B4-BE49-F238E27FC236}">
                <a16:creationId xmlns:a16="http://schemas.microsoft.com/office/drawing/2014/main" id="{3FF1A6C3-410F-9588-A830-650007B5D23C}"/>
              </a:ext>
            </a:extLst>
          </p:cNvPr>
          <p:cNvGrpSpPr/>
          <p:nvPr/>
        </p:nvGrpSpPr>
        <p:grpSpPr>
          <a:xfrm>
            <a:off x="3074329" y="9453547"/>
            <a:ext cx="1360031" cy="3648522"/>
            <a:chOff x="2635145" y="2575044"/>
            <a:chExt cx="1543581" cy="3778249"/>
          </a:xfrm>
        </p:grpSpPr>
        <p:sp>
          <p:nvSpPr>
            <p:cNvPr id="75" name="Freeform: Shape 74">
              <a:extLst>
                <a:ext uri="{FF2B5EF4-FFF2-40B4-BE49-F238E27FC236}">
                  <a16:creationId xmlns:a16="http://schemas.microsoft.com/office/drawing/2014/main" id="{326A2360-7672-7F9E-541C-BE5DA4A37A32}"/>
                </a:ext>
              </a:extLst>
            </p:cNvPr>
            <p:cNvSpPr/>
            <p:nvPr/>
          </p:nvSpPr>
          <p:spPr>
            <a:xfrm>
              <a:off x="2635145"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Everything as Code</a:t>
              </a:r>
              <a:endParaRPr lang="en-GB" sz="1600" kern="1200" dirty="0"/>
            </a:p>
          </p:txBody>
        </p:sp>
        <p:sp>
          <p:nvSpPr>
            <p:cNvPr id="76" name="Oval 75" descr="Gears with solid fill">
              <a:extLst>
                <a:ext uri="{FF2B5EF4-FFF2-40B4-BE49-F238E27FC236}">
                  <a16:creationId xmlns:a16="http://schemas.microsoft.com/office/drawing/2014/main" id="{24194230-768D-8EF7-8462-12CE64BBA83D}"/>
                </a:ext>
              </a:extLst>
            </p:cNvPr>
            <p:cNvSpPr/>
            <p:nvPr/>
          </p:nvSpPr>
          <p:spPr>
            <a:xfrm>
              <a:off x="2655864" y="3015544"/>
              <a:ext cx="1450967" cy="1258156"/>
            </a:xfrm>
            <a:prstGeom prst="ellipse">
              <a:avLst/>
            </a:prstGeom>
            <a:blipFill>
              <a:blip r:embed="rId8">
                <a:extLst>
                  <a:ext uri="{96DAC541-7B7A-43D3-8B79-37D633B846F1}">
                    <asvg:svgBlip xmlns:asvg="http://schemas.microsoft.com/office/drawing/2016/SVG/main" r:embed="rId9"/>
                  </a:ext>
                </a:extLst>
              </a:blip>
              <a:srcRect/>
              <a:stretch>
                <a:fillRect l="4100" t="9941" r="4100"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77" name="Group 76">
            <a:extLst>
              <a:ext uri="{FF2B5EF4-FFF2-40B4-BE49-F238E27FC236}">
                <a16:creationId xmlns:a16="http://schemas.microsoft.com/office/drawing/2014/main" id="{B26A08C2-054A-EA93-02CA-DA73CA3E9B2D}"/>
              </a:ext>
            </a:extLst>
          </p:cNvPr>
          <p:cNvGrpSpPr/>
          <p:nvPr/>
        </p:nvGrpSpPr>
        <p:grpSpPr>
          <a:xfrm>
            <a:off x="3074329" y="9442574"/>
            <a:ext cx="1360031" cy="3648523"/>
            <a:chOff x="3381347" y="2620999"/>
            <a:chExt cx="1543581" cy="3778249"/>
          </a:xfrm>
        </p:grpSpPr>
        <p:sp>
          <p:nvSpPr>
            <p:cNvPr id="78" name="Freeform: Shape 77">
              <a:extLst>
                <a:ext uri="{FF2B5EF4-FFF2-40B4-BE49-F238E27FC236}">
                  <a16:creationId xmlns:a16="http://schemas.microsoft.com/office/drawing/2014/main" id="{2B72C8FB-55ED-A1A1-37AE-E2D39A12195D}"/>
                </a:ext>
              </a:extLst>
            </p:cNvPr>
            <p:cNvSpPr/>
            <p:nvPr/>
          </p:nvSpPr>
          <p:spPr>
            <a:xfrm>
              <a:off x="3381347" y="2620999"/>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CI/CD Pipelines</a:t>
              </a:r>
              <a:endParaRPr lang="en-GB" sz="1600" kern="1200" dirty="0"/>
            </a:p>
          </p:txBody>
        </p:sp>
        <p:sp>
          <p:nvSpPr>
            <p:cNvPr id="79" name="Oval 78" descr="Fire Hydrant with solid fill">
              <a:extLst>
                <a:ext uri="{FF2B5EF4-FFF2-40B4-BE49-F238E27FC236}">
                  <a16:creationId xmlns:a16="http://schemas.microsoft.com/office/drawing/2014/main" id="{5D6A7C86-732A-D5E5-D32B-69821E1BE1F2}"/>
                </a:ext>
              </a:extLst>
            </p:cNvPr>
            <p:cNvSpPr/>
            <p:nvPr/>
          </p:nvSpPr>
          <p:spPr>
            <a:xfrm>
              <a:off x="3532419" y="3015544"/>
              <a:ext cx="1285718" cy="1258156"/>
            </a:xfrm>
            <a:prstGeom prst="ellipse">
              <a:avLst/>
            </a:prstGeom>
            <a:blipFill>
              <a:blip r:embed="rId10">
                <a:extLst>
                  <a:ext uri="{96DAC541-7B7A-43D3-8B79-37D633B846F1}">
                    <asvg:svgBlip xmlns:asvg="http://schemas.microsoft.com/office/drawing/2016/SVG/main" r:embed="rId11"/>
                  </a:ext>
                </a:extLst>
              </a:blip>
              <a:srcRect/>
              <a:stretch>
                <a:fillRect l="-3343" t="14233" r="-3343" b="1423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0" name="Group 79">
            <a:extLst>
              <a:ext uri="{FF2B5EF4-FFF2-40B4-BE49-F238E27FC236}">
                <a16:creationId xmlns:a16="http://schemas.microsoft.com/office/drawing/2014/main" id="{129C70EA-8B82-4E63-A916-6713D7E44A4B}"/>
              </a:ext>
            </a:extLst>
          </p:cNvPr>
          <p:cNvGrpSpPr/>
          <p:nvPr/>
        </p:nvGrpSpPr>
        <p:grpSpPr>
          <a:xfrm>
            <a:off x="3074329" y="9421473"/>
            <a:ext cx="1360031" cy="3648523"/>
            <a:chOff x="4057758" y="2575044"/>
            <a:chExt cx="1543581" cy="3778249"/>
          </a:xfrm>
        </p:grpSpPr>
        <p:sp>
          <p:nvSpPr>
            <p:cNvPr id="81" name="Freeform: Shape 80">
              <a:extLst>
                <a:ext uri="{FF2B5EF4-FFF2-40B4-BE49-F238E27FC236}">
                  <a16:creationId xmlns:a16="http://schemas.microsoft.com/office/drawing/2014/main" id="{B50811D2-3A82-7988-C228-14BE34603CB1}"/>
                </a:ext>
              </a:extLst>
            </p:cNvPr>
            <p:cNvSpPr/>
            <p:nvPr/>
          </p:nvSpPr>
          <p:spPr>
            <a:xfrm>
              <a:off x="4057758"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Testing</a:t>
              </a:r>
              <a:endParaRPr lang="en-GB" sz="1600" kern="1200" dirty="0"/>
            </a:p>
          </p:txBody>
        </p:sp>
        <p:sp>
          <p:nvSpPr>
            <p:cNvPr id="82" name="Oval 81" descr="Clipboard Mixed with solid fill">
              <a:extLst>
                <a:ext uri="{FF2B5EF4-FFF2-40B4-BE49-F238E27FC236}">
                  <a16:creationId xmlns:a16="http://schemas.microsoft.com/office/drawing/2014/main" id="{A3CD33BF-7880-450E-1330-DE8EC669DE27}"/>
                </a:ext>
              </a:extLst>
            </p:cNvPr>
            <p:cNvSpPr/>
            <p:nvPr/>
          </p:nvSpPr>
          <p:spPr>
            <a:xfrm>
              <a:off x="4211083" y="3036819"/>
              <a:ext cx="1252792" cy="1258156"/>
            </a:xfrm>
            <a:prstGeom prst="ellipse">
              <a:avLst/>
            </a:prstGeom>
            <a:blipFill>
              <a:blip r:embed="rId12">
                <a:extLst>
                  <a:ext uri="{96DAC541-7B7A-43D3-8B79-37D633B846F1}">
                    <asvg:svgBlip xmlns:asvg="http://schemas.microsoft.com/office/drawing/2016/SVG/main" r:embed="rId13"/>
                  </a:ext>
                </a:extLst>
              </a:blip>
              <a:srcRect/>
              <a:stretch>
                <a:fillRect l="11543" t="11372" r="11543" b="11372"/>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3" name="Group 82">
            <a:extLst>
              <a:ext uri="{FF2B5EF4-FFF2-40B4-BE49-F238E27FC236}">
                <a16:creationId xmlns:a16="http://schemas.microsoft.com/office/drawing/2014/main" id="{37135D7F-126E-8B49-94B2-D018255804BA}"/>
              </a:ext>
            </a:extLst>
          </p:cNvPr>
          <p:cNvGrpSpPr/>
          <p:nvPr/>
        </p:nvGrpSpPr>
        <p:grpSpPr>
          <a:xfrm>
            <a:off x="3074329" y="9277871"/>
            <a:ext cx="1360031" cy="3648523"/>
            <a:chOff x="6498529" y="1701354"/>
            <a:chExt cx="1543581" cy="3778249"/>
          </a:xfrm>
        </p:grpSpPr>
        <p:sp>
          <p:nvSpPr>
            <p:cNvPr id="84" name="Freeform: Shape 83">
              <a:extLst>
                <a:ext uri="{FF2B5EF4-FFF2-40B4-BE49-F238E27FC236}">
                  <a16:creationId xmlns:a16="http://schemas.microsoft.com/office/drawing/2014/main" id="{30D5A082-1BF5-44E4-BEC8-50580137495D}"/>
                </a:ext>
              </a:extLst>
            </p:cNvPr>
            <p:cNvSpPr/>
            <p:nvPr/>
          </p:nvSpPr>
          <p:spPr>
            <a:xfrm>
              <a:off x="6498529" y="170135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Open Source First</a:t>
              </a:r>
              <a:endParaRPr lang="en-GB" sz="1600" kern="1200" dirty="0"/>
            </a:p>
          </p:txBody>
        </p:sp>
        <p:sp>
          <p:nvSpPr>
            <p:cNvPr id="85" name="Oval 84" descr="Open hand with solid fill">
              <a:extLst>
                <a:ext uri="{FF2B5EF4-FFF2-40B4-BE49-F238E27FC236}">
                  <a16:creationId xmlns:a16="http://schemas.microsoft.com/office/drawing/2014/main" id="{FD09B553-6F2B-CEBC-A24A-56988948D18C}"/>
                </a:ext>
              </a:extLst>
            </p:cNvPr>
            <p:cNvSpPr/>
            <p:nvPr/>
          </p:nvSpPr>
          <p:spPr>
            <a:xfrm>
              <a:off x="6603697" y="2140995"/>
              <a:ext cx="1329999" cy="1258155"/>
            </a:xfrm>
            <a:prstGeom prst="ellipse">
              <a:avLst/>
            </a:prstGeom>
            <a:blipFill>
              <a:blip r:embed="rId14">
                <a:extLst>
                  <a:ext uri="{96DAC541-7B7A-43D3-8B79-37D633B846F1}">
                    <asvg:svgBlip xmlns:asvg="http://schemas.microsoft.com/office/drawing/2016/SVG/main" r:embed="rId15"/>
                  </a:ext>
                </a:extLst>
              </a:blip>
              <a:srcRect/>
              <a:stretch>
                <a:fillRect l="15265" t="7080" r="15265" b="708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6" name="Group 85">
            <a:extLst>
              <a:ext uri="{FF2B5EF4-FFF2-40B4-BE49-F238E27FC236}">
                <a16:creationId xmlns:a16="http://schemas.microsoft.com/office/drawing/2014/main" id="{2FE9D88E-FFF3-5589-51EB-ACD276F8E39E}"/>
              </a:ext>
            </a:extLst>
          </p:cNvPr>
          <p:cNvGrpSpPr/>
          <p:nvPr/>
        </p:nvGrpSpPr>
        <p:grpSpPr>
          <a:xfrm>
            <a:off x="2520000" y="1800000"/>
            <a:ext cx="1360031" cy="3648523"/>
            <a:chOff x="8089560" y="1700495"/>
            <a:chExt cx="1543581" cy="3880755"/>
          </a:xfrm>
        </p:grpSpPr>
        <p:sp>
          <p:nvSpPr>
            <p:cNvPr id="87" name="Freeform: Shape 86">
              <a:extLst>
                <a:ext uri="{FF2B5EF4-FFF2-40B4-BE49-F238E27FC236}">
                  <a16:creationId xmlns:a16="http://schemas.microsoft.com/office/drawing/2014/main" id="{E25B3D2C-47BF-A088-272A-A2FE2C909538}"/>
                </a:ext>
              </a:extLst>
            </p:cNvPr>
            <p:cNvSpPr/>
            <p:nvPr/>
          </p:nvSpPr>
          <p:spPr>
            <a:xfrm>
              <a:off x="8089560" y="1700495"/>
              <a:ext cx="1543581" cy="3880755"/>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Reference Architecture</a:t>
              </a:r>
              <a:endParaRPr lang="en-GB" sz="1600" kern="1200" dirty="0"/>
            </a:p>
          </p:txBody>
        </p:sp>
        <p:sp>
          <p:nvSpPr>
            <p:cNvPr id="88" name="Oval 87" descr="Books on shelf with solid fill">
              <a:extLst>
                <a:ext uri="{FF2B5EF4-FFF2-40B4-BE49-F238E27FC236}">
                  <a16:creationId xmlns:a16="http://schemas.microsoft.com/office/drawing/2014/main" id="{560285EE-6E6B-DD86-85E0-F1BD8E4E4F64}"/>
                </a:ext>
              </a:extLst>
            </p:cNvPr>
            <p:cNvSpPr/>
            <p:nvPr/>
          </p:nvSpPr>
          <p:spPr>
            <a:xfrm>
              <a:off x="8135868" y="2172679"/>
              <a:ext cx="1450967" cy="1258156"/>
            </a:xfrm>
            <a:prstGeom prst="ellipse">
              <a:avLst/>
            </a:prstGeom>
            <a:blipFill>
              <a:blip r:embed="rId16">
                <a:extLst>
                  <a:ext uri="{96DAC541-7B7A-43D3-8B79-37D633B846F1}">
                    <asvg:svgBlip xmlns:asvg="http://schemas.microsoft.com/office/drawing/2016/SVG/main" r:embed="rId17"/>
                  </a:ext>
                </a:extLst>
              </a:blip>
              <a:srcRect/>
              <a:stretch>
                <a:fillRect l="12784" t="12803" r="12784" b="1280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9" name="Group 88">
            <a:extLst>
              <a:ext uri="{FF2B5EF4-FFF2-40B4-BE49-F238E27FC236}">
                <a16:creationId xmlns:a16="http://schemas.microsoft.com/office/drawing/2014/main" id="{A420327F-7469-4FA9-56FB-52A9CC328F8B}"/>
              </a:ext>
            </a:extLst>
          </p:cNvPr>
          <p:cNvGrpSpPr/>
          <p:nvPr/>
        </p:nvGrpSpPr>
        <p:grpSpPr>
          <a:xfrm>
            <a:off x="3074329" y="9214267"/>
            <a:ext cx="1343700" cy="3648523"/>
            <a:chOff x="9741055" y="1651927"/>
            <a:chExt cx="1525046" cy="3935709"/>
          </a:xfrm>
        </p:grpSpPr>
        <p:sp>
          <p:nvSpPr>
            <p:cNvPr id="90" name="Freeform: Shape 89">
              <a:extLst>
                <a:ext uri="{FF2B5EF4-FFF2-40B4-BE49-F238E27FC236}">
                  <a16:creationId xmlns:a16="http://schemas.microsoft.com/office/drawing/2014/main" id="{D7CEC630-BD10-D4B4-FF59-E1E6CCAA4F24}"/>
                </a:ext>
              </a:extLst>
            </p:cNvPr>
            <p:cNvSpPr/>
            <p:nvPr/>
          </p:nvSpPr>
          <p:spPr>
            <a:xfrm>
              <a:off x="9741055" y="1651927"/>
              <a:ext cx="1525046" cy="393570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lvl="0" algn="ctr" defTabSz="311150">
                <a:lnSpc>
                  <a:spcPct val="90000"/>
                </a:lnSpc>
                <a:spcBef>
                  <a:spcPct val="0"/>
                </a:spcBef>
                <a:spcAft>
                  <a:spcPct val="35000"/>
                </a:spcAft>
              </a:pPr>
              <a:r>
                <a:rPr lang="en-US" kern="1200" dirty="0"/>
                <a:t>Security by </a:t>
              </a:r>
              <a:r>
                <a:rPr lang="en-US" dirty="0"/>
                <a:t>Design</a:t>
              </a:r>
              <a:endParaRPr lang="en-GB" kern="1200" dirty="0"/>
            </a:p>
          </p:txBody>
        </p:sp>
        <p:sp>
          <p:nvSpPr>
            <p:cNvPr id="91" name="Oval 90" descr="Lock with solid fill">
              <a:extLst>
                <a:ext uri="{FF2B5EF4-FFF2-40B4-BE49-F238E27FC236}">
                  <a16:creationId xmlns:a16="http://schemas.microsoft.com/office/drawing/2014/main" id="{A099E5E0-51CB-FEAE-6CAD-900210ADD994}"/>
                </a:ext>
              </a:extLst>
            </p:cNvPr>
            <p:cNvSpPr/>
            <p:nvPr/>
          </p:nvSpPr>
          <p:spPr>
            <a:xfrm>
              <a:off x="9861201" y="2088561"/>
              <a:ext cx="1284754" cy="1310590"/>
            </a:xfrm>
            <a:prstGeom prst="ellipse">
              <a:avLst/>
            </a:prstGeom>
            <a:blipFill>
              <a:blip r:embed="rId18">
                <a:extLst>
                  <a:ext uri="{96DAC541-7B7A-43D3-8B79-37D633B846F1}">
                    <asvg:svgBlip xmlns:asvg="http://schemas.microsoft.com/office/drawing/2016/SVG/main" r:embed="rId19"/>
                  </a:ext>
                </a:extLst>
              </a:blip>
              <a:srcRect/>
              <a:stretch>
                <a:fillRect l="-2737" t="11544" r="-2737" b="11544"/>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pic>
        <p:nvPicPr>
          <p:cNvPr id="5" name="Picture 4">
            <a:extLst>
              <a:ext uri="{FF2B5EF4-FFF2-40B4-BE49-F238E27FC236}">
                <a16:creationId xmlns:a16="http://schemas.microsoft.com/office/drawing/2014/main" id="{97982D4A-2597-741B-D15C-C1B9F6844B59}"/>
              </a:ext>
            </a:extLst>
          </p:cNvPr>
          <p:cNvPicPr>
            <a:picLocks noChangeAspect="1"/>
          </p:cNvPicPr>
          <p:nvPr/>
        </p:nvPicPr>
        <p:blipFill>
          <a:blip r:embed="rId20">
            <a:extLst>
              <a:ext uri="{28A0092B-C50C-407E-A947-70E740481C1C}">
                <a14:useLocalDpi xmlns:a14="http://schemas.microsoft.com/office/drawing/2010/main" val="0"/>
              </a:ext>
            </a:extLst>
          </a:blip>
          <a:srcRect/>
          <a:stretch/>
        </p:blipFill>
        <p:spPr>
          <a:xfrm>
            <a:off x="5876128" y="1634225"/>
            <a:ext cx="3902872" cy="3902872"/>
          </a:xfrm>
          <a:prstGeom prst="rect">
            <a:avLst/>
          </a:prstGeom>
          <a:effectLst>
            <a:softEdge rad="190500"/>
          </a:effectLst>
        </p:spPr>
      </p:pic>
      <p:sp>
        <p:nvSpPr>
          <p:cNvPr id="8" name="Content Placeholder 2">
            <a:extLst>
              <a:ext uri="{FF2B5EF4-FFF2-40B4-BE49-F238E27FC236}">
                <a16:creationId xmlns:a16="http://schemas.microsoft.com/office/drawing/2014/main" id="{15B0D634-2DD7-31E2-649F-1408DB75E8BC}"/>
              </a:ext>
            </a:extLst>
          </p:cNvPr>
          <p:cNvSpPr txBox="1">
            <a:spLocks/>
          </p:cNvSpPr>
          <p:nvPr/>
        </p:nvSpPr>
        <p:spPr>
          <a:xfrm>
            <a:off x="4146712" y="5629272"/>
            <a:ext cx="7847023" cy="929040"/>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dirty="0"/>
          </a:p>
          <a:p>
            <a:r>
              <a:rPr lang="en-US" dirty="0"/>
              <a:t>"Despite different voltage inputs - mains, solar, generator - all devices get standard 240V power “</a:t>
            </a:r>
          </a:p>
          <a:p>
            <a:endParaRPr lang="en-US" dirty="0"/>
          </a:p>
          <a:p>
            <a:endParaRPr lang="en-US" dirty="0"/>
          </a:p>
          <a:p>
            <a:endParaRPr lang="en-GB" dirty="0"/>
          </a:p>
        </p:txBody>
      </p:sp>
      <p:sp>
        <p:nvSpPr>
          <p:cNvPr id="3" name="Rectangle: Rounded Corners 2">
            <a:extLst>
              <a:ext uri="{FF2B5EF4-FFF2-40B4-BE49-F238E27FC236}">
                <a16:creationId xmlns:a16="http://schemas.microsoft.com/office/drawing/2014/main" id="{3EF2EFF2-11FF-527F-5B03-833D7939C90F}"/>
              </a:ext>
            </a:extLst>
          </p:cNvPr>
          <p:cNvSpPr/>
          <p:nvPr/>
        </p:nvSpPr>
        <p:spPr>
          <a:xfrm>
            <a:off x="5087481" y="2118427"/>
            <a:ext cx="5497352" cy="3183054"/>
          </a:xfrm>
          <a:prstGeom prst="roundRect">
            <a:avLst/>
          </a:prstGeom>
          <a:ln w="12700"/>
          <a:scene3d>
            <a:camera prst="orthographicFront"/>
            <a:lightRig rig="threePt" dir="t"/>
          </a:scene3d>
          <a:sp3d>
            <a:bevelT w="114300" prst="hardEdge"/>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2800" dirty="0">
                <a:latin typeface="Imprint MT Shadow" panose="04020605060303030202" pitchFamily="82" charset="0"/>
              </a:rPr>
              <a:t>Common Data Models</a:t>
            </a:r>
          </a:p>
          <a:p>
            <a:pPr algn="ctr"/>
            <a:endParaRPr lang="en-GB" sz="2800" dirty="0">
              <a:latin typeface="Imprint MT Shadow" panose="04020605060303030202" pitchFamily="82" charset="0"/>
            </a:endParaRPr>
          </a:p>
          <a:p>
            <a:pPr algn="ctr"/>
            <a:r>
              <a:rPr lang="en-GB" sz="2800" dirty="0">
                <a:latin typeface="Imprint MT Shadow" panose="04020605060303030202" pitchFamily="82" charset="0"/>
              </a:rPr>
              <a:t>NHS Data Dictionary</a:t>
            </a:r>
          </a:p>
          <a:p>
            <a:pPr algn="ctr"/>
            <a:endParaRPr lang="en-GB" dirty="0"/>
          </a:p>
        </p:txBody>
      </p:sp>
    </p:spTree>
    <p:extLst>
      <p:ext uri="{BB962C8B-B14F-4D97-AF65-F5344CB8AC3E}">
        <p14:creationId xmlns:p14="http://schemas.microsoft.com/office/powerpoint/2010/main" val="27621968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2000"/>
                                        <p:tgtEl>
                                          <p:spTgt spid="5"/>
                                        </p:tgtEl>
                                      </p:cBhvr>
                                    </p:animEffect>
                                    <p:set>
                                      <p:cBhvr>
                                        <p:cTn id="12" dur="1" fill="hold">
                                          <p:stCondLst>
                                            <p:cond delay="1999"/>
                                          </p:stCondLst>
                                        </p:cTn>
                                        <p:tgtEl>
                                          <p:spTgt spid="5"/>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A939E-D09F-BC78-215B-F7247854942B}"/>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90C9868D-B029-FAF1-8645-5165A58F0DE6}"/>
              </a:ext>
            </a:extLst>
          </p:cNvPr>
          <p:cNvGrpSpPr/>
          <p:nvPr/>
        </p:nvGrpSpPr>
        <p:grpSpPr>
          <a:xfrm>
            <a:off x="267241" y="4774072"/>
            <a:ext cx="2154101" cy="2110759"/>
            <a:chOff x="2984576" y="1214258"/>
            <a:chExt cx="7966605" cy="6204427"/>
          </a:xfrm>
        </p:grpSpPr>
        <p:pic>
          <p:nvPicPr>
            <p:cNvPr id="16" name="Picture 15" descr="A white stone structure with a triangular top">
              <a:extLst>
                <a:ext uri="{FF2B5EF4-FFF2-40B4-BE49-F238E27FC236}">
                  <a16:creationId xmlns:a16="http://schemas.microsoft.com/office/drawing/2014/main" id="{1C548E56-9AE2-053A-9822-CE3C1438FC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4576" y="1214258"/>
              <a:ext cx="7966605" cy="6204427"/>
            </a:xfrm>
            <a:prstGeom prst="rect">
              <a:avLst/>
            </a:prstGeom>
          </p:spPr>
        </p:pic>
        <p:pic>
          <p:nvPicPr>
            <p:cNvPr id="17" name="Picture 16" descr="A white pillar with a letter v&#10;&#10;AI-generated content may be incorrect.">
              <a:extLst>
                <a:ext uri="{FF2B5EF4-FFF2-40B4-BE49-F238E27FC236}">
                  <a16:creationId xmlns:a16="http://schemas.microsoft.com/office/drawing/2014/main" id="{E3CB84A0-7BB1-772D-60FC-A8978968362B}"/>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108093" y="3645372"/>
              <a:ext cx="576000" cy="1998370"/>
            </a:xfrm>
            <a:prstGeom prst="rect">
              <a:avLst/>
            </a:prstGeom>
          </p:spPr>
        </p:pic>
        <p:pic>
          <p:nvPicPr>
            <p:cNvPr id="18" name="Picture 17" descr="A white pillar with a letter e&#10;&#10;AI-generated content may be incorrect.">
              <a:extLst>
                <a:ext uri="{FF2B5EF4-FFF2-40B4-BE49-F238E27FC236}">
                  <a16:creationId xmlns:a16="http://schemas.microsoft.com/office/drawing/2014/main" id="{4255B728-811E-D979-936E-BCE20937DCFF}"/>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989396" y="3645375"/>
              <a:ext cx="576000" cy="1998367"/>
            </a:xfrm>
            <a:prstGeom prst="rect">
              <a:avLst/>
            </a:prstGeom>
          </p:spPr>
        </p:pic>
        <p:pic>
          <p:nvPicPr>
            <p:cNvPr id="19" name="Picture 18" descr="A white pillar with a letter c&#10;&#10;AI-generated content may be incorrect.">
              <a:extLst>
                <a:ext uri="{FF2B5EF4-FFF2-40B4-BE49-F238E27FC236}">
                  <a16:creationId xmlns:a16="http://schemas.microsoft.com/office/drawing/2014/main" id="{05AA5203-F148-D45C-00CB-BDBE3BCAC69A}"/>
                </a:ext>
              </a:extLst>
            </p:cNvPr>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5870699" y="3645375"/>
              <a:ext cx="576000" cy="1998367"/>
            </a:xfrm>
            <a:prstGeom prst="rect">
              <a:avLst/>
            </a:prstGeom>
          </p:spPr>
        </p:pic>
        <p:pic>
          <p:nvPicPr>
            <p:cNvPr id="20" name="Picture 19" descr="A white pillar with a letter&#10;&#10;AI-generated content may be incorrect.">
              <a:extLst>
                <a:ext uri="{FF2B5EF4-FFF2-40B4-BE49-F238E27FC236}">
                  <a16:creationId xmlns:a16="http://schemas.microsoft.com/office/drawing/2014/main" id="{8B7F4708-4341-57EF-F3CB-97609F67832F}"/>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6752002" y="3645375"/>
              <a:ext cx="576000" cy="1998367"/>
            </a:xfrm>
            <a:prstGeom prst="rect">
              <a:avLst/>
            </a:prstGeom>
          </p:spPr>
        </p:pic>
        <p:pic>
          <p:nvPicPr>
            <p:cNvPr id="21" name="Picture 20" descr="A white pillar with a letter o&#10;&#10;AI-generated content may be incorrect.">
              <a:extLst>
                <a:ext uri="{FF2B5EF4-FFF2-40B4-BE49-F238E27FC236}">
                  <a16:creationId xmlns:a16="http://schemas.microsoft.com/office/drawing/2014/main" id="{6A5418B8-5E2B-C2C6-147C-3EF5DCF65597}"/>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7633305" y="3663742"/>
              <a:ext cx="570706" cy="1980000"/>
            </a:xfrm>
            <a:prstGeom prst="rect">
              <a:avLst/>
            </a:prstGeom>
          </p:spPr>
        </p:pic>
        <p:pic>
          <p:nvPicPr>
            <p:cNvPr id="22" name="Picture 21" descr="A white pillar with a letter&#10;&#10;AI-generated content may be incorrect.">
              <a:extLst>
                <a:ext uri="{FF2B5EF4-FFF2-40B4-BE49-F238E27FC236}">
                  <a16:creationId xmlns:a16="http://schemas.microsoft.com/office/drawing/2014/main" id="{92F6C802-99EE-4D1F-BA08-7B0CAA91012C}"/>
                </a:ext>
              </a:extLst>
            </p:cNvPr>
            <p:cNvPicPr>
              <a:picLocks noChangeAspect="1"/>
            </p:cNvPicPr>
            <p:nvPr/>
          </p:nvPicPr>
          <p:blipFill>
            <a:blip r:embed="rId9" cstate="screen">
              <a:extLst>
                <a:ext uri="{28A0092B-C50C-407E-A947-70E740481C1C}">
                  <a14:useLocalDpi xmlns:a14="http://schemas.microsoft.com/office/drawing/2010/main" val="0"/>
                </a:ext>
              </a:extLst>
            </a:blip>
            <a:stretch>
              <a:fillRect/>
            </a:stretch>
          </p:blipFill>
          <p:spPr>
            <a:xfrm>
              <a:off x="8509314" y="3663742"/>
              <a:ext cx="570706" cy="1980000"/>
            </a:xfrm>
            <a:prstGeom prst="rect">
              <a:avLst/>
            </a:prstGeom>
          </p:spPr>
        </p:pic>
        <p:pic>
          <p:nvPicPr>
            <p:cNvPr id="23" name="Picture 22" descr="A white pillar with a letter on it&#10;&#10;AI-generated content may be incorrect.">
              <a:extLst>
                <a:ext uri="{FF2B5EF4-FFF2-40B4-BE49-F238E27FC236}">
                  <a16:creationId xmlns:a16="http://schemas.microsoft.com/office/drawing/2014/main" id="{D193F43B-7112-8658-0CE0-137910F7CE7B}"/>
                </a:ext>
              </a:extLst>
            </p:cNvPr>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9385320" y="3663742"/>
              <a:ext cx="570706" cy="1980000"/>
            </a:xfrm>
            <a:prstGeom prst="rect">
              <a:avLst/>
            </a:prstGeom>
          </p:spPr>
        </p:pic>
      </p:grpSp>
      <p:sp>
        <p:nvSpPr>
          <p:cNvPr id="2" name="Title 1">
            <a:extLst>
              <a:ext uri="{FF2B5EF4-FFF2-40B4-BE49-F238E27FC236}">
                <a16:creationId xmlns:a16="http://schemas.microsoft.com/office/drawing/2014/main" id="{7ED7D9FB-09E1-9A5C-899A-1235FFDA484A}"/>
              </a:ext>
            </a:extLst>
          </p:cNvPr>
          <p:cNvSpPr>
            <a:spLocks noGrp="1"/>
          </p:cNvSpPr>
          <p:nvPr>
            <p:ph type="title" idx="4294967295"/>
          </p:nvPr>
        </p:nvSpPr>
        <p:spPr>
          <a:xfrm>
            <a:off x="2880000" y="720000"/>
            <a:ext cx="8912225" cy="946135"/>
          </a:xfrm>
        </p:spPr>
        <p:txBody>
          <a:bodyPr>
            <a:normAutofit fontScale="90000"/>
          </a:bodyPr>
          <a:lstStyle/>
          <a:p>
            <a:r>
              <a:rPr lang="en-US" dirty="0"/>
              <a:t>Security by Design - The Security System</a:t>
            </a:r>
            <a:br>
              <a:rPr lang="en-US" dirty="0"/>
            </a:br>
            <a:endParaRPr lang="en-GB" dirty="0"/>
          </a:p>
        </p:txBody>
      </p:sp>
      <p:sp>
        <p:nvSpPr>
          <p:cNvPr id="3" name="Content Placeholder 2">
            <a:extLst>
              <a:ext uri="{FF2B5EF4-FFF2-40B4-BE49-F238E27FC236}">
                <a16:creationId xmlns:a16="http://schemas.microsoft.com/office/drawing/2014/main" id="{9AC4BF3E-82DE-0188-5ECC-1E1A91DBC2F9}"/>
              </a:ext>
            </a:extLst>
          </p:cNvPr>
          <p:cNvSpPr>
            <a:spLocks noGrp="1"/>
          </p:cNvSpPr>
          <p:nvPr>
            <p:ph idx="4294967295"/>
          </p:nvPr>
        </p:nvSpPr>
        <p:spPr>
          <a:xfrm>
            <a:off x="4114279" y="5515655"/>
            <a:ext cx="6794090" cy="1037406"/>
          </a:xfrm>
        </p:spPr>
        <p:txBody>
          <a:bodyPr>
            <a:normAutofit/>
          </a:bodyPr>
          <a:lstStyle/>
          <a:p>
            <a:endParaRPr lang="en-US" dirty="0"/>
          </a:p>
          <a:p>
            <a:r>
              <a:rPr lang="en-US" dirty="0"/>
              <a:t>"Smart locks that </a:t>
            </a:r>
            <a:r>
              <a:rPr lang="en-US" dirty="0" err="1"/>
              <a:t>recognise</a:t>
            </a:r>
            <a:r>
              <a:rPr lang="en-US" dirty="0"/>
              <a:t> residents but stop burglars“</a:t>
            </a:r>
          </a:p>
          <a:p>
            <a:endParaRPr lang="en-US" dirty="0"/>
          </a:p>
          <a:p>
            <a:endParaRPr lang="en-US" dirty="0"/>
          </a:p>
          <a:p>
            <a:endParaRPr lang="en-GB" dirty="0"/>
          </a:p>
        </p:txBody>
      </p:sp>
      <p:pic>
        <p:nvPicPr>
          <p:cNvPr id="33" name="Picture 32" descr="A white pillar with a letter on it&#10;&#10;AI-generated content may be incorrect.">
            <a:extLst>
              <a:ext uri="{FF2B5EF4-FFF2-40B4-BE49-F238E27FC236}">
                <a16:creationId xmlns:a16="http://schemas.microsoft.com/office/drawing/2014/main" id="{931F563C-1DFA-56BF-B23C-B3B6F745D6A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20000" y="720000"/>
            <a:ext cx="1244444" cy="4317460"/>
          </a:xfrm>
          <a:prstGeom prst="rect">
            <a:avLst/>
          </a:prstGeom>
        </p:spPr>
      </p:pic>
      <p:grpSp>
        <p:nvGrpSpPr>
          <p:cNvPr id="43" name="Group 42">
            <a:extLst>
              <a:ext uri="{FF2B5EF4-FFF2-40B4-BE49-F238E27FC236}">
                <a16:creationId xmlns:a16="http://schemas.microsoft.com/office/drawing/2014/main" id="{AAD46402-1DE8-697C-6083-9BD862CC4EB1}"/>
              </a:ext>
            </a:extLst>
          </p:cNvPr>
          <p:cNvGrpSpPr/>
          <p:nvPr/>
        </p:nvGrpSpPr>
        <p:grpSpPr>
          <a:xfrm>
            <a:off x="-352023" y="986185"/>
            <a:ext cx="2851517" cy="6868014"/>
            <a:chOff x="0" y="-786"/>
            <a:chExt cx="2851517" cy="6868014"/>
          </a:xfrm>
        </p:grpSpPr>
        <p:grpSp>
          <p:nvGrpSpPr>
            <p:cNvPr id="44" name="Group 43">
              <a:extLst>
                <a:ext uri="{FF2B5EF4-FFF2-40B4-BE49-F238E27FC236}">
                  <a16:creationId xmlns:a16="http://schemas.microsoft.com/office/drawing/2014/main" id="{ECAF4F6A-921A-04BC-6916-51C1AD4DC408}"/>
                </a:ext>
              </a:extLst>
            </p:cNvPr>
            <p:cNvGrpSpPr/>
            <p:nvPr/>
          </p:nvGrpSpPr>
          <p:grpSpPr>
            <a:xfrm>
              <a:off x="1" y="228600"/>
              <a:ext cx="2851516" cy="6638628"/>
              <a:chOff x="2487613" y="285750"/>
              <a:chExt cx="2428875" cy="5654676"/>
            </a:xfrm>
          </p:grpSpPr>
          <p:sp>
            <p:nvSpPr>
              <p:cNvPr id="59" name="Freeform 11">
                <a:extLst>
                  <a:ext uri="{FF2B5EF4-FFF2-40B4-BE49-F238E27FC236}">
                    <a16:creationId xmlns:a16="http://schemas.microsoft.com/office/drawing/2014/main" id="{9993610F-4F0D-CC13-6973-795DCE793CD0}"/>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60" name="Freeform 12">
                <a:extLst>
                  <a:ext uri="{FF2B5EF4-FFF2-40B4-BE49-F238E27FC236}">
                    <a16:creationId xmlns:a16="http://schemas.microsoft.com/office/drawing/2014/main" id="{BABDF167-0264-D0D3-9072-3C4FA7AD4DAC}"/>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61" name="Freeform 13">
                <a:extLst>
                  <a:ext uri="{FF2B5EF4-FFF2-40B4-BE49-F238E27FC236}">
                    <a16:creationId xmlns:a16="http://schemas.microsoft.com/office/drawing/2014/main" id="{52C21553-765E-EF5B-1612-160F99956D75}"/>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62" name="Freeform 14">
                <a:extLst>
                  <a:ext uri="{FF2B5EF4-FFF2-40B4-BE49-F238E27FC236}">
                    <a16:creationId xmlns:a16="http://schemas.microsoft.com/office/drawing/2014/main" id="{F5882080-E0CE-28BD-7681-07F83B3BCE5D}"/>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63" name="Freeform 15">
                <a:extLst>
                  <a:ext uri="{FF2B5EF4-FFF2-40B4-BE49-F238E27FC236}">
                    <a16:creationId xmlns:a16="http://schemas.microsoft.com/office/drawing/2014/main" id="{48B49D0E-EA67-CDE8-D279-A9FFCFC1EBC1}"/>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64" name="Freeform 16">
                <a:extLst>
                  <a:ext uri="{FF2B5EF4-FFF2-40B4-BE49-F238E27FC236}">
                    <a16:creationId xmlns:a16="http://schemas.microsoft.com/office/drawing/2014/main" id="{0379D875-8345-F388-BB41-57140CACEBD0}"/>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65" name="Freeform 17">
                <a:extLst>
                  <a:ext uri="{FF2B5EF4-FFF2-40B4-BE49-F238E27FC236}">
                    <a16:creationId xmlns:a16="http://schemas.microsoft.com/office/drawing/2014/main" id="{BAEEECB2-F188-19C3-B271-962AB96B7F0D}"/>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66" name="Freeform 18">
                <a:extLst>
                  <a:ext uri="{FF2B5EF4-FFF2-40B4-BE49-F238E27FC236}">
                    <a16:creationId xmlns:a16="http://schemas.microsoft.com/office/drawing/2014/main" id="{A8D358A0-178A-6262-93F4-5912894A92EA}"/>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67" name="Freeform 19">
                <a:extLst>
                  <a:ext uri="{FF2B5EF4-FFF2-40B4-BE49-F238E27FC236}">
                    <a16:creationId xmlns:a16="http://schemas.microsoft.com/office/drawing/2014/main" id="{001CCF2A-CDF4-27BF-F3D2-55EEDCCB4B81}"/>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68" name="Freeform 20">
                <a:extLst>
                  <a:ext uri="{FF2B5EF4-FFF2-40B4-BE49-F238E27FC236}">
                    <a16:creationId xmlns:a16="http://schemas.microsoft.com/office/drawing/2014/main" id="{67608365-B111-14F4-EE36-32DC163BF283}"/>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69" name="Freeform 21">
                <a:extLst>
                  <a:ext uri="{FF2B5EF4-FFF2-40B4-BE49-F238E27FC236}">
                    <a16:creationId xmlns:a16="http://schemas.microsoft.com/office/drawing/2014/main" id="{EDF1C54B-34A8-E7BC-84A9-CB4E235A628B}"/>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70" name="Freeform 22">
                <a:extLst>
                  <a:ext uri="{FF2B5EF4-FFF2-40B4-BE49-F238E27FC236}">
                    <a16:creationId xmlns:a16="http://schemas.microsoft.com/office/drawing/2014/main" id="{BF0BB593-E485-0AE0-1293-855CA2ACCE56}"/>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45" name="Group 44">
              <a:extLst>
                <a:ext uri="{FF2B5EF4-FFF2-40B4-BE49-F238E27FC236}">
                  <a16:creationId xmlns:a16="http://schemas.microsoft.com/office/drawing/2014/main" id="{C9DEEF66-9A9D-8ED9-1F03-741E14FEE667}"/>
                </a:ext>
              </a:extLst>
            </p:cNvPr>
            <p:cNvGrpSpPr/>
            <p:nvPr/>
          </p:nvGrpSpPr>
          <p:grpSpPr>
            <a:xfrm>
              <a:off x="27221" y="-786"/>
              <a:ext cx="2356674" cy="6854039"/>
              <a:chOff x="6627813" y="194833"/>
              <a:chExt cx="1952625" cy="5678918"/>
            </a:xfrm>
          </p:grpSpPr>
          <p:sp>
            <p:nvSpPr>
              <p:cNvPr id="47" name="Freeform 27">
                <a:extLst>
                  <a:ext uri="{FF2B5EF4-FFF2-40B4-BE49-F238E27FC236}">
                    <a16:creationId xmlns:a16="http://schemas.microsoft.com/office/drawing/2014/main" id="{AAA4A822-D41E-FC38-EF7B-867A488D42F4}"/>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48" name="Freeform 28">
                <a:extLst>
                  <a:ext uri="{FF2B5EF4-FFF2-40B4-BE49-F238E27FC236}">
                    <a16:creationId xmlns:a16="http://schemas.microsoft.com/office/drawing/2014/main" id="{C92C100C-D3DB-62B3-B4C4-17E8D0814D9D}"/>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49" name="Freeform 29">
                <a:extLst>
                  <a:ext uri="{FF2B5EF4-FFF2-40B4-BE49-F238E27FC236}">
                    <a16:creationId xmlns:a16="http://schemas.microsoft.com/office/drawing/2014/main" id="{CD04CE3D-BCCD-2F64-0243-C99DB803F9A4}"/>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50" name="Freeform 30">
                <a:extLst>
                  <a:ext uri="{FF2B5EF4-FFF2-40B4-BE49-F238E27FC236}">
                    <a16:creationId xmlns:a16="http://schemas.microsoft.com/office/drawing/2014/main" id="{F1BFEB63-B154-6FCF-C46F-856260B9D890}"/>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51" name="Freeform 31">
                <a:extLst>
                  <a:ext uri="{FF2B5EF4-FFF2-40B4-BE49-F238E27FC236}">
                    <a16:creationId xmlns:a16="http://schemas.microsoft.com/office/drawing/2014/main" id="{FB850B9E-30C4-515B-2B1D-4C5ACD901676}"/>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52" name="Freeform 32">
                <a:extLst>
                  <a:ext uri="{FF2B5EF4-FFF2-40B4-BE49-F238E27FC236}">
                    <a16:creationId xmlns:a16="http://schemas.microsoft.com/office/drawing/2014/main" id="{04E40384-A27C-E1BD-623C-6A12C9AF295E}"/>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53" name="Freeform 33">
                <a:extLst>
                  <a:ext uri="{FF2B5EF4-FFF2-40B4-BE49-F238E27FC236}">
                    <a16:creationId xmlns:a16="http://schemas.microsoft.com/office/drawing/2014/main" id="{A36C29DB-0B7B-11A6-FC04-9A79C0945B13}"/>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54" name="Freeform 34">
                <a:extLst>
                  <a:ext uri="{FF2B5EF4-FFF2-40B4-BE49-F238E27FC236}">
                    <a16:creationId xmlns:a16="http://schemas.microsoft.com/office/drawing/2014/main" id="{08FA9C99-F2E3-21C3-42CE-A738510C4627}"/>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55" name="Freeform 35">
                <a:extLst>
                  <a:ext uri="{FF2B5EF4-FFF2-40B4-BE49-F238E27FC236}">
                    <a16:creationId xmlns:a16="http://schemas.microsoft.com/office/drawing/2014/main" id="{32AB5E7A-2EDD-484D-22C1-428C847B41A5}"/>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56" name="Freeform 36">
                <a:extLst>
                  <a:ext uri="{FF2B5EF4-FFF2-40B4-BE49-F238E27FC236}">
                    <a16:creationId xmlns:a16="http://schemas.microsoft.com/office/drawing/2014/main" id="{50D5D77C-93EA-8057-FEBB-EE0B184D339D}"/>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57" name="Freeform 37">
                <a:extLst>
                  <a:ext uri="{FF2B5EF4-FFF2-40B4-BE49-F238E27FC236}">
                    <a16:creationId xmlns:a16="http://schemas.microsoft.com/office/drawing/2014/main" id="{5B93416F-C6BA-0502-4109-90487BABC291}"/>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58" name="Freeform 38">
                <a:extLst>
                  <a:ext uri="{FF2B5EF4-FFF2-40B4-BE49-F238E27FC236}">
                    <a16:creationId xmlns:a16="http://schemas.microsoft.com/office/drawing/2014/main" id="{76095EB1-1C5C-5294-F617-15EB0E4AE8CF}"/>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46" name="Rectangle 45">
              <a:extLst>
                <a:ext uri="{FF2B5EF4-FFF2-40B4-BE49-F238E27FC236}">
                  <a16:creationId xmlns:a16="http://schemas.microsoft.com/office/drawing/2014/main" id="{8AC1B747-1B16-A9E6-8B64-D82CCF170A77}"/>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grpSp>
        <p:nvGrpSpPr>
          <p:cNvPr id="71" name="Group 70">
            <a:extLst>
              <a:ext uri="{FF2B5EF4-FFF2-40B4-BE49-F238E27FC236}">
                <a16:creationId xmlns:a16="http://schemas.microsoft.com/office/drawing/2014/main" id="{F33879D2-5E6B-D796-55EC-F3A403E43560}"/>
              </a:ext>
            </a:extLst>
          </p:cNvPr>
          <p:cNvGrpSpPr/>
          <p:nvPr/>
        </p:nvGrpSpPr>
        <p:grpSpPr>
          <a:xfrm>
            <a:off x="2991957" y="9113083"/>
            <a:ext cx="1360031" cy="3648522"/>
            <a:chOff x="1962655" y="2674706"/>
            <a:chExt cx="1543581" cy="3778249"/>
          </a:xfrm>
        </p:grpSpPr>
        <p:sp>
          <p:nvSpPr>
            <p:cNvPr id="72" name="Freeform: Shape 71">
              <a:extLst>
                <a:ext uri="{FF2B5EF4-FFF2-40B4-BE49-F238E27FC236}">
                  <a16:creationId xmlns:a16="http://schemas.microsoft.com/office/drawing/2014/main" id="{CE90606B-65D9-4358-61BF-910E976BA7FA}"/>
                </a:ext>
              </a:extLst>
            </p:cNvPr>
            <p:cNvSpPr/>
            <p:nvPr/>
          </p:nvSpPr>
          <p:spPr>
            <a:xfrm>
              <a:off x="1962655" y="2674706"/>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Version Control</a:t>
              </a:r>
              <a:endParaRPr lang="en-GB" sz="1600" kern="1200" dirty="0"/>
            </a:p>
          </p:txBody>
        </p:sp>
        <p:sp>
          <p:nvSpPr>
            <p:cNvPr id="73" name="Oval 72" descr="Architecture with solid fill">
              <a:extLst>
                <a:ext uri="{FF2B5EF4-FFF2-40B4-BE49-F238E27FC236}">
                  <a16:creationId xmlns:a16="http://schemas.microsoft.com/office/drawing/2014/main" id="{D7361B62-B2DF-32F5-1380-F797BC5926B7}"/>
                </a:ext>
              </a:extLst>
            </p:cNvPr>
            <p:cNvSpPr/>
            <p:nvPr/>
          </p:nvSpPr>
          <p:spPr>
            <a:xfrm>
              <a:off x="2071075" y="3015543"/>
              <a:ext cx="1324450" cy="1266509"/>
            </a:xfrm>
            <a:prstGeom prst="ellipse">
              <a:avLst/>
            </a:prstGeom>
            <a:blipFill>
              <a:blip r:embed="rId11">
                <a:extLst>
                  <a:ext uri="{96DAC541-7B7A-43D3-8B79-37D633B846F1}">
                    <asvg:svgBlip xmlns:asvg="http://schemas.microsoft.com/office/drawing/2016/SVG/main" r:embed="rId12"/>
                  </a:ext>
                </a:extLst>
              </a:blip>
              <a:srcRect/>
              <a:stretch>
                <a:fillRect l="6581" t="9941" r="6581"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74" name="Group 73">
            <a:extLst>
              <a:ext uri="{FF2B5EF4-FFF2-40B4-BE49-F238E27FC236}">
                <a16:creationId xmlns:a16="http://schemas.microsoft.com/office/drawing/2014/main" id="{F89E153D-F170-4CD1-5DEC-C4C18D833375}"/>
              </a:ext>
            </a:extLst>
          </p:cNvPr>
          <p:cNvGrpSpPr/>
          <p:nvPr/>
        </p:nvGrpSpPr>
        <p:grpSpPr>
          <a:xfrm>
            <a:off x="2991957" y="9224947"/>
            <a:ext cx="1360031" cy="3648522"/>
            <a:chOff x="2635145" y="2575044"/>
            <a:chExt cx="1543581" cy="3778249"/>
          </a:xfrm>
        </p:grpSpPr>
        <p:sp>
          <p:nvSpPr>
            <p:cNvPr id="75" name="Freeform: Shape 74">
              <a:extLst>
                <a:ext uri="{FF2B5EF4-FFF2-40B4-BE49-F238E27FC236}">
                  <a16:creationId xmlns:a16="http://schemas.microsoft.com/office/drawing/2014/main" id="{A966FE4C-08DC-6CE9-5050-A73702663AF5}"/>
                </a:ext>
              </a:extLst>
            </p:cNvPr>
            <p:cNvSpPr/>
            <p:nvPr/>
          </p:nvSpPr>
          <p:spPr>
            <a:xfrm>
              <a:off x="2635145"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Everything as Code</a:t>
              </a:r>
              <a:endParaRPr lang="en-GB" sz="1600" kern="1200" dirty="0"/>
            </a:p>
          </p:txBody>
        </p:sp>
        <p:sp>
          <p:nvSpPr>
            <p:cNvPr id="76" name="Oval 75" descr="Gears with solid fill">
              <a:extLst>
                <a:ext uri="{FF2B5EF4-FFF2-40B4-BE49-F238E27FC236}">
                  <a16:creationId xmlns:a16="http://schemas.microsoft.com/office/drawing/2014/main" id="{96FA762A-B26F-DA5D-6372-BBE0C2F61CB6}"/>
                </a:ext>
              </a:extLst>
            </p:cNvPr>
            <p:cNvSpPr/>
            <p:nvPr/>
          </p:nvSpPr>
          <p:spPr>
            <a:xfrm>
              <a:off x="2655864" y="3015544"/>
              <a:ext cx="1450967" cy="1258156"/>
            </a:xfrm>
            <a:prstGeom prst="ellipse">
              <a:avLst/>
            </a:prstGeom>
            <a:blipFill>
              <a:blip r:embed="rId13">
                <a:extLst>
                  <a:ext uri="{96DAC541-7B7A-43D3-8B79-37D633B846F1}">
                    <asvg:svgBlip xmlns:asvg="http://schemas.microsoft.com/office/drawing/2016/SVG/main" r:embed="rId14"/>
                  </a:ext>
                </a:extLst>
              </a:blip>
              <a:srcRect/>
              <a:stretch>
                <a:fillRect l="4100" t="9941" r="4100"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77" name="Group 76">
            <a:extLst>
              <a:ext uri="{FF2B5EF4-FFF2-40B4-BE49-F238E27FC236}">
                <a16:creationId xmlns:a16="http://schemas.microsoft.com/office/drawing/2014/main" id="{80BF8CCE-9A3A-115D-0ACE-A6E3921C7A95}"/>
              </a:ext>
            </a:extLst>
          </p:cNvPr>
          <p:cNvGrpSpPr/>
          <p:nvPr/>
        </p:nvGrpSpPr>
        <p:grpSpPr>
          <a:xfrm>
            <a:off x="2991957" y="9213974"/>
            <a:ext cx="1360031" cy="3648523"/>
            <a:chOff x="3381347" y="2620999"/>
            <a:chExt cx="1543581" cy="3778249"/>
          </a:xfrm>
        </p:grpSpPr>
        <p:sp>
          <p:nvSpPr>
            <p:cNvPr id="78" name="Freeform: Shape 77">
              <a:extLst>
                <a:ext uri="{FF2B5EF4-FFF2-40B4-BE49-F238E27FC236}">
                  <a16:creationId xmlns:a16="http://schemas.microsoft.com/office/drawing/2014/main" id="{F129B098-7547-DCEA-1CA1-2FA6171FD589}"/>
                </a:ext>
              </a:extLst>
            </p:cNvPr>
            <p:cNvSpPr/>
            <p:nvPr/>
          </p:nvSpPr>
          <p:spPr>
            <a:xfrm>
              <a:off x="3381347" y="2620999"/>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CI/CD Pipelines</a:t>
              </a:r>
              <a:endParaRPr lang="en-GB" sz="1600" kern="1200" dirty="0"/>
            </a:p>
          </p:txBody>
        </p:sp>
        <p:sp>
          <p:nvSpPr>
            <p:cNvPr id="79" name="Oval 78" descr="Fire Hydrant with solid fill">
              <a:extLst>
                <a:ext uri="{FF2B5EF4-FFF2-40B4-BE49-F238E27FC236}">
                  <a16:creationId xmlns:a16="http://schemas.microsoft.com/office/drawing/2014/main" id="{302E5316-8081-AE6F-35C5-FE45E3C84998}"/>
                </a:ext>
              </a:extLst>
            </p:cNvPr>
            <p:cNvSpPr/>
            <p:nvPr/>
          </p:nvSpPr>
          <p:spPr>
            <a:xfrm>
              <a:off x="3532419" y="3015544"/>
              <a:ext cx="1285718" cy="1258156"/>
            </a:xfrm>
            <a:prstGeom prst="ellipse">
              <a:avLst/>
            </a:prstGeom>
            <a:blipFill>
              <a:blip r:embed="rId15">
                <a:extLst>
                  <a:ext uri="{96DAC541-7B7A-43D3-8B79-37D633B846F1}">
                    <asvg:svgBlip xmlns:asvg="http://schemas.microsoft.com/office/drawing/2016/SVG/main" r:embed="rId16"/>
                  </a:ext>
                </a:extLst>
              </a:blip>
              <a:srcRect/>
              <a:stretch>
                <a:fillRect l="-3343" t="14233" r="-3343" b="1423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0" name="Group 79">
            <a:extLst>
              <a:ext uri="{FF2B5EF4-FFF2-40B4-BE49-F238E27FC236}">
                <a16:creationId xmlns:a16="http://schemas.microsoft.com/office/drawing/2014/main" id="{A9F9363A-01CD-95C7-DB71-148AA0BC133E}"/>
              </a:ext>
            </a:extLst>
          </p:cNvPr>
          <p:cNvGrpSpPr/>
          <p:nvPr/>
        </p:nvGrpSpPr>
        <p:grpSpPr>
          <a:xfrm>
            <a:off x="2991957" y="9192873"/>
            <a:ext cx="1360031" cy="3648523"/>
            <a:chOff x="4057758" y="2575044"/>
            <a:chExt cx="1543581" cy="3778249"/>
          </a:xfrm>
        </p:grpSpPr>
        <p:sp>
          <p:nvSpPr>
            <p:cNvPr id="81" name="Freeform: Shape 80">
              <a:extLst>
                <a:ext uri="{FF2B5EF4-FFF2-40B4-BE49-F238E27FC236}">
                  <a16:creationId xmlns:a16="http://schemas.microsoft.com/office/drawing/2014/main" id="{2C8C815B-A196-D77A-C2C0-E25E649C7728}"/>
                </a:ext>
              </a:extLst>
            </p:cNvPr>
            <p:cNvSpPr/>
            <p:nvPr/>
          </p:nvSpPr>
          <p:spPr>
            <a:xfrm>
              <a:off x="4057758"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Testing</a:t>
              </a:r>
              <a:endParaRPr lang="en-GB" sz="1600" kern="1200" dirty="0"/>
            </a:p>
          </p:txBody>
        </p:sp>
        <p:sp>
          <p:nvSpPr>
            <p:cNvPr id="82" name="Oval 81" descr="Clipboard Mixed with solid fill">
              <a:extLst>
                <a:ext uri="{FF2B5EF4-FFF2-40B4-BE49-F238E27FC236}">
                  <a16:creationId xmlns:a16="http://schemas.microsoft.com/office/drawing/2014/main" id="{450AB252-AC45-A8AF-13F1-282F0C5652AA}"/>
                </a:ext>
              </a:extLst>
            </p:cNvPr>
            <p:cNvSpPr/>
            <p:nvPr/>
          </p:nvSpPr>
          <p:spPr>
            <a:xfrm>
              <a:off x="4211083" y="3036819"/>
              <a:ext cx="1252792" cy="1258156"/>
            </a:xfrm>
            <a:prstGeom prst="ellipse">
              <a:avLst/>
            </a:prstGeom>
            <a:blipFill>
              <a:blip r:embed="rId17">
                <a:extLst>
                  <a:ext uri="{96DAC541-7B7A-43D3-8B79-37D633B846F1}">
                    <asvg:svgBlip xmlns:asvg="http://schemas.microsoft.com/office/drawing/2016/SVG/main" r:embed="rId18"/>
                  </a:ext>
                </a:extLst>
              </a:blip>
              <a:srcRect/>
              <a:stretch>
                <a:fillRect l="11543" t="11372" r="11543" b="11372"/>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3" name="Group 82">
            <a:extLst>
              <a:ext uri="{FF2B5EF4-FFF2-40B4-BE49-F238E27FC236}">
                <a16:creationId xmlns:a16="http://schemas.microsoft.com/office/drawing/2014/main" id="{898B5861-44D1-67DD-D286-49CBB631E617}"/>
              </a:ext>
            </a:extLst>
          </p:cNvPr>
          <p:cNvGrpSpPr/>
          <p:nvPr/>
        </p:nvGrpSpPr>
        <p:grpSpPr>
          <a:xfrm>
            <a:off x="2991957" y="9049271"/>
            <a:ext cx="1360031" cy="3648523"/>
            <a:chOff x="6498529" y="1701354"/>
            <a:chExt cx="1543581" cy="3778249"/>
          </a:xfrm>
        </p:grpSpPr>
        <p:sp>
          <p:nvSpPr>
            <p:cNvPr id="84" name="Freeform: Shape 83">
              <a:extLst>
                <a:ext uri="{FF2B5EF4-FFF2-40B4-BE49-F238E27FC236}">
                  <a16:creationId xmlns:a16="http://schemas.microsoft.com/office/drawing/2014/main" id="{419B7A77-3630-66CF-5957-362077E88C33}"/>
                </a:ext>
              </a:extLst>
            </p:cNvPr>
            <p:cNvSpPr/>
            <p:nvPr/>
          </p:nvSpPr>
          <p:spPr>
            <a:xfrm>
              <a:off x="6498529" y="170135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Open Source First</a:t>
              </a:r>
              <a:endParaRPr lang="en-GB" sz="1600" kern="1200" dirty="0"/>
            </a:p>
          </p:txBody>
        </p:sp>
        <p:sp>
          <p:nvSpPr>
            <p:cNvPr id="85" name="Oval 84" descr="Open hand with solid fill">
              <a:extLst>
                <a:ext uri="{FF2B5EF4-FFF2-40B4-BE49-F238E27FC236}">
                  <a16:creationId xmlns:a16="http://schemas.microsoft.com/office/drawing/2014/main" id="{F5283DFB-4F21-31E2-6301-3D6E1FFDDBB1}"/>
                </a:ext>
              </a:extLst>
            </p:cNvPr>
            <p:cNvSpPr/>
            <p:nvPr/>
          </p:nvSpPr>
          <p:spPr>
            <a:xfrm>
              <a:off x="6603697" y="2140995"/>
              <a:ext cx="1329999" cy="1258155"/>
            </a:xfrm>
            <a:prstGeom prst="ellipse">
              <a:avLst/>
            </a:prstGeom>
            <a:blipFill>
              <a:blip r:embed="rId19">
                <a:extLst>
                  <a:ext uri="{96DAC541-7B7A-43D3-8B79-37D633B846F1}">
                    <asvg:svgBlip xmlns:asvg="http://schemas.microsoft.com/office/drawing/2016/SVG/main" r:embed="rId20"/>
                  </a:ext>
                </a:extLst>
              </a:blip>
              <a:srcRect/>
              <a:stretch>
                <a:fillRect l="15265" t="7080" r="15265" b="708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6" name="Group 85">
            <a:extLst>
              <a:ext uri="{FF2B5EF4-FFF2-40B4-BE49-F238E27FC236}">
                <a16:creationId xmlns:a16="http://schemas.microsoft.com/office/drawing/2014/main" id="{079AA973-5B73-64E9-DB64-C1D54EFF17E1}"/>
              </a:ext>
            </a:extLst>
          </p:cNvPr>
          <p:cNvGrpSpPr/>
          <p:nvPr/>
        </p:nvGrpSpPr>
        <p:grpSpPr>
          <a:xfrm>
            <a:off x="2991957" y="9049271"/>
            <a:ext cx="1360031" cy="3648523"/>
            <a:chOff x="8089560" y="1700495"/>
            <a:chExt cx="1543581" cy="3880755"/>
          </a:xfrm>
        </p:grpSpPr>
        <p:sp>
          <p:nvSpPr>
            <p:cNvPr id="87" name="Freeform: Shape 86">
              <a:extLst>
                <a:ext uri="{FF2B5EF4-FFF2-40B4-BE49-F238E27FC236}">
                  <a16:creationId xmlns:a16="http://schemas.microsoft.com/office/drawing/2014/main" id="{4C2640A8-64B5-ABBD-A549-6121A8DE7B5E}"/>
                </a:ext>
              </a:extLst>
            </p:cNvPr>
            <p:cNvSpPr/>
            <p:nvPr/>
          </p:nvSpPr>
          <p:spPr>
            <a:xfrm>
              <a:off x="8089560" y="1700495"/>
              <a:ext cx="1543581" cy="3880755"/>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Reference Architecture</a:t>
              </a:r>
              <a:endParaRPr lang="en-GB" sz="1600" kern="1200" dirty="0"/>
            </a:p>
          </p:txBody>
        </p:sp>
        <p:sp>
          <p:nvSpPr>
            <p:cNvPr id="88" name="Oval 87" descr="Books on shelf with solid fill">
              <a:extLst>
                <a:ext uri="{FF2B5EF4-FFF2-40B4-BE49-F238E27FC236}">
                  <a16:creationId xmlns:a16="http://schemas.microsoft.com/office/drawing/2014/main" id="{846AB466-E3BC-BD07-6945-54085B7E0AB3}"/>
                </a:ext>
              </a:extLst>
            </p:cNvPr>
            <p:cNvSpPr/>
            <p:nvPr/>
          </p:nvSpPr>
          <p:spPr>
            <a:xfrm>
              <a:off x="8135868" y="2172679"/>
              <a:ext cx="1450967" cy="1258156"/>
            </a:xfrm>
            <a:prstGeom prst="ellipse">
              <a:avLst/>
            </a:prstGeom>
            <a:blipFill>
              <a:blip r:embed="rId21">
                <a:extLst>
                  <a:ext uri="{96DAC541-7B7A-43D3-8B79-37D633B846F1}">
                    <asvg:svgBlip xmlns:asvg="http://schemas.microsoft.com/office/drawing/2016/SVG/main" r:embed="rId22"/>
                  </a:ext>
                </a:extLst>
              </a:blip>
              <a:srcRect/>
              <a:stretch>
                <a:fillRect l="12784" t="12803" r="12784" b="1280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89" name="Group 88">
            <a:extLst>
              <a:ext uri="{FF2B5EF4-FFF2-40B4-BE49-F238E27FC236}">
                <a16:creationId xmlns:a16="http://schemas.microsoft.com/office/drawing/2014/main" id="{A9678007-E0C1-B648-8E0F-8B8F35B63B98}"/>
              </a:ext>
            </a:extLst>
          </p:cNvPr>
          <p:cNvGrpSpPr/>
          <p:nvPr/>
        </p:nvGrpSpPr>
        <p:grpSpPr>
          <a:xfrm>
            <a:off x="2520000" y="1800000"/>
            <a:ext cx="1343700" cy="3648523"/>
            <a:chOff x="9741055" y="1651927"/>
            <a:chExt cx="1525046" cy="3935709"/>
          </a:xfrm>
        </p:grpSpPr>
        <p:sp>
          <p:nvSpPr>
            <p:cNvPr id="90" name="Freeform: Shape 89">
              <a:extLst>
                <a:ext uri="{FF2B5EF4-FFF2-40B4-BE49-F238E27FC236}">
                  <a16:creationId xmlns:a16="http://schemas.microsoft.com/office/drawing/2014/main" id="{8030EE6B-4688-53E9-18DC-840E821BB19B}"/>
                </a:ext>
              </a:extLst>
            </p:cNvPr>
            <p:cNvSpPr/>
            <p:nvPr/>
          </p:nvSpPr>
          <p:spPr>
            <a:xfrm>
              <a:off x="9741055" y="1651927"/>
              <a:ext cx="1525046" cy="393570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lvl="0" algn="ctr" defTabSz="311150">
                <a:lnSpc>
                  <a:spcPct val="90000"/>
                </a:lnSpc>
                <a:spcBef>
                  <a:spcPct val="0"/>
                </a:spcBef>
                <a:spcAft>
                  <a:spcPct val="35000"/>
                </a:spcAft>
              </a:pPr>
              <a:r>
                <a:rPr lang="en-US" kern="1200" dirty="0"/>
                <a:t>Security by </a:t>
              </a:r>
              <a:r>
                <a:rPr lang="en-US" dirty="0"/>
                <a:t>Design</a:t>
              </a:r>
              <a:endParaRPr lang="en-GB" kern="1200" dirty="0"/>
            </a:p>
          </p:txBody>
        </p:sp>
        <p:sp>
          <p:nvSpPr>
            <p:cNvPr id="91" name="Oval 90" descr="Lock with solid fill">
              <a:extLst>
                <a:ext uri="{FF2B5EF4-FFF2-40B4-BE49-F238E27FC236}">
                  <a16:creationId xmlns:a16="http://schemas.microsoft.com/office/drawing/2014/main" id="{19DE05AB-53D5-B090-EE8C-93AD78E1B5EF}"/>
                </a:ext>
              </a:extLst>
            </p:cNvPr>
            <p:cNvSpPr/>
            <p:nvPr/>
          </p:nvSpPr>
          <p:spPr>
            <a:xfrm>
              <a:off x="9861201" y="2088561"/>
              <a:ext cx="1284754" cy="1310590"/>
            </a:xfrm>
            <a:prstGeom prst="ellipse">
              <a:avLst/>
            </a:prstGeom>
            <a:blipFill>
              <a:blip r:embed="rId23">
                <a:extLst>
                  <a:ext uri="{96DAC541-7B7A-43D3-8B79-37D633B846F1}">
                    <asvg:svgBlip xmlns:asvg="http://schemas.microsoft.com/office/drawing/2016/SVG/main" r:embed="rId24"/>
                  </a:ext>
                </a:extLst>
              </a:blip>
              <a:srcRect/>
              <a:stretch>
                <a:fillRect l="-2737" t="11544" r="-2737" b="11544"/>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pic>
        <p:nvPicPr>
          <p:cNvPr id="5" name="Picture 4">
            <a:extLst>
              <a:ext uri="{FF2B5EF4-FFF2-40B4-BE49-F238E27FC236}">
                <a16:creationId xmlns:a16="http://schemas.microsoft.com/office/drawing/2014/main" id="{F5786D2E-2C5C-8F03-FD18-34DDB9FA6BD3}"/>
              </a:ext>
            </a:extLst>
          </p:cNvPr>
          <p:cNvPicPr>
            <a:picLocks noChangeAspect="1"/>
          </p:cNvPicPr>
          <p:nvPr/>
        </p:nvPicPr>
        <p:blipFill>
          <a:blip r:embed="rId25">
            <a:extLst>
              <a:ext uri="{28A0092B-C50C-407E-A947-70E740481C1C}">
                <a14:useLocalDpi xmlns:a14="http://schemas.microsoft.com/office/drawing/2010/main" val="0"/>
              </a:ext>
            </a:extLst>
          </a:blip>
          <a:srcRect/>
          <a:stretch/>
        </p:blipFill>
        <p:spPr>
          <a:xfrm>
            <a:off x="5170330" y="1871760"/>
            <a:ext cx="5157404" cy="3438270"/>
          </a:xfrm>
          <a:prstGeom prst="rect">
            <a:avLst/>
          </a:prstGeom>
          <a:effectLst>
            <a:softEdge rad="127000"/>
          </a:effectLst>
        </p:spPr>
      </p:pic>
      <p:sp>
        <p:nvSpPr>
          <p:cNvPr id="4" name="Rectangle: Rounded Corners 3">
            <a:extLst>
              <a:ext uri="{FF2B5EF4-FFF2-40B4-BE49-F238E27FC236}">
                <a16:creationId xmlns:a16="http://schemas.microsoft.com/office/drawing/2014/main" id="{56AE1903-C45B-9BC9-5674-FE1ED46D1221}"/>
              </a:ext>
            </a:extLst>
          </p:cNvPr>
          <p:cNvSpPr/>
          <p:nvPr/>
        </p:nvSpPr>
        <p:spPr>
          <a:xfrm>
            <a:off x="5087481" y="2118427"/>
            <a:ext cx="5497352" cy="3183054"/>
          </a:xfrm>
          <a:prstGeom prst="roundRect">
            <a:avLst/>
          </a:prstGeom>
          <a:ln w="12700"/>
          <a:scene3d>
            <a:camera prst="orthographicFront"/>
            <a:lightRig rig="threePt" dir="t"/>
          </a:scene3d>
          <a:sp3d>
            <a:bevelT w="114300" prst="hardEdge"/>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2800" dirty="0">
                <a:latin typeface="Imprint MT Shadow" panose="04020605060303030202" pitchFamily="82" charset="0"/>
              </a:rPr>
              <a:t>Separation of PII</a:t>
            </a:r>
          </a:p>
          <a:p>
            <a:pPr algn="ctr"/>
            <a:endParaRPr lang="en-GB" sz="2800" dirty="0">
              <a:latin typeface="Imprint MT Shadow" panose="04020605060303030202" pitchFamily="82" charset="0"/>
            </a:endParaRPr>
          </a:p>
          <a:p>
            <a:pPr algn="ctr"/>
            <a:r>
              <a:rPr lang="en-GB" sz="2800" dirty="0">
                <a:latin typeface="Imprint MT Shadow" panose="04020605060303030202" pitchFamily="82" charset="0"/>
              </a:rPr>
              <a:t>Granular permissions</a:t>
            </a:r>
          </a:p>
          <a:p>
            <a:pPr algn="ctr"/>
            <a:endParaRPr lang="en-GB" dirty="0"/>
          </a:p>
        </p:txBody>
      </p:sp>
    </p:spTree>
    <p:extLst>
      <p:ext uri="{BB962C8B-B14F-4D97-AF65-F5344CB8AC3E}">
        <p14:creationId xmlns:p14="http://schemas.microsoft.com/office/powerpoint/2010/main" val="3767448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2000"/>
                                        <p:tgtEl>
                                          <p:spTgt spid="5"/>
                                        </p:tgtEl>
                                      </p:cBhvr>
                                    </p:animEffect>
                                    <p:set>
                                      <p:cBhvr>
                                        <p:cTn id="12" dur="1" fill="hold">
                                          <p:stCondLst>
                                            <p:cond delay="1999"/>
                                          </p:stCondLst>
                                        </p:cTn>
                                        <p:tgtEl>
                                          <p:spTgt spid="5"/>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601AA-CDA2-FA83-36EA-6810561D46A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F2EFF6FC-4F7E-CD86-914B-CDCE5D55414F}"/>
              </a:ext>
            </a:extLst>
          </p:cNvPr>
          <p:cNvGrpSpPr/>
          <p:nvPr/>
        </p:nvGrpSpPr>
        <p:grpSpPr>
          <a:xfrm>
            <a:off x="0" y="-786"/>
            <a:ext cx="2851517" cy="6868014"/>
            <a:chOff x="0" y="-786"/>
            <a:chExt cx="2851517" cy="6868014"/>
          </a:xfrm>
        </p:grpSpPr>
        <p:grpSp>
          <p:nvGrpSpPr>
            <p:cNvPr id="5" name="Group 4">
              <a:extLst>
                <a:ext uri="{FF2B5EF4-FFF2-40B4-BE49-F238E27FC236}">
                  <a16:creationId xmlns:a16="http://schemas.microsoft.com/office/drawing/2014/main" id="{6E67D60F-0650-5BF1-0676-AF70D43071F0}"/>
                </a:ext>
              </a:extLst>
            </p:cNvPr>
            <p:cNvGrpSpPr/>
            <p:nvPr/>
          </p:nvGrpSpPr>
          <p:grpSpPr>
            <a:xfrm>
              <a:off x="1" y="228600"/>
              <a:ext cx="2851516" cy="6638628"/>
              <a:chOff x="2487613" y="285750"/>
              <a:chExt cx="2428875" cy="5654676"/>
            </a:xfrm>
          </p:grpSpPr>
          <p:sp>
            <p:nvSpPr>
              <p:cNvPr id="20" name="Freeform 11">
                <a:extLst>
                  <a:ext uri="{FF2B5EF4-FFF2-40B4-BE49-F238E27FC236}">
                    <a16:creationId xmlns:a16="http://schemas.microsoft.com/office/drawing/2014/main" id="{3EF2EBF6-E442-4D1A-1C75-AD1F5003F66F}"/>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21" name="Freeform 12">
                <a:extLst>
                  <a:ext uri="{FF2B5EF4-FFF2-40B4-BE49-F238E27FC236}">
                    <a16:creationId xmlns:a16="http://schemas.microsoft.com/office/drawing/2014/main" id="{52CC6AF9-CDB3-5389-CB25-75CE4F45194B}"/>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22" name="Freeform 13">
                <a:extLst>
                  <a:ext uri="{FF2B5EF4-FFF2-40B4-BE49-F238E27FC236}">
                    <a16:creationId xmlns:a16="http://schemas.microsoft.com/office/drawing/2014/main" id="{3F4D0980-87C5-7E6E-54FD-75A7F2773113}"/>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23" name="Freeform 14">
                <a:extLst>
                  <a:ext uri="{FF2B5EF4-FFF2-40B4-BE49-F238E27FC236}">
                    <a16:creationId xmlns:a16="http://schemas.microsoft.com/office/drawing/2014/main" id="{1D891744-578B-0FE2-30F2-00D61BA0E2BB}"/>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24" name="Freeform 15">
                <a:extLst>
                  <a:ext uri="{FF2B5EF4-FFF2-40B4-BE49-F238E27FC236}">
                    <a16:creationId xmlns:a16="http://schemas.microsoft.com/office/drawing/2014/main" id="{2F9C35D7-A04B-DDC0-6E47-A0A4ED580AF7}"/>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25" name="Freeform 16">
                <a:extLst>
                  <a:ext uri="{FF2B5EF4-FFF2-40B4-BE49-F238E27FC236}">
                    <a16:creationId xmlns:a16="http://schemas.microsoft.com/office/drawing/2014/main" id="{F033658B-535B-9B36-F927-94841D271BA2}"/>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26" name="Freeform 17">
                <a:extLst>
                  <a:ext uri="{FF2B5EF4-FFF2-40B4-BE49-F238E27FC236}">
                    <a16:creationId xmlns:a16="http://schemas.microsoft.com/office/drawing/2014/main" id="{B051BA26-8EFA-98AF-485B-94CB2C7F0274}"/>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27" name="Freeform 18">
                <a:extLst>
                  <a:ext uri="{FF2B5EF4-FFF2-40B4-BE49-F238E27FC236}">
                    <a16:creationId xmlns:a16="http://schemas.microsoft.com/office/drawing/2014/main" id="{E24876C7-9B83-15AD-1F4C-F74FE50F57C8}"/>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28" name="Freeform 19">
                <a:extLst>
                  <a:ext uri="{FF2B5EF4-FFF2-40B4-BE49-F238E27FC236}">
                    <a16:creationId xmlns:a16="http://schemas.microsoft.com/office/drawing/2014/main" id="{403554AA-C04E-12E3-D1D1-01744D0DADDA}"/>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29" name="Freeform 20">
                <a:extLst>
                  <a:ext uri="{FF2B5EF4-FFF2-40B4-BE49-F238E27FC236}">
                    <a16:creationId xmlns:a16="http://schemas.microsoft.com/office/drawing/2014/main" id="{B690B9B9-5F65-FEAA-589A-723B3934C1CF}"/>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30" name="Freeform 21">
                <a:extLst>
                  <a:ext uri="{FF2B5EF4-FFF2-40B4-BE49-F238E27FC236}">
                    <a16:creationId xmlns:a16="http://schemas.microsoft.com/office/drawing/2014/main" id="{9D606C67-930C-2EAB-23D1-C4C9339BC3C0}"/>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31" name="Freeform 22">
                <a:extLst>
                  <a:ext uri="{FF2B5EF4-FFF2-40B4-BE49-F238E27FC236}">
                    <a16:creationId xmlns:a16="http://schemas.microsoft.com/office/drawing/2014/main" id="{C3638082-BB8A-E502-3696-FA2D28D9B38F}"/>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6" name="Group 5">
              <a:extLst>
                <a:ext uri="{FF2B5EF4-FFF2-40B4-BE49-F238E27FC236}">
                  <a16:creationId xmlns:a16="http://schemas.microsoft.com/office/drawing/2014/main" id="{45744820-A5A1-E81C-7787-152A9824C550}"/>
                </a:ext>
              </a:extLst>
            </p:cNvPr>
            <p:cNvGrpSpPr/>
            <p:nvPr/>
          </p:nvGrpSpPr>
          <p:grpSpPr>
            <a:xfrm>
              <a:off x="27221" y="-786"/>
              <a:ext cx="2356674" cy="6854039"/>
              <a:chOff x="6627813" y="194833"/>
              <a:chExt cx="1952625" cy="5678918"/>
            </a:xfrm>
          </p:grpSpPr>
          <p:sp>
            <p:nvSpPr>
              <p:cNvPr id="8" name="Freeform 27">
                <a:extLst>
                  <a:ext uri="{FF2B5EF4-FFF2-40B4-BE49-F238E27FC236}">
                    <a16:creationId xmlns:a16="http://schemas.microsoft.com/office/drawing/2014/main" id="{480211F6-1016-A692-BCFD-026D5B70FC6E}"/>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9" name="Freeform 28">
                <a:extLst>
                  <a:ext uri="{FF2B5EF4-FFF2-40B4-BE49-F238E27FC236}">
                    <a16:creationId xmlns:a16="http://schemas.microsoft.com/office/drawing/2014/main" id="{675A9A24-BF42-6CA1-E927-E45F7DB6FDCA}"/>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10" name="Freeform 29">
                <a:extLst>
                  <a:ext uri="{FF2B5EF4-FFF2-40B4-BE49-F238E27FC236}">
                    <a16:creationId xmlns:a16="http://schemas.microsoft.com/office/drawing/2014/main" id="{1B50ED1C-F32D-7D68-8061-BCAE068F96A5}"/>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11" name="Freeform 30">
                <a:extLst>
                  <a:ext uri="{FF2B5EF4-FFF2-40B4-BE49-F238E27FC236}">
                    <a16:creationId xmlns:a16="http://schemas.microsoft.com/office/drawing/2014/main" id="{95E2CD4F-75A3-F785-D096-B4CA8CD4D95B}"/>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12" name="Freeform 31">
                <a:extLst>
                  <a:ext uri="{FF2B5EF4-FFF2-40B4-BE49-F238E27FC236}">
                    <a16:creationId xmlns:a16="http://schemas.microsoft.com/office/drawing/2014/main" id="{BDFFAA8E-A5F8-0B8F-8738-7E6C0B056B72}"/>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13" name="Freeform 32">
                <a:extLst>
                  <a:ext uri="{FF2B5EF4-FFF2-40B4-BE49-F238E27FC236}">
                    <a16:creationId xmlns:a16="http://schemas.microsoft.com/office/drawing/2014/main" id="{BA55E791-797F-96D7-E32A-580BDEEA6AC9}"/>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14" name="Freeform 33">
                <a:extLst>
                  <a:ext uri="{FF2B5EF4-FFF2-40B4-BE49-F238E27FC236}">
                    <a16:creationId xmlns:a16="http://schemas.microsoft.com/office/drawing/2014/main" id="{B245A14C-DD5B-4469-E02B-68CC5CFE150F}"/>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15" name="Freeform 34">
                <a:extLst>
                  <a:ext uri="{FF2B5EF4-FFF2-40B4-BE49-F238E27FC236}">
                    <a16:creationId xmlns:a16="http://schemas.microsoft.com/office/drawing/2014/main" id="{0614E264-FE51-1A97-7C1F-9370A134588E}"/>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16" name="Freeform 35">
                <a:extLst>
                  <a:ext uri="{FF2B5EF4-FFF2-40B4-BE49-F238E27FC236}">
                    <a16:creationId xmlns:a16="http://schemas.microsoft.com/office/drawing/2014/main" id="{6F8C56C4-D630-F655-B6A3-CD879F82BF8C}"/>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17" name="Freeform 36">
                <a:extLst>
                  <a:ext uri="{FF2B5EF4-FFF2-40B4-BE49-F238E27FC236}">
                    <a16:creationId xmlns:a16="http://schemas.microsoft.com/office/drawing/2014/main" id="{87D55933-105B-DE87-D0D4-D068657F1817}"/>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18" name="Freeform 37">
                <a:extLst>
                  <a:ext uri="{FF2B5EF4-FFF2-40B4-BE49-F238E27FC236}">
                    <a16:creationId xmlns:a16="http://schemas.microsoft.com/office/drawing/2014/main" id="{0A71E387-4E1A-99EE-B2FA-A79457C45272}"/>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19" name="Freeform 38">
                <a:extLst>
                  <a:ext uri="{FF2B5EF4-FFF2-40B4-BE49-F238E27FC236}">
                    <a16:creationId xmlns:a16="http://schemas.microsoft.com/office/drawing/2014/main" id="{CF6051BD-67D7-AC89-9F7F-0C4A35CE5477}"/>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7" name="Rectangle 6">
              <a:extLst>
                <a:ext uri="{FF2B5EF4-FFF2-40B4-BE49-F238E27FC236}">
                  <a16:creationId xmlns:a16="http://schemas.microsoft.com/office/drawing/2014/main" id="{75DA4D49-3DD4-958F-AB9B-5E462022E357}"/>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grpSp>
        <p:nvGrpSpPr>
          <p:cNvPr id="49" name="Group 48">
            <a:extLst>
              <a:ext uri="{FF2B5EF4-FFF2-40B4-BE49-F238E27FC236}">
                <a16:creationId xmlns:a16="http://schemas.microsoft.com/office/drawing/2014/main" id="{6C69E128-A2EE-C9FB-3511-13EA48B090B7}"/>
              </a:ext>
            </a:extLst>
          </p:cNvPr>
          <p:cNvGrpSpPr/>
          <p:nvPr/>
        </p:nvGrpSpPr>
        <p:grpSpPr>
          <a:xfrm>
            <a:off x="2676282" y="730587"/>
            <a:ext cx="7966605" cy="6204427"/>
            <a:chOff x="2984576" y="1214258"/>
            <a:chExt cx="7966605" cy="6204427"/>
          </a:xfrm>
        </p:grpSpPr>
        <p:pic>
          <p:nvPicPr>
            <p:cNvPr id="33" name="Picture 32" descr="A white stone structure with a triangular top">
              <a:extLst>
                <a:ext uri="{FF2B5EF4-FFF2-40B4-BE49-F238E27FC236}">
                  <a16:creationId xmlns:a16="http://schemas.microsoft.com/office/drawing/2014/main" id="{64151452-2E95-210B-0CFE-3C5C7A7A6F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4576" y="1214258"/>
              <a:ext cx="7966605" cy="6204427"/>
            </a:xfrm>
            <a:prstGeom prst="rect">
              <a:avLst/>
            </a:prstGeom>
          </p:spPr>
        </p:pic>
        <p:pic>
          <p:nvPicPr>
            <p:cNvPr id="42" name="Picture 41" descr="A white pillar with a letter v&#10;&#10;AI-generated content may be incorrect.">
              <a:extLst>
                <a:ext uri="{FF2B5EF4-FFF2-40B4-BE49-F238E27FC236}">
                  <a16:creationId xmlns:a16="http://schemas.microsoft.com/office/drawing/2014/main" id="{1444405D-3DE8-44DC-64A0-B99733932894}"/>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108093" y="3645372"/>
              <a:ext cx="576000" cy="1998370"/>
            </a:xfrm>
            <a:prstGeom prst="rect">
              <a:avLst/>
            </a:prstGeom>
          </p:spPr>
        </p:pic>
        <p:pic>
          <p:nvPicPr>
            <p:cNvPr id="43" name="Picture 42" descr="A white pillar with a letter e&#10;&#10;AI-generated content may be incorrect.">
              <a:extLst>
                <a:ext uri="{FF2B5EF4-FFF2-40B4-BE49-F238E27FC236}">
                  <a16:creationId xmlns:a16="http://schemas.microsoft.com/office/drawing/2014/main" id="{6FED48AB-0DDB-B573-F30E-12B3E2C65ACA}"/>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989396" y="3645375"/>
              <a:ext cx="576000" cy="1998367"/>
            </a:xfrm>
            <a:prstGeom prst="rect">
              <a:avLst/>
            </a:prstGeom>
          </p:spPr>
        </p:pic>
        <p:pic>
          <p:nvPicPr>
            <p:cNvPr id="44" name="Picture 43" descr="A white pillar with a letter c&#10;&#10;AI-generated content may be incorrect.">
              <a:extLst>
                <a:ext uri="{FF2B5EF4-FFF2-40B4-BE49-F238E27FC236}">
                  <a16:creationId xmlns:a16="http://schemas.microsoft.com/office/drawing/2014/main" id="{33BFD72A-B8A5-6394-893F-8AF0F89A711B}"/>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5870699" y="3645375"/>
              <a:ext cx="576000" cy="1998367"/>
            </a:xfrm>
            <a:prstGeom prst="rect">
              <a:avLst/>
            </a:prstGeom>
          </p:spPr>
        </p:pic>
        <p:pic>
          <p:nvPicPr>
            <p:cNvPr id="45" name="Picture 44" descr="A white pillar with a letter&#10;&#10;AI-generated content may be incorrect.">
              <a:extLst>
                <a:ext uri="{FF2B5EF4-FFF2-40B4-BE49-F238E27FC236}">
                  <a16:creationId xmlns:a16="http://schemas.microsoft.com/office/drawing/2014/main" id="{D39FA577-3AC8-0625-5055-DF1430F4D40A}"/>
                </a:ext>
              </a:extLst>
            </p:cNvPr>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6752002" y="3645375"/>
              <a:ext cx="576000" cy="1998367"/>
            </a:xfrm>
            <a:prstGeom prst="rect">
              <a:avLst/>
            </a:prstGeom>
          </p:spPr>
        </p:pic>
        <p:pic>
          <p:nvPicPr>
            <p:cNvPr id="46" name="Picture 45" descr="A white pillar with a letter o&#10;&#10;AI-generated content may be incorrect.">
              <a:extLst>
                <a:ext uri="{FF2B5EF4-FFF2-40B4-BE49-F238E27FC236}">
                  <a16:creationId xmlns:a16="http://schemas.microsoft.com/office/drawing/2014/main" id="{33CDC460-B76F-CC2D-2414-26F02A411501}"/>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7633305" y="3663742"/>
              <a:ext cx="570706" cy="1980000"/>
            </a:xfrm>
            <a:prstGeom prst="rect">
              <a:avLst/>
            </a:prstGeom>
          </p:spPr>
        </p:pic>
        <p:pic>
          <p:nvPicPr>
            <p:cNvPr id="47" name="Picture 46" descr="A white pillar with a letter&#10;&#10;AI-generated content may be incorrect.">
              <a:extLst>
                <a:ext uri="{FF2B5EF4-FFF2-40B4-BE49-F238E27FC236}">
                  <a16:creationId xmlns:a16="http://schemas.microsoft.com/office/drawing/2014/main" id="{E3BE46FB-3D66-FBB3-9C5F-7EC541B91DD9}"/>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8509314" y="3663742"/>
              <a:ext cx="570706" cy="1980000"/>
            </a:xfrm>
            <a:prstGeom prst="rect">
              <a:avLst/>
            </a:prstGeom>
          </p:spPr>
        </p:pic>
        <p:pic>
          <p:nvPicPr>
            <p:cNvPr id="48" name="Picture 47" descr="A white pillar with a letter on it&#10;&#10;AI-generated content may be incorrect.">
              <a:extLst>
                <a:ext uri="{FF2B5EF4-FFF2-40B4-BE49-F238E27FC236}">
                  <a16:creationId xmlns:a16="http://schemas.microsoft.com/office/drawing/2014/main" id="{F36939DA-7BEA-13BC-8AEC-E9A9649541C0}"/>
                </a:ext>
              </a:extLst>
            </p:cNvPr>
            <p:cNvPicPr>
              <a:picLocks noChangeAspect="1"/>
            </p:cNvPicPr>
            <p:nvPr/>
          </p:nvPicPr>
          <p:blipFill>
            <a:blip r:embed="rId9" cstate="screen">
              <a:extLst>
                <a:ext uri="{28A0092B-C50C-407E-A947-70E740481C1C}">
                  <a14:useLocalDpi xmlns:a14="http://schemas.microsoft.com/office/drawing/2010/main" val="0"/>
                </a:ext>
              </a:extLst>
            </a:blip>
            <a:stretch>
              <a:fillRect/>
            </a:stretch>
          </p:blipFill>
          <p:spPr>
            <a:xfrm>
              <a:off x="9385320" y="3663742"/>
              <a:ext cx="570706" cy="1980000"/>
            </a:xfrm>
            <a:prstGeom prst="rect">
              <a:avLst/>
            </a:prstGeom>
          </p:spPr>
        </p:pic>
      </p:grpSp>
      <p:sp>
        <p:nvSpPr>
          <p:cNvPr id="50" name="Freeform 11">
            <a:extLst>
              <a:ext uri="{FF2B5EF4-FFF2-40B4-BE49-F238E27FC236}">
                <a16:creationId xmlns:a16="http://schemas.microsoft.com/office/drawing/2014/main" id="{D24ECB51-995E-2DC9-31CE-76C269BF69EC}"/>
              </a:ext>
            </a:extLst>
          </p:cNvPr>
          <p:cNvSpPr/>
          <p:nvPr/>
        </p:nvSpPr>
        <p:spPr bwMode="auto">
          <a:xfrm flipV="1">
            <a:off x="0" y="730587"/>
            <a:ext cx="1245794" cy="446460"/>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Tree>
    <p:extLst>
      <p:ext uri="{BB962C8B-B14F-4D97-AF65-F5344CB8AC3E}">
        <p14:creationId xmlns:p14="http://schemas.microsoft.com/office/powerpoint/2010/main" val="3575506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2B27C20B-C4A3-1B24-EB49-4C240A981CC3}"/>
              </a:ext>
            </a:extLst>
          </p:cNvPr>
          <p:cNvGrpSpPr/>
          <p:nvPr/>
        </p:nvGrpSpPr>
        <p:grpSpPr>
          <a:xfrm>
            <a:off x="391943" y="4824255"/>
            <a:ext cx="1991952" cy="1802178"/>
            <a:chOff x="3683087" y="22444"/>
            <a:chExt cx="6740402" cy="6740402"/>
          </a:xfrm>
        </p:grpSpPr>
        <p:pic>
          <p:nvPicPr>
            <p:cNvPr id="33" name="Picture 32" descr="A white stone structure with a triangular top">
              <a:extLst>
                <a:ext uri="{FF2B5EF4-FFF2-40B4-BE49-F238E27FC236}">
                  <a16:creationId xmlns:a16="http://schemas.microsoft.com/office/drawing/2014/main" id="{6C5FD5E4-ABAB-3F97-AA9B-F48166DA2964}"/>
                </a:ext>
              </a:extLst>
            </p:cNvPr>
            <p:cNvPicPr>
              <a:picLocks noChangeAspect="1"/>
            </p:cNvPicPr>
            <p:nvPr/>
          </p:nvPicPr>
          <p:blipFill>
            <a:blip r:embed="rId3" cstate="screen">
              <a:alphaModFix amt="50000"/>
              <a:extLst>
                <a:ext uri="{28A0092B-C50C-407E-A947-70E740481C1C}">
                  <a14:useLocalDpi xmlns:a14="http://schemas.microsoft.com/office/drawing/2010/main" val="0"/>
                </a:ext>
              </a:extLst>
            </a:blip>
            <a:stretch>
              <a:fillRect/>
            </a:stretch>
          </p:blipFill>
          <p:spPr>
            <a:xfrm>
              <a:off x="3683087" y="22444"/>
              <a:ext cx="6740402" cy="6740402"/>
            </a:xfrm>
            <a:prstGeom prst="rect">
              <a:avLst/>
            </a:prstGeom>
          </p:spPr>
        </p:pic>
        <p:pic>
          <p:nvPicPr>
            <p:cNvPr id="34" name="Picture 33" descr="A white pillar with a black background&#10;&#10;AI-generated content may be incorrect.">
              <a:extLst>
                <a:ext uri="{FF2B5EF4-FFF2-40B4-BE49-F238E27FC236}">
                  <a16:creationId xmlns:a16="http://schemas.microsoft.com/office/drawing/2014/main" id="{2DA44731-2066-182D-5E4D-CFB63C848485}"/>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4576352" y="2670766"/>
              <a:ext cx="705782" cy="2222511"/>
            </a:xfrm>
            <a:prstGeom prst="rect">
              <a:avLst/>
            </a:prstGeom>
          </p:spPr>
        </p:pic>
        <p:pic>
          <p:nvPicPr>
            <p:cNvPr id="35" name="Picture 34" descr="A white pillar with a black background&#10;&#10;AI-generated content may be incorrect.">
              <a:extLst>
                <a:ext uri="{FF2B5EF4-FFF2-40B4-BE49-F238E27FC236}">
                  <a16:creationId xmlns:a16="http://schemas.microsoft.com/office/drawing/2014/main" id="{1EF3369B-DB14-4DD7-983A-AD46E3E6FAFB}"/>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6700397" y="2670766"/>
              <a:ext cx="705782" cy="2222511"/>
            </a:xfrm>
            <a:prstGeom prst="rect">
              <a:avLst/>
            </a:prstGeom>
          </p:spPr>
        </p:pic>
        <p:pic>
          <p:nvPicPr>
            <p:cNvPr id="36" name="Picture 35" descr="A white pillar with a black background&#10;&#10;AI-generated content may be incorrect.">
              <a:extLst>
                <a:ext uri="{FF2B5EF4-FFF2-40B4-BE49-F238E27FC236}">
                  <a16:creationId xmlns:a16="http://schemas.microsoft.com/office/drawing/2014/main" id="{DA451B51-B259-0B3A-5AC8-E647CA87ABF0}"/>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7408412" y="2670766"/>
              <a:ext cx="705782" cy="2222511"/>
            </a:xfrm>
            <a:prstGeom prst="rect">
              <a:avLst/>
            </a:prstGeom>
          </p:spPr>
        </p:pic>
        <p:pic>
          <p:nvPicPr>
            <p:cNvPr id="37" name="Picture 36" descr="A white pillar with a black background&#10;&#10;AI-generated content may be incorrect.">
              <a:extLst>
                <a:ext uri="{FF2B5EF4-FFF2-40B4-BE49-F238E27FC236}">
                  <a16:creationId xmlns:a16="http://schemas.microsoft.com/office/drawing/2014/main" id="{1ECE7B5C-59A0-449C-F645-A89FC1694B7F}"/>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8116427" y="2670766"/>
              <a:ext cx="705782" cy="2222511"/>
            </a:xfrm>
            <a:prstGeom prst="rect">
              <a:avLst/>
            </a:prstGeom>
          </p:spPr>
        </p:pic>
        <p:pic>
          <p:nvPicPr>
            <p:cNvPr id="38" name="Picture 37" descr="A white pillar with a black background&#10;&#10;AI-generated content may be incorrect.">
              <a:extLst>
                <a:ext uri="{FF2B5EF4-FFF2-40B4-BE49-F238E27FC236}">
                  <a16:creationId xmlns:a16="http://schemas.microsoft.com/office/drawing/2014/main" id="{5C8EEA5A-6035-F58D-AA7D-AC68A1C18E90}"/>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5284367" y="2670766"/>
              <a:ext cx="705782" cy="2222511"/>
            </a:xfrm>
            <a:prstGeom prst="rect">
              <a:avLst/>
            </a:prstGeom>
          </p:spPr>
        </p:pic>
        <p:pic>
          <p:nvPicPr>
            <p:cNvPr id="39" name="Picture 38" descr="A white pillar with a black background&#10;&#10;AI-generated content may be incorrect.">
              <a:extLst>
                <a:ext uri="{FF2B5EF4-FFF2-40B4-BE49-F238E27FC236}">
                  <a16:creationId xmlns:a16="http://schemas.microsoft.com/office/drawing/2014/main" id="{BEDFFD86-7887-E1EA-338C-79D53036722C}"/>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5992382" y="2670766"/>
              <a:ext cx="705782" cy="2222511"/>
            </a:xfrm>
            <a:prstGeom prst="rect">
              <a:avLst/>
            </a:prstGeom>
          </p:spPr>
        </p:pic>
        <p:pic>
          <p:nvPicPr>
            <p:cNvPr id="40" name="Picture 39" descr="A white pillar with a black background&#10;&#10;AI-generated content may be incorrect.">
              <a:extLst>
                <a:ext uri="{FF2B5EF4-FFF2-40B4-BE49-F238E27FC236}">
                  <a16:creationId xmlns:a16="http://schemas.microsoft.com/office/drawing/2014/main" id="{588D9165-2E65-4A3E-FAA1-5DF351017006}"/>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8824439" y="2670766"/>
              <a:ext cx="705782" cy="2222511"/>
            </a:xfrm>
            <a:prstGeom prst="rect">
              <a:avLst/>
            </a:prstGeom>
          </p:spPr>
        </p:pic>
      </p:grpSp>
      <p:grpSp>
        <p:nvGrpSpPr>
          <p:cNvPr id="4" name="Group 3">
            <a:extLst>
              <a:ext uri="{FF2B5EF4-FFF2-40B4-BE49-F238E27FC236}">
                <a16:creationId xmlns:a16="http://schemas.microsoft.com/office/drawing/2014/main" id="{55A40067-9FDB-CCF6-2093-207C924A932D}"/>
              </a:ext>
            </a:extLst>
          </p:cNvPr>
          <p:cNvGrpSpPr/>
          <p:nvPr/>
        </p:nvGrpSpPr>
        <p:grpSpPr>
          <a:xfrm>
            <a:off x="0" y="-786"/>
            <a:ext cx="2851517" cy="6868014"/>
            <a:chOff x="0" y="-786"/>
            <a:chExt cx="2851517" cy="6868014"/>
          </a:xfrm>
        </p:grpSpPr>
        <p:grpSp>
          <p:nvGrpSpPr>
            <p:cNvPr id="5" name="Group 4">
              <a:extLst>
                <a:ext uri="{FF2B5EF4-FFF2-40B4-BE49-F238E27FC236}">
                  <a16:creationId xmlns:a16="http://schemas.microsoft.com/office/drawing/2014/main" id="{4BD4E212-0541-2D20-691C-A8B3BA4538FB}"/>
                </a:ext>
              </a:extLst>
            </p:cNvPr>
            <p:cNvGrpSpPr/>
            <p:nvPr/>
          </p:nvGrpSpPr>
          <p:grpSpPr>
            <a:xfrm>
              <a:off x="1" y="228600"/>
              <a:ext cx="2851516" cy="6638628"/>
              <a:chOff x="2487613" y="285750"/>
              <a:chExt cx="2428875" cy="5654676"/>
            </a:xfrm>
          </p:grpSpPr>
          <p:sp>
            <p:nvSpPr>
              <p:cNvPr id="20" name="Freeform 11">
                <a:extLst>
                  <a:ext uri="{FF2B5EF4-FFF2-40B4-BE49-F238E27FC236}">
                    <a16:creationId xmlns:a16="http://schemas.microsoft.com/office/drawing/2014/main" id="{87DA7583-85BC-9682-B949-5C12E03222EE}"/>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21" name="Freeform 12">
                <a:extLst>
                  <a:ext uri="{FF2B5EF4-FFF2-40B4-BE49-F238E27FC236}">
                    <a16:creationId xmlns:a16="http://schemas.microsoft.com/office/drawing/2014/main" id="{D0CFBBBC-1ED6-E071-DF05-E0F651B49CE6}"/>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22" name="Freeform 13">
                <a:extLst>
                  <a:ext uri="{FF2B5EF4-FFF2-40B4-BE49-F238E27FC236}">
                    <a16:creationId xmlns:a16="http://schemas.microsoft.com/office/drawing/2014/main" id="{D55ADC98-2333-DC61-7036-F35FD00EFAEF}"/>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23" name="Freeform 14">
                <a:extLst>
                  <a:ext uri="{FF2B5EF4-FFF2-40B4-BE49-F238E27FC236}">
                    <a16:creationId xmlns:a16="http://schemas.microsoft.com/office/drawing/2014/main" id="{24AD70A3-DF76-49DC-ECE8-36B7F68B3891}"/>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24" name="Freeform 15">
                <a:extLst>
                  <a:ext uri="{FF2B5EF4-FFF2-40B4-BE49-F238E27FC236}">
                    <a16:creationId xmlns:a16="http://schemas.microsoft.com/office/drawing/2014/main" id="{248086C8-00C2-AC14-F60C-09EBB796A935}"/>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25" name="Freeform 16">
                <a:extLst>
                  <a:ext uri="{FF2B5EF4-FFF2-40B4-BE49-F238E27FC236}">
                    <a16:creationId xmlns:a16="http://schemas.microsoft.com/office/drawing/2014/main" id="{8A3BA1EE-0A5C-FB60-41D5-821C9C0830BE}"/>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26" name="Freeform 17">
                <a:extLst>
                  <a:ext uri="{FF2B5EF4-FFF2-40B4-BE49-F238E27FC236}">
                    <a16:creationId xmlns:a16="http://schemas.microsoft.com/office/drawing/2014/main" id="{DED5CFEF-1A88-6044-41F0-00A5BC5FB241}"/>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27" name="Freeform 18">
                <a:extLst>
                  <a:ext uri="{FF2B5EF4-FFF2-40B4-BE49-F238E27FC236}">
                    <a16:creationId xmlns:a16="http://schemas.microsoft.com/office/drawing/2014/main" id="{3C547C92-6DD1-3B09-F5C8-5B8EABC3E16C}"/>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28" name="Freeform 19">
                <a:extLst>
                  <a:ext uri="{FF2B5EF4-FFF2-40B4-BE49-F238E27FC236}">
                    <a16:creationId xmlns:a16="http://schemas.microsoft.com/office/drawing/2014/main" id="{99EF7F03-5876-8648-E364-DF9792CD04E2}"/>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29" name="Freeform 20">
                <a:extLst>
                  <a:ext uri="{FF2B5EF4-FFF2-40B4-BE49-F238E27FC236}">
                    <a16:creationId xmlns:a16="http://schemas.microsoft.com/office/drawing/2014/main" id="{A7B8BF88-E454-EF1C-F09E-497E50F2BD8B}"/>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30" name="Freeform 21">
                <a:extLst>
                  <a:ext uri="{FF2B5EF4-FFF2-40B4-BE49-F238E27FC236}">
                    <a16:creationId xmlns:a16="http://schemas.microsoft.com/office/drawing/2014/main" id="{C31D3E5A-F45C-ED2B-32CF-2AE33CAEFA69}"/>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31" name="Freeform 22">
                <a:extLst>
                  <a:ext uri="{FF2B5EF4-FFF2-40B4-BE49-F238E27FC236}">
                    <a16:creationId xmlns:a16="http://schemas.microsoft.com/office/drawing/2014/main" id="{6824F55A-04EB-F695-865F-25398E3BF01D}"/>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6" name="Group 5">
              <a:extLst>
                <a:ext uri="{FF2B5EF4-FFF2-40B4-BE49-F238E27FC236}">
                  <a16:creationId xmlns:a16="http://schemas.microsoft.com/office/drawing/2014/main" id="{4E38ED81-DB92-8D48-341F-C640C98BAAC5}"/>
                </a:ext>
              </a:extLst>
            </p:cNvPr>
            <p:cNvGrpSpPr/>
            <p:nvPr/>
          </p:nvGrpSpPr>
          <p:grpSpPr>
            <a:xfrm>
              <a:off x="27221" y="-786"/>
              <a:ext cx="2356674" cy="6854039"/>
              <a:chOff x="6627813" y="194833"/>
              <a:chExt cx="1952625" cy="5678918"/>
            </a:xfrm>
          </p:grpSpPr>
          <p:sp>
            <p:nvSpPr>
              <p:cNvPr id="8" name="Freeform 27">
                <a:extLst>
                  <a:ext uri="{FF2B5EF4-FFF2-40B4-BE49-F238E27FC236}">
                    <a16:creationId xmlns:a16="http://schemas.microsoft.com/office/drawing/2014/main" id="{FFFBBFD5-50B8-1EB2-A197-4B5A6C70C377}"/>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9" name="Freeform 28">
                <a:extLst>
                  <a:ext uri="{FF2B5EF4-FFF2-40B4-BE49-F238E27FC236}">
                    <a16:creationId xmlns:a16="http://schemas.microsoft.com/office/drawing/2014/main" id="{96FA396B-2D44-68CF-C784-5159B3561C7B}"/>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10" name="Freeform 29">
                <a:extLst>
                  <a:ext uri="{FF2B5EF4-FFF2-40B4-BE49-F238E27FC236}">
                    <a16:creationId xmlns:a16="http://schemas.microsoft.com/office/drawing/2014/main" id="{2A2B4BAD-CF73-501C-99FF-54DDB262D1F8}"/>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11" name="Freeform 30">
                <a:extLst>
                  <a:ext uri="{FF2B5EF4-FFF2-40B4-BE49-F238E27FC236}">
                    <a16:creationId xmlns:a16="http://schemas.microsoft.com/office/drawing/2014/main" id="{77CB8561-ECDF-2284-8E47-2F4C42B0EDB3}"/>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12" name="Freeform 31">
                <a:extLst>
                  <a:ext uri="{FF2B5EF4-FFF2-40B4-BE49-F238E27FC236}">
                    <a16:creationId xmlns:a16="http://schemas.microsoft.com/office/drawing/2014/main" id="{A6FD80AB-F372-DC6C-28CE-8C9B60F564FF}"/>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13" name="Freeform 32">
                <a:extLst>
                  <a:ext uri="{FF2B5EF4-FFF2-40B4-BE49-F238E27FC236}">
                    <a16:creationId xmlns:a16="http://schemas.microsoft.com/office/drawing/2014/main" id="{91452995-4C8C-D24F-5A58-F4029EAFE057}"/>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14" name="Freeform 33">
                <a:extLst>
                  <a:ext uri="{FF2B5EF4-FFF2-40B4-BE49-F238E27FC236}">
                    <a16:creationId xmlns:a16="http://schemas.microsoft.com/office/drawing/2014/main" id="{BB313A45-89E6-8E0D-E9AF-53C8385DA098}"/>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15" name="Freeform 34">
                <a:extLst>
                  <a:ext uri="{FF2B5EF4-FFF2-40B4-BE49-F238E27FC236}">
                    <a16:creationId xmlns:a16="http://schemas.microsoft.com/office/drawing/2014/main" id="{E52E5E50-9D6A-D470-C3BC-5A5556F49952}"/>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16" name="Freeform 35">
                <a:extLst>
                  <a:ext uri="{FF2B5EF4-FFF2-40B4-BE49-F238E27FC236}">
                    <a16:creationId xmlns:a16="http://schemas.microsoft.com/office/drawing/2014/main" id="{1323A791-532C-0180-77CE-235DF209282D}"/>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17" name="Freeform 36">
                <a:extLst>
                  <a:ext uri="{FF2B5EF4-FFF2-40B4-BE49-F238E27FC236}">
                    <a16:creationId xmlns:a16="http://schemas.microsoft.com/office/drawing/2014/main" id="{FA02AF04-2A8F-AD7E-CE5C-F2498506F07F}"/>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18" name="Freeform 37">
                <a:extLst>
                  <a:ext uri="{FF2B5EF4-FFF2-40B4-BE49-F238E27FC236}">
                    <a16:creationId xmlns:a16="http://schemas.microsoft.com/office/drawing/2014/main" id="{6CADA7A7-2BE7-5C92-1BD0-CB77AC906B4C}"/>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19" name="Freeform 38">
                <a:extLst>
                  <a:ext uri="{FF2B5EF4-FFF2-40B4-BE49-F238E27FC236}">
                    <a16:creationId xmlns:a16="http://schemas.microsoft.com/office/drawing/2014/main" id="{1236A13D-FAB0-5DC3-083E-182B8C221BC0}"/>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7" name="Rectangle 6">
              <a:extLst>
                <a:ext uri="{FF2B5EF4-FFF2-40B4-BE49-F238E27FC236}">
                  <a16:creationId xmlns:a16="http://schemas.microsoft.com/office/drawing/2014/main" id="{1F042C86-57FB-2CF3-8BD1-C428B7D0F43E}"/>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grpSp>
        <p:nvGrpSpPr>
          <p:cNvPr id="97" name="Group 96">
            <a:extLst>
              <a:ext uri="{FF2B5EF4-FFF2-40B4-BE49-F238E27FC236}">
                <a16:creationId xmlns:a16="http://schemas.microsoft.com/office/drawing/2014/main" id="{0245774A-9D8E-39EC-C1F5-3495C264F663}"/>
              </a:ext>
            </a:extLst>
          </p:cNvPr>
          <p:cNvGrpSpPr/>
          <p:nvPr/>
        </p:nvGrpSpPr>
        <p:grpSpPr>
          <a:xfrm>
            <a:off x="1126374" y="9113083"/>
            <a:ext cx="1360031" cy="3648522"/>
            <a:chOff x="1962655" y="2674706"/>
            <a:chExt cx="1543581" cy="3778249"/>
          </a:xfrm>
        </p:grpSpPr>
        <p:sp>
          <p:nvSpPr>
            <p:cNvPr id="98" name="Freeform: Shape 97">
              <a:extLst>
                <a:ext uri="{FF2B5EF4-FFF2-40B4-BE49-F238E27FC236}">
                  <a16:creationId xmlns:a16="http://schemas.microsoft.com/office/drawing/2014/main" id="{0C7EC5E0-AA41-5221-B559-3C20895AACDC}"/>
                </a:ext>
              </a:extLst>
            </p:cNvPr>
            <p:cNvSpPr/>
            <p:nvPr/>
          </p:nvSpPr>
          <p:spPr>
            <a:xfrm>
              <a:off x="1962655" y="2674706"/>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Version Control</a:t>
              </a:r>
              <a:endParaRPr lang="en-GB" sz="1600" kern="1200" dirty="0"/>
            </a:p>
          </p:txBody>
        </p:sp>
        <p:sp>
          <p:nvSpPr>
            <p:cNvPr id="99" name="Oval 98" descr="Architecture with solid fill">
              <a:extLst>
                <a:ext uri="{FF2B5EF4-FFF2-40B4-BE49-F238E27FC236}">
                  <a16:creationId xmlns:a16="http://schemas.microsoft.com/office/drawing/2014/main" id="{CD3AD7A5-E5CF-AD4E-166A-A4DB38233AE9}"/>
                </a:ext>
              </a:extLst>
            </p:cNvPr>
            <p:cNvSpPr/>
            <p:nvPr/>
          </p:nvSpPr>
          <p:spPr>
            <a:xfrm>
              <a:off x="2071075" y="3015543"/>
              <a:ext cx="1324450" cy="1266509"/>
            </a:xfrm>
            <a:prstGeom prst="ellipse">
              <a:avLst/>
            </a:prstGeom>
            <a:blipFill>
              <a:blip r:embed="rId5">
                <a:extLst>
                  <a:ext uri="{96DAC541-7B7A-43D3-8B79-37D633B846F1}">
                    <asvg:svgBlip xmlns:asvg="http://schemas.microsoft.com/office/drawing/2016/SVG/main" r:embed="rId6"/>
                  </a:ext>
                </a:extLst>
              </a:blip>
              <a:srcRect/>
              <a:stretch>
                <a:fillRect l="6581" t="9941" r="6581"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100" name="Group 99">
            <a:extLst>
              <a:ext uri="{FF2B5EF4-FFF2-40B4-BE49-F238E27FC236}">
                <a16:creationId xmlns:a16="http://schemas.microsoft.com/office/drawing/2014/main" id="{866CA727-C048-577F-3F5C-B3CC0AC181C8}"/>
              </a:ext>
            </a:extLst>
          </p:cNvPr>
          <p:cNvGrpSpPr/>
          <p:nvPr/>
        </p:nvGrpSpPr>
        <p:grpSpPr>
          <a:xfrm>
            <a:off x="1126374" y="9224947"/>
            <a:ext cx="1360031" cy="3648522"/>
            <a:chOff x="2635145" y="2575044"/>
            <a:chExt cx="1543581" cy="3778249"/>
          </a:xfrm>
        </p:grpSpPr>
        <p:sp>
          <p:nvSpPr>
            <p:cNvPr id="101" name="Freeform: Shape 100">
              <a:extLst>
                <a:ext uri="{FF2B5EF4-FFF2-40B4-BE49-F238E27FC236}">
                  <a16:creationId xmlns:a16="http://schemas.microsoft.com/office/drawing/2014/main" id="{CF1CECF5-DFA2-FC3B-E4C4-A92179011CC7}"/>
                </a:ext>
              </a:extLst>
            </p:cNvPr>
            <p:cNvSpPr/>
            <p:nvPr/>
          </p:nvSpPr>
          <p:spPr>
            <a:xfrm>
              <a:off x="2635145"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Everything as Code</a:t>
              </a:r>
              <a:endParaRPr lang="en-GB" sz="1600" kern="1200" dirty="0"/>
            </a:p>
          </p:txBody>
        </p:sp>
        <p:sp>
          <p:nvSpPr>
            <p:cNvPr id="102" name="Oval 101" descr="Gears with solid fill">
              <a:extLst>
                <a:ext uri="{FF2B5EF4-FFF2-40B4-BE49-F238E27FC236}">
                  <a16:creationId xmlns:a16="http://schemas.microsoft.com/office/drawing/2014/main" id="{2113EAEA-96B4-FB38-1C0A-90400A2C90FB}"/>
                </a:ext>
              </a:extLst>
            </p:cNvPr>
            <p:cNvSpPr/>
            <p:nvPr/>
          </p:nvSpPr>
          <p:spPr>
            <a:xfrm>
              <a:off x="2655864" y="3015544"/>
              <a:ext cx="1450967" cy="1258156"/>
            </a:xfrm>
            <a:prstGeom prst="ellipse">
              <a:avLst/>
            </a:prstGeom>
            <a:blipFill>
              <a:blip r:embed="rId7">
                <a:extLst>
                  <a:ext uri="{96DAC541-7B7A-43D3-8B79-37D633B846F1}">
                    <asvg:svgBlip xmlns:asvg="http://schemas.microsoft.com/office/drawing/2016/SVG/main" r:embed="rId8"/>
                  </a:ext>
                </a:extLst>
              </a:blip>
              <a:srcRect/>
              <a:stretch>
                <a:fillRect l="4100" t="9941" r="4100" b="9941"/>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103" name="Group 102">
            <a:extLst>
              <a:ext uri="{FF2B5EF4-FFF2-40B4-BE49-F238E27FC236}">
                <a16:creationId xmlns:a16="http://schemas.microsoft.com/office/drawing/2014/main" id="{7EC6D9FB-18B9-020B-F382-CDE9E137F0FE}"/>
              </a:ext>
            </a:extLst>
          </p:cNvPr>
          <p:cNvGrpSpPr/>
          <p:nvPr/>
        </p:nvGrpSpPr>
        <p:grpSpPr>
          <a:xfrm>
            <a:off x="1126374" y="9213974"/>
            <a:ext cx="1360031" cy="3648523"/>
            <a:chOff x="3381347" y="2620999"/>
            <a:chExt cx="1543581" cy="3778249"/>
          </a:xfrm>
        </p:grpSpPr>
        <p:sp>
          <p:nvSpPr>
            <p:cNvPr id="104" name="Freeform: Shape 103">
              <a:extLst>
                <a:ext uri="{FF2B5EF4-FFF2-40B4-BE49-F238E27FC236}">
                  <a16:creationId xmlns:a16="http://schemas.microsoft.com/office/drawing/2014/main" id="{65F223C1-07C2-E858-ABBC-EFC9F349472C}"/>
                </a:ext>
              </a:extLst>
            </p:cNvPr>
            <p:cNvSpPr/>
            <p:nvPr/>
          </p:nvSpPr>
          <p:spPr>
            <a:xfrm>
              <a:off x="3381347" y="2620999"/>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CI/CD Pipelines</a:t>
              </a:r>
              <a:endParaRPr lang="en-GB" sz="1600" kern="1200" dirty="0"/>
            </a:p>
          </p:txBody>
        </p:sp>
        <p:sp>
          <p:nvSpPr>
            <p:cNvPr id="105" name="Oval 104" descr="Fire Hydrant with solid fill">
              <a:extLst>
                <a:ext uri="{FF2B5EF4-FFF2-40B4-BE49-F238E27FC236}">
                  <a16:creationId xmlns:a16="http://schemas.microsoft.com/office/drawing/2014/main" id="{124B0744-EED3-31CD-27BB-5F340AEFCC39}"/>
                </a:ext>
              </a:extLst>
            </p:cNvPr>
            <p:cNvSpPr/>
            <p:nvPr/>
          </p:nvSpPr>
          <p:spPr>
            <a:xfrm>
              <a:off x="3532419" y="3015544"/>
              <a:ext cx="1285718" cy="1258156"/>
            </a:xfrm>
            <a:prstGeom prst="ellipse">
              <a:avLst/>
            </a:prstGeom>
            <a:blipFill>
              <a:blip r:embed="rId9">
                <a:extLst>
                  <a:ext uri="{96DAC541-7B7A-43D3-8B79-37D633B846F1}">
                    <asvg:svgBlip xmlns:asvg="http://schemas.microsoft.com/office/drawing/2016/SVG/main" r:embed="rId10"/>
                  </a:ext>
                </a:extLst>
              </a:blip>
              <a:srcRect/>
              <a:stretch>
                <a:fillRect l="-3343" t="14233" r="-3343" b="1423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106" name="Group 105">
            <a:extLst>
              <a:ext uri="{FF2B5EF4-FFF2-40B4-BE49-F238E27FC236}">
                <a16:creationId xmlns:a16="http://schemas.microsoft.com/office/drawing/2014/main" id="{BCBFD140-67B2-EEAF-43D0-97F5E4F9762A}"/>
              </a:ext>
            </a:extLst>
          </p:cNvPr>
          <p:cNvGrpSpPr/>
          <p:nvPr/>
        </p:nvGrpSpPr>
        <p:grpSpPr>
          <a:xfrm>
            <a:off x="1126374" y="9192873"/>
            <a:ext cx="1360031" cy="3648523"/>
            <a:chOff x="4057758" y="2575044"/>
            <a:chExt cx="1543581" cy="3778249"/>
          </a:xfrm>
        </p:grpSpPr>
        <p:sp>
          <p:nvSpPr>
            <p:cNvPr id="107" name="Freeform: Shape 106">
              <a:extLst>
                <a:ext uri="{FF2B5EF4-FFF2-40B4-BE49-F238E27FC236}">
                  <a16:creationId xmlns:a16="http://schemas.microsoft.com/office/drawing/2014/main" id="{DECAC9CF-FBCA-B935-2B55-86A7BB4E65F3}"/>
                </a:ext>
              </a:extLst>
            </p:cNvPr>
            <p:cNvSpPr/>
            <p:nvPr/>
          </p:nvSpPr>
          <p:spPr>
            <a:xfrm>
              <a:off x="4057758" y="257504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Testing</a:t>
              </a:r>
              <a:endParaRPr lang="en-GB" sz="1600" kern="1200" dirty="0"/>
            </a:p>
          </p:txBody>
        </p:sp>
        <p:sp>
          <p:nvSpPr>
            <p:cNvPr id="108" name="Oval 107" descr="Clipboard Mixed with solid fill">
              <a:extLst>
                <a:ext uri="{FF2B5EF4-FFF2-40B4-BE49-F238E27FC236}">
                  <a16:creationId xmlns:a16="http://schemas.microsoft.com/office/drawing/2014/main" id="{8A12DE7A-E4D1-CBFE-D6B0-319D16871D0C}"/>
                </a:ext>
              </a:extLst>
            </p:cNvPr>
            <p:cNvSpPr/>
            <p:nvPr/>
          </p:nvSpPr>
          <p:spPr>
            <a:xfrm>
              <a:off x="4211083" y="3036819"/>
              <a:ext cx="1252792" cy="1258156"/>
            </a:xfrm>
            <a:prstGeom prst="ellipse">
              <a:avLst/>
            </a:prstGeom>
            <a:blipFill>
              <a:blip r:embed="rId11">
                <a:extLst>
                  <a:ext uri="{96DAC541-7B7A-43D3-8B79-37D633B846F1}">
                    <asvg:svgBlip xmlns:asvg="http://schemas.microsoft.com/office/drawing/2016/SVG/main" r:embed="rId12"/>
                  </a:ext>
                </a:extLst>
              </a:blip>
              <a:srcRect/>
              <a:stretch>
                <a:fillRect l="11543" t="11372" r="11543" b="11372"/>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109" name="Group 108">
            <a:extLst>
              <a:ext uri="{FF2B5EF4-FFF2-40B4-BE49-F238E27FC236}">
                <a16:creationId xmlns:a16="http://schemas.microsoft.com/office/drawing/2014/main" id="{9A0502C7-96A2-C253-FFCF-9C655E7DE50A}"/>
              </a:ext>
            </a:extLst>
          </p:cNvPr>
          <p:cNvGrpSpPr/>
          <p:nvPr/>
        </p:nvGrpSpPr>
        <p:grpSpPr>
          <a:xfrm>
            <a:off x="1126374" y="9049271"/>
            <a:ext cx="1360031" cy="3648523"/>
            <a:chOff x="6498529" y="1701354"/>
            <a:chExt cx="1543581" cy="3778249"/>
          </a:xfrm>
        </p:grpSpPr>
        <p:sp>
          <p:nvSpPr>
            <p:cNvPr id="110" name="Freeform: Shape 109">
              <a:extLst>
                <a:ext uri="{FF2B5EF4-FFF2-40B4-BE49-F238E27FC236}">
                  <a16:creationId xmlns:a16="http://schemas.microsoft.com/office/drawing/2014/main" id="{713A07CE-5382-B92D-B167-5487DA80F292}"/>
                </a:ext>
              </a:extLst>
            </p:cNvPr>
            <p:cNvSpPr/>
            <p:nvPr/>
          </p:nvSpPr>
          <p:spPr>
            <a:xfrm>
              <a:off x="6498529" y="1701354"/>
              <a:ext cx="1543581" cy="377824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Open Source First</a:t>
              </a:r>
              <a:endParaRPr lang="en-GB" sz="1600" kern="1200" dirty="0"/>
            </a:p>
          </p:txBody>
        </p:sp>
        <p:sp>
          <p:nvSpPr>
            <p:cNvPr id="111" name="Oval 110" descr="Open hand with solid fill">
              <a:extLst>
                <a:ext uri="{FF2B5EF4-FFF2-40B4-BE49-F238E27FC236}">
                  <a16:creationId xmlns:a16="http://schemas.microsoft.com/office/drawing/2014/main" id="{E4DF2932-F8B0-F950-CB7C-8E0E85079150}"/>
                </a:ext>
              </a:extLst>
            </p:cNvPr>
            <p:cNvSpPr/>
            <p:nvPr/>
          </p:nvSpPr>
          <p:spPr>
            <a:xfrm>
              <a:off x="6603697" y="2140995"/>
              <a:ext cx="1329999" cy="1258155"/>
            </a:xfrm>
            <a:prstGeom prst="ellipse">
              <a:avLst/>
            </a:prstGeom>
            <a:blipFill>
              <a:blip r:embed="rId13">
                <a:extLst>
                  <a:ext uri="{96DAC541-7B7A-43D3-8B79-37D633B846F1}">
                    <asvg:svgBlip xmlns:asvg="http://schemas.microsoft.com/office/drawing/2016/SVG/main" r:embed="rId14"/>
                  </a:ext>
                </a:extLst>
              </a:blip>
              <a:srcRect/>
              <a:stretch>
                <a:fillRect l="15265" t="7080" r="15265" b="708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112" name="Group 111">
            <a:extLst>
              <a:ext uri="{FF2B5EF4-FFF2-40B4-BE49-F238E27FC236}">
                <a16:creationId xmlns:a16="http://schemas.microsoft.com/office/drawing/2014/main" id="{3514FABC-19F2-DF24-4EA3-6F3CDE883001}"/>
              </a:ext>
            </a:extLst>
          </p:cNvPr>
          <p:cNvGrpSpPr/>
          <p:nvPr/>
        </p:nvGrpSpPr>
        <p:grpSpPr>
          <a:xfrm>
            <a:off x="1126374" y="9049271"/>
            <a:ext cx="1360031" cy="3648523"/>
            <a:chOff x="8089560" y="1700495"/>
            <a:chExt cx="1543581" cy="3880755"/>
          </a:xfrm>
        </p:grpSpPr>
        <p:sp>
          <p:nvSpPr>
            <p:cNvPr id="113" name="Freeform: Shape 112">
              <a:extLst>
                <a:ext uri="{FF2B5EF4-FFF2-40B4-BE49-F238E27FC236}">
                  <a16:creationId xmlns:a16="http://schemas.microsoft.com/office/drawing/2014/main" id="{A88B9FBF-AD28-E850-6E6F-079AD9EC776B}"/>
                </a:ext>
              </a:extLst>
            </p:cNvPr>
            <p:cNvSpPr/>
            <p:nvPr/>
          </p:nvSpPr>
          <p:spPr>
            <a:xfrm>
              <a:off x="8089560" y="1700495"/>
              <a:ext cx="1543581" cy="3880755"/>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marL="0" lvl="0" indent="0" algn="ctr" defTabSz="311150">
                <a:lnSpc>
                  <a:spcPct val="90000"/>
                </a:lnSpc>
                <a:spcBef>
                  <a:spcPct val="0"/>
                </a:spcBef>
                <a:spcAft>
                  <a:spcPct val="35000"/>
                </a:spcAft>
                <a:buNone/>
              </a:pPr>
              <a:r>
                <a:rPr lang="en-US" sz="1600" kern="1200" dirty="0"/>
                <a:t>Reference Architecture</a:t>
              </a:r>
              <a:endParaRPr lang="en-GB" sz="1600" kern="1200" dirty="0"/>
            </a:p>
          </p:txBody>
        </p:sp>
        <p:sp>
          <p:nvSpPr>
            <p:cNvPr id="114" name="Oval 113" descr="Books on shelf with solid fill">
              <a:extLst>
                <a:ext uri="{FF2B5EF4-FFF2-40B4-BE49-F238E27FC236}">
                  <a16:creationId xmlns:a16="http://schemas.microsoft.com/office/drawing/2014/main" id="{78BF1DED-8939-D103-FFD5-82E846A695CF}"/>
                </a:ext>
              </a:extLst>
            </p:cNvPr>
            <p:cNvSpPr/>
            <p:nvPr/>
          </p:nvSpPr>
          <p:spPr>
            <a:xfrm>
              <a:off x="8135868" y="2172679"/>
              <a:ext cx="1450967" cy="1258156"/>
            </a:xfrm>
            <a:prstGeom prst="ellipse">
              <a:avLst/>
            </a:prstGeom>
            <a:blipFill>
              <a:blip r:embed="rId15">
                <a:extLst>
                  <a:ext uri="{96DAC541-7B7A-43D3-8B79-37D633B846F1}">
                    <asvg:svgBlip xmlns:asvg="http://schemas.microsoft.com/office/drawing/2016/SVG/main" r:embed="rId16"/>
                  </a:ext>
                </a:extLst>
              </a:blip>
              <a:srcRect/>
              <a:stretch>
                <a:fillRect l="12784" t="12803" r="12784" b="12803"/>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p>
          </p:txBody>
        </p:sp>
      </p:grpSp>
      <p:grpSp>
        <p:nvGrpSpPr>
          <p:cNvPr id="115" name="Group 114">
            <a:extLst>
              <a:ext uri="{FF2B5EF4-FFF2-40B4-BE49-F238E27FC236}">
                <a16:creationId xmlns:a16="http://schemas.microsoft.com/office/drawing/2014/main" id="{498DF815-09FD-3DE3-C712-DAE3D093BFFF}"/>
              </a:ext>
            </a:extLst>
          </p:cNvPr>
          <p:cNvGrpSpPr/>
          <p:nvPr/>
        </p:nvGrpSpPr>
        <p:grpSpPr>
          <a:xfrm>
            <a:off x="1126374" y="8985667"/>
            <a:ext cx="1343700" cy="3648523"/>
            <a:chOff x="9741055" y="1651927"/>
            <a:chExt cx="1525046" cy="3935709"/>
          </a:xfrm>
        </p:grpSpPr>
        <p:sp>
          <p:nvSpPr>
            <p:cNvPr id="116" name="Freeform: Shape 115">
              <a:extLst>
                <a:ext uri="{FF2B5EF4-FFF2-40B4-BE49-F238E27FC236}">
                  <a16:creationId xmlns:a16="http://schemas.microsoft.com/office/drawing/2014/main" id="{FB3C2811-FF29-0FBA-E5E6-2FBCDB40633C}"/>
                </a:ext>
              </a:extLst>
            </p:cNvPr>
            <p:cNvSpPr/>
            <p:nvPr/>
          </p:nvSpPr>
          <p:spPr>
            <a:xfrm>
              <a:off x="9741055" y="1651927"/>
              <a:ext cx="1525046" cy="3935709"/>
            </a:xfrm>
            <a:custGeom>
              <a:avLst/>
              <a:gdLst>
                <a:gd name="connsiteX0" fmla="*/ 0 w 690588"/>
                <a:gd name="connsiteY0" fmla="*/ 69059 h 3426015"/>
                <a:gd name="connsiteX1" fmla="*/ 69059 w 690588"/>
                <a:gd name="connsiteY1" fmla="*/ 0 h 3426015"/>
                <a:gd name="connsiteX2" fmla="*/ 621529 w 690588"/>
                <a:gd name="connsiteY2" fmla="*/ 0 h 3426015"/>
                <a:gd name="connsiteX3" fmla="*/ 690588 w 690588"/>
                <a:gd name="connsiteY3" fmla="*/ 69059 h 3426015"/>
                <a:gd name="connsiteX4" fmla="*/ 690588 w 690588"/>
                <a:gd name="connsiteY4" fmla="*/ 3356956 h 3426015"/>
                <a:gd name="connsiteX5" fmla="*/ 621529 w 690588"/>
                <a:gd name="connsiteY5" fmla="*/ 3426015 h 3426015"/>
                <a:gd name="connsiteX6" fmla="*/ 69059 w 690588"/>
                <a:gd name="connsiteY6" fmla="*/ 3426015 h 3426015"/>
                <a:gd name="connsiteX7" fmla="*/ 0 w 690588"/>
                <a:gd name="connsiteY7" fmla="*/ 3356956 h 3426015"/>
                <a:gd name="connsiteX8" fmla="*/ 0 w 690588"/>
                <a:gd name="connsiteY8" fmla="*/ 69059 h 342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588" h="3426015">
                  <a:moveTo>
                    <a:pt x="0" y="69059"/>
                  </a:moveTo>
                  <a:cubicBezTo>
                    <a:pt x="0" y="30919"/>
                    <a:pt x="30919" y="0"/>
                    <a:pt x="69059" y="0"/>
                  </a:cubicBezTo>
                  <a:lnTo>
                    <a:pt x="621529" y="0"/>
                  </a:lnTo>
                  <a:cubicBezTo>
                    <a:pt x="659669" y="0"/>
                    <a:pt x="690588" y="30919"/>
                    <a:pt x="690588" y="69059"/>
                  </a:cubicBezTo>
                  <a:lnTo>
                    <a:pt x="690588" y="3356956"/>
                  </a:lnTo>
                  <a:cubicBezTo>
                    <a:pt x="690588" y="3395096"/>
                    <a:pt x="659669" y="3426015"/>
                    <a:pt x="621529" y="3426015"/>
                  </a:cubicBezTo>
                  <a:lnTo>
                    <a:pt x="69059" y="3426015"/>
                  </a:lnTo>
                  <a:cubicBezTo>
                    <a:pt x="30919" y="3426015"/>
                    <a:pt x="0" y="3395096"/>
                    <a:pt x="0" y="3356956"/>
                  </a:cubicBezTo>
                  <a:lnTo>
                    <a:pt x="0" y="6905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784" tIns="1420190" rIns="49784" bIns="734987" numCol="1" spcCol="1270" anchor="ctr" anchorCtr="0">
              <a:noAutofit/>
            </a:bodyPr>
            <a:lstStyle/>
            <a:p>
              <a:pPr lvl="0" algn="ctr" defTabSz="311150">
                <a:lnSpc>
                  <a:spcPct val="90000"/>
                </a:lnSpc>
                <a:spcBef>
                  <a:spcPct val="0"/>
                </a:spcBef>
                <a:spcAft>
                  <a:spcPct val="35000"/>
                </a:spcAft>
              </a:pPr>
              <a:r>
                <a:rPr lang="en-US" kern="1200" dirty="0"/>
                <a:t>Security by </a:t>
              </a:r>
              <a:r>
                <a:rPr lang="en-US" dirty="0"/>
                <a:t>Design</a:t>
              </a:r>
              <a:endParaRPr lang="en-GB" kern="1200" dirty="0"/>
            </a:p>
          </p:txBody>
        </p:sp>
        <p:sp>
          <p:nvSpPr>
            <p:cNvPr id="117" name="Oval 116" descr="Lock with solid fill">
              <a:extLst>
                <a:ext uri="{FF2B5EF4-FFF2-40B4-BE49-F238E27FC236}">
                  <a16:creationId xmlns:a16="http://schemas.microsoft.com/office/drawing/2014/main" id="{04D173E2-972C-B09E-FAB1-C5DD379D491E}"/>
                </a:ext>
              </a:extLst>
            </p:cNvPr>
            <p:cNvSpPr/>
            <p:nvPr/>
          </p:nvSpPr>
          <p:spPr>
            <a:xfrm>
              <a:off x="9861201" y="2088561"/>
              <a:ext cx="1284754" cy="1310590"/>
            </a:xfrm>
            <a:prstGeom prst="ellipse">
              <a:avLst/>
            </a:prstGeom>
            <a:blipFill>
              <a:blip r:embed="rId17">
                <a:extLst>
                  <a:ext uri="{96DAC541-7B7A-43D3-8B79-37D633B846F1}">
                    <asvg:svgBlip xmlns:asvg="http://schemas.microsoft.com/office/drawing/2016/SVG/main" r:embed="rId18"/>
                  </a:ext>
                </a:extLst>
              </a:blip>
              <a:srcRect/>
              <a:stretch>
                <a:fillRect l="-2737" t="11544" r="-2737" b="11544"/>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dirty="0"/>
            </a:p>
          </p:txBody>
        </p:sp>
      </p:grpSp>
      <p:sp>
        <p:nvSpPr>
          <p:cNvPr id="41" name="Freeform 11">
            <a:extLst>
              <a:ext uri="{FF2B5EF4-FFF2-40B4-BE49-F238E27FC236}">
                <a16:creationId xmlns:a16="http://schemas.microsoft.com/office/drawing/2014/main" id="{4A9D5EC2-E8D8-0128-66D0-24C1D042351E}"/>
              </a:ext>
            </a:extLst>
          </p:cNvPr>
          <p:cNvSpPr/>
          <p:nvPr/>
        </p:nvSpPr>
        <p:spPr bwMode="auto">
          <a:xfrm rot="10800000" flipV="1">
            <a:off x="-504992" y="730587"/>
            <a:ext cx="3398108" cy="810868"/>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r>
              <a:rPr lang="en-GB" dirty="0"/>
              <a:t>		</a:t>
            </a:r>
            <a:r>
              <a:rPr lang="en-GB" sz="4400" b="1" dirty="0">
                <a:ln w="22225">
                  <a:solidFill>
                    <a:schemeClr val="accent2"/>
                  </a:solidFill>
                  <a:prstDash val="solid"/>
                </a:ln>
                <a:solidFill>
                  <a:schemeClr val="accent2">
                    <a:lumMod val="40000"/>
                    <a:lumOff val="60000"/>
                  </a:schemeClr>
                </a:solidFill>
              </a:rPr>
              <a:t>DEMO</a:t>
            </a:r>
            <a:endParaRPr lang="en-GB" sz="4400" dirty="0"/>
          </a:p>
        </p:txBody>
      </p:sp>
      <p:pic>
        <p:nvPicPr>
          <p:cNvPr id="56" name="Imagen 55" descr="Diagrama&#10;&#10;El contenido generado por IA puede ser incorrecto.">
            <a:extLst>
              <a:ext uri="{FF2B5EF4-FFF2-40B4-BE49-F238E27FC236}">
                <a16:creationId xmlns:a16="http://schemas.microsoft.com/office/drawing/2014/main" id="{CADD57FB-4680-101A-32BD-4EFF991E5441}"/>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273284" y="-3583"/>
            <a:ext cx="9891495" cy="6853252"/>
          </a:xfrm>
          <a:prstGeom prst="rect">
            <a:avLst/>
          </a:prstGeom>
        </p:spPr>
      </p:pic>
    </p:spTree>
    <p:extLst>
      <p:ext uri="{BB962C8B-B14F-4D97-AF65-F5344CB8AC3E}">
        <p14:creationId xmlns:p14="http://schemas.microsoft.com/office/powerpoint/2010/main" val="4188155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2E91CDAA-299C-13C4-8994-0029C9E01587}"/>
              </a:ext>
            </a:extLst>
          </p:cNvPr>
          <p:cNvGrpSpPr/>
          <p:nvPr/>
        </p:nvGrpSpPr>
        <p:grpSpPr>
          <a:xfrm>
            <a:off x="495729" y="4819129"/>
            <a:ext cx="1841424" cy="1837435"/>
            <a:chOff x="2984576" y="1214258"/>
            <a:chExt cx="7966605" cy="6204427"/>
          </a:xfrm>
        </p:grpSpPr>
        <p:pic>
          <p:nvPicPr>
            <p:cNvPr id="42" name="Picture 41" descr="A white stone structure with a triangular top">
              <a:extLst>
                <a:ext uri="{FF2B5EF4-FFF2-40B4-BE49-F238E27FC236}">
                  <a16:creationId xmlns:a16="http://schemas.microsoft.com/office/drawing/2014/main" id="{5EF21E59-AF99-42D8-3073-80D29E7AAF1D}"/>
                </a:ext>
              </a:extLst>
            </p:cNvPr>
            <p:cNvPicPr>
              <a:picLocks noChangeAspect="1"/>
            </p:cNvPicPr>
            <p:nvPr/>
          </p:nvPicPr>
          <p:blipFill>
            <a:blip r:embed="rId3" cstate="screen">
              <a:alphaModFix amt="50000"/>
              <a:extLst>
                <a:ext uri="{28A0092B-C50C-407E-A947-70E740481C1C}">
                  <a14:useLocalDpi xmlns:a14="http://schemas.microsoft.com/office/drawing/2010/main" val="0"/>
                </a:ext>
              </a:extLst>
            </a:blip>
            <a:stretch>
              <a:fillRect/>
            </a:stretch>
          </p:blipFill>
          <p:spPr>
            <a:xfrm>
              <a:off x="2984576" y="1214258"/>
              <a:ext cx="7966605" cy="6204427"/>
            </a:xfrm>
            <a:prstGeom prst="rect">
              <a:avLst/>
            </a:prstGeom>
          </p:spPr>
        </p:pic>
        <p:pic>
          <p:nvPicPr>
            <p:cNvPr id="43" name="Picture 42" descr="A white pillar with a letter v&#10;&#10;AI-generated content may be incorrect.">
              <a:extLst>
                <a:ext uri="{FF2B5EF4-FFF2-40B4-BE49-F238E27FC236}">
                  <a16:creationId xmlns:a16="http://schemas.microsoft.com/office/drawing/2014/main" id="{36E08DB4-2E84-6EB1-A41A-6031DCAB6483}"/>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4108093" y="3645372"/>
              <a:ext cx="576000" cy="1998370"/>
            </a:xfrm>
            <a:prstGeom prst="rect">
              <a:avLst/>
            </a:prstGeom>
          </p:spPr>
        </p:pic>
        <p:pic>
          <p:nvPicPr>
            <p:cNvPr id="44" name="Picture 43" descr="A white pillar with a letter e&#10;&#10;AI-generated content may be incorrect.">
              <a:extLst>
                <a:ext uri="{FF2B5EF4-FFF2-40B4-BE49-F238E27FC236}">
                  <a16:creationId xmlns:a16="http://schemas.microsoft.com/office/drawing/2014/main" id="{93E283C4-1A3A-B310-0B5E-FB3C6ACB6837}"/>
                </a:ext>
              </a:extLst>
            </p:cNvPr>
            <p:cNvPicPr>
              <a:picLocks noChangeAspect="1"/>
            </p:cNvPicPr>
            <p:nvPr/>
          </p:nvPicPr>
          <p:blipFill>
            <a:blip r:embed="rId5" cstate="screen">
              <a:alphaModFix amt="50000"/>
              <a:extLst>
                <a:ext uri="{28A0092B-C50C-407E-A947-70E740481C1C}">
                  <a14:useLocalDpi xmlns:a14="http://schemas.microsoft.com/office/drawing/2010/main" val="0"/>
                </a:ext>
              </a:extLst>
            </a:blip>
            <a:stretch>
              <a:fillRect/>
            </a:stretch>
          </p:blipFill>
          <p:spPr>
            <a:xfrm>
              <a:off x="4989396" y="3645375"/>
              <a:ext cx="576000" cy="1998367"/>
            </a:xfrm>
            <a:prstGeom prst="rect">
              <a:avLst/>
            </a:prstGeom>
          </p:spPr>
        </p:pic>
        <p:pic>
          <p:nvPicPr>
            <p:cNvPr id="45" name="Picture 44" descr="A white pillar with a letter c&#10;&#10;AI-generated content may be incorrect.">
              <a:extLst>
                <a:ext uri="{FF2B5EF4-FFF2-40B4-BE49-F238E27FC236}">
                  <a16:creationId xmlns:a16="http://schemas.microsoft.com/office/drawing/2014/main" id="{0AE7D873-F86F-F249-0F5E-B4E5F012308A}"/>
                </a:ext>
              </a:extLst>
            </p:cNvPr>
            <p:cNvPicPr>
              <a:picLocks noChangeAspect="1"/>
            </p:cNvPicPr>
            <p:nvPr/>
          </p:nvPicPr>
          <p:blipFill>
            <a:blip r:embed="rId6" cstate="screen">
              <a:alphaModFix amt="50000"/>
              <a:extLst>
                <a:ext uri="{28A0092B-C50C-407E-A947-70E740481C1C}">
                  <a14:useLocalDpi xmlns:a14="http://schemas.microsoft.com/office/drawing/2010/main" val="0"/>
                </a:ext>
              </a:extLst>
            </a:blip>
            <a:stretch>
              <a:fillRect/>
            </a:stretch>
          </p:blipFill>
          <p:spPr>
            <a:xfrm>
              <a:off x="5870699" y="3645375"/>
              <a:ext cx="576000" cy="1998367"/>
            </a:xfrm>
            <a:prstGeom prst="rect">
              <a:avLst/>
            </a:prstGeom>
          </p:spPr>
        </p:pic>
        <p:pic>
          <p:nvPicPr>
            <p:cNvPr id="46" name="Picture 45" descr="A white pillar with a letter&#10;&#10;AI-generated content may be incorrect.">
              <a:extLst>
                <a:ext uri="{FF2B5EF4-FFF2-40B4-BE49-F238E27FC236}">
                  <a16:creationId xmlns:a16="http://schemas.microsoft.com/office/drawing/2014/main" id="{97BDCAC7-B109-9786-24C5-9A2429318F00}"/>
                </a:ext>
              </a:extLst>
            </p:cNvPr>
            <p:cNvPicPr>
              <a:picLocks noChangeAspect="1"/>
            </p:cNvPicPr>
            <p:nvPr/>
          </p:nvPicPr>
          <p:blipFill>
            <a:blip r:embed="rId7" cstate="screen">
              <a:alphaModFix amt="50000"/>
              <a:extLst>
                <a:ext uri="{28A0092B-C50C-407E-A947-70E740481C1C}">
                  <a14:useLocalDpi xmlns:a14="http://schemas.microsoft.com/office/drawing/2010/main" val="0"/>
                </a:ext>
              </a:extLst>
            </a:blip>
            <a:stretch>
              <a:fillRect/>
            </a:stretch>
          </p:blipFill>
          <p:spPr>
            <a:xfrm>
              <a:off x="6752002" y="3645375"/>
              <a:ext cx="576000" cy="1998367"/>
            </a:xfrm>
            <a:prstGeom prst="rect">
              <a:avLst/>
            </a:prstGeom>
          </p:spPr>
        </p:pic>
        <p:pic>
          <p:nvPicPr>
            <p:cNvPr id="47" name="Picture 46" descr="A white pillar with a letter o&#10;&#10;AI-generated content may be incorrect.">
              <a:extLst>
                <a:ext uri="{FF2B5EF4-FFF2-40B4-BE49-F238E27FC236}">
                  <a16:creationId xmlns:a16="http://schemas.microsoft.com/office/drawing/2014/main" id="{65949E09-6E2C-E951-3FB4-237386DC4884}"/>
                </a:ext>
              </a:extLst>
            </p:cNvPr>
            <p:cNvPicPr>
              <a:picLocks noChangeAspect="1"/>
            </p:cNvPicPr>
            <p:nvPr/>
          </p:nvPicPr>
          <p:blipFill>
            <a:blip r:embed="rId8" cstate="screen">
              <a:alphaModFix amt="50000"/>
              <a:extLst>
                <a:ext uri="{28A0092B-C50C-407E-A947-70E740481C1C}">
                  <a14:useLocalDpi xmlns:a14="http://schemas.microsoft.com/office/drawing/2010/main" val="0"/>
                </a:ext>
              </a:extLst>
            </a:blip>
            <a:stretch>
              <a:fillRect/>
            </a:stretch>
          </p:blipFill>
          <p:spPr>
            <a:xfrm>
              <a:off x="7633305" y="3663742"/>
              <a:ext cx="570706" cy="1980000"/>
            </a:xfrm>
            <a:prstGeom prst="rect">
              <a:avLst/>
            </a:prstGeom>
          </p:spPr>
        </p:pic>
        <p:pic>
          <p:nvPicPr>
            <p:cNvPr id="48" name="Picture 47" descr="A white pillar with a letter&#10;&#10;AI-generated content may be incorrect.">
              <a:extLst>
                <a:ext uri="{FF2B5EF4-FFF2-40B4-BE49-F238E27FC236}">
                  <a16:creationId xmlns:a16="http://schemas.microsoft.com/office/drawing/2014/main" id="{B185347F-65E4-EA5D-0BA9-339DAA6A2EAB}"/>
                </a:ext>
              </a:extLst>
            </p:cNvPr>
            <p:cNvPicPr>
              <a:picLocks noChangeAspect="1"/>
            </p:cNvPicPr>
            <p:nvPr/>
          </p:nvPicPr>
          <p:blipFill>
            <a:blip r:embed="rId9" cstate="screen">
              <a:alphaModFix amt="50000"/>
              <a:extLst>
                <a:ext uri="{28A0092B-C50C-407E-A947-70E740481C1C}">
                  <a14:useLocalDpi xmlns:a14="http://schemas.microsoft.com/office/drawing/2010/main" val="0"/>
                </a:ext>
              </a:extLst>
            </a:blip>
            <a:stretch>
              <a:fillRect/>
            </a:stretch>
          </p:blipFill>
          <p:spPr>
            <a:xfrm>
              <a:off x="8509314" y="3663742"/>
              <a:ext cx="570706" cy="1980000"/>
            </a:xfrm>
            <a:prstGeom prst="rect">
              <a:avLst/>
            </a:prstGeom>
          </p:spPr>
        </p:pic>
        <p:pic>
          <p:nvPicPr>
            <p:cNvPr id="49" name="Picture 48" descr="A white pillar with a letter on it&#10;&#10;AI-generated content may be incorrect.">
              <a:extLst>
                <a:ext uri="{FF2B5EF4-FFF2-40B4-BE49-F238E27FC236}">
                  <a16:creationId xmlns:a16="http://schemas.microsoft.com/office/drawing/2014/main" id="{406B095A-AE46-83F6-F11E-9EA21741F735}"/>
                </a:ext>
              </a:extLst>
            </p:cNvPr>
            <p:cNvPicPr>
              <a:picLocks noChangeAspect="1"/>
            </p:cNvPicPr>
            <p:nvPr/>
          </p:nvPicPr>
          <p:blipFill>
            <a:blip r:embed="rId10" cstate="screen">
              <a:alphaModFix amt="50000"/>
              <a:extLst>
                <a:ext uri="{28A0092B-C50C-407E-A947-70E740481C1C}">
                  <a14:useLocalDpi xmlns:a14="http://schemas.microsoft.com/office/drawing/2010/main" val="0"/>
                </a:ext>
              </a:extLst>
            </a:blip>
            <a:stretch>
              <a:fillRect/>
            </a:stretch>
          </p:blipFill>
          <p:spPr>
            <a:xfrm>
              <a:off x="9385320" y="3663742"/>
              <a:ext cx="570706" cy="1980000"/>
            </a:xfrm>
            <a:prstGeom prst="rect">
              <a:avLst/>
            </a:prstGeom>
          </p:spPr>
        </p:pic>
      </p:grpSp>
      <p:sp>
        <p:nvSpPr>
          <p:cNvPr id="3" name="Content Placeholder 2">
            <a:extLst>
              <a:ext uri="{FF2B5EF4-FFF2-40B4-BE49-F238E27FC236}">
                <a16:creationId xmlns:a16="http://schemas.microsoft.com/office/drawing/2014/main" id="{B84323BF-BC38-04CB-D44E-81AA4FE0CC00}"/>
              </a:ext>
            </a:extLst>
          </p:cNvPr>
          <p:cNvSpPr>
            <a:spLocks noGrp="1"/>
          </p:cNvSpPr>
          <p:nvPr>
            <p:ph idx="4294967295"/>
          </p:nvPr>
        </p:nvSpPr>
        <p:spPr>
          <a:xfrm>
            <a:off x="3693879" y="2599359"/>
            <a:ext cx="5793021" cy="2204014"/>
          </a:xfrm>
        </p:spPr>
        <p:txBody>
          <a:bodyPr/>
          <a:lstStyle/>
          <a:p>
            <a:endParaRPr lang="en-GB" dirty="0"/>
          </a:p>
          <a:p>
            <a:r>
              <a:rPr lang="en-GB" dirty="0"/>
              <a:t>Somerset Foundation Trust</a:t>
            </a:r>
          </a:p>
          <a:p>
            <a:r>
              <a:rPr lang="en-GB" dirty="0"/>
              <a:t>Merger in 2023 and approach to challenges</a:t>
            </a:r>
          </a:p>
          <a:p>
            <a:r>
              <a:rPr lang="en-GB" dirty="0"/>
              <a:t>Integration for the future.</a:t>
            </a:r>
          </a:p>
        </p:txBody>
      </p:sp>
      <p:grpSp>
        <p:nvGrpSpPr>
          <p:cNvPr id="4" name="Group 3">
            <a:extLst>
              <a:ext uri="{FF2B5EF4-FFF2-40B4-BE49-F238E27FC236}">
                <a16:creationId xmlns:a16="http://schemas.microsoft.com/office/drawing/2014/main" id="{405AF980-7331-EC65-BE6E-472D719614D5}"/>
              </a:ext>
            </a:extLst>
          </p:cNvPr>
          <p:cNvGrpSpPr/>
          <p:nvPr/>
        </p:nvGrpSpPr>
        <p:grpSpPr>
          <a:xfrm>
            <a:off x="0" y="-786"/>
            <a:ext cx="2851517" cy="6868014"/>
            <a:chOff x="0" y="-786"/>
            <a:chExt cx="2851517" cy="6868014"/>
          </a:xfrm>
        </p:grpSpPr>
        <p:grpSp>
          <p:nvGrpSpPr>
            <p:cNvPr id="5" name="Group 4">
              <a:extLst>
                <a:ext uri="{FF2B5EF4-FFF2-40B4-BE49-F238E27FC236}">
                  <a16:creationId xmlns:a16="http://schemas.microsoft.com/office/drawing/2014/main" id="{4376ED30-B03D-3D58-C56F-E046AEBC3E06}"/>
                </a:ext>
              </a:extLst>
            </p:cNvPr>
            <p:cNvGrpSpPr/>
            <p:nvPr/>
          </p:nvGrpSpPr>
          <p:grpSpPr>
            <a:xfrm>
              <a:off x="1" y="228600"/>
              <a:ext cx="2851516" cy="6638628"/>
              <a:chOff x="2487613" y="285750"/>
              <a:chExt cx="2428875" cy="5654676"/>
            </a:xfrm>
          </p:grpSpPr>
          <p:sp>
            <p:nvSpPr>
              <p:cNvPr id="20" name="Freeform 11">
                <a:extLst>
                  <a:ext uri="{FF2B5EF4-FFF2-40B4-BE49-F238E27FC236}">
                    <a16:creationId xmlns:a16="http://schemas.microsoft.com/office/drawing/2014/main" id="{D92AE8EC-72B9-0BEF-17F1-C4FA01320A6D}"/>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21" name="Freeform 12">
                <a:extLst>
                  <a:ext uri="{FF2B5EF4-FFF2-40B4-BE49-F238E27FC236}">
                    <a16:creationId xmlns:a16="http://schemas.microsoft.com/office/drawing/2014/main" id="{C595B38C-6A0B-994D-27A9-FD3667E1F234}"/>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22" name="Freeform 13">
                <a:extLst>
                  <a:ext uri="{FF2B5EF4-FFF2-40B4-BE49-F238E27FC236}">
                    <a16:creationId xmlns:a16="http://schemas.microsoft.com/office/drawing/2014/main" id="{980A7028-8728-CDCD-3C61-0C57208E15EA}"/>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23" name="Freeform 14">
                <a:extLst>
                  <a:ext uri="{FF2B5EF4-FFF2-40B4-BE49-F238E27FC236}">
                    <a16:creationId xmlns:a16="http://schemas.microsoft.com/office/drawing/2014/main" id="{F4A0C7AE-3F30-3F92-BF5D-7F50AB195AFC}"/>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24" name="Freeform 15">
                <a:extLst>
                  <a:ext uri="{FF2B5EF4-FFF2-40B4-BE49-F238E27FC236}">
                    <a16:creationId xmlns:a16="http://schemas.microsoft.com/office/drawing/2014/main" id="{F7DD4803-6663-A249-4724-00260D1557F6}"/>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25" name="Freeform 16">
                <a:extLst>
                  <a:ext uri="{FF2B5EF4-FFF2-40B4-BE49-F238E27FC236}">
                    <a16:creationId xmlns:a16="http://schemas.microsoft.com/office/drawing/2014/main" id="{75CBEAA3-915E-AEE9-645D-7D96737429D3}"/>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26" name="Freeform 17">
                <a:extLst>
                  <a:ext uri="{FF2B5EF4-FFF2-40B4-BE49-F238E27FC236}">
                    <a16:creationId xmlns:a16="http://schemas.microsoft.com/office/drawing/2014/main" id="{A528C48D-8E81-69C8-C8CD-3E3BEDB2906C}"/>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27" name="Freeform 18">
                <a:extLst>
                  <a:ext uri="{FF2B5EF4-FFF2-40B4-BE49-F238E27FC236}">
                    <a16:creationId xmlns:a16="http://schemas.microsoft.com/office/drawing/2014/main" id="{B3E69191-3535-27AD-FFE0-969116D5EAD7}"/>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28" name="Freeform 19">
                <a:extLst>
                  <a:ext uri="{FF2B5EF4-FFF2-40B4-BE49-F238E27FC236}">
                    <a16:creationId xmlns:a16="http://schemas.microsoft.com/office/drawing/2014/main" id="{25090476-AF4C-35E7-858A-673B876EE9B7}"/>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29" name="Freeform 20">
                <a:extLst>
                  <a:ext uri="{FF2B5EF4-FFF2-40B4-BE49-F238E27FC236}">
                    <a16:creationId xmlns:a16="http://schemas.microsoft.com/office/drawing/2014/main" id="{7C177CFC-47D6-015C-C85C-C89E587D7DCC}"/>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30" name="Freeform 21">
                <a:extLst>
                  <a:ext uri="{FF2B5EF4-FFF2-40B4-BE49-F238E27FC236}">
                    <a16:creationId xmlns:a16="http://schemas.microsoft.com/office/drawing/2014/main" id="{BF8CC1ED-D0B4-62C3-DFAC-6CFE8DC4C695}"/>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31" name="Freeform 22">
                <a:extLst>
                  <a:ext uri="{FF2B5EF4-FFF2-40B4-BE49-F238E27FC236}">
                    <a16:creationId xmlns:a16="http://schemas.microsoft.com/office/drawing/2014/main" id="{66E5FA47-CD60-9B3B-1731-A40D72BAD86B}"/>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6" name="Group 5">
              <a:extLst>
                <a:ext uri="{FF2B5EF4-FFF2-40B4-BE49-F238E27FC236}">
                  <a16:creationId xmlns:a16="http://schemas.microsoft.com/office/drawing/2014/main" id="{1EC6EF41-0AD9-9631-FB1F-0BD79A54C655}"/>
                </a:ext>
              </a:extLst>
            </p:cNvPr>
            <p:cNvGrpSpPr/>
            <p:nvPr/>
          </p:nvGrpSpPr>
          <p:grpSpPr>
            <a:xfrm>
              <a:off x="27221" y="-786"/>
              <a:ext cx="2356674" cy="6854039"/>
              <a:chOff x="6627813" y="194833"/>
              <a:chExt cx="1952625" cy="5678918"/>
            </a:xfrm>
          </p:grpSpPr>
          <p:sp>
            <p:nvSpPr>
              <p:cNvPr id="8" name="Freeform 27">
                <a:extLst>
                  <a:ext uri="{FF2B5EF4-FFF2-40B4-BE49-F238E27FC236}">
                    <a16:creationId xmlns:a16="http://schemas.microsoft.com/office/drawing/2014/main" id="{D5A57F66-46C8-F57E-2E06-BA228A0DDC0D}"/>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9" name="Freeform 28">
                <a:extLst>
                  <a:ext uri="{FF2B5EF4-FFF2-40B4-BE49-F238E27FC236}">
                    <a16:creationId xmlns:a16="http://schemas.microsoft.com/office/drawing/2014/main" id="{B44D4ECF-2C79-3740-77A0-03C8382454E1}"/>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10" name="Freeform 29">
                <a:extLst>
                  <a:ext uri="{FF2B5EF4-FFF2-40B4-BE49-F238E27FC236}">
                    <a16:creationId xmlns:a16="http://schemas.microsoft.com/office/drawing/2014/main" id="{011121B3-39ED-597D-0B80-FEA6149F0B53}"/>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11" name="Freeform 30">
                <a:extLst>
                  <a:ext uri="{FF2B5EF4-FFF2-40B4-BE49-F238E27FC236}">
                    <a16:creationId xmlns:a16="http://schemas.microsoft.com/office/drawing/2014/main" id="{7D2A97B2-323A-C86C-D2D3-3847F5C55BB4}"/>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12" name="Freeform 31">
                <a:extLst>
                  <a:ext uri="{FF2B5EF4-FFF2-40B4-BE49-F238E27FC236}">
                    <a16:creationId xmlns:a16="http://schemas.microsoft.com/office/drawing/2014/main" id="{2FEBB5FC-3880-BCBD-FC16-C7185EF42B61}"/>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13" name="Freeform 32">
                <a:extLst>
                  <a:ext uri="{FF2B5EF4-FFF2-40B4-BE49-F238E27FC236}">
                    <a16:creationId xmlns:a16="http://schemas.microsoft.com/office/drawing/2014/main" id="{B44DC707-7112-C6FD-E25B-972D3FBB26C4}"/>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14" name="Freeform 33">
                <a:extLst>
                  <a:ext uri="{FF2B5EF4-FFF2-40B4-BE49-F238E27FC236}">
                    <a16:creationId xmlns:a16="http://schemas.microsoft.com/office/drawing/2014/main" id="{60D5E492-A074-1466-33E6-1F011EDEDE11}"/>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15" name="Freeform 34">
                <a:extLst>
                  <a:ext uri="{FF2B5EF4-FFF2-40B4-BE49-F238E27FC236}">
                    <a16:creationId xmlns:a16="http://schemas.microsoft.com/office/drawing/2014/main" id="{70428AE7-9F68-7021-9BE9-0AB032119142}"/>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16" name="Freeform 35">
                <a:extLst>
                  <a:ext uri="{FF2B5EF4-FFF2-40B4-BE49-F238E27FC236}">
                    <a16:creationId xmlns:a16="http://schemas.microsoft.com/office/drawing/2014/main" id="{FFAA22EB-2063-CD0E-17C2-4826019900EC}"/>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17" name="Freeform 36">
                <a:extLst>
                  <a:ext uri="{FF2B5EF4-FFF2-40B4-BE49-F238E27FC236}">
                    <a16:creationId xmlns:a16="http://schemas.microsoft.com/office/drawing/2014/main" id="{C6C38AD3-6F5A-A2B7-EED9-B808E130C76D}"/>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18" name="Freeform 37">
                <a:extLst>
                  <a:ext uri="{FF2B5EF4-FFF2-40B4-BE49-F238E27FC236}">
                    <a16:creationId xmlns:a16="http://schemas.microsoft.com/office/drawing/2014/main" id="{FBA4D0CC-F843-1D09-7B33-950B65B65BDE}"/>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19" name="Freeform 38">
                <a:extLst>
                  <a:ext uri="{FF2B5EF4-FFF2-40B4-BE49-F238E27FC236}">
                    <a16:creationId xmlns:a16="http://schemas.microsoft.com/office/drawing/2014/main" id="{582FE530-EF7E-C48D-A969-D96346BEE3A0}"/>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7" name="Rectangle 6">
              <a:extLst>
                <a:ext uri="{FF2B5EF4-FFF2-40B4-BE49-F238E27FC236}">
                  <a16:creationId xmlns:a16="http://schemas.microsoft.com/office/drawing/2014/main" id="{D7647E51-A9B0-FD83-3093-404A0408F510}"/>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50" name="Freeform 11">
            <a:extLst>
              <a:ext uri="{FF2B5EF4-FFF2-40B4-BE49-F238E27FC236}">
                <a16:creationId xmlns:a16="http://schemas.microsoft.com/office/drawing/2014/main" id="{66E3C1BF-BB07-D236-D0D5-A1B0C0B1EC66}"/>
              </a:ext>
            </a:extLst>
          </p:cNvPr>
          <p:cNvSpPr/>
          <p:nvPr/>
        </p:nvSpPr>
        <p:spPr bwMode="auto">
          <a:xfrm flipV="1">
            <a:off x="0" y="730587"/>
            <a:ext cx="1245794" cy="446460"/>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32" name="Freeform 11">
            <a:extLst>
              <a:ext uri="{FF2B5EF4-FFF2-40B4-BE49-F238E27FC236}">
                <a16:creationId xmlns:a16="http://schemas.microsoft.com/office/drawing/2014/main" id="{04B49D3E-1B72-5045-5E4E-7C8AB3F33FC2}"/>
              </a:ext>
            </a:extLst>
          </p:cNvPr>
          <p:cNvSpPr/>
          <p:nvPr/>
        </p:nvSpPr>
        <p:spPr bwMode="auto">
          <a:xfrm rot="10800000" flipV="1">
            <a:off x="-668758" y="743518"/>
            <a:ext cx="4478015" cy="810868"/>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r>
              <a:rPr lang="en-GB" dirty="0"/>
              <a:t>		</a:t>
            </a:r>
            <a:r>
              <a:rPr lang="en-GB" sz="4400" b="1" dirty="0">
                <a:ln w="22225">
                  <a:solidFill>
                    <a:schemeClr val="accent2"/>
                  </a:solidFill>
                  <a:prstDash val="solid"/>
                </a:ln>
                <a:solidFill>
                  <a:schemeClr val="accent2">
                    <a:lumMod val="40000"/>
                    <a:lumOff val="60000"/>
                  </a:schemeClr>
                </a:solidFill>
              </a:rPr>
              <a:t>CASE STUDY </a:t>
            </a:r>
            <a:endParaRPr lang="en-GB" sz="4400" dirty="0"/>
          </a:p>
        </p:txBody>
      </p:sp>
    </p:spTree>
    <p:extLst>
      <p:ext uri="{BB962C8B-B14F-4D97-AF65-F5344CB8AC3E}">
        <p14:creationId xmlns:p14="http://schemas.microsoft.com/office/powerpoint/2010/main" val="40136577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93101-16ED-9253-AEC9-0F19ACE303CC}"/>
              </a:ext>
            </a:extLst>
          </p:cNvPr>
          <p:cNvSpPr>
            <a:spLocks noGrp="1"/>
          </p:cNvSpPr>
          <p:nvPr>
            <p:ph type="title"/>
          </p:nvPr>
        </p:nvSpPr>
        <p:spPr>
          <a:xfrm>
            <a:off x="5283442" y="2656917"/>
            <a:ext cx="4503411" cy="605305"/>
          </a:xfrm>
        </p:spPr>
        <p:txBody>
          <a:bodyPr/>
          <a:lstStyle/>
          <a:p>
            <a:r>
              <a:rPr lang="en-GB" dirty="0"/>
              <a:t>SFT Case Study</a:t>
            </a:r>
          </a:p>
        </p:txBody>
      </p:sp>
      <p:sp>
        <p:nvSpPr>
          <p:cNvPr id="3" name="Text Placeholder 2">
            <a:extLst>
              <a:ext uri="{FF2B5EF4-FFF2-40B4-BE49-F238E27FC236}">
                <a16:creationId xmlns:a16="http://schemas.microsoft.com/office/drawing/2014/main" id="{726BF1B9-C21F-A31E-09C8-58FDD923A614}"/>
              </a:ext>
            </a:extLst>
          </p:cNvPr>
          <p:cNvSpPr>
            <a:spLocks noGrp="1"/>
          </p:cNvSpPr>
          <p:nvPr>
            <p:ph type="body" sz="quarter" idx="10"/>
          </p:nvPr>
        </p:nvSpPr>
        <p:spPr>
          <a:xfrm>
            <a:off x="6659462" y="5231109"/>
            <a:ext cx="3258271" cy="287515"/>
          </a:xfrm>
        </p:spPr>
        <p:txBody>
          <a:bodyPr/>
          <a:lstStyle/>
          <a:p>
            <a:r>
              <a:rPr lang="en-GB" dirty="0"/>
              <a:t>Neil Hayes-Webster</a:t>
            </a:r>
          </a:p>
        </p:txBody>
      </p:sp>
      <p:sp>
        <p:nvSpPr>
          <p:cNvPr id="5" name="Title 1">
            <a:extLst>
              <a:ext uri="{FF2B5EF4-FFF2-40B4-BE49-F238E27FC236}">
                <a16:creationId xmlns:a16="http://schemas.microsoft.com/office/drawing/2014/main" id="{EC41AAEF-D92F-B8C1-7477-191CB5C273B8}"/>
              </a:ext>
            </a:extLst>
          </p:cNvPr>
          <p:cNvSpPr txBox="1">
            <a:spLocks/>
          </p:cNvSpPr>
          <p:nvPr/>
        </p:nvSpPr>
        <p:spPr>
          <a:xfrm>
            <a:off x="5805518" y="4295624"/>
            <a:ext cx="3981334" cy="485993"/>
          </a:xfrm>
          <a:prstGeom prst="rect">
            <a:avLst/>
          </a:prstGeom>
        </p:spPr>
        <p:txBody>
          <a:bodyPr lIns="0"/>
          <a:lstStyle>
            <a:lvl1pPr algn="l" defTabSz="914400" rtl="0" eaLnBrk="1" latinLnBrk="0" hangingPunct="1">
              <a:lnSpc>
                <a:spcPct val="90000"/>
              </a:lnSpc>
              <a:spcBef>
                <a:spcPct val="0"/>
              </a:spcBef>
              <a:buNone/>
              <a:defRPr sz="4000" kern="1200">
                <a:solidFill>
                  <a:srgbClr val="005EB8"/>
                </a:solidFill>
                <a:latin typeface="Arial" panose="020B0604020202020204" pitchFamily="34" charset="0"/>
                <a:ea typeface="+mj-ea"/>
                <a:cs typeface="Arial" panose="020B0604020202020204" pitchFamily="34" charset="0"/>
              </a:defRPr>
            </a:lvl1pPr>
          </a:lstStyle>
          <a:p>
            <a:r>
              <a:rPr lang="en-GB" sz="2400" dirty="0"/>
              <a:t>Data Insight and Intelligence</a:t>
            </a:r>
          </a:p>
        </p:txBody>
      </p:sp>
      <p:sp>
        <p:nvSpPr>
          <p:cNvPr id="4" name="Title 1">
            <a:extLst>
              <a:ext uri="{FF2B5EF4-FFF2-40B4-BE49-F238E27FC236}">
                <a16:creationId xmlns:a16="http://schemas.microsoft.com/office/drawing/2014/main" id="{4A440516-3EF5-FE3D-1E5E-0D9F0FCB17A2}"/>
              </a:ext>
            </a:extLst>
          </p:cNvPr>
          <p:cNvSpPr txBox="1">
            <a:spLocks/>
          </p:cNvSpPr>
          <p:nvPr/>
        </p:nvSpPr>
        <p:spPr>
          <a:xfrm>
            <a:off x="5805518" y="3535926"/>
            <a:ext cx="3981334" cy="485993"/>
          </a:xfrm>
          <a:prstGeom prst="rect">
            <a:avLst/>
          </a:prstGeom>
        </p:spPr>
        <p:txBody>
          <a:bodyPr lIns="0"/>
          <a:lstStyle>
            <a:lvl1pPr algn="l" defTabSz="914400" rtl="0" eaLnBrk="1" latinLnBrk="0" hangingPunct="1">
              <a:lnSpc>
                <a:spcPct val="90000"/>
              </a:lnSpc>
              <a:spcBef>
                <a:spcPct val="0"/>
              </a:spcBef>
              <a:buNone/>
              <a:defRPr sz="4000" kern="1200">
                <a:solidFill>
                  <a:srgbClr val="005EB8"/>
                </a:solidFill>
                <a:latin typeface="Arial" panose="020B0604020202020204" pitchFamily="34" charset="0"/>
                <a:ea typeface="+mj-ea"/>
                <a:cs typeface="Arial" panose="020B0604020202020204" pitchFamily="34" charset="0"/>
              </a:defRPr>
            </a:lvl1pPr>
          </a:lstStyle>
          <a:p>
            <a:r>
              <a:rPr lang="en-GB" sz="2400" dirty="0"/>
              <a:t>Design Overview</a:t>
            </a:r>
          </a:p>
        </p:txBody>
      </p:sp>
    </p:spTree>
    <p:extLst>
      <p:ext uri="{BB962C8B-B14F-4D97-AF65-F5344CB8AC3E}">
        <p14:creationId xmlns:p14="http://schemas.microsoft.com/office/powerpoint/2010/main" val="15532856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a:extLst>
              <a:ext uri="{FF2B5EF4-FFF2-40B4-BE49-F238E27FC236}">
                <a16:creationId xmlns:a16="http://schemas.microsoft.com/office/drawing/2014/main" id="{67FA4F6B-2EC4-F753-EA14-A45FBE6F4629}"/>
              </a:ext>
            </a:extLst>
          </p:cNvPr>
          <p:cNvGraphicFramePr>
            <a:graphicFrameLocks noChangeAspect="1"/>
          </p:cNvGraphicFramePr>
          <p:nvPr/>
        </p:nvGraphicFramePr>
        <p:xfrm>
          <a:off x="3946475" y="1494917"/>
          <a:ext cx="4199897" cy="4579259"/>
        </p:xfrm>
        <a:graphic>
          <a:graphicData uri="http://schemas.openxmlformats.org/presentationml/2006/ole">
            <mc:AlternateContent xmlns:mc="http://schemas.openxmlformats.org/markup-compatibility/2006">
              <mc:Choice xmlns:v="urn:schemas-microsoft-com:vml" Requires="v">
                <p:oleObj name="Acrobat Document" r:id="rId2" imgW="11439231" imgH="10286759" progId="AcroExch.Document.DC">
                  <p:embed/>
                </p:oleObj>
              </mc:Choice>
              <mc:Fallback>
                <p:oleObj name="Acrobat Document" r:id="rId2" imgW="11439231" imgH="10286759" progId="AcroExch.Document.DC">
                  <p:embed/>
                  <p:pic>
                    <p:nvPicPr>
                      <p:cNvPr id="8" name="Object 7">
                        <a:extLst>
                          <a:ext uri="{FF2B5EF4-FFF2-40B4-BE49-F238E27FC236}">
                            <a16:creationId xmlns:a16="http://schemas.microsoft.com/office/drawing/2014/main" id="{67FA4F6B-2EC4-F753-EA14-A45FBE6F4629}"/>
                          </a:ext>
                        </a:extLst>
                      </p:cNvPr>
                      <p:cNvPicPr/>
                      <p:nvPr/>
                    </p:nvPicPr>
                    <p:blipFill>
                      <a:blip r:embed="rId3">
                        <a:alphaModFix amt="25000"/>
                      </a:blip>
                      <a:stretch>
                        <a:fillRect/>
                      </a:stretch>
                    </p:blipFill>
                    <p:spPr>
                      <a:xfrm>
                        <a:off x="3946475" y="1494917"/>
                        <a:ext cx="4199897" cy="4579259"/>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03A5AF59-2CAF-469F-0E6B-384CA2F3BC57}"/>
              </a:ext>
            </a:extLst>
          </p:cNvPr>
          <p:cNvSpPr>
            <a:spLocks noGrp="1"/>
          </p:cNvSpPr>
          <p:nvPr>
            <p:ph type="body" sz="quarter" idx="13"/>
          </p:nvPr>
        </p:nvSpPr>
        <p:spPr/>
        <p:txBody>
          <a:bodyPr/>
          <a:lstStyle/>
          <a:p>
            <a:r>
              <a:rPr lang="en-GB" dirty="0"/>
              <a:t>Neil Hayes-Webster</a:t>
            </a:r>
          </a:p>
        </p:txBody>
      </p:sp>
      <p:grpSp>
        <p:nvGrpSpPr>
          <p:cNvPr id="5" name="Group 4">
            <a:extLst>
              <a:ext uri="{FF2B5EF4-FFF2-40B4-BE49-F238E27FC236}">
                <a16:creationId xmlns:a16="http://schemas.microsoft.com/office/drawing/2014/main" id="{4E67AE75-4E6D-5CCC-DAE8-EF3DCD528235}"/>
              </a:ext>
            </a:extLst>
          </p:cNvPr>
          <p:cNvGrpSpPr/>
          <p:nvPr/>
        </p:nvGrpSpPr>
        <p:grpSpPr>
          <a:xfrm>
            <a:off x="17446442" y="2098062"/>
            <a:ext cx="1761553" cy="2952616"/>
            <a:chOff x="3733552" y="2091824"/>
            <a:chExt cx="1761553" cy="2952616"/>
          </a:xfrm>
        </p:grpSpPr>
        <p:sp>
          <p:nvSpPr>
            <p:cNvPr id="15" name="Freeform: Shape 14">
              <a:extLst>
                <a:ext uri="{FF2B5EF4-FFF2-40B4-BE49-F238E27FC236}">
                  <a16:creationId xmlns:a16="http://schemas.microsoft.com/office/drawing/2014/main" id="{77C1CBD1-856E-A9E7-275A-180321F61B04}"/>
                </a:ext>
              </a:extLst>
            </p:cNvPr>
            <p:cNvSpPr/>
            <p:nvPr/>
          </p:nvSpPr>
          <p:spPr>
            <a:xfrm>
              <a:off x="3733552" y="2091824"/>
              <a:ext cx="1761553" cy="2952616"/>
            </a:xfrm>
            <a:custGeom>
              <a:avLst/>
              <a:gdLst>
                <a:gd name="connsiteX0" fmla="*/ 0 w 1761553"/>
                <a:gd name="connsiteY0" fmla="*/ 176155 h 3435872"/>
                <a:gd name="connsiteX1" fmla="*/ 176155 w 1761553"/>
                <a:gd name="connsiteY1" fmla="*/ 0 h 3435872"/>
                <a:gd name="connsiteX2" fmla="*/ 1585398 w 1761553"/>
                <a:gd name="connsiteY2" fmla="*/ 0 h 3435872"/>
                <a:gd name="connsiteX3" fmla="*/ 1761553 w 1761553"/>
                <a:gd name="connsiteY3" fmla="*/ 176155 h 3435872"/>
                <a:gd name="connsiteX4" fmla="*/ 1761553 w 1761553"/>
                <a:gd name="connsiteY4" fmla="*/ 3259717 h 3435872"/>
                <a:gd name="connsiteX5" fmla="*/ 1585398 w 1761553"/>
                <a:gd name="connsiteY5" fmla="*/ 3435872 h 3435872"/>
                <a:gd name="connsiteX6" fmla="*/ 176155 w 1761553"/>
                <a:gd name="connsiteY6" fmla="*/ 3435872 h 3435872"/>
                <a:gd name="connsiteX7" fmla="*/ 0 w 1761553"/>
                <a:gd name="connsiteY7" fmla="*/ 3259717 h 3435872"/>
                <a:gd name="connsiteX8" fmla="*/ 0 w 1761553"/>
                <a:gd name="connsiteY8" fmla="*/ 176155 h 3435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1553" h="3435872">
                  <a:moveTo>
                    <a:pt x="0" y="176155"/>
                  </a:moveTo>
                  <a:cubicBezTo>
                    <a:pt x="0" y="78867"/>
                    <a:pt x="78867" y="0"/>
                    <a:pt x="176155" y="0"/>
                  </a:cubicBezTo>
                  <a:lnTo>
                    <a:pt x="1585398" y="0"/>
                  </a:lnTo>
                  <a:cubicBezTo>
                    <a:pt x="1682686" y="0"/>
                    <a:pt x="1761553" y="78867"/>
                    <a:pt x="1761553" y="176155"/>
                  </a:cubicBezTo>
                  <a:lnTo>
                    <a:pt x="1761553" y="3259717"/>
                  </a:lnTo>
                  <a:cubicBezTo>
                    <a:pt x="1761553" y="3357005"/>
                    <a:pt x="1682686" y="3435872"/>
                    <a:pt x="1585398" y="3435872"/>
                  </a:cubicBezTo>
                  <a:lnTo>
                    <a:pt x="176155" y="3435872"/>
                  </a:lnTo>
                  <a:cubicBezTo>
                    <a:pt x="78867" y="3435872"/>
                    <a:pt x="0" y="3357005"/>
                    <a:pt x="0" y="3259717"/>
                  </a:cubicBezTo>
                  <a:lnTo>
                    <a:pt x="0" y="176155"/>
                  </a:lnTo>
                  <a:close/>
                </a:path>
              </a:pathLst>
            </a:custGeom>
            <a:solidFill>
              <a:srgbClr val="0072CE"/>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128" tIns="1509476" rIns="135128" bIns="822304" numCol="1" spcCol="1270" anchor="ctr" anchorCtr="0">
              <a:noAutofit/>
            </a:bodyPr>
            <a:lstStyle/>
            <a:p>
              <a:pPr algn="ctr" defTabSz="844550">
                <a:lnSpc>
                  <a:spcPct val="90000"/>
                </a:lnSpc>
                <a:spcBef>
                  <a:spcPct val="0"/>
                </a:spcBef>
                <a:spcAft>
                  <a:spcPct val="35000"/>
                </a:spcAft>
              </a:pPr>
              <a:r>
                <a:rPr lang="en-GB" sz="1900">
                  <a:solidFill>
                    <a:srgbClr val="FFFFFF"/>
                  </a:solidFill>
                  <a:latin typeface="Frutiger Lt Std"/>
                </a:rPr>
                <a:t>Over 250 Databases</a:t>
              </a:r>
            </a:p>
          </p:txBody>
        </p:sp>
        <p:sp>
          <p:nvSpPr>
            <p:cNvPr id="14" name="Oval 13" descr="Database outline">
              <a:extLst>
                <a:ext uri="{FF2B5EF4-FFF2-40B4-BE49-F238E27FC236}">
                  <a16:creationId xmlns:a16="http://schemas.microsoft.com/office/drawing/2014/main" id="{BC92AED8-C8BF-D593-D9A2-6746AFEB0215}"/>
                </a:ext>
              </a:extLst>
            </p:cNvPr>
            <p:cNvSpPr/>
            <p:nvPr/>
          </p:nvSpPr>
          <p:spPr>
            <a:xfrm>
              <a:off x="4193014" y="2565916"/>
              <a:ext cx="842628" cy="874058"/>
            </a:xfrm>
            <a:prstGeom prst="ellipse">
              <a:avLst/>
            </a:prstGeom>
            <a:blipFill>
              <a:blip r:embed="rId4">
                <a:extLst>
                  <a:ext uri="{96DAC541-7B7A-43D3-8B79-37D633B846F1}">
                    <asvg:svgBlip xmlns:asvg="http://schemas.microsoft.com/office/drawing/2016/SVG/main" r:embed="rId5"/>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3" name="Group 2">
            <a:extLst>
              <a:ext uri="{FF2B5EF4-FFF2-40B4-BE49-F238E27FC236}">
                <a16:creationId xmlns:a16="http://schemas.microsoft.com/office/drawing/2014/main" id="{0A764E10-8BBC-8665-0D5E-0E3DEB39172F}"/>
              </a:ext>
            </a:extLst>
          </p:cNvPr>
          <p:cNvGrpSpPr/>
          <p:nvPr/>
        </p:nvGrpSpPr>
        <p:grpSpPr>
          <a:xfrm>
            <a:off x="12484282" y="2099444"/>
            <a:ext cx="1761553" cy="2952616"/>
            <a:chOff x="1054282" y="2091824"/>
            <a:chExt cx="1761553" cy="2952616"/>
          </a:xfrm>
        </p:grpSpPr>
        <p:sp>
          <p:nvSpPr>
            <p:cNvPr id="13" name="Freeform: Shape 12">
              <a:extLst>
                <a:ext uri="{FF2B5EF4-FFF2-40B4-BE49-F238E27FC236}">
                  <a16:creationId xmlns:a16="http://schemas.microsoft.com/office/drawing/2014/main" id="{F69C2041-EA59-8DA1-E9FF-C871A0ADDA34}"/>
                </a:ext>
              </a:extLst>
            </p:cNvPr>
            <p:cNvSpPr/>
            <p:nvPr/>
          </p:nvSpPr>
          <p:spPr>
            <a:xfrm>
              <a:off x="1054282" y="2091824"/>
              <a:ext cx="1761553" cy="2952616"/>
            </a:xfrm>
            <a:custGeom>
              <a:avLst/>
              <a:gdLst>
                <a:gd name="connsiteX0" fmla="*/ 0 w 1761553"/>
                <a:gd name="connsiteY0" fmla="*/ 176155 h 3435872"/>
                <a:gd name="connsiteX1" fmla="*/ 176155 w 1761553"/>
                <a:gd name="connsiteY1" fmla="*/ 0 h 3435872"/>
                <a:gd name="connsiteX2" fmla="*/ 1585398 w 1761553"/>
                <a:gd name="connsiteY2" fmla="*/ 0 h 3435872"/>
                <a:gd name="connsiteX3" fmla="*/ 1761553 w 1761553"/>
                <a:gd name="connsiteY3" fmla="*/ 176155 h 3435872"/>
                <a:gd name="connsiteX4" fmla="*/ 1761553 w 1761553"/>
                <a:gd name="connsiteY4" fmla="*/ 3259717 h 3435872"/>
                <a:gd name="connsiteX5" fmla="*/ 1585398 w 1761553"/>
                <a:gd name="connsiteY5" fmla="*/ 3435872 h 3435872"/>
                <a:gd name="connsiteX6" fmla="*/ 176155 w 1761553"/>
                <a:gd name="connsiteY6" fmla="*/ 3435872 h 3435872"/>
                <a:gd name="connsiteX7" fmla="*/ 0 w 1761553"/>
                <a:gd name="connsiteY7" fmla="*/ 3259717 h 3435872"/>
                <a:gd name="connsiteX8" fmla="*/ 0 w 1761553"/>
                <a:gd name="connsiteY8" fmla="*/ 176155 h 3435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1553" h="3435872">
                  <a:moveTo>
                    <a:pt x="0" y="176155"/>
                  </a:moveTo>
                  <a:cubicBezTo>
                    <a:pt x="0" y="78867"/>
                    <a:pt x="78867" y="0"/>
                    <a:pt x="176155" y="0"/>
                  </a:cubicBezTo>
                  <a:lnTo>
                    <a:pt x="1585398" y="0"/>
                  </a:lnTo>
                  <a:cubicBezTo>
                    <a:pt x="1682686" y="0"/>
                    <a:pt x="1761553" y="78867"/>
                    <a:pt x="1761553" y="176155"/>
                  </a:cubicBezTo>
                  <a:lnTo>
                    <a:pt x="1761553" y="3259717"/>
                  </a:lnTo>
                  <a:cubicBezTo>
                    <a:pt x="1761553" y="3357005"/>
                    <a:pt x="1682686" y="3435872"/>
                    <a:pt x="1585398" y="3435872"/>
                  </a:cubicBezTo>
                  <a:lnTo>
                    <a:pt x="176155" y="3435872"/>
                  </a:lnTo>
                  <a:cubicBezTo>
                    <a:pt x="78867" y="3435872"/>
                    <a:pt x="0" y="3357005"/>
                    <a:pt x="0" y="3259717"/>
                  </a:cubicBezTo>
                  <a:lnTo>
                    <a:pt x="0" y="176155"/>
                  </a:lnTo>
                  <a:close/>
                </a:path>
              </a:pathLst>
            </a:custGeom>
            <a:solidFill>
              <a:srgbClr val="0072CE"/>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128" tIns="1509476" rIns="135128" bIns="822304" numCol="1" spcCol="1270" anchor="ctr" anchorCtr="0">
              <a:noAutofit/>
            </a:bodyPr>
            <a:lstStyle/>
            <a:p>
              <a:pPr algn="ctr" defTabSz="844550">
                <a:lnSpc>
                  <a:spcPct val="90000"/>
                </a:lnSpc>
                <a:spcBef>
                  <a:spcPct val="0"/>
                </a:spcBef>
                <a:spcAft>
                  <a:spcPct val="35000"/>
                </a:spcAft>
              </a:pPr>
              <a:r>
                <a:rPr lang="en-GB" sz="1900" dirty="0">
                  <a:solidFill>
                    <a:srgbClr val="FFFFFF"/>
                  </a:solidFill>
                  <a:latin typeface="Frutiger Lt Std"/>
                </a:rPr>
                <a:t>13 Production Warehouse and reporting Servers </a:t>
              </a:r>
            </a:p>
          </p:txBody>
        </p:sp>
        <p:sp>
          <p:nvSpPr>
            <p:cNvPr id="16" name="Oval 15" descr="Computer outline">
              <a:extLst>
                <a:ext uri="{FF2B5EF4-FFF2-40B4-BE49-F238E27FC236}">
                  <a16:creationId xmlns:a16="http://schemas.microsoft.com/office/drawing/2014/main" id="{4913E6E8-D3BD-DE56-FF75-A89126E0CC17}"/>
                </a:ext>
              </a:extLst>
            </p:cNvPr>
            <p:cNvSpPr/>
            <p:nvPr/>
          </p:nvSpPr>
          <p:spPr>
            <a:xfrm>
              <a:off x="1371240" y="2364439"/>
              <a:ext cx="1065965" cy="1011218"/>
            </a:xfrm>
            <a:prstGeom prst="ellipse">
              <a:avLst/>
            </a:prstGeom>
            <a:blipFill>
              <a:blip r:embed="rId6">
                <a:extLst>
                  <a:ext uri="{96DAC541-7B7A-43D3-8B79-37D633B846F1}">
                    <asvg:svgBlip xmlns:asvg="http://schemas.microsoft.com/office/drawing/2016/SVG/main" r:embed="rId7"/>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6" name="Group 5">
            <a:extLst>
              <a:ext uri="{FF2B5EF4-FFF2-40B4-BE49-F238E27FC236}">
                <a16:creationId xmlns:a16="http://schemas.microsoft.com/office/drawing/2014/main" id="{811A9C8B-3C48-19E7-BF24-A2CAC4AC772E}"/>
              </a:ext>
            </a:extLst>
          </p:cNvPr>
          <p:cNvGrpSpPr/>
          <p:nvPr/>
        </p:nvGrpSpPr>
        <p:grpSpPr>
          <a:xfrm>
            <a:off x="24254685" y="2098062"/>
            <a:ext cx="1761553" cy="2952616"/>
            <a:chOff x="6412823" y="2091824"/>
            <a:chExt cx="1761553" cy="2952616"/>
          </a:xfrm>
        </p:grpSpPr>
        <p:sp>
          <p:nvSpPr>
            <p:cNvPr id="17" name="Freeform: Shape 16">
              <a:extLst>
                <a:ext uri="{FF2B5EF4-FFF2-40B4-BE49-F238E27FC236}">
                  <a16:creationId xmlns:a16="http://schemas.microsoft.com/office/drawing/2014/main" id="{E2F07202-1649-B5D7-DEF3-B48DE01D8A14}"/>
                </a:ext>
              </a:extLst>
            </p:cNvPr>
            <p:cNvSpPr/>
            <p:nvPr/>
          </p:nvSpPr>
          <p:spPr>
            <a:xfrm>
              <a:off x="6412823" y="2091824"/>
              <a:ext cx="1761553" cy="2952616"/>
            </a:xfrm>
            <a:custGeom>
              <a:avLst/>
              <a:gdLst>
                <a:gd name="connsiteX0" fmla="*/ 0 w 1761553"/>
                <a:gd name="connsiteY0" fmla="*/ 176155 h 3435872"/>
                <a:gd name="connsiteX1" fmla="*/ 176155 w 1761553"/>
                <a:gd name="connsiteY1" fmla="*/ 0 h 3435872"/>
                <a:gd name="connsiteX2" fmla="*/ 1585398 w 1761553"/>
                <a:gd name="connsiteY2" fmla="*/ 0 h 3435872"/>
                <a:gd name="connsiteX3" fmla="*/ 1761553 w 1761553"/>
                <a:gd name="connsiteY3" fmla="*/ 176155 h 3435872"/>
                <a:gd name="connsiteX4" fmla="*/ 1761553 w 1761553"/>
                <a:gd name="connsiteY4" fmla="*/ 3259717 h 3435872"/>
                <a:gd name="connsiteX5" fmla="*/ 1585398 w 1761553"/>
                <a:gd name="connsiteY5" fmla="*/ 3435872 h 3435872"/>
                <a:gd name="connsiteX6" fmla="*/ 176155 w 1761553"/>
                <a:gd name="connsiteY6" fmla="*/ 3435872 h 3435872"/>
                <a:gd name="connsiteX7" fmla="*/ 0 w 1761553"/>
                <a:gd name="connsiteY7" fmla="*/ 3259717 h 3435872"/>
                <a:gd name="connsiteX8" fmla="*/ 0 w 1761553"/>
                <a:gd name="connsiteY8" fmla="*/ 176155 h 3435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1553" h="3435872">
                  <a:moveTo>
                    <a:pt x="0" y="176155"/>
                  </a:moveTo>
                  <a:cubicBezTo>
                    <a:pt x="0" y="78867"/>
                    <a:pt x="78867" y="0"/>
                    <a:pt x="176155" y="0"/>
                  </a:cubicBezTo>
                  <a:lnTo>
                    <a:pt x="1585398" y="0"/>
                  </a:lnTo>
                  <a:cubicBezTo>
                    <a:pt x="1682686" y="0"/>
                    <a:pt x="1761553" y="78867"/>
                    <a:pt x="1761553" y="176155"/>
                  </a:cubicBezTo>
                  <a:lnTo>
                    <a:pt x="1761553" y="3259717"/>
                  </a:lnTo>
                  <a:cubicBezTo>
                    <a:pt x="1761553" y="3357005"/>
                    <a:pt x="1682686" y="3435872"/>
                    <a:pt x="1585398" y="3435872"/>
                  </a:cubicBezTo>
                  <a:lnTo>
                    <a:pt x="176155" y="3435872"/>
                  </a:lnTo>
                  <a:cubicBezTo>
                    <a:pt x="78867" y="3435872"/>
                    <a:pt x="0" y="3357005"/>
                    <a:pt x="0" y="3259717"/>
                  </a:cubicBezTo>
                  <a:lnTo>
                    <a:pt x="0" y="176155"/>
                  </a:lnTo>
                  <a:close/>
                </a:path>
              </a:pathLst>
            </a:custGeom>
            <a:solidFill>
              <a:srgbClr val="0072CE"/>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128" tIns="1509476" rIns="135128" bIns="822304" numCol="1" spcCol="1270" anchor="ctr" anchorCtr="0">
              <a:noAutofit/>
            </a:bodyPr>
            <a:lstStyle/>
            <a:p>
              <a:pPr algn="ctr" defTabSz="844550">
                <a:lnSpc>
                  <a:spcPct val="90000"/>
                </a:lnSpc>
                <a:spcBef>
                  <a:spcPct val="0"/>
                </a:spcBef>
                <a:spcAft>
                  <a:spcPct val="35000"/>
                </a:spcAft>
              </a:pPr>
              <a:r>
                <a:rPr lang="en-GB" sz="1900">
                  <a:solidFill>
                    <a:srgbClr val="FFFFFF"/>
                  </a:solidFill>
                  <a:latin typeface="Frutiger Lt Std"/>
                </a:rPr>
                <a:t>Fed from 148 clinical and corporate systems</a:t>
              </a:r>
            </a:p>
          </p:txBody>
        </p:sp>
        <p:sp>
          <p:nvSpPr>
            <p:cNvPr id="18" name="Oval 17" descr="City outline">
              <a:extLst>
                <a:ext uri="{FF2B5EF4-FFF2-40B4-BE49-F238E27FC236}">
                  <a16:creationId xmlns:a16="http://schemas.microsoft.com/office/drawing/2014/main" id="{65291FC2-BF71-FFF2-2A5A-FF2F646E196F}"/>
                </a:ext>
              </a:extLst>
            </p:cNvPr>
            <p:cNvSpPr/>
            <p:nvPr/>
          </p:nvSpPr>
          <p:spPr>
            <a:xfrm>
              <a:off x="6721527" y="2297976"/>
              <a:ext cx="1144145" cy="1144145"/>
            </a:xfrm>
            <a:prstGeom prst="ellipse">
              <a:avLst/>
            </a:prstGeom>
            <a:blipFill>
              <a:blip r:embed="rId8">
                <a:extLst>
                  <a:ext uri="{96DAC541-7B7A-43D3-8B79-37D633B846F1}">
                    <asvg:svgBlip xmlns:asvg="http://schemas.microsoft.com/office/drawing/2016/SVG/main" r:embed="rId9"/>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sp>
        <p:nvSpPr>
          <p:cNvPr id="7" name="Slide Number Placeholder 6">
            <a:extLst>
              <a:ext uri="{FF2B5EF4-FFF2-40B4-BE49-F238E27FC236}">
                <a16:creationId xmlns:a16="http://schemas.microsoft.com/office/drawing/2014/main" id="{8E11C6FE-1401-535B-C033-3D6AFE973CC1}"/>
              </a:ext>
            </a:extLst>
          </p:cNvPr>
          <p:cNvSpPr>
            <a:spLocks noGrp="1"/>
          </p:cNvSpPr>
          <p:nvPr>
            <p:ph type="sldNum" sz="quarter" idx="4"/>
          </p:nvPr>
        </p:nvSpPr>
        <p:spPr/>
        <p:txBody>
          <a:bodyPr/>
          <a:lstStyle/>
          <a:p>
            <a:fld id="{48C91D3C-AA5C-7440-8489-158FBC20DC87}" type="slidenum">
              <a:rPr lang="en-US"/>
              <a:pPr/>
              <a:t>15</a:t>
            </a:fld>
            <a:endParaRPr lang="en-US" dirty="0"/>
          </a:p>
        </p:txBody>
      </p:sp>
      <p:pic>
        <p:nvPicPr>
          <p:cNvPr id="9" name="Picture 8" descr="A group of birds flying&#10;&#10;Description automatically generated">
            <a:extLst>
              <a:ext uri="{FF2B5EF4-FFF2-40B4-BE49-F238E27FC236}">
                <a16:creationId xmlns:a16="http://schemas.microsoft.com/office/drawing/2014/main" id="{3E00E7C7-E4F8-6101-E77D-A7DA09DD93D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19" name="Title 1">
            <a:extLst>
              <a:ext uri="{FF2B5EF4-FFF2-40B4-BE49-F238E27FC236}">
                <a16:creationId xmlns:a16="http://schemas.microsoft.com/office/drawing/2014/main" id="{F64F4B3D-CC29-D34A-4992-060811CDDD7C}"/>
              </a:ext>
            </a:extLst>
          </p:cNvPr>
          <p:cNvSpPr>
            <a:spLocks noGrp="1"/>
          </p:cNvSpPr>
          <p:nvPr>
            <p:ph type="title"/>
          </p:nvPr>
        </p:nvSpPr>
        <p:spPr>
          <a:xfrm>
            <a:off x="1854498" y="1008924"/>
            <a:ext cx="7264102" cy="485993"/>
          </a:xfrm>
        </p:spPr>
        <p:txBody>
          <a:bodyPr/>
          <a:lstStyle/>
          <a:p>
            <a:r>
              <a:rPr lang="en-GB" dirty="0"/>
              <a:t>Design Overview</a:t>
            </a:r>
          </a:p>
        </p:txBody>
      </p:sp>
      <p:pic>
        <p:nvPicPr>
          <p:cNvPr id="20" name="Picture 19" descr="A map of the united states&#10;&#10;Description automatically generated">
            <a:extLst>
              <a:ext uri="{FF2B5EF4-FFF2-40B4-BE49-F238E27FC236}">
                <a16:creationId xmlns:a16="http://schemas.microsoft.com/office/drawing/2014/main" id="{02029403-9B5D-2A0F-39ED-D44E2777E303}"/>
              </a:ext>
            </a:extLst>
          </p:cNvPr>
          <p:cNvPicPr>
            <a:picLocks noChangeAspect="1"/>
          </p:cNvPicPr>
          <p:nvPr/>
        </p:nvPicPr>
        <p:blipFill>
          <a:blip r:embed="rId11">
            <a:alphaModFix amt="35000"/>
            <a:extLst>
              <a:ext uri="{28A0092B-C50C-407E-A947-70E740481C1C}">
                <a14:useLocalDpi xmlns:a14="http://schemas.microsoft.com/office/drawing/2010/main" val="0"/>
              </a:ext>
            </a:extLst>
          </a:blip>
          <a:stretch>
            <a:fillRect/>
          </a:stretch>
        </p:blipFill>
        <p:spPr>
          <a:xfrm>
            <a:off x="1539806" y="1570093"/>
            <a:ext cx="9128194" cy="3434949"/>
          </a:xfrm>
          <a:prstGeom prst="rect">
            <a:avLst/>
          </a:prstGeom>
        </p:spPr>
      </p:pic>
    </p:spTree>
    <p:extLst>
      <p:ext uri="{BB962C8B-B14F-4D97-AF65-F5344CB8AC3E}">
        <p14:creationId xmlns:p14="http://schemas.microsoft.com/office/powerpoint/2010/main" val="40417202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a:extLst>
              <a:ext uri="{FF2B5EF4-FFF2-40B4-BE49-F238E27FC236}">
                <a16:creationId xmlns:a16="http://schemas.microsoft.com/office/drawing/2014/main" id="{EF54F04F-D409-E56C-5AFB-DB056170691B}"/>
              </a:ext>
            </a:extLst>
          </p:cNvPr>
          <p:cNvGraphicFramePr>
            <a:graphicFrameLocks noChangeAspect="1"/>
          </p:cNvGraphicFramePr>
          <p:nvPr/>
        </p:nvGraphicFramePr>
        <p:xfrm>
          <a:off x="3946475" y="1494917"/>
          <a:ext cx="4199897" cy="4579259"/>
        </p:xfrm>
        <a:graphic>
          <a:graphicData uri="http://schemas.openxmlformats.org/presentationml/2006/ole">
            <mc:AlternateContent xmlns:mc="http://schemas.openxmlformats.org/markup-compatibility/2006">
              <mc:Choice xmlns:v="urn:schemas-microsoft-com:vml" Requires="v">
                <p:oleObj name="Acrobat Document" r:id="rId2" imgW="11439231" imgH="10286759" progId="AcroExch.Document.DC">
                  <p:embed/>
                </p:oleObj>
              </mc:Choice>
              <mc:Fallback>
                <p:oleObj name="Acrobat Document" r:id="rId2" imgW="11439231" imgH="10286759" progId="AcroExch.Document.DC">
                  <p:embed/>
                  <p:pic>
                    <p:nvPicPr>
                      <p:cNvPr id="8" name="Object 7">
                        <a:extLst>
                          <a:ext uri="{FF2B5EF4-FFF2-40B4-BE49-F238E27FC236}">
                            <a16:creationId xmlns:a16="http://schemas.microsoft.com/office/drawing/2014/main" id="{EF54F04F-D409-E56C-5AFB-DB056170691B}"/>
                          </a:ext>
                        </a:extLst>
                      </p:cNvPr>
                      <p:cNvPicPr/>
                      <p:nvPr/>
                    </p:nvPicPr>
                    <p:blipFill>
                      <a:blip r:embed="rId3">
                        <a:alphaModFix amt="25000"/>
                      </a:blip>
                      <a:stretch>
                        <a:fillRect/>
                      </a:stretch>
                    </p:blipFill>
                    <p:spPr>
                      <a:xfrm>
                        <a:off x="3946475" y="1494917"/>
                        <a:ext cx="4199897" cy="4579259"/>
                      </a:xfrm>
                      <a:prstGeom prst="rect">
                        <a:avLst/>
                      </a:prstGeom>
                    </p:spPr>
                  </p:pic>
                </p:oleObj>
              </mc:Fallback>
            </mc:AlternateContent>
          </a:graphicData>
        </a:graphic>
      </p:graphicFrame>
      <p:pic>
        <p:nvPicPr>
          <p:cNvPr id="2" name="Picture 1" descr="A map of the united states&#10;&#10;Description automatically generated">
            <a:extLst>
              <a:ext uri="{FF2B5EF4-FFF2-40B4-BE49-F238E27FC236}">
                <a16:creationId xmlns:a16="http://schemas.microsoft.com/office/drawing/2014/main" id="{2975D1AE-B9E4-B2F4-50C4-3EDB43A39018}"/>
              </a:ext>
            </a:extLst>
          </p:cNvPr>
          <p:cNvPicPr>
            <a:picLocks noChangeAspect="1"/>
          </p:cNvPicPr>
          <p:nvPr/>
        </p:nvPicPr>
        <p:blipFill>
          <a:blip r:embed="rId4">
            <a:alphaModFix amt="35000"/>
            <a:extLst>
              <a:ext uri="{28A0092B-C50C-407E-A947-70E740481C1C}">
                <a14:useLocalDpi xmlns:a14="http://schemas.microsoft.com/office/drawing/2010/main" val="0"/>
              </a:ext>
            </a:extLst>
          </a:blip>
          <a:stretch>
            <a:fillRect/>
          </a:stretch>
        </p:blipFill>
        <p:spPr>
          <a:xfrm>
            <a:off x="1539806" y="1570093"/>
            <a:ext cx="9128194" cy="3434949"/>
          </a:xfrm>
          <a:prstGeom prst="rect">
            <a:avLst/>
          </a:prstGeom>
        </p:spPr>
      </p:pic>
      <p:pic>
        <p:nvPicPr>
          <p:cNvPr id="9" name="Picture 8" descr="A group of birds flying&#10;&#10;Description automatically generated">
            <a:extLst>
              <a:ext uri="{FF2B5EF4-FFF2-40B4-BE49-F238E27FC236}">
                <a16:creationId xmlns:a16="http://schemas.microsoft.com/office/drawing/2014/main" id="{4F6BC635-22FB-2E18-1448-89B4EED8CD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ext Placeholder 3">
            <a:extLst>
              <a:ext uri="{FF2B5EF4-FFF2-40B4-BE49-F238E27FC236}">
                <a16:creationId xmlns:a16="http://schemas.microsoft.com/office/drawing/2014/main" id="{03A5AF59-2CAF-469F-0E6B-384CA2F3BC57}"/>
              </a:ext>
            </a:extLst>
          </p:cNvPr>
          <p:cNvSpPr>
            <a:spLocks noGrp="1"/>
          </p:cNvSpPr>
          <p:nvPr>
            <p:ph type="body" sz="quarter" idx="13"/>
          </p:nvPr>
        </p:nvSpPr>
        <p:spPr/>
        <p:txBody>
          <a:bodyPr/>
          <a:lstStyle/>
          <a:p>
            <a:r>
              <a:rPr lang="en-GB" dirty="0"/>
              <a:t>Neil Hayes-Webster</a:t>
            </a:r>
          </a:p>
        </p:txBody>
      </p:sp>
      <p:grpSp>
        <p:nvGrpSpPr>
          <p:cNvPr id="5" name="Group 4">
            <a:extLst>
              <a:ext uri="{FF2B5EF4-FFF2-40B4-BE49-F238E27FC236}">
                <a16:creationId xmlns:a16="http://schemas.microsoft.com/office/drawing/2014/main" id="{4E67AE75-4E6D-5CCC-DAE8-EF3DCD528235}"/>
              </a:ext>
            </a:extLst>
          </p:cNvPr>
          <p:cNvGrpSpPr/>
          <p:nvPr/>
        </p:nvGrpSpPr>
        <p:grpSpPr>
          <a:xfrm>
            <a:off x="5257553" y="2091824"/>
            <a:ext cx="1761553" cy="2952616"/>
            <a:chOff x="3733552" y="2091824"/>
            <a:chExt cx="1761553" cy="2952616"/>
          </a:xfrm>
        </p:grpSpPr>
        <p:sp>
          <p:nvSpPr>
            <p:cNvPr id="15" name="Freeform: Shape 14">
              <a:extLst>
                <a:ext uri="{FF2B5EF4-FFF2-40B4-BE49-F238E27FC236}">
                  <a16:creationId xmlns:a16="http://schemas.microsoft.com/office/drawing/2014/main" id="{77C1CBD1-856E-A9E7-275A-180321F61B04}"/>
                </a:ext>
              </a:extLst>
            </p:cNvPr>
            <p:cNvSpPr/>
            <p:nvPr/>
          </p:nvSpPr>
          <p:spPr>
            <a:xfrm>
              <a:off x="3733552" y="2091824"/>
              <a:ext cx="1761553" cy="2952616"/>
            </a:xfrm>
            <a:custGeom>
              <a:avLst/>
              <a:gdLst>
                <a:gd name="connsiteX0" fmla="*/ 0 w 1761553"/>
                <a:gd name="connsiteY0" fmla="*/ 176155 h 3435872"/>
                <a:gd name="connsiteX1" fmla="*/ 176155 w 1761553"/>
                <a:gd name="connsiteY1" fmla="*/ 0 h 3435872"/>
                <a:gd name="connsiteX2" fmla="*/ 1585398 w 1761553"/>
                <a:gd name="connsiteY2" fmla="*/ 0 h 3435872"/>
                <a:gd name="connsiteX3" fmla="*/ 1761553 w 1761553"/>
                <a:gd name="connsiteY3" fmla="*/ 176155 h 3435872"/>
                <a:gd name="connsiteX4" fmla="*/ 1761553 w 1761553"/>
                <a:gd name="connsiteY4" fmla="*/ 3259717 h 3435872"/>
                <a:gd name="connsiteX5" fmla="*/ 1585398 w 1761553"/>
                <a:gd name="connsiteY5" fmla="*/ 3435872 h 3435872"/>
                <a:gd name="connsiteX6" fmla="*/ 176155 w 1761553"/>
                <a:gd name="connsiteY6" fmla="*/ 3435872 h 3435872"/>
                <a:gd name="connsiteX7" fmla="*/ 0 w 1761553"/>
                <a:gd name="connsiteY7" fmla="*/ 3259717 h 3435872"/>
                <a:gd name="connsiteX8" fmla="*/ 0 w 1761553"/>
                <a:gd name="connsiteY8" fmla="*/ 176155 h 3435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1553" h="3435872">
                  <a:moveTo>
                    <a:pt x="0" y="176155"/>
                  </a:moveTo>
                  <a:cubicBezTo>
                    <a:pt x="0" y="78867"/>
                    <a:pt x="78867" y="0"/>
                    <a:pt x="176155" y="0"/>
                  </a:cubicBezTo>
                  <a:lnTo>
                    <a:pt x="1585398" y="0"/>
                  </a:lnTo>
                  <a:cubicBezTo>
                    <a:pt x="1682686" y="0"/>
                    <a:pt x="1761553" y="78867"/>
                    <a:pt x="1761553" y="176155"/>
                  </a:cubicBezTo>
                  <a:lnTo>
                    <a:pt x="1761553" y="3259717"/>
                  </a:lnTo>
                  <a:cubicBezTo>
                    <a:pt x="1761553" y="3357005"/>
                    <a:pt x="1682686" y="3435872"/>
                    <a:pt x="1585398" y="3435872"/>
                  </a:cubicBezTo>
                  <a:lnTo>
                    <a:pt x="176155" y="3435872"/>
                  </a:lnTo>
                  <a:cubicBezTo>
                    <a:pt x="78867" y="3435872"/>
                    <a:pt x="0" y="3357005"/>
                    <a:pt x="0" y="3259717"/>
                  </a:cubicBezTo>
                  <a:lnTo>
                    <a:pt x="0" y="176155"/>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128" tIns="1509476" rIns="135128" bIns="822304" numCol="1" spcCol="1270" anchor="ctr" anchorCtr="0">
              <a:noAutofit/>
            </a:bodyPr>
            <a:lstStyle/>
            <a:p>
              <a:pPr algn="ctr" defTabSz="844550">
                <a:lnSpc>
                  <a:spcPct val="90000"/>
                </a:lnSpc>
                <a:spcBef>
                  <a:spcPct val="0"/>
                </a:spcBef>
                <a:spcAft>
                  <a:spcPct val="35000"/>
                </a:spcAft>
              </a:pPr>
              <a:r>
                <a:rPr lang="en-GB" sz="1900" dirty="0">
                  <a:solidFill>
                    <a:srgbClr val="FFFFFF"/>
                  </a:solidFill>
                  <a:latin typeface="Frutiger Lt Std"/>
                </a:rPr>
                <a:t>Over 250 Databases</a:t>
              </a:r>
            </a:p>
          </p:txBody>
        </p:sp>
        <p:sp>
          <p:nvSpPr>
            <p:cNvPr id="14" name="Oval 13" descr="Database outline">
              <a:extLst>
                <a:ext uri="{FF2B5EF4-FFF2-40B4-BE49-F238E27FC236}">
                  <a16:creationId xmlns:a16="http://schemas.microsoft.com/office/drawing/2014/main" id="{BC92AED8-C8BF-D593-D9A2-6746AFEB0215}"/>
                </a:ext>
              </a:extLst>
            </p:cNvPr>
            <p:cNvSpPr/>
            <p:nvPr/>
          </p:nvSpPr>
          <p:spPr>
            <a:xfrm>
              <a:off x="4193014" y="2565916"/>
              <a:ext cx="842628" cy="874058"/>
            </a:xfrm>
            <a:prstGeom prst="ellipse">
              <a:avLst/>
            </a:prstGeom>
            <a:blipFill>
              <a:blip r:embed="rId6">
                <a:extLst>
                  <a:ext uri="{96DAC541-7B7A-43D3-8B79-37D633B846F1}">
                    <asvg:svgBlip xmlns:asvg="http://schemas.microsoft.com/office/drawing/2016/SVG/main" r:embed="rId7"/>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3" name="Group 2">
            <a:extLst>
              <a:ext uri="{FF2B5EF4-FFF2-40B4-BE49-F238E27FC236}">
                <a16:creationId xmlns:a16="http://schemas.microsoft.com/office/drawing/2014/main" id="{0A764E10-8BBC-8665-0D5E-0E3DEB39172F}"/>
              </a:ext>
            </a:extLst>
          </p:cNvPr>
          <p:cNvGrpSpPr/>
          <p:nvPr/>
        </p:nvGrpSpPr>
        <p:grpSpPr>
          <a:xfrm>
            <a:off x="2578283" y="2091824"/>
            <a:ext cx="1761553" cy="2952616"/>
            <a:chOff x="1054282" y="2091824"/>
            <a:chExt cx="1761553" cy="2952616"/>
          </a:xfrm>
        </p:grpSpPr>
        <p:sp>
          <p:nvSpPr>
            <p:cNvPr id="13" name="Freeform: Shape 12">
              <a:extLst>
                <a:ext uri="{FF2B5EF4-FFF2-40B4-BE49-F238E27FC236}">
                  <a16:creationId xmlns:a16="http://schemas.microsoft.com/office/drawing/2014/main" id="{F69C2041-EA59-8DA1-E9FF-C871A0ADDA34}"/>
                </a:ext>
              </a:extLst>
            </p:cNvPr>
            <p:cNvSpPr/>
            <p:nvPr/>
          </p:nvSpPr>
          <p:spPr>
            <a:xfrm>
              <a:off x="1054282" y="2091824"/>
              <a:ext cx="1761553" cy="2952616"/>
            </a:xfrm>
            <a:custGeom>
              <a:avLst/>
              <a:gdLst>
                <a:gd name="connsiteX0" fmla="*/ 0 w 1761553"/>
                <a:gd name="connsiteY0" fmla="*/ 176155 h 3435872"/>
                <a:gd name="connsiteX1" fmla="*/ 176155 w 1761553"/>
                <a:gd name="connsiteY1" fmla="*/ 0 h 3435872"/>
                <a:gd name="connsiteX2" fmla="*/ 1585398 w 1761553"/>
                <a:gd name="connsiteY2" fmla="*/ 0 h 3435872"/>
                <a:gd name="connsiteX3" fmla="*/ 1761553 w 1761553"/>
                <a:gd name="connsiteY3" fmla="*/ 176155 h 3435872"/>
                <a:gd name="connsiteX4" fmla="*/ 1761553 w 1761553"/>
                <a:gd name="connsiteY4" fmla="*/ 3259717 h 3435872"/>
                <a:gd name="connsiteX5" fmla="*/ 1585398 w 1761553"/>
                <a:gd name="connsiteY5" fmla="*/ 3435872 h 3435872"/>
                <a:gd name="connsiteX6" fmla="*/ 176155 w 1761553"/>
                <a:gd name="connsiteY6" fmla="*/ 3435872 h 3435872"/>
                <a:gd name="connsiteX7" fmla="*/ 0 w 1761553"/>
                <a:gd name="connsiteY7" fmla="*/ 3259717 h 3435872"/>
                <a:gd name="connsiteX8" fmla="*/ 0 w 1761553"/>
                <a:gd name="connsiteY8" fmla="*/ 176155 h 3435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1553" h="3435872">
                  <a:moveTo>
                    <a:pt x="0" y="176155"/>
                  </a:moveTo>
                  <a:cubicBezTo>
                    <a:pt x="0" y="78867"/>
                    <a:pt x="78867" y="0"/>
                    <a:pt x="176155" y="0"/>
                  </a:cubicBezTo>
                  <a:lnTo>
                    <a:pt x="1585398" y="0"/>
                  </a:lnTo>
                  <a:cubicBezTo>
                    <a:pt x="1682686" y="0"/>
                    <a:pt x="1761553" y="78867"/>
                    <a:pt x="1761553" y="176155"/>
                  </a:cubicBezTo>
                  <a:lnTo>
                    <a:pt x="1761553" y="3259717"/>
                  </a:lnTo>
                  <a:cubicBezTo>
                    <a:pt x="1761553" y="3357005"/>
                    <a:pt x="1682686" y="3435872"/>
                    <a:pt x="1585398" y="3435872"/>
                  </a:cubicBezTo>
                  <a:lnTo>
                    <a:pt x="176155" y="3435872"/>
                  </a:lnTo>
                  <a:cubicBezTo>
                    <a:pt x="78867" y="3435872"/>
                    <a:pt x="0" y="3357005"/>
                    <a:pt x="0" y="3259717"/>
                  </a:cubicBezTo>
                  <a:lnTo>
                    <a:pt x="0" y="176155"/>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128" tIns="1509476" rIns="135128" bIns="822304" numCol="1" spcCol="1270" anchor="ctr" anchorCtr="0">
              <a:noAutofit/>
            </a:bodyPr>
            <a:lstStyle/>
            <a:p>
              <a:pPr algn="ctr" defTabSz="844550">
                <a:lnSpc>
                  <a:spcPct val="90000"/>
                </a:lnSpc>
                <a:spcBef>
                  <a:spcPct val="0"/>
                </a:spcBef>
                <a:spcAft>
                  <a:spcPct val="35000"/>
                </a:spcAft>
              </a:pPr>
              <a:r>
                <a:rPr lang="en-GB" sz="1900" dirty="0">
                  <a:solidFill>
                    <a:srgbClr val="FFFFFF"/>
                  </a:solidFill>
                  <a:latin typeface="Frutiger Lt Std"/>
                </a:rPr>
                <a:t>13 Production Warehouse and reporting Servers </a:t>
              </a:r>
            </a:p>
          </p:txBody>
        </p:sp>
        <p:sp>
          <p:nvSpPr>
            <p:cNvPr id="16" name="Oval 15" descr="Computer outline">
              <a:extLst>
                <a:ext uri="{FF2B5EF4-FFF2-40B4-BE49-F238E27FC236}">
                  <a16:creationId xmlns:a16="http://schemas.microsoft.com/office/drawing/2014/main" id="{4913E6E8-D3BD-DE56-FF75-A89126E0CC17}"/>
                </a:ext>
              </a:extLst>
            </p:cNvPr>
            <p:cNvSpPr/>
            <p:nvPr/>
          </p:nvSpPr>
          <p:spPr>
            <a:xfrm>
              <a:off x="1371240" y="2364439"/>
              <a:ext cx="1065965" cy="1011218"/>
            </a:xfrm>
            <a:prstGeom prst="ellipse">
              <a:avLst/>
            </a:prstGeom>
            <a:blipFill>
              <a:blip r:embed="rId8">
                <a:extLst>
                  <a:ext uri="{96DAC541-7B7A-43D3-8B79-37D633B846F1}">
                    <asvg:svgBlip xmlns:asvg="http://schemas.microsoft.com/office/drawing/2016/SVG/main" r:embed="rId9"/>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6" name="Group 5">
            <a:extLst>
              <a:ext uri="{FF2B5EF4-FFF2-40B4-BE49-F238E27FC236}">
                <a16:creationId xmlns:a16="http://schemas.microsoft.com/office/drawing/2014/main" id="{811A9C8B-3C48-19E7-BF24-A2CAC4AC772E}"/>
              </a:ext>
            </a:extLst>
          </p:cNvPr>
          <p:cNvGrpSpPr/>
          <p:nvPr/>
        </p:nvGrpSpPr>
        <p:grpSpPr>
          <a:xfrm>
            <a:off x="7936824" y="2091824"/>
            <a:ext cx="1761553" cy="2952616"/>
            <a:chOff x="6412823" y="2091824"/>
            <a:chExt cx="1761553" cy="2952616"/>
          </a:xfrm>
        </p:grpSpPr>
        <p:sp>
          <p:nvSpPr>
            <p:cNvPr id="17" name="Freeform: Shape 16">
              <a:extLst>
                <a:ext uri="{FF2B5EF4-FFF2-40B4-BE49-F238E27FC236}">
                  <a16:creationId xmlns:a16="http://schemas.microsoft.com/office/drawing/2014/main" id="{E2F07202-1649-B5D7-DEF3-B48DE01D8A14}"/>
                </a:ext>
              </a:extLst>
            </p:cNvPr>
            <p:cNvSpPr/>
            <p:nvPr/>
          </p:nvSpPr>
          <p:spPr>
            <a:xfrm>
              <a:off x="6412823" y="2091824"/>
              <a:ext cx="1761553" cy="2952616"/>
            </a:xfrm>
            <a:custGeom>
              <a:avLst/>
              <a:gdLst>
                <a:gd name="connsiteX0" fmla="*/ 0 w 1761553"/>
                <a:gd name="connsiteY0" fmla="*/ 176155 h 3435872"/>
                <a:gd name="connsiteX1" fmla="*/ 176155 w 1761553"/>
                <a:gd name="connsiteY1" fmla="*/ 0 h 3435872"/>
                <a:gd name="connsiteX2" fmla="*/ 1585398 w 1761553"/>
                <a:gd name="connsiteY2" fmla="*/ 0 h 3435872"/>
                <a:gd name="connsiteX3" fmla="*/ 1761553 w 1761553"/>
                <a:gd name="connsiteY3" fmla="*/ 176155 h 3435872"/>
                <a:gd name="connsiteX4" fmla="*/ 1761553 w 1761553"/>
                <a:gd name="connsiteY4" fmla="*/ 3259717 h 3435872"/>
                <a:gd name="connsiteX5" fmla="*/ 1585398 w 1761553"/>
                <a:gd name="connsiteY5" fmla="*/ 3435872 h 3435872"/>
                <a:gd name="connsiteX6" fmla="*/ 176155 w 1761553"/>
                <a:gd name="connsiteY6" fmla="*/ 3435872 h 3435872"/>
                <a:gd name="connsiteX7" fmla="*/ 0 w 1761553"/>
                <a:gd name="connsiteY7" fmla="*/ 3259717 h 3435872"/>
                <a:gd name="connsiteX8" fmla="*/ 0 w 1761553"/>
                <a:gd name="connsiteY8" fmla="*/ 176155 h 3435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1553" h="3435872">
                  <a:moveTo>
                    <a:pt x="0" y="176155"/>
                  </a:moveTo>
                  <a:cubicBezTo>
                    <a:pt x="0" y="78867"/>
                    <a:pt x="78867" y="0"/>
                    <a:pt x="176155" y="0"/>
                  </a:cubicBezTo>
                  <a:lnTo>
                    <a:pt x="1585398" y="0"/>
                  </a:lnTo>
                  <a:cubicBezTo>
                    <a:pt x="1682686" y="0"/>
                    <a:pt x="1761553" y="78867"/>
                    <a:pt x="1761553" y="176155"/>
                  </a:cubicBezTo>
                  <a:lnTo>
                    <a:pt x="1761553" y="3259717"/>
                  </a:lnTo>
                  <a:cubicBezTo>
                    <a:pt x="1761553" y="3357005"/>
                    <a:pt x="1682686" y="3435872"/>
                    <a:pt x="1585398" y="3435872"/>
                  </a:cubicBezTo>
                  <a:lnTo>
                    <a:pt x="176155" y="3435872"/>
                  </a:lnTo>
                  <a:cubicBezTo>
                    <a:pt x="78867" y="3435872"/>
                    <a:pt x="0" y="3357005"/>
                    <a:pt x="0" y="3259717"/>
                  </a:cubicBezTo>
                  <a:lnTo>
                    <a:pt x="0" y="176155"/>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128" tIns="1509476" rIns="135128" bIns="822304" numCol="1" spcCol="1270" anchor="ctr" anchorCtr="0">
              <a:noAutofit/>
            </a:bodyPr>
            <a:lstStyle/>
            <a:p>
              <a:pPr algn="ctr" defTabSz="844550">
                <a:lnSpc>
                  <a:spcPct val="90000"/>
                </a:lnSpc>
                <a:spcBef>
                  <a:spcPct val="0"/>
                </a:spcBef>
                <a:spcAft>
                  <a:spcPct val="35000"/>
                </a:spcAft>
              </a:pPr>
              <a:r>
                <a:rPr lang="en-GB" sz="1900">
                  <a:solidFill>
                    <a:srgbClr val="FFFFFF"/>
                  </a:solidFill>
                  <a:latin typeface="Frutiger Lt Std"/>
                </a:rPr>
                <a:t>Fed from 148 clinical and corporate systems</a:t>
              </a:r>
            </a:p>
          </p:txBody>
        </p:sp>
        <p:sp>
          <p:nvSpPr>
            <p:cNvPr id="18" name="Oval 17" descr="City outline">
              <a:extLst>
                <a:ext uri="{FF2B5EF4-FFF2-40B4-BE49-F238E27FC236}">
                  <a16:creationId xmlns:a16="http://schemas.microsoft.com/office/drawing/2014/main" id="{65291FC2-BF71-FFF2-2A5A-FF2F646E196F}"/>
                </a:ext>
              </a:extLst>
            </p:cNvPr>
            <p:cNvSpPr/>
            <p:nvPr/>
          </p:nvSpPr>
          <p:spPr>
            <a:xfrm>
              <a:off x="6721527" y="2297976"/>
              <a:ext cx="1144145" cy="1144145"/>
            </a:xfrm>
            <a:prstGeom prst="ellipse">
              <a:avLst/>
            </a:prstGeom>
            <a:blipFill>
              <a:blip r:embed="rId10">
                <a:extLst>
                  <a:ext uri="{96DAC541-7B7A-43D3-8B79-37D633B846F1}">
                    <asvg:svgBlip xmlns:asvg="http://schemas.microsoft.com/office/drawing/2016/SVG/main" r:embed="rId11"/>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sp>
        <p:nvSpPr>
          <p:cNvPr id="7" name="Slide Number Placeholder 6">
            <a:extLst>
              <a:ext uri="{FF2B5EF4-FFF2-40B4-BE49-F238E27FC236}">
                <a16:creationId xmlns:a16="http://schemas.microsoft.com/office/drawing/2014/main" id="{8E11C6FE-1401-535B-C033-3D6AFE973CC1}"/>
              </a:ext>
            </a:extLst>
          </p:cNvPr>
          <p:cNvSpPr>
            <a:spLocks noGrp="1"/>
          </p:cNvSpPr>
          <p:nvPr>
            <p:ph type="sldNum" sz="quarter" idx="4"/>
          </p:nvPr>
        </p:nvSpPr>
        <p:spPr/>
        <p:txBody>
          <a:bodyPr/>
          <a:lstStyle/>
          <a:p>
            <a:fld id="{48C91D3C-AA5C-7440-8489-158FBC20DC87}" type="slidenum">
              <a:rPr lang="en-US"/>
              <a:pPr/>
              <a:t>16</a:t>
            </a:fld>
            <a:endParaRPr lang="en-US" dirty="0"/>
          </a:p>
        </p:txBody>
      </p:sp>
      <p:sp>
        <p:nvSpPr>
          <p:cNvPr id="19" name="Title 1">
            <a:extLst>
              <a:ext uri="{FF2B5EF4-FFF2-40B4-BE49-F238E27FC236}">
                <a16:creationId xmlns:a16="http://schemas.microsoft.com/office/drawing/2014/main" id="{F9724948-5AB1-31BC-E76C-595993300E58}"/>
              </a:ext>
            </a:extLst>
          </p:cNvPr>
          <p:cNvSpPr>
            <a:spLocks noGrp="1"/>
          </p:cNvSpPr>
          <p:nvPr>
            <p:ph type="title"/>
          </p:nvPr>
        </p:nvSpPr>
        <p:spPr>
          <a:xfrm>
            <a:off x="1854498" y="1008924"/>
            <a:ext cx="7264102" cy="485993"/>
          </a:xfrm>
        </p:spPr>
        <p:txBody>
          <a:bodyPr/>
          <a:lstStyle/>
          <a:p>
            <a:r>
              <a:rPr lang="en-GB" dirty="0"/>
              <a:t>Design Overview</a:t>
            </a:r>
          </a:p>
        </p:txBody>
      </p:sp>
      <p:grpSp>
        <p:nvGrpSpPr>
          <p:cNvPr id="10" name="Group 9">
            <a:extLst>
              <a:ext uri="{FF2B5EF4-FFF2-40B4-BE49-F238E27FC236}">
                <a16:creationId xmlns:a16="http://schemas.microsoft.com/office/drawing/2014/main" id="{3CA964D0-3CAB-AB9D-C54B-D3190A565DD6}"/>
              </a:ext>
            </a:extLst>
          </p:cNvPr>
          <p:cNvGrpSpPr/>
          <p:nvPr/>
        </p:nvGrpSpPr>
        <p:grpSpPr>
          <a:xfrm>
            <a:off x="21466752" y="759078"/>
            <a:ext cx="1990606" cy="2680897"/>
            <a:chOff x="4668567" y="2380916"/>
            <a:chExt cx="1990606" cy="2680897"/>
          </a:xfrm>
        </p:grpSpPr>
        <p:sp>
          <p:nvSpPr>
            <p:cNvPr id="11" name="Freeform: Shape 10">
              <a:extLst>
                <a:ext uri="{FF2B5EF4-FFF2-40B4-BE49-F238E27FC236}">
                  <a16:creationId xmlns:a16="http://schemas.microsoft.com/office/drawing/2014/main" id="{4A97F46D-4E07-DD98-93DB-8FCC0D8A5CE9}"/>
                </a:ext>
              </a:extLst>
            </p:cNvPr>
            <p:cNvSpPr/>
            <p:nvPr/>
          </p:nvSpPr>
          <p:spPr>
            <a:xfrm>
              <a:off x="4668567"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t" anchorCtr="1">
              <a:noAutofit/>
            </a:bodyPr>
            <a:lstStyle/>
            <a:p>
              <a:pPr defTabSz="622300">
                <a:lnSpc>
                  <a:spcPct val="90000"/>
                </a:lnSpc>
                <a:spcBef>
                  <a:spcPct val="0"/>
                </a:spcBef>
                <a:spcAft>
                  <a:spcPct val="35000"/>
                </a:spcAft>
              </a:pPr>
              <a:r>
                <a:rPr lang="en-GB" sz="1400" dirty="0">
                  <a:solidFill>
                    <a:srgbClr val="FFFFFF"/>
                  </a:solidFill>
                  <a:latin typeface="Frutiger Lt Std"/>
                </a:rPr>
                <a:t>Introduce new concepts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GITHUB</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Version Control</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Peer Review</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Introduce ‘RAP’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Infrastructure as code </a:t>
              </a:r>
            </a:p>
          </p:txBody>
        </p:sp>
        <p:sp>
          <p:nvSpPr>
            <p:cNvPr id="12" name="Oval 11" descr="Flask outline">
              <a:extLst>
                <a:ext uri="{FF2B5EF4-FFF2-40B4-BE49-F238E27FC236}">
                  <a16:creationId xmlns:a16="http://schemas.microsoft.com/office/drawing/2014/main" id="{85615B3C-AA99-6D15-5278-904143104C16}"/>
                </a:ext>
              </a:extLst>
            </p:cNvPr>
            <p:cNvSpPr/>
            <p:nvPr/>
          </p:nvSpPr>
          <p:spPr>
            <a:xfrm>
              <a:off x="5217500" y="2541769"/>
              <a:ext cx="892738" cy="892738"/>
            </a:xfrm>
            <a:prstGeom prst="ellipse">
              <a:avLst/>
            </a:prstGeom>
            <a:blipFill>
              <a:blip r:embed="rId12">
                <a:extLst>
                  <a:ext uri="{96DAC541-7B7A-43D3-8B79-37D633B846F1}">
                    <asvg:svgBlip xmlns:asvg="http://schemas.microsoft.com/office/drawing/2016/SVG/main" r:embed="rId13"/>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20" name="Group 19">
            <a:extLst>
              <a:ext uri="{FF2B5EF4-FFF2-40B4-BE49-F238E27FC236}">
                <a16:creationId xmlns:a16="http://schemas.microsoft.com/office/drawing/2014/main" id="{281DDD2F-3B43-C570-FF4F-2BDB967E8D5F}"/>
              </a:ext>
            </a:extLst>
          </p:cNvPr>
          <p:cNvGrpSpPr/>
          <p:nvPr/>
        </p:nvGrpSpPr>
        <p:grpSpPr>
          <a:xfrm>
            <a:off x="13625832" y="1877741"/>
            <a:ext cx="1990606" cy="2680897"/>
            <a:chOff x="567918" y="2380916"/>
            <a:chExt cx="1990606" cy="2680897"/>
          </a:xfrm>
        </p:grpSpPr>
        <p:sp>
          <p:nvSpPr>
            <p:cNvPr id="21" name="Freeform: Shape 20">
              <a:extLst>
                <a:ext uri="{FF2B5EF4-FFF2-40B4-BE49-F238E27FC236}">
                  <a16:creationId xmlns:a16="http://schemas.microsoft.com/office/drawing/2014/main" id="{91DCA484-ED72-1BB3-8742-4A98BB4B3D35}"/>
                </a:ext>
              </a:extLst>
            </p:cNvPr>
            <p:cNvSpPr/>
            <p:nvPr/>
          </p:nvSpPr>
          <p:spPr>
            <a:xfrm>
              <a:off x="567918"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t" anchorCtr="1">
              <a:noAutofit/>
            </a:bodyPr>
            <a:lstStyle/>
            <a:p>
              <a:pPr defTabSz="622300">
                <a:lnSpc>
                  <a:spcPct val="90000"/>
                </a:lnSpc>
                <a:spcBef>
                  <a:spcPct val="0"/>
                </a:spcBef>
                <a:spcAft>
                  <a:spcPct val="35000"/>
                </a:spcAft>
              </a:pPr>
              <a:r>
                <a:rPr lang="en-GB" sz="1400" dirty="0">
                  <a:solidFill>
                    <a:srgbClr val="FFFFFF"/>
                  </a:solidFill>
                  <a:latin typeface="Frutiger Lt Std"/>
                </a:rPr>
                <a:t>Reduce silo working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Community</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Mental Health</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Acute Yeovil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Acute Taunton</a:t>
              </a:r>
            </a:p>
          </p:txBody>
        </p:sp>
        <p:sp>
          <p:nvSpPr>
            <p:cNvPr id="22" name="Oval 21" descr="Silo outline">
              <a:extLst>
                <a:ext uri="{FF2B5EF4-FFF2-40B4-BE49-F238E27FC236}">
                  <a16:creationId xmlns:a16="http://schemas.microsoft.com/office/drawing/2014/main" id="{821016A4-45F3-0AAA-AD1C-99CB86539406}"/>
                </a:ext>
              </a:extLst>
            </p:cNvPr>
            <p:cNvSpPr/>
            <p:nvPr/>
          </p:nvSpPr>
          <p:spPr>
            <a:xfrm>
              <a:off x="1116851" y="2541769"/>
              <a:ext cx="892738" cy="892738"/>
            </a:xfrm>
            <a:prstGeom prst="ellipse">
              <a:avLst/>
            </a:prstGeom>
            <a:blipFill>
              <a:blip r:embed="rId14">
                <a:extLst>
                  <a:ext uri="{96DAC541-7B7A-43D3-8B79-37D633B846F1}">
                    <asvg:svgBlip xmlns:asvg="http://schemas.microsoft.com/office/drawing/2016/SVG/main" r:embed="rId15"/>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23" name="Group 22">
            <a:extLst>
              <a:ext uri="{FF2B5EF4-FFF2-40B4-BE49-F238E27FC236}">
                <a16:creationId xmlns:a16="http://schemas.microsoft.com/office/drawing/2014/main" id="{A00C6400-2CB5-BED0-CC22-A28941F0B60B}"/>
              </a:ext>
            </a:extLst>
          </p:cNvPr>
          <p:cNvGrpSpPr/>
          <p:nvPr/>
        </p:nvGrpSpPr>
        <p:grpSpPr>
          <a:xfrm>
            <a:off x="17660216" y="1200552"/>
            <a:ext cx="1990606" cy="2680897"/>
            <a:chOff x="2618242" y="2380916"/>
            <a:chExt cx="1990606" cy="2680897"/>
          </a:xfrm>
        </p:grpSpPr>
        <p:sp>
          <p:nvSpPr>
            <p:cNvPr id="24" name="Freeform: Shape 23">
              <a:extLst>
                <a:ext uri="{FF2B5EF4-FFF2-40B4-BE49-F238E27FC236}">
                  <a16:creationId xmlns:a16="http://schemas.microsoft.com/office/drawing/2014/main" id="{31A945A4-739D-E048-AC34-D38AB2B33091}"/>
                </a:ext>
              </a:extLst>
            </p:cNvPr>
            <p:cNvSpPr/>
            <p:nvPr/>
          </p:nvSpPr>
          <p:spPr>
            <a:xfrm>
              <a:off x="2618242"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Improve performance and reliability </a:t>
              </a:r>
            </a:p>
            <a:p>
              <a:pPr marL="171450" indent="-171450" algn="ctr" defTabSz="622300">
                <a:lnSpc>
                  <a:spcPct val="90000"/>
                </a:lnSpc>
                <a:spcBef>
                  <a:spcPct val="0"/>
                </a:spcBef>
                <a:spcAft>
                  <a:spcPct val="35000"/>
                </a:spcAft>
                <a:buFont typeface="Arial" panose="020B0604020202020204" pitchFamily="34" charset="0"/>
                <a:buChar char="•"/>
              </a:pPr>
              <a:r>
                <a:rPr lang="en-GB" sz="1100" dirty="0">
                  <a:solidFill>
                    <a:srgbClr val="FFFFFF"/>
                  </a:solidFill>
                  <a:latin typeface="Frutiger Lt Std"/>
                </a:rPr>
                <a:t>Near Real Time</a:t>
              </a:r>
            </a:p>
            <a:p>
              <a:pPr algn="ctr" defTabSz="622300">
                <a:lnSpc>
                  <a:spcPct val="90000"/>
                </a:lnSpc>
                <a:spcBef>
                  <a:spcPct val="0"/>
                </a:spcBef>
                <a:spcAft>
                  <a:spcPct val="35000"/>
                </a:spcAft>
              </a:pPr>
              <a:endParaRPr lang="en-GB" sz="1400" dirty="0">
                <a:solidFill>
                  <a:srgbClr val="FFFFFF"/>
                </a:solidFill>
                <a:latin typeface="Frutiger Lt Std"/>
              </a:endParaRPr>
            </a:p>
          </p:txBody>
        </p:sp>
        <p:sp>
          <p:nvSpPr>
            <p:cNvPr id="25" name="Oval 24" descr="Race Car outline">
              <a:extLst>
                <a:ext uri="{FF2B5EF4-FFF2-40B4-BE49-F238E27FC236}">
                  <a16:creationId xmlns:a16="http://schemas.microsoft.com/office/drawing/2014/main" id="{C22B21A9-542D-79B5-8E7D-00493D6E6A29}"/>
                </a:ext>
              </a:extLst>
            </p:cNvPr>
            <p:cNvSpPr/>
            <p:nvPr/>
          </p:nvSpPr>
          <p:spPr>
            <a:xfrm>
              <a:off x="3167176" y="2541769"/>
              <a:ext cx="892738" cy="892738"/>
            </a:xfrm>
            <a:prstGeom prst="ellipse">
              <a:avLst/>
            </a:prstGeom>
            <a:blipFill>
              <a:blip r:embed="rId16">
                <a:extLst>
                  <a:ext uri="{96DAC541-7B7A-43D3-8B79-37D633B846F1}">
                    <asvg:svgBlip xmlns:asvg="http://schemas.microsoft.com/office/drawing/2016/SVG/main" r:embed="rId17"/>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26" name="Group 25">
            <a:extLst>
              <a:ext uri="{FF2B5EF4-FFF2-40B4-BE49-F238E27FC236}">
                <a16:creationId xmlns:a16="http://schemas.microsoft.com/office/drawing/2014/main" id="{C8C2A442-415E-9F46-E452-99E965F0534F}"/>
              </a:ext>
            </a:extLst>
          </p:cNvPr>
          <p:cNvGrpSpPr/>
          <p:nvPr/>
        </p:nvGrpSpPr>
        <p:grpSpPr>
          <a:xfrm>
            <a:off x="25678046" y="92410"/>
            <a:ext cx="1990606" cy="2680897"/>
            <a:chOff x="6718891" y="2380916"/>
            <a:chExt cx="1990606" cy="2680897"/>
          </a:xfrm>
        </p:grpSpPr>
        <p:sp>
          <p:nvSpPr>
            <p:cNvPr id="27" name="Freeform: Shape 26">
              <a:extLst>
                <a:ext uri="{FF2B5EF4-FFF2-40B4-BE49-F238E27FC236}">
                  <a16:creationId xmlns:a16="http://schemas.microsoft.com/office/drawing/2014/main" id="{21F5FC85-119F-D37A-86B2-766DAC6C06F3}"/>
                </a:ext>
              </a:extLst>
            </p:cNvPr>
            <p:cNvSpPr/>
            <p:nvPr/>
          </p:nvSpPr>
          <p:spPr>
            <a:xfrm>
              <a:off x="6718891"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Create a reusable template for the future.</a:t>
              </a:r>
            </a:p>
          </p:txBody>
        </p:sp>
        <p:sp>
          <p:nvSpPr>
            <p:cNvPr id="28" name="Oval 27" descr="Architecture outline">
              <a:extLst>
                <a:ext uri="{FF2B5EF4-FFF2-40B4-BE49-F238E27FC236}">
                  <a16:creationId xmlns:a16="http://schemas.microsoft.com/office/drawing/2014/main" id="{A67F2D91-FBD2-4D96-6DFA-1E479F11D642}"/>
                </a:ext>
              </a:extLst>
            </p:cNvPr>
            <p:cNvSpPr/>
            <p:nvPr/>
          </p:nvSpPr>
          <p:spPr>
            <a:xfrm>
              <a:off x="7267825" y="2541769"/>
              <a:ext cx="892738" cy="892738"/>
            </a:xfrm>
            <a:prstGeom prst="ellipse">
              <a:avLst/>
            </a:prstGeom>
            <a:blipFill>
              <a:blip r:embed="rId18">
                <a:extLst>
                  <a:ext uri="{96DAC541-7B7A-43D3-8B79-37D633B846F1}">
                    <asvg:svgBlip xmlns:asvg="http://schemas.microsoft.com/office/drawing/2016/SVG/main" r:embed="rId19"/>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spTree>
    <p:extLst>
      <p:ext uri="{BB962C8B-B14F-4D97-AF65-F5344CB8AC3E}">
        <p14:creationId xmlns:p14="http://schemas.microsoft.com/office/powerpoint/2010/main" val="30182678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Object 27">
            <a:extLst>
              <a:ext uri="{FF2B5EF4-FFF2-40B4-BE49-F238E27FC236}">
                <a16:creationId xmlns:a16="http://schemas.microsoft.com/office/drawing/2014/main" id="{7F70572A-3990-905E-F856-AF83C85919EE}"/>
              </a:ext>
            </a:extLst>
          </p:cNvPr>
          <p:cNvGraphicFramePr>
            <a:graphicFrameLocks noChangeAspect="1"/>
          </p:cNvGraphicFramePr>
          <p:nvPr/>
        </p:nvGraphicFramePr>
        <p:xfrm>
          <a:off x="3946475" y="1494917"/>
          <a:ext cx="4199897" cy="4579259"/>
        </p:xfrm>
        <a:graphic>
          <a:graphicData uri="http://schemas.openxmlformats.org/presentationml/2006/ole">
            <mc:AlternateContent xmlns:mc="http://schemas.openxmlformats.org/markup-compatibility/2006">
              <mc:Choice xmlns:v="urn:schemas-microsoft-com:vml" Requires="v">
                <p:oleObj name="Acrobat Document" r:id="rId2" imgW="11439231" imgH="10286759" progId="AcroExch.Document.DC">
                  <p:embed/>
                </p:oleObj>
              </mc:Choice>
              <mc:Fallback>
                <p:oleObj name="Acrobat Document" r:id="rId2" imgW="11439231" imgH="10286759" progId="AcroExch.Document.DC">
                  <p:embed/>
                  <p:pic>
                    <p:nvPicPr>
                      <p:cNvPr id="28" name="Object 27">
                        <a:extLst>
                          <a:ext uri="{FF2B5EF4-FFF2-40B4-BE49-F238E27FC236}">
                            <a16:creationId xmlns:a16="http://schemas.microsoft.com/office/drawing/2014/main" id="{7F70572A-3990-905E-F856-AF83C85919EE}"/>
                          </a:ext>
                        </a:extLst>
                      </p:cNvPr>
                      <p:cNvPicPr/>
                      <p:nvPr/>
                    </p:nvPicPr>
                    <p:blipFill>
                      <a:blip r:embed="rId3">
                        <a:alphaModFix amt="25000"/>
                      </a:blip>
                      <a:stretch>
                        <a:fillRect/>
                      </a:stretch>
                    </p:blipFill>
                    <p:spPr>
                      <a:xfrm>
                        <a:off x="3946475" y="1494917"/>
                        <a:ext cx="4199897" cy="4579259"/>
                      </a:xfrm>
                      <a:prstGeom prst="rect">
                        <a:avLst/>
                      </a:prstGeom>
                    </p:spPr>
                  </p:pic>
                </p:oleObj>
              </mc:Fallback>
            </mc:AlternateContent>
          </a:graphicData>
        </a:graphic>
      </p:graphicFrame>
      <p:pic>
        <p:nvPicPr>
          <p:cNvPr id="8" name="Picture 7" descr="A group of birds flying&#10;&#10;Description automatically generated">
            <a:extLst>
              <a:ext uri="{FF2B5EF4-FFF2-40B4-BE49-F238E27FC236}">
                <a16:creationId xmlns:a16="http://schemas.microsoft.com/office/drawing/2014/main" id="{C31F8734-220C-BABA-79EC-9A2304B852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2" name="Title 1">
            <a:extLst>
              <a:ext uri="{FF2B5EF4-FFF2-40B4-BE49-F238E27FC236}">
                <a16:creationId xmlns:a16="http://schemas.microsoft.com/office/drawing/2014/main" id="{F951088F-A4F2-8D9B-9E89-20E632B6F438}"/>
              </a:ext>
            </a:extLst>
          </p:cNvPr>
          <p:cNvSpPr>
            <a:spLocks noGrp="1"/>
          </p:cNvSpPr>
          <p:nvPr>
            <p:ph type="title"/>
          </p:nvPr>
        </p:nvSpPr>
        <p:spPr>
          <a:xfrm>
            <a:off x="1787494" y="954133"/>
            <a:ext cx="7208117" cy="485993"/>
          </a:xfrm>
        </p:spPr>
        <p:txBody>
          <a:bodyPr/>
          <a:lstStyle/>
          <a:p>
            <a:r>
              <a:rPr lang="en-GB" dirty="0"/>
              <a:t>Data Engineering</a:t>
            </a:r>
          </a:p>
        </p:txBody>
      </p:sp>
      <p:sp>
        <p:nvSpPr>
          <p:cNvPr id="3" name="Date Placeholder 2">
            <a:extLst>
              <a:ext uri="{FF2B5EF4-FFF2-40B4-BE49-F238E27FC236}">
                <a16:creationId xmlns:a16="http://schemas.microsoft.com/office/drawing/2014/main" id="{F2B12D3D-2562-FB79-0F3A-EABF35A9D285}"/>
              </a:ext>
            </a:extLst>
          </p:cNvPr>
          <p:cNvSpPr>
            <a:spLocks noGrp="1"/>
          </p:cNvSpPr>
          <p:nvPr>
            <p:ph type="dt" sz="half" idx="10"/>
          </p:nvPr>
        </p:nvSpPr>
        <p:spPr/>
        <p:txBody>
          <a:bodyPr/>
          <a:lstStyle/>
          <a:p>
            <a:fld id="{29A3D60C-94B3-3F48-A969-9F54AC766E98}" type="datetime1">
              <a:rPr lang="en-GB"/>
              <a:pPr/>
              <a:t>11/07/2025</a:t>
            </a:fld>
            <a:endParaRPr lang="en-GB" dirty="0"/>
          </a:p>
        </p:txBody>
      </p:sp>
      <p:sp>
        <p:nvSpPr>
          <p:cNvPr id="4" name="Text Placeholder 3">
            <a:extLst>
              <a:ext uri="{FF2B5EF4-FFF2-40B4-BE49-F238E27FC236}">
                <a16:creationId xmlns:a16="http://schemas.microsoft.com/office/drawing/2014/main" id="{03A5AF59-2CAF-469F-0E6B-384CA2F3BC57}"/>
              </a:ext>
            </a:extLst>
          </p:cNvPr>
          <p:cNvSpPr>
            <a:spLocks noGrp="1"/>
          </p:cNvSpPr>
          <p:nvPr>
            <p:ph type="body" sz="quarter" idx="13"/>
          </p:nvPr>
        </p:nvSpPr>
        <p:spPr/>
        <p:txBody>
          <a:bodyPr/>
          <a:lstStyle/>
          <a:p>
            <a:r>
              <a:rPr lang="en-GB" dirty="0"/>
              <a:t>Neil Hayes-Webster</a:t>
            </a:r>
          </a:p>
        </p:txBody>
      </p:sp>
      <p:sp>
        <p:nvSpPr>
          <p:cNvPr id="5" name="Content Placeholder 4">
            <a:extLst>
              <a:ext uri="{FF2B5EF4-FFF2-40B4-BE49-F238E27FC236}">
                <a16:creationId xmlns:a16="http://schemas.microsoft.com/office/drawing/2014/main" id="{0F574CE6-C9EF-6550-C1F6-657DE8BAA700}"/>
              </a:ext>
            </a:extLst>
          </p:cNvPr>
          <p:cNvSpPr>
            <a:spLocks noGrp="1"/>
          </p:cNvSpPr>
          <p:nvPr>
            <p:ph sz="quarter" idx="12"/>
          </p:nvPr>
        </p:nvSpPr>
        <p:spPr/>
        <p:txBody>
          <a:bodyPr/>
          <a:lstStyle/>
          <a:p>
            <a:r>
              <a:rPr lang="en-GB" dirty="0"/>
              <a:t>Development Objectives</a:t>
            </a:r>
          </a:p>
        </p:txBody>
      </p:sp>
      <p:grpSp>
        <p:nvGrpSpPr>
          <p:cNvPr id="20" name="Group 19">
            <a:extLst>
              <a:ext uri="{FF2B5EF4-FFF2-40B4-BE49-F238E27FC236}">
                <a16:creationId xmlns:a16="http://schemas.microsoft.com/office/drawing/2014/main" id="{3BC1C3B9-1D5B-B679-B946-EE3FFC52A980}"/>
              </a:ext>
            </a:extLst>
          </p:cNvPr>
          <p:cNvGrpSpPr/>
          <p:nvPr/>
        </p:nvGrpSpPr>
        <p:grpSpPr>
          <a:xfrm>
            <a:off x="2091918" y="2380917"/>
            <a:ext cx="1990606" cy="2680897"/>
            <a:chOff x="567918" y="2380916"/>
            <a:chExt cx="1990606" cy="2680897"/>
          </a:xfrm>
        </p:grpSpPr>
        <p:sp>
          <p:nvSpPr>
            <p:cNvPr id="11" name="Freeform: Shape 10">
              <a:extLst>
                <a:ext uri="{FF2B5EF4-FFF2-40B4-BE49-F238E27FC236}">
                  <a16:creationId xmlns:a16="http://schemas.microsoft.com/office/drawing/2014/main" id="{1C585041-E8C1-A73E-076B-108D8A41FF9F}"/>
                </a:ext>
              </a:extLst>
            </p:cNvPr>
            <p:cNvSpPr/>
            <p:nvPr/>
          </p:nvSpPr>
          <p:spPr>
            <a:xfrm>
              <a:off x="567918"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t" anchorCtr="1">
              <a:noAutofit/>
            </a:bodyPr>
            <a:lstStyle/>
            <a:p>
              <a:pPr defTabSz="622300">
                <a:lnSpc>
                  <a:spcPct val="90000"/>
                </a:lnSpc>
                <a:spcBef>
                  <a:spcPct val="0"/>
                </a:spcBef>
                <a:spcAft>
                  <a:spcPct val="35000"/>
                </a:spcAft>
              </a:pPr>
              <a:r>
                <a:rPr lang="en-GB" sz="1400" dirty="0">
                  <a:solidFill>
                    <a:srgbClr val="FFFFFF"/>
                  </a:solidFill>
                  <a:latin typeface="Frutiger Lt Std"/>
                </a:rPr>
                <a:t>Reduce silo working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Community</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Mental Health</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Acute Yeovil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Acute Taunton</a:t>
              </a:r>
            </a:p>
          </p:txBody>
        </p:sp>
        <p:sp>
          <p:nvSpPr>
            <p:cNvPr id="12" name="Oval 11" descr="Silo outline">
              <a:extLst>
                <a:ext uri="{FF2B5EF4-FFF2-40B4-BE49-F238E27FC236}">
                  <a16:creationId xmlns:a16="http://schemas.microsoft.com/office/drawing/2014/main" id="{388FFBF4-5F1B-69E3-F450-59DE649987F3}"/>
                </a:ext>
              </a:extLst>
            </p:cNvPr>
            <p:cNvSpPr/>
            <p:nvPr/>
          </p:nvSpPr>
          <p:spPr>
            <a:xfrm>
              <a:off x="1116851" y="2541769"/>
              <a:ext cx="892738" cy="892738"/>
            </a:xfrm>
            <a:prstGeom prst="ellipse">
              <a:avLst/>
            </a:prstGeom>
            <a:blipFill>
              <a:blip r:embed="rId5">
                <a:extLst>
                  <a:ext uri="{96DAC541-7B7A-43D3-8B79-37D633B846F1}">
                    <asvg:svgBlip xmlns:asvg="http://schemas.microsoft.com/office/drawing/2016/SVG/main" r:embed="rId6"/>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21" name="Group 20">
            <a:extLst>
              <a:ext uri="{FF2B5EF4-FFF2-40B4-BE49-F238E27FC236}">
                <a16:creationId xmlns:a16="http://schemas.microsoft.com/office/drawing/2014/main" id="{CAC8B0DD-E19C-D210-7BD7-960199A81CC3}"/>
              </a:ext>
            </a:extLst>
          </p:cNvPr>
          <p:cNvGrpSpPr/>
          <p:nvPr/>
        </p:nvGrpSpPr>
        <p:grpSpPr>
          <a:xfrm>
            <a:off x="4142242" y="2380917"/>
            <a:ext cx="1990606" cy="2680897"/>
            <a:chOff x="2618242" y="2380916"/>
            <a:chExt cx="1990606" cy="2680897"/>
          </a:xfrm>
        </p:grpSpPr>
        <p:sp>
          <p:nvSpPr>
            <p:cNvPr id="13" name="Freeform: Shape 12">
              <a:extLst>
                <a:ext uri="{FF2B5EF4-FFF2-40B4-BE49-F238E27FC236}">
                  <a16:creationId xmlns:a16="http://schemas.microsoft.com/office/drawing/2014/main" id="{84275C46-988B-EBF1-8976-AE1CA10EE9C1}"/>
                </a:ext>
              </a:extLst>
            </p:cNvPr>
            <p:cNvSpPr/>
            <p:nvPr/>
          </p:nvSpPr>
          <p:spPr>
            <a:xfrm>
              <a:off x="2618242"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Improve performance and reliability </a:t>
              </a:r>
            </a:p>
            <a:p>
              <a:pPr marL="171450" indent="-171450" algn="ctr" defTabSz="622300">
                <a:lnSpc>
                  <a:spcPct val="90000"/>
                </a:lnSpc>
                <a:spcBef>
                  <a:spcPct val="0"/>
                </a:spcBef>
                <a:spcAft>
                  <a:spcPct val="35000"/>
                </a:spcAft>
                <a:buFont typeface="Arial" panose="020B0604020202020204" pitchFamily="34" charset="0"/>
                <a:buChar char="•"/>
              </a:pPr>
              <a:r>
                <a:rPr lang="en-GB" sz="1100" dirty="0">
                  <a:solidFill>
                    <a:srgbClr val="FFFFFF"/>
                  </a:solidFill>
                  <a:latin typeface="Frutiger Lt Std"/>
                </a:rPr>
                <a:t>Near Real Time</a:t>
              </a:r>
            </a:p>
            <a:p>
              <a:pPr algn="ctr" defTabSz="622300">
                <a:lnSpc>
                  <a:spcPct val="90000"/>
                </a:lnSpc>
                <a:spcBef>
                  <a:spcPct val="0"/>
                </a:spcBef>
                <a:spcAft>
                  <a:spcPct val="35000"/>
                </a:spcAft>
              </a:pPr>
              <a:endParaRPr lang="en-GB" sz="1400" dirty="0">
                <a:solidFill>
                  <a:srgbClr val="FFFFFF"/>
                </a:solidFill>
                <a:latin typeface="Frutiger Lt Std"/>
              </a:endParaRPr>
            </a:p>
          </p:txBody>
        </p:sp>
        <p:sp>
          <p:nvSpPr>
            <p:cNvPr id="14" name="Oval 13" descr="Race Car outline">
              <a:extLst>
                <a:ext uri="{FF2B5EF4-FFF2-40B4-BE49-F238E27FC236}">
                  <a16:creationId xmlns:a16="http://schemas.microsoft.com/office/drawing/2014/main" id="{4A8702AB-35F5-221B-370A-B45B4B2C8D3D}"/>
                </a:ext>
              </a:extLst>
            </p:cNvPr>
            <p:cNvSpPr/>
            <p:nvPr/>
          </p:nvSpPr>
          <p:spPr>
            <a:xfrm>
              <a:off x="3167176" y="2541769"/>
              <a:ext cx="892738" cy="892738"/>
            </a:xfrm>
            <a:prstGeom prst="ellipse">
              <a:avLst/>
            </a:prstGeom>
            <a:blipFill>
              <a:blip r:embed="rId7">
                <a:extLst>
                  <a:ext uri="{96DAC541-7B7A-43D3-8B79-37D633B846F1}">
                    <asvg:svgBlip xmlns:asvg="http://schemas.microsoft.com/office/drawing/2016/SVG/main" r:embed="rId8"/>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22" name="Group 21">
            <a:extLst>
              <a:ext uri="{FF2B5EF4-FFF2-40B4-BE49-F238E27FC236}">
                <a16:creationId xmlns:a16="http://schemas.microsoft.com/office/drawing/2014/main" id="{898B34C6-72A6-4DAA-A3D9-D767CF122EB7}"/>
              </a:ext>
            </a:extLst>
          </p:cNvPr>
          <p:cNvGrpSpPr/>
          <p:nvPr/>
        </p:nvGrpSpPr>
        <p:grpSpPr>
          <a:xfrm>
            <a:off x="6192567" y="2380917"/>
            <a:ext cx="1990606" cy="2680897"/>
            <a:chOff x="4668567" y="2380916"/>
            <a:chExt cx="1990606" cy="2680897"/>
          </a:xfrm>
        </p:grpSpPr>
        <p:sp>
          <p:nvSpPr>
            <p:cNvPr id="15" name="Freeform: Shape 14">
              <a:extLst>
                <a:ext uri="{FF2B5EF4-FFF2-40B4-BE49-F238E27FC236}">
                  <a16:creationId xmlns:a16="http://schemas.microsoft.com/office/drawing/2014/main" id="{6FCA1040-9688-FDF4-ACE0-3133D8E0562F}"/>
                </a:ext>
              </a:extLst>
            </p:cNvPr>
            <p:cNvSpPr/>
            <p:nvPr/>
          </p:nvSpPr>
          <p:spPr>
            <a:xfrm>
              <a:off x="4668567"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t" anchorCtr="1">
              <a:noAutofit/>
            </a:bodyPr>
            <a:lstStyle/>
            <a:p>
              <a:pPr defTabSz="622300">
                <a:lnSpc>
                  <a:spcPct val="90000"/>
                </a:lnSpc>
                <a:spcBef>
                  <a:spcPct val="0"/>
                </a:spcBef>
                <a:spcAft>
                  <a:spcPct val="35000"/>
                </a:spcAft>
              </a:pPr>
              <a:r>
                <a:rPr lang="en-GB" sz="1400" dirty="0">
                  <a:solidFill>
                    <a:srgbClr val="FFFFFF"/>
                  </a:solidFill>
                  <a:latin typeface="Frutiger Lt Std"/>
                </a:rPr>
                <a:t>Introduce new concepts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GITHUB</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Version Control</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Peer Review</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Introduce ‘RAP’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Infrastructure as code </a:t>
              </a:r>
            </a:p>
          </p:txBody>
        </p:sp>
        <p:sp>
          <p:nvSpPr>
            <p:cNvPr id="16" name="Oval 15" descr="Flask outline">
              <a:extLst>
                <a:ext uri="{FF2B5EF4-FFF2-40B4-BE49-F238E27FC236}">
                  <a16:creationId xmlns:a16="http://schemas.microsoft.com/office/drawing/2014/main" id="{0DC58103-9286-4C8E-D3AC-4104A736DDA0}"/>
                </a:ext>
              </a:extLst>
            </p:cNvPr>
            <p:cNvSpPr/>
            <p:nvPr/>
          </p:nvSpPr>
          <p:spPr>
            <a:xfrm>
              <a:off x="5217500" y="2541769"/>
              <a:ext cx="892738" cy="892738"/>
            </a:xfrm>
            <a:prstGeom prst="ellipse">
              <a:avLst/>
            </a:prstGeom>
            <a:blipFill>
              <a:blip r:embed="rId9">
                <a:extLst>
                  <a:ext uri="{96DAC541-7B7A-43D3-8B79-37D633B846F1}">
                    <asvg:svgBlip xmlns:asvg="http://schemas.microsoft.com/office/drawing/2016/SVG/main" r:embed="rId1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23" name="Group 22">
            <a:extLst>
              <a:ext uri="{FF2B5EF4-FFF2-40B4-BE49-F238E27FC236}">
                <a16:creationId xmlns:a16="http://schemas.microsoft.com/office/drawing/2014/main" id="{348D3EB2-87DC-442E-C476-D95023F6F019}"/>
              </a:ext>
            </a:extLst>
          </p:cNvPr>
          <p:cNvGrpSpPr/>
          <p:nvPr/>
        </p:nvGrpSpPr>
        <p:grpSpPr>
          <a:xfrm>
            <a:off x="8242891" y="2380917"/>
            <a:ext cx="1990606" cy="2680897"/>
            <a:chOff x="6718891" y="2380916"/>
            <a:chExt cx="1990606" cy="2680897"/>
          </a:xfrm>
        </p:grpSpPr>
        <p:sp>
          <p:nvSpPr>
            <p:cNvPr id="17" name="Freeform: Shape 16">
              <a:extLst>
                <a:ext uri="{FF2B5EF4-FFF2-40B4-BE49-F238E27FC236}">
                  <a16:creationId xmlns:a16="http://schemas.microsoft.com/office/drawing/2014/main" id="{51A42CA6-7F8B-2DA8-571D-461706C0EEF1}"/>
                </a:ext>
              </a:extLst>
            </p:cNvPr>
            <p:cNvSpPr/>
            <p:nvPr/>
          </p:nvSpPr>
          <p:spPr>
            <a:xfrm>
              <a:off x="6718891"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Create a reusable template for the future.</a:t>
              </a:r>
            </a:p>
          </p:txBody>
        </p:sp>
        <p:sp>
          <p:nvSpPr>
            <p:cNvPr id="18" name="Oval 17" descr="Architecture outline">
              <a:extLst>
                <a:ext uri="{FF2B5EF4-FFF2-40B4-BE49-F238E27FC236}">
                  <a16:creationId xmlns:a16="http://schemas.microsoft.com/office/drawing/2014/main" id="{4582BF84-ED6C-2AA2-D95E-AAC30473BC2B}"/>
                </a:ext>
              </a:extLst>
            </p:cNvPr>
            <p:cNvSpPr/>
            <p:nvPr/>
          </p:nvSpPr>
          <p:spPr>
            <a:xfrm>
              <a:off x="7267825" y="2541769"/>
              <a:ext cx="892738" cy="892738"/>
            </a:xfrm>
            <a:prstGeom prst="ellipse">
              <a:avLst/>
            </a:prstGeom>
            <a:blipFill>
              <a:blip r:embed="rId11">
                <a:extLst>
                  <a:ext uri="{96DAC541-7B7A-43D3-8B79-37D633B846F1}">
                    <asvg:svgBlip xmlns:asvg="http://schemas.microsoft.com/office/drawing/2016/SVG/main" r:embed="rId12"/>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sp>
        <p:nvSpPr>
          <p:cNvPr id="7" name="Slide Number Placeholder 6">
            <a:extLst>
              <a:ext uri="{FF2B5EF4-FFF2-40B4-BE49-F238E27FC236}">
                <a16:creationId xmlns:a16="http://schemas.microsoft.com/office/drawing/2014/main" id="{8E11C6FE-1401-535B-C033-3D6AFE973CC1}"/>
              </a:ext>
            </a:extLst>
          </p:cNvPr>
          <p:cNvSpPr>
            <a:spLocks noGrp="1"/>
          </p:cNvSpPr>
          <p:nvPr>
            <p:ph type="sldNum" sz="quarter" idx="4"/>
          </p:nvPr>
        </p:nvSpPr>
        <p:spPr/>
        <p:txBody>
          <a:bodyPr/>
          <a:lstStyle/>
          <a:p>
            <a:fld id="{48C91D3C-AA5C-7440-8489-158FBC20DC87}" type="slidenum">
              <a:rPr lang="en-US"/>
              <a:pPr/>
              <a:t>17</a:t>
            </a:fld>
            <a:endParaRPr lang="en-US" dirty="0"/>
          </a:p>
        </p:txBody>
      </p:sp>
      <p:sp>
        <p:nvSpPr>
          <p:cNvPr id="6" name="Freeform: Shape 5">
            <a:extLst>
              <a:ext uri="{FF2B5EF4-FFF2-40B4-BE49-F238E27FC236}">
                <a16:creationId xmlns:a16="http://schemas.microsoft.com/office/drawing/2014/main" id="{46E8C71F-C765-2D50-8E01-9E5435D2067C}"/>
              </a:ext>
            </a:extLst>
          </p:cNvPr>
          <p:cNvSpPr/>
          <p:nvPr/>
        </p:nvSpPr>
        <p:spPr>
          <a:xfrm>
            <a:off x="2183874" y="-3010095"/>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Focus on ED Data</a:t>
            </a:r>
          </a:p>
        </p:txBody>
      </p:sp>
      <p:sp>
        <p:nvSpPr>
          <p:cNvPr id="9" name="Oval 8" descr="First aid kit outline">
            <a:extLst>
              <a:ext uri="{FF2B5EF4-FFF2-40B4-BE49-F238E27FC236}">
                <a16:creationId xmlns:a16="http://schemas.microsoft.com/office/drawing/2014/main" id="{02881B92-45DC-3806-55DA-5D10D8DE6650}"/>
              </a:ext>
            </a:extLst>
          </p:cNvPr>
          <p:cNvSpPr/>
          <p:nvPr/>
        </p:nvSpPr>
        <p:spPr>
          <a:xfrm>
            <a:off x="2764052" y="-2886571"/>
            <a:ext cx="685559" cy="685559"/>
          </a:xfrm>
          <a:prstGeom prst="ellipse">
            <a:avLst/>
          </a:prstGeom>
          <a:blipFill>
            <a:blip r:embed="rId13">
              <a:extLst>
                <a:ext uri="{96DAC541-7B7A-43D3-8B79-37D633B846F1}">
                  <asvg:svgBlip xmlns:asvg="http://schemas.microsoft.com/office/drawing/2016/SVG/main" r:embed="rId14"/>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10" name="Freeform: Shape 9">
            <a:extLst>
              <a:ext uri="{FF2B5EF4-FFF2-40B4-BE49-F238E27FC236}">
                <a16:creationId xmlns:a16="http://schemas.microsoft.com/office/drawing/2014/main" id="{52E75B56-92D3-242B-C6B0-57EFF250A9F5}"/>
              </a:ext>
            </a:extLst>
          </p:cNvPr>
          <p:cNvSpPr/>
          <p:nvPr/>
        </p:nvSpPr>
        <p:spPr>
          <a:xfrm>
            <a:off x="4388316" y="-4234121"/>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a:solidFill>
                  <a:srgbClr val="FFFFFF"/>
                </a:solidFill>
                <a:latin typeface="Frutiger Lt Std"/>
              </a:rPr>
              <a:t>Automate National returns and other requests to save time</a:t>
            </a:r>
          </a:p>
        </p:txBody>
      </p:sp>
      <p:sp>
        <p:nvSpPr>
          <p:cNvPr id="19" name="Oval 18" descr="Open envelope outline">
            <a:extLst>
              <a:ext uri="{FF2B5EF4-FFF2-40B4-BE49-F238E27FC236}">
                <a16:creationId xmlns:a16="http://schemas.microsoft.com/office/drawing/2014/main" id="{4510D789-D9FB-274E-A281-8912CE1A5B5C}"/>
              </a:ext>
            </a:extLst>
          </p:cNvPr>
          <p:cNvSpPr/>
          <p:nvPr/>
        </p:nvSpPr>
        <p:spPr>
          <a:xfrm>
            <a:off x="4968495" y="-4110597"/>
            <a:ext cx="685559" cy="685559"/>
          </a:xfrm>
          <a:prstGeom prst="ellipse">
            <a:avLst/>
          </a:prstGeom>
          <a:blipFill>
            <a:blip r:embed="rId15">
              <a:extLst>
                <a:ext uri="{96DAC541-7B7A-43D3-8B79-37D633B846F1}">
                  <asvg:svgBlip xmlns:asvg="http://schemas.microsoft.com/office/drawing/2016/SVG/main" r:embed="rId16"/>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24" name="Freeform: Shape 23">
            <a:extLst>
              <a:ext uri="{FF2B5EF4-FFF2-40B4-BE49-F238E27FC236}">
                <a16:creationId xmlns:a16="http://schemas.microsoft.com/office/drawing/2014/main" id="{39AB7C21-CDB7-D26E-D019-521BBB5C439B}"/>
              </a:ext>
            </a:extLst>
          </p:cNvPr>
          <p:cNvSpPr/>
          <p:nvPr/>
        </p:nvSpPr>
        <p:spPr>
          <a:xfrm>
            <a:off x="6621319" y="-5423620"/>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Deliver data in a clear and transparent warehouse</a:t>
            </a:r>
          </a:p>
        </p:txBody>
      </p:sp>
      <p:sp>
        <p:nvSpPr>
          <p:cNvPr id="25" name="Oval 24" descr="Research outline">
            <a:extLst>
              <a:ext uri="{FF2B5EF4-FFF2-40B4-BE49-F238E27FC236}">
                <a16:creationId xmlns:a16="http://schemas.microsoft.com/office/drawing/2014/main" id="{7C75546C-647B-C086-F28D-519A3B81D31D}"/>
              </a:ext>
            </a:extLst>
          </p:cNvPr>
          <p:cNvSpPr/>
          <p:nvPr/>
        </p:nvSpPr>
        <p:spPr>
          <a:xfrm>
            <a:off x="7201498" y="-5300096"/>
            <a:ext cx="685559" cy="685559"/>
          </a:xfrm>
          <a:prstGeom prst="ellipse">
            <a:avLst/>
          </a:prstGeom>
          <a:blipFill>
            <a:blip r:embed="rId17">
              <a:extLst>
                <a:ext uri="{96DAC541-7B7A-43D3-8B79-37D633B846F1}">
                  <asvg:svgBlip xmlns:asvg="http://schemas.microsoft.com/office/drawing/2016/SVG/main" r:embed="rId18"/>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26" name="Freeform: Shape 25">
            <a:extLst>
              <a:ext uri="{FF2B5EF4-FFF2-40B4-BE49-F238E27FC236}">
                <a16:creationId xmlns:a16="http://schemas.microsoft.com/office/drawing/2014/main" id="{A041B707-4437-D120-06D0-19B586D0DA27}"/>
              </a:ext>
            </a:extLst>
          </p:cNvPr>
          <p:cNvSpPr/>
          <p:nvPr/>
        </p:nvSpPr>
        <p:spPr>
          <a:xfrm>
            <a:off x="8704065" y="-6508422"/>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Test new platforms and processes</a:t>
            </a:r>
          </a:p>
        </p:txBody>
      </p:sp>
      <p:sp>
        <p:nvSpPr>
          <p:cNvPr id="27" name="Oval 26" descr="Clipboard Mixed outline">
            <a:extLst>
              <a:ext uri="{FF2B5EF4-FFF2-40B4-BE49-F238E27FC236}">
                <a16:creationId xmlns:a16="http://schemas.microsoft.com/office/drawing/2014/main" id="{218109AF-C90D-CDF5-2E8B-620AC34B0928}"/>
              </a:ext>
            </a:extLst>
          </p:cNvPr>
          <p:cNvSpPr/>
          <p:nvPr/>
        </p:nvSpPr>
        <p:spPr>
          <a:xfrm>
            <a:off x="9284243" y="-6384898"/>
            <a:ext cx="685559" cy="685559"/>
          </a:xfrm>
          <a:prstGeom prst="ellipse">
            <a:avLst/>
          </a:prstGeom>
          <a:blipFill>
            <a:blip r:embed="rId19">
              <a:extLst>
                <a:ext uri="{96DAC541-7B7A-43D3-8B79-37D633B846F1}">
                  <asvg:svgBlip xmlns:asvg="http://schemas.microsoft.com/office/drawing/2016/SVG/main" r:embed="rId2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nvGrpSpPr>
          <p:cNvPr id="29" name="Group 28">
            <a:extLst>
              <a:ext uri="{FF2B5EF4-FFF2-40B4-BE49-F238E27FC236}">
                <a16:creationId xmlns:a16="http://schemas.microsoft.com/office/drawing/2014/main" id="{6DEFEE05-248E-AC87-EF20-DAD3C594CB1F}"/>
              </a:ext>
            </a:extLst>
          </p:cNvPr>
          <p:cNvGrpSpPr/>
          <p:nvPr/>
        </p:nvGrpSpPr>
        <p:grpSpPr>
          <a:xfrm>
            <a:off x="-8109854" y="3276657"/>
            <a:ext cx="1761553" cy="2952616"/>
            <a:chOff x="3733552" y="2091824"/>
            <a:chExt cx="1761553" cy="2952616"/>
          </a:xfrm>
        </p:grpSpPr>
        <p:sp>
          <p:nvSpPr>
            <p:cNvPr id="30" name="Freeform: Shape 29">
              <a:extLst>
                <a:ext uri="{FF2B5EF4-FFF2-40B4-BE49-F238E27FC236}">
                  <a16:creationId xmlns:a16="http://schemas.microsoft.com/office/drawing/2014/main" id="{5C8D197E-3068-CD04-C4FD-0DC46A8A1CEA}"/>
                </a:ext>
              </a:extLst>
            </p:cNvPr>
            <p:cNvSpPr/>
            <p:nvPr/>
          </p:nvSpPr>
          <p:spPr>
            <a:xfrm>
              <a:off x="3733552" y="2091824"/>
              <a:ext cx="1761553" cy="2952616"/>
            </a:xfrm>
            <a:custGeom>
              <a:avLst/>
              <a:gdLst>
                <a:gd name="connsiteX0" fmla="*/ 0 w 1761553"/>
                <a:gd name="connsiteY0" fmla="*/ 176155 h 3435872"/>
                <a:gd name="connsiteX1" fmla="*/ 176155 w 1761553"/>
                <a:gd name="connsiteY1" fmla="*/ 0 h 3435872"/>
                <a:gd name="connsiteX2" fmla="*/ 1585398 w 1761553"/>
                <a:gd name="connsiteY2" fmla="*/ 0 h 3435872"/>
                <a:gd name="connsiteX3" fmla="*/ 1761553 w 1761553"/>
                <a:gd name="connsiteY3" fmla="*/ 176155 h 3435872"/>
                <a:gd name="connsiteX4" fmla="*/ 1761553 w 1761553"/>
                <a:gd name="connsiteY4" fmla="*/ 3259717 h 3435872"/>
                <a:gd name="connsiteX5" fmla="*/ 1585398 w 1761553"/>
                <a:gd name="connsiteY5" fmla="*/ 3435872 h 3435872"/>
                <a:gd name="connsiteX6" fmla="*/ 176155 w 1761553"/>
                <a:gd name="connsiteY6" fmla="*/ 3435872 h 3435872"/>
                <a:gd name="connsiteX7" fmla="*/ 0 w 1761553"/>
                <a:gd name="connsiteY7" fmla="*/ 3259717 h 3435872"/>
                <a:gd name="connsiteX8" fmla="*/ 0 w 1761553"/>
                <a:gd name="connsiteY8" fmla="*/ 176155 h 3435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1553" h="3435872">
                  <a:moveTo>
                    <a:pt x="0" y="176155"/>
                  </a:moveTo>
                  <a:cubicBezTo>
                    <a:pt x="0" y="78867"/>
                    <a:pt x="78867" y="0"/>
                    <a:pt x="176155" y="0"/>
                  </a:cubicBezTo>
                  <a:lnTo>
                    <a:pt x="1585398" y="0"/>
                  </a:lnTo>
                  <a:cubicBezTo>
                    <a:pt x="1682686" y="0"/>
                    <a:pt x="1761553" y="78867"/>
                    <a:pt x="1761553" y="176155"/>
                  </a:cubicBezTo>
                  <a:lnTo>
                    <a:pt x="1761553" y="3259717"/>
                  </a:lnTo>
                  <a:cubicBezTo>
                    <a:pt x="1761553" y="3357005"/>
                    <a:pt x="1682686" y="3435872"/>
                    <a:pt x="1585398" y="3435872"/>
                  </a:cubicBezTo>
                  <a:lnTo>
                    <a:pt x="176155" y="3435872"/>
                  </a:lnTo>
                  <a:cubicBezTo>
                    <a:pt x="78867" y="3435872"/>
                    <a:pt x="0" y="3357005"/>
                    <a:pt x="0" y="3259717"/>
                  </a:cubicBezTo>
                  <a:lnTo>
                    <a:pt x="0" y="176155"/>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128" tIns="1509476" rIns="135128" bIns="822304" numCol="1" spcCol="1270" anchor="ctr" anchorCtr="0">
              <a:noAutofit/>
            </a:bodyPr>
            <a:lstStyle/>
            <a:p>
              <a:pPr algn="ctr" defTabSz="844550">
                <a:lnSpc>
                  <a:spcPct val="90000"/>
                </a:lnSpc>
                <a:spcBef>
                  <a:spcPct val="0"/>
                </a:spcBef>
                <a:spcAft>
                  <a:spcPct val="35000"/>
                </a:spcAft>
              </a:pPr>
              <a:r>
                <a:rPr lang="en-GB" sz="1900" dirty="0">
                  <a:solidFill>
                    <a:srgbClr val="FFFFFF"/>
                  </a:solidFill>
                  <a:latin typeface="Frutiger Lt Std"/>
                </a:rPr>
                <a:t>Over 250 Databases</a:t>
              </a:r>
            </a:p>
          </p:txBody>
        </p:sp>
        <p:sp>
          <p:nvSpPr>
            <p:cNvPr id="31" name="Oval 30" descr="Database outline">
              <a:extLst>
                <a:ext uri="{FF2B5EF4-FFF2-40B4-BE49-F238E27FC236}">
                  <a16:creationId xmlns:a16="http://schemas.microsoft.com/office/drawing/2014/main" id="{FAC2E1E7-DE53-DBC0-BFB6-14E8ECABC9CF}"/>
                </a:ext>
              </a:extLst>
            </p:cNvPr>
            <p:cNvSpPr/>
            <p:nvPr/>
          </p:nvSpPr>
          <p:spPr>
            <a:xfrm>
              <a:off x="4193014" y="2565916"/>
              <a:ext cx="842628" cy="874058"/>
            </a:xfrm>
            <a:prstGeom prst="ellipse">
              <a:avLst/>
            </a:prstGeom>
            <a:blipFill>
              <a:blip r:embed="rId21">
                <a:extLst>
                  <a:ext uri="{96DAC541-7B7A-43D3-8B79-37D633B846F1}">
                    <asvg:svgBlip xmlns:asvg="http://schemas.microsoft.com/office/drawing/2016/SVG/main" r:embed="rId22"/>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32" name="Group 31">
            <a:extLst>
              <a:ext uri="{FF2B5EF4-FFF2-40B4-BE49-F238E27FC236}">
                <a16:creationId xmlns:a16="http://schemas.microsoft.com/office/drawing/2014/main" id="{57C5CC1F-9B44-34ED-46B0-DBC664667E32}"/>
              </a:ext>
            </a:extLst>
          </p:cNvPr>
          <p:cNvGrpSpPr/>
          <p:nvPr/>
        </p:nvGrpSpPr>
        <p:grpSpPr>
          <a:xfrm>
            <a:off x="-11800407" y="3708483"/>
            <a:ext cx="1761553" cy="2952616"/>
            <a:chOff x="1054282" y="2091824"/>
            <a:chExt cx="1761553" cy="2952616"/>
          </a:xfrm>
        </p:grpSpPr>
        <p:sp>
          <p:nvSpPr>
            <p:cNvPr id="33" name="Freeform: Shape 32">
              <a:extLst>
                <a:ext uri="{FF2B5EF4-FFF2-40B4-BE49-F238E27FC236}">
                  <a16:creationId xmlns:a16="http://schemas.microsoft.com/office/drawing/2014/main" id="{1AE3CC2A-96BB-6971-CC94-0CA71735C17E}"/>
                </a:ext>
              </a:extLst>
            </p:cNvPr>
            <p:cNvSpPr/>
            <p:nvPr/>
          </p:nvSpPr>
          <p:spPr>
            <a:xfrm>
              <a:off x="1054282" y="2091824"/>
              <a:ext cx="1761553" cy="2952616"/>
            </a:xfrm>
            <a:custGeom>
              <a:avLst/>
              <a:gdLst>
                <a:gd name="connsiteX0" fmla="*/ 0 w 1761553"/>
                <a:gd name="connsiteY0" fmla="*/ 176155 h 3435872"/>
                <a:gd name="connsiteX1" fmla="*/ 176155 w 1761553"/>
                <a:gd name="connsiteY1" fmla="*/ 0 h 3435872"/>
                <a:gd name="connsiteX2" fmla="*/ 1585398 w 1761553"/>
                <a:gd name="connsiteY2" fmla="*/ 0 h 3435872"/>
                <a:gd name="connsiteX3" fmla="*/ 1761553 w 1761553"/>
                <a:gd name="connsiteY3" fmla="*/ 176155 h 3435872"/>
                <a:gd name="connsiteX4" fmla="*/ 1761553 w 1761553"/>
                <a:gd name="connsiteY4" fmla="*/ 3259717 h 3435872"/>
                <a:gd name="connsiteX5" fmla="*/ 1585398 w 1761553"/>
                <a:gd name="connsiteY5" fmla="*/ 3435872 h 3435872"/>
                <a:gd name="connsiteX6" fmla="*/ 176155 w 1761553"/>
                <a:gd name="connsiteY6" fmla="*/ 3435872 h 3435872"/>
                <a:gd name="connsiteX7" fmla="*/ 0 w 1761553"/>
                <a:gd name="connsiteY7" fmla="*/ 3259717 h 3435872"/>
                <a:gd name="connsiteX8" fmla="*/ 0 w 1761553"/>
                <a:gd name="connsiteY8" fmla="*/ 176155 h 3435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1553" h="3435872">
                  <a:moveTo>
                    <a:pt x="0" y="176155"/>
                  </a:moveTo>
                  <a:cubicBezTo>
                    <a:pt x="0" y="78867"/>
                    <a:pt x="78867" y="0"/>
                    <a:pt x="176155" y="0"/>
                  </a:cubicBezTo>
                  <a:lnTo>
                    <a:pt x="1585398" y="0"/>
                  </a:lnTo>
                  <a:cubicBezTo>
                    <a:pt x="1682686" y="0"/>
                    <a:pt x="1761553" y="78867"/>
                    <a:pt x="1761553" y="176155"/>
                  </a:cubicBezTo>
                  <a:lnTo>
                    <a:pt x="1761553" y="3259717"/>
                  </a:lnTo>
                  <a:cubicBezTo>
                    <a:pt x="1761553" y="3357005"/>
                    <a:pt x="1682686" y="3435872"/>
                    <a:pt x="1585398" y="3435872"/>
                  </a:cubicBezTo>
                  <a:lnTo>
                    <a:pt x="176155" y="3435872"/>
                  </a:lnTo>
                  <a:cubicBezTo>
                    <a:pt x="78867" y="3435872"/>
                    <a:pt x="0" y="3357005"/>
                    <a:pt x="0" y="3259717"/>
                  </a:cubicBezTo>
                  <a:lnTo>
                    <a:pt x="0" y="176155"/>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128" tIns="1509476" rIns="135128" bIns="822304" numCol="1" spcCol="1270" anchor="ctr" anchorCtr="0">
              <a:noAutofit/>
            </a:bodyPr>
            <a:lstStyle/>
            <a:p>
              <a:pPr algn="ctr" defTabSz="844550">
                <a:lnSpc>
                  <a:spcPct val="90000"/>
                </a:lnSpc>
                <a:spcBef>
                  <a:spcPct val="0"/>
                </a:spcBef>
                <a:spcAft>
                  <a:spcPct val="35000"/>
                </a:spcAft>
              </a:pPr>
              <a:r>
                <a:rPr lang="en-GB" sz="1900" dirty="0">
                  <a:solidFill>
                    <a:srgbClr val="FFFFFF"/>
                  </a:solidFill>
                  <a:latin typeface="Frutiger Lt Std"/>
                </a:rPr>
                <a:t>13 Production Warehouse and reporting Servers </a:t>
              </a:r>
            </a:p>
          </p:txBody>
        </p:sp>
        <p:sp>
          <p:nvSpPr>
            <p:cNvPr id="34" name="Oval 33" descr="Computer outline">
              <a:extLst>
                <a:ext uri="{FF2B5EF4-FFF2-40B4-BE49-F238E27FC236}">
                  <a16:creationId xmlns:a16="http://schemas.microsoft.com/office/drawing/2014/main" id="{EC4E09F7-E2DC-DB0A-29E7-767B35832DAB}"/>
                </a:ext>
              </a:extLst>
            </p:cNvPr>
            <p:cNvSpPr/>
            <p:nvPr/>
          </p:nvSpPr>
          <p:spPr>
            <a:xfrm>
              <a:off x="1371240" y="2364439"/>
              <a:ext cx="1065965" cy="1011218"/>
            </a:xfrm>
            <a:prstGeom prst="ellipse">
              <a:avLst/>
            </a:prstGeom>
            <a:blipFill>
              <a:blip r:embed="rId23">
                <a:extLst>
                  <a:ext uri="{96DAC541-7B7A-43D3-8B79-37D633B846F1}">
                    <asvg:svgBlip xmlns:asvg="http://schemas.microsoft.com/office/drawing/2016/SVG/main" r:embed="rId24"/>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35" name="Group 34">
            <a:extLst>
              <a:ext uri="{FF2B5EF4-FFF2-40B4-BE49-F238E27FC236}">
                <a16:creationId xmlns:a16="http://schemas.microsoft.com/office/drawing/2014/main" id="{0335505C-8764-5E65-7729-A1716C6694D4}"/>
              </a:ext>
            </a:extLst>
          </p:cNvPr>
          <p:cNvGrpSpPr/>
          <p:nvPr/>
        </p:nvGrpSpPr>
        <p:grpSpPr>
          <a:xfrm>
            <a:off x="-5076876" y="2718038"/>
            <a:ext cx="1761553" cy="2952616"/>
            <a:chOff x="6412823" y="2091824"/>
            <a:chExt cx="1761553" cy="2952616"/>
          </a:xfrm>
        </p:grpSpPr>
        <p:sp>
          <p:nvSpPr>
            <p:cNvPr id="36" name="Freeform: Shape 35">
              <a:extLst>
                <a:ext uri="{FF2B5EF4-FFF2-40B4-BE49-F238E27FC236}">
                  <a16:creationId xmlns:a16="http://schemas.microsoft.com/office/drawing/2014/main" id="{B01014FE-9EAD-D6BB-95BD-15D977399C54}"/>
                </a:ext>
              </a:extLst>
            </p:cNvPr>
            <p:cNvSpPr/>
            <p:nvPr/>
          </p:nvSpPr>
          <p:spPr>
            <a:xfrm>
              <a:off x="6412823" y="2091824"/>
              <a:ext cx="1761553" cy="2952616"/>
            </a:xfrm>
            <a:custGeom>
              <a:avLst/>
              <a:gdLst>
                <a:gd name="connsiteX0" fmla="*/ 0 w 1761553"/>
                <a:gd name="connsiteY0" fmla="*/ 176155 h 3435872"/>
                <a:gd name="connsiteX1" fmla="*/ 176155 w 1761553"/>
                <a:gd name="connsiteY1" fmla="*/ 0 h 3435872"/>
                <a:gd name="connsiteX2" fmla="*/ 1585398 w 1761553"/>
                <a:gd name="connsiteY2" fmla="*/ 0 h 3435872"/>
                <a:gd name="connsiteX3" fmla="*/ 1761553 w 1761553"/>
                <a:gd name="connsiteY3" fmla="*/ 176155 h 3435872"/>
                <a:gd name="connsiteX4" fmla="*/ 1761553 w 1761553"/>
                <a:gd name="connsiteY4" fmla="*/ 3259717 h 3435872"/>
                <a:gd name="connsiteX5" fmla="*/ 1585398 w 1761553"/>
                <a:gd name="connsiteY5" fmla="*/ 3435872 h 3435872"/>
                <a:gd name="connsiteX6" fmla="*/ 176155 w 1761553"/>
                <a:gd name="connsiteY6" fmla="*/ 3435872 h 3435872"/>
                <a:gd name="connsiteX7" fmla="*/ 0 w 1761553"/>
                <a:gd name="connsiteY7" fmla="*/ 3259717 h 3435872"/>
                <a:gd name="connsiteX8" fmla="*/ 0 w 1761553"/>
                <a:gd name="connsiteY8" fmla="*/ 176155 h 3435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1553" h="3435872">
                  <a:moveTo>
                    <a:pt x="0" y="176155"/>
                  </a:moveTo>
                  <a:cubicBezTo>
                    <a:pt x="0" y="78867"/>
                    <a:pt x="78867" y="0"/>
                    <a:pt x="176155" y="0"/>
                  </a:cubicBezTo>
                  <a:lnTo>
                    <a:pt x="1585398" y="0"/>
                  </a:lnTo>
                  <a:cubicBezTo>
                    <a:pt x="1682686" y="0"/>
                    <a:pt x="1761553" y="78867"/>
                    <a:pt x="1761553" y="176155"/>
                  </a:cubicBezTo>
                  <a:lnTo>
                    <a:pt x="1761553" y="3259717"/>
                  </a:lnTo>
                  <a:cubicBezTo>
                    <a:pt x="1761553" y="3357005"/>
                    <a:pt x="1682686" y="3435872"/>
                    <a:pt x="1585398" y="3435872"/>
                  </a:cubicBezTo>
                  <a:lnTo>
                    <a:pt x="176155" y="3435872"/>
                  </a:lnTo>
                  <a:cubicBezTo>
                    <a:pt x="78867" y="3435872"/>
                    <a:pt x="0" y="3357005"/>
                    <a:pt x="0" y="3259717"/>
                  </a:cubicBezTo>
                  <a:lnTo>
                    <a:pt x="0" y="176155"/>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128" tIns="1509476" rIns="135128" bIns="822304" numCol="1" spcCol="1270" anchor="ctr" anchorCtr="0">
              <a:noAutofit/>
            </a:bodyPr>
            <a:lstStyle/>
            <a:p>
              <a:pPr algn="ctr" defTabSz="844550">
                <a:lnSpc>
                  <a:spcPct val="90000"/>
                </a:lnSpc>
                <a:spcBef>
                  <a:spcPct val="0"/>
                </a:spcBef>
                <a:spcAft>
                  <a:spcPct val="35000"/>
                </a:spcAft>
              </a:pPr>
              <a:r>
                <a:rPr lang="en-GB" sz="1900">
                  <a:solidFill>
                    <a:srgbClr val="FFFFFF"/>
                  </a:solidFill>
                  <a:latin typeface="Frutiger Lt Std"/>
                </a:rPr>
                <a:t>Fed from 148 clinical and corporate systems</a:t>
              </a:r>
            </a:p>
          </p:txBody>
        </p:sp>
        <p:sp>
          <p:nvSpPr>
            <p:cNvPr id="37" name="Oval 36" descr="City outline">
              <a:extLst>
                <a:ext uri="{FF2B5EF4-FFF2-40B4-BE49-F238E27FC236}">
                  <a16:creationId xmlns:a16="http://schemas.microsoft.com/office/drawing/2014/main" id="{E5612BA5-DF53-B0F7-98DC-75709194FAAD}"/>
                </a:ext>
              </a:extLst>
            </p:cNvPr>
            <p:cNvSpPr/>
            <p:nvPr/>
          </p:nvSpPr>
          <p:spPr>
            <a:xfrm>
              <a:off x="6721527" y="2297976"/>
              <a:ext cx="1144145" cy="1144145"/>
            </a:xfrm>
            <a:prstGeom prst="ellipse">
              <a:avLst/>
            </a:prstGeom>
            <a:blipFill>
              <a:blip r:embed="rId25">
                <a:extLst>
                  <a:ext uri="{96DAC541-7B7A-43D3-8B79-37D633B846F1}">
                    <asvg:svgBlip xmlns:asvg="http://schemas.microsoft.com/office/drawing/2016/SVG/main" r:embed="rId26"/>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spTree>
    <p:extLst>
      <p:ext uri="{BB962C8B-B14F-4D97-AF65-F5344CB8AC3E}">
        <p14:creationId xmlns:p14="http://schemas.microsoft.com/office/powerpoint/2010/main" val="201167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a:extLst>
              <a:ext uri="{FF2B5EF4-FFF2-40B4-BE49-F238E27FC236}">
                <a16:creationId xmlns:a16="http://schemas.microsoft.com/office/drawing/2014/main" id="{C1CFE740-72FF-39A0-F362-3CCCE903924A}"/>
              </a:ext>
            </a:extLst>
          </p:cNvPr>
          <p:cNvGraphicFramePr>
            <a:graphicFrameLocks noChangeAspect="1"/>
          </p:cNvGraphicFramePr>
          <p:nvPr/>
        </p:nvGraphicFramePr>
        <p:xfrm>
          <a:off x="3946475" y="1494917"/>
          <a:ext cx="4199897" cy="4579259"/>
        </p:xfrm>
        <a:graphic>
          <a:graphicData uri="http://schemas.openxmlformats.org/presentationml/2006/ole">
            <mc:AlternateContent xmlns:mc="http://schemas.openxmlformats.org/markup-compatibility/2006">
              <mc:Choice xmlns:v="urn:schemas-microsoft-com:vml" Requires="v">
                <p:oleObj name="Acrobat Document" r:id="rId2" imgW="11439231" imgH="10286759" progId="AcroExch.Document.DC">
                  <p:embed/>
                </p:oleObj>
              </mc:Choice>
              <mc:Fallback>
                <p:oleObj name="Acrobat Document" r:id="rId2" imgW="11439231" imgH="10286759" progId="AcroExch.Document.DC">
                  <p:embed/>
                  <p:pic>
                    <p:nvPicPr>
                      <p:cNvPr id="26" name="Object 25">
                        <a:extLst>
                          <a:ext uri="{FF2B5EF4-FFF2-40B4-BE49-F238E27FC236}">
                            <a16:creationId xmlns:a16="http://schemas.microsoft.com/office/drawing/2014/main" id="{C1CFE740-72FF-39A0-F362-3CCCE903924A}"/>
                          </a:ext>
                        </a:extLst>
                      </p:cNvPr>
                      <p:cNvPicPr/>
                      <p:nvPr/>
                    </p:nvPicPr>
                    <p:blipFill>
                      <a:blip r:embed="rId3">
                        <a:alphaModFix amt="25000"/>
                      </a:blip>
                      <a:stretch>
                        <a:fillRect/>
                      </a:stretch>
                    </p:blipFill>
                    <p:spPr>
                      <a:xfrm>
                        <a:off x="3946475" y="1494917"/>
                        <a:ext cx="4199897" cy="4579259"/>
                      </a:xfrm>
                      <a:prstGeom prst="rect">
                        <a:avLst/>
                      </a:prstGeom>
                    </p:spPr>
                  </p:pic>
                </p:oleObj>
              </mc:Fallback>
            </mc:AlternateContent>
          </a:graphicData>
        </a:graphic>
      </p:graphicFrame>
      <p:sp>
        <p:nvSpPr>
          <p:cNvPr id="3" name="Date Placeholder 2">
            <a:extLst>
              <a:ext uri="{FF2B5EF4-FFF2-40B4-BE49-F238E27FC236}">
                <a16:creationId xmlns:a16="http://schemas.microsoft.com/office/drawing/2014/main" id="{F2B12D3D-2562-FB79-0F3A-EABF35A9D285}"/>
              </a:ext>
            </a:extLst>
          </p:cNvPr>
          <p:cNvSpPr>
            <a:spLocks noGrp="1"/>
          </p:cNvSpPr>
          <p:nvPr>
            <p:ph type="dt" sz="half" idx="10"/>
          </p:nvPr>
        </p:nvSpPr>
        <p:spPr/>
        <p:txBody>
          <a:bodyPr/>
          <a:lstStyle/>
          <a:p>
            <a:fld id="{29A3D60C-94B3-3F48-A969-9F54AC766E98}" type="datetime1">
              <a:rPr lang="en-GB"/>
              <a:pPr/>
              <a:t>11/07/2025</a:t>
            </a:fld>
            <a:endParaRPr lang="en-GB" dirty="0"/>
          </a:p>
        </p:txBody>
      </p:sp>
      <p:sp>
        <p:nvSpPr>
          <p:cNvPr id="4" name="Text Placeholder 3">
            <a:extLst>
              <a:ext uri="{FF2B5EF4-FFF2-40B4-BE49-F238E27FC236}">
                <a16:creationId xmlns:a16="http://schemas.microsoft.com/office/drawing/2014/main" id="{03A5AF59-2CAF-469F-0E6B-384CA2F3BC57}"/>
              </a:ext>
            </a:extLst>
          </p:cNvPr>
          <p:cNvSpPr>
            <a:spLocks noGrp="1"/>
          </p:cNvSpPr>
          <p:nvPr>
            <p:ph type="body" sz="quarter" idx="13"/>
          </p:nvPr>
        </p:nvSpPr>
        <p:spPr/>
        <p:txBody>
          <a:bodyPr/>
          <a:lstStyle/>
          <a:p>
            <a:r>
              <a:rPr lang="en-GB" dirty="0"/>
              <a:t>Neil Hayes-Webster</a:t>
            </a:r>
          </a:p>
        </p:txBody>
      </p:sp>
      <p:sp>
        <p:nvSpPr>
          <p:cNvPr id="14" name="Freeform: Shape 13">
            <a:extLst>
              <a:ext uri="{FF2B5EF4-FFF2-40B4-BE49-F238E27FC236}">
                <a16:creationId xmlns:a16="http://schemas.microsoft.com/office/drawing/2014/main" id="{46E8C71F-C765-2D50-8E01-9E5435D2067C}"/>
              </a:ext>
            </a:extLst>
          </p:cNvPr>
          <p:cNvSpPr/>
          <p:nvPr/>
        </p:nvSpPr>
        <p:spPr>
          <a:xfrm>
            <a:off x="2321104" y="2399632"/>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Focus on ED Data</a:t>
            </a:r>
          </a:p>
        </p:txBody>
      </p:sp>
      <p:sp>
        <p:nvSpPr>
          <p:cNvPr id="15" name="Oval 14" descr="First aid kit outline">
            <a:extLst>
              <a:ext uri="{FF2B5EF4-FFF2-40B4-BE49-F238E27FC236}">
                <a16:creationId xmlns:a16="http://schemas.microsoft.com/office/drawing/2014/main" id="{02881B92-45DC-3806-55DA-5D10D8DE6650}"/>
              </a:ext>
            </a:extLst>
          </p:cNvPr>
          <p:cNvSpPr/>
          <p:nvPr/>
        </p:nvSpPr>
        <p:spPr>
          <a:xfrm>
            <a:off x="2901282" y="2523157"/>
            <a:ext cx="685559" cy="685559"/>
          </a:xfrm>
          <a:prstGeom prst="ellipse">
            <a:avLst/>
          </a:prstGeom>
          <a:blipFill>
            <a:blip r:embed="rId4">
              <a:extLst>
                <a:ext uri="{96DAC541-7B7A-43D3-8B79-37D633B846F1}">
                  <asvg:svgBlip xmlns:asvg="http://schemas.microsoft.com/office/drawing/2016/SVG/main" r:embed="rId5"/>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16" name="Freeform: Shape 15">
            <a:extLst>
              <a:ext uri="{FF2B5EF4-FFF2-40B4-BE49-F238E27FC236}">
                <a16:creationId xmlns:a16="http://schemas.microsoft.com/office/drawing/2014/main" id="{52E75B56-92D3-242B-C6B0-57EFF250A9F5}"/>
              </a:ext>
            </a:extLst>
          </p:cNvPr>
          <p:cNvSpPr/>
          <p:nvPr/>
        </p:nvSpPr>
        <p:spPr>
          <a:xfrm>
            <a:off x="4222396" y="2399632"/>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a:solidFill>
                  <a:srgbClr val="FFFFFF"/>
                </a:solidFill>
                <a:latin typeface="Frutiger Lt Std"/>
              </a:rPr>
              <a:t>Automate National returns and other requests to save time</a:t>
            </a:r>
          </a:p>
        </p:txBody>
      </p:sp>
      <p:sp>
        <p:nvSpPr>
          <p:cNvPr id="17" name="Oval 16" descr="Open envelope outline">
            <a:extLst>
              <a:ext uri="{FF2B5EF4-FFF2-40B4-BE49-F238E27FC236}">
                <a16:creationId xmlns:a16="http://schemas.microsoft.com/office/drawing/2014/main" id="{4510D789-D9FB-274E-A281-8912CE1A5B5C}"/>
              </a:ext>
            </a:extLst>
          </p:cNvPr>
          <p:cNvSpPr/>
          <p:nvPr/>
        </p:nvSpPr>
        <p:spPr>
          <a:xfrm>
            <a:off x="4802575" y="2523157"/>
            <a:ext cx="685559" cy="685559"/>
          </a:xfrm>
          <a:prstGeom prst="ellipse">
            <a:avLst/>
          </a:prstGeom>
          <a:blipFill>
            <a:blip r:embed="rId6">
              <a:extLst>
                <a:ext uri="{96DAC541-7B7A-43D3-8B79-37D633B846F1}">
                  <asvg:svgBlip xmlns:asvg="http://schemas.microsoft.com/office/drawing/2016/SVG/main" r:embed="rId7"/>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18" name="Freeform: Shape 17">
            <a:extLst>
              <a:ext uri="{FF2B5EF4-FFF2-40B4-BE49-F238E27FC236}">
                <a16:creationId xmlns:a16="http://schemas.microsoft.com/office/drawing/2014/main" id="{39AB7C21-CDB7-D26E-D019-521BBB5C439B}"/>
              </a:ext>
            </a:extLst>
          </p:cNvPr>
          <p:cNvSpPr/>
          <p:nvPr/>
        </p:nvSpPr>
        <p:spPr>
          <a:xfrm>
            <a:off x="6123688" y="2399632"/>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Deliver data in a clear and transparent warehouse</a:t>
            </a:r>
          </a:p>
        </p:txBody>
      </p:sp>
      <p:sp>
        <p:nvSpPr>
          <p:cNvPr id="19" name="Oval 18" descr="Research outline">
            <a:extLst>
              <a:ext uri="{FF2B5EF4-FFF2-40B4-BE49-F238E27FC236}">
                <a16:creationId xmlns:a16="http://schemas.microsoft.com/office/drawing/2014/main" id="{7C75546C-647B-C086-F28D-519A3B81D31D}"/>
              </a:ext>
            </a:extLst>
          </p:cNvPr>
          <p:cNvSpPr/>
          <p:nvPr/>
        </p:nvSpPr>
        <p:spPr>
          <a:xfrm>
            <a:off x="6703867" y="2523157"/>
            <a:ext cx="685559" cy="685559"/>
          </a:xfrm>
          <a:prstGeom prst="ellipse">
            <a:avLst/>
          </a:prstGeom>
          <a:blipFill>
            <a:blip r:embed="rId8">
              <a:extLst>
                <a:ext uri="{96DAC541-7B7A-43D3-8B79-37D633B846F1}">
                  <asvg:svgBlip xmlns:asvg="http://schemas.microsoft.com/office/drawing/2016/SVG/main" r:embed="rId9"/>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20" name="Freeform: Shape 19">
            <a:extLst>
              <a:ext uri="{FF2B5EF4-FFF2-40B4-BE49-F238E27FC236}">
                <a16:creationId xmlns:a16="http://schemas.microsoft.com/office/drawing/2014/main" id="{A041B707-4437-D120-06D0-19B586D0DA27}"/>
              </a:ext>
            </a:extLst>
          </p:cNvPr>
          <p:cNvSpPr/>
          <p:nvPr/>
        </p:nvSpPr>
        <p:spPr>
          <a:xfrm>
            <a:off x="8024981" y="2399632"/>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Test new platforms and processes</a:t>
            </a:r>
          </a:p>
        </p:txBody>
      </p:sp>
      <p:sp>
        <p:nvSpPr>
          <p:cNvPr id="21" name="Oval 20" descr="Clipboard Mixed outline">
            <a:extLst>
              <a:ext uri="{FF2B5EF4-FFF2-40B4-BE49-F238E27FC236}">
                <a16:creationId xmlns:a16="http://schemas.microsoft.com/office/drawing/2014/main" id="{218109AF-C90D-CDF5-2E8B-620AC34B0928}"/>
              </a:ext>
            </a:extLst>
          </p:cNvPr>
          <p:cNvSpPr/>
          <p:nvPr/>
        </p:nvSpPr>
        <p:spPr>
          <a:xfrm>
            <a:off x="8605159" y="2523157"/>
            <a:ext cx="685559" cy="685559"/>
          </a:xfrm>
          <a:prstGeom prst="ellipse">
            <a:avLst/>
          </a:prstGeom>
          <a:blipFill>
            <a:blip r:embed="rId10">
              <a:extLst>
                <a:ext uri="{96DAC541-7B7A-43D3-8B79-37D633B846F1}">
                  <asvg:svgBlip xmlns:asvg="http://schemas.microsoft.com/office/drawing/2016/SVG/main" r:embed="rId11"/>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7" name="Slide Number Placeholder 6">
            <a:extLst>
              <a:ext uri="{FF2B5EF4-FFF2-40B4-BE49-F238E27FC236}">
                <a16:creationId xmlns:a16="http://schemas.microsoft.com/office/drawing/2014/main" id="{8E11C6FE-1401-535B-C033-3D6AFE973CC1}"/>
              </a:ext>
            </a:extLst>
          </p:cNvPr>
          <p:cNvSpPr>
            <a:spLocks noGrp="1"/>
          </p:cNvSpPr>
          <p:nvPr>
            <p:ph type="sldNum" sz="quarter" idx="4"/>
          </p:nvPr>
        </p:nvSpPr>
        <p:spPr/>
        <p:txBody>
          <a:bodyPr/>
          <a:lstStyle/>
          <a:p>
            <a:fld id="{48C91D3C-AA5C-7440-8489-158FBC20DC87}" type="slidenum">
              <a:rPr lang="en-US"/>
              <a:pPr/>
              <a:t>18</a:t>
            </a:fld>
            <a:endParaRPr lang="en-US" dirty="0"/>
          </a:p>
        </p:txBody>
      </p:sp>
      <p:pic>
        <p:nvPicPr>
          <p:cNvPr id="8" name="Picture 7" descr="A group of birds flying&#10;&#10;Description automatically generated">
            <a:extLst>
              <a:ext uri="{FF2B5EF4-FFF2-40B4-BE49-F238E27FC236}">
                <a16:creationId xmlns:a16="http://schemas.microsoft.com/office/drawing/2014/main" id="{43FA543F-BB0B-3A83-DE21-BA4267DF407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11" name="Content Placeholder 4">
            <a:extLst>
              <a:ext uri="{FF2B5EF4-FFF2-40B4-BE49-F238E27FC236}">
                <a16:creationId xmlns:a16="http://schemas.microsoft.com/office/drawing/2014/main" id="{4AA933A4-D2E0-1B8C-B7AA-EFCA1F4E2D9A}"/>
              </a:ext>
            </a:extLst>
          </p:cNvPr>
          <p:cNvSpPr>
            <a:spLocks noGrp="1"/>
          </p:cNvSpPr>
          <p:nvPr>
            <p:ph sz="quarter" idx="12"/>
          </p:nvPr>
        </p:nvSpPr>
        <p:spPr>
          <a:xfrm>
            <a:off x="1794273" y="1615447"/>
            <a:ext cx="7386381" cy="301057"/>
          </a:xfrm>
        </p:spPr>
        <p:txBody>
          <a:bodyPr/>
          <a:lstStyle/>
          <a:p>
            <a:r>
              <a:rPr lang="en-GB" dirty="0"/>
              <a:t>Development Objectives</a:t>
            </a:r>
          </a:p>
        </p:txBody>
      </p:sp>
      <p:grpSp>
        <p:nvGrpSpPr>
          <p:cNvPr id="23" name="Group 22">
            <a:extLst>
              <a:ext uri="{FF2B5EF4-FFF2-40B4-BE49-F238E27FC236}">
                <a16:creationId xmlns:a16="http://schemas.microsoft.com/office/drawing/2014/main" id="{786CC42E-56A0-832E-1711-4E247A108EAE}"/>
              </a:ext>
            </a:extLst>
          </p:cNvPr>
          <p:cNvGrpSpPr/>
          <p:nvPr/>
        </p:nvGrpSpPr>
        <p:grpSpPr>
          <a:xfrm>
            <a:off x="1853957" y="12301549"/>
            <a:ext cx="1990606" cy="2680897"/>
            <a:chOff x="567918" y="2380916"/>
            <a:chExt cx="1990606" cy="2680897"/>
          </a:xfrm>
        </p:grpSpPr>
        <p:sp>
          <p:nvSpPr>
            <p:cNvPr id="24" name="Freeform: Shape 23">
              <a:extLst>
                <a:ext uri="{FF2B5EF4-FFF2-40B4-BE49-F238E27FC236}">
                  <a16:creationId xmlns:a16="http://schemas.microsoft.com/office/drawing/2014/main" id="{DD32DE39-44F5-6602-F65E-EAE2BE40EFDA}"/>
                </a:ext>
              </a:extLst>
            </p:cNvPr>
            <p:cNvSpPr/>
            <p:nvPr/>
          </p:nvSpPr>
          <p:spPr>
            <a:xfrm>
              <a:off x="567918"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t" anchorCtr="1">
              <a:noAutofit/>
            </a:bodyPr>
            <a:lstStyle/>
            <a:p>
              <a:pPr defTabSz="622300">
                <a:lnSpc>
                  <a:spcPct val="90000"/>
                </a:lnSpc>
                <a:spcBef>
                  <a:spcPct val="0"/>
                </a:spcBef>
                <a:spcAft>
                  <a:spcPct val="35000"/>
                </a:spcAft>
              </a:pPr>
              <a:r>
                <a:rPr lang="en-GB" sz="1400" dirty="0">
                  <a:solidFill>
                    <a:srgbClr val="FFFFFF"/>
                  </a:solidFill>
                  <a:latin typeface="Frutiger Lt Std"/>
                </a:rPr>
                <a:t>Reduce silo working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Community</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Mental Health</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Acute Yeovil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Acute Taunton</a:t>
              </a:r>
            </a:p>
          </p:txBody>
        </p:sp>
        <p:sp>
          <p:nvSpPr>
            <p:cNvPr id="25" name="Oval 24" descr="Silo outline">
              <a:extLst>
                <a:ext uri="{FF2B5EF4-FFF2-40B4-BE49-F238E27FC236}">
                  <a16:creationId xmlns:a16="http://schemas.microsoft.com/office/drawing/2014/main" id="{32213D06-2B2D-9F28-1861-3800699B6764}"/>
                </a:ext>
              </a:extLst>
            </p:cNvPr>
            <p:cNvSpPr/>
            <p:nvPr/>
          </p:nvSpPr>
          <p:spPr>
            <a:xfrm>
              <a:off x="1116851" y="2541769"/>
              <a:ext cx="892738" cy="892738"/>
            </a:xfrm>
            <a:prstGeom prst="ellipse">
              <a:avLst/>
            </a:prstGeom>
            <a:blipFill>
              <a:blip r:embed="rId13">
                <a:extLst>
                  <a:ext uri="{96DAC541-7B7A-43D3-8B79-37D633B846F1}">
                    <asvg:svgBlip xmlns:asvg="http://schemas.microsoft.com/office/drawing/2016/SVG/main" r:embed="rId14"/>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29" name="Group 28">
            <a:extLst>
              <a:ext uri="{FF2B5EF4-FFF2-40B4-BE49-F238E27FC236}">
                <a16:creationId xmlns:a16="http://schemas.microsoft.com/office/drawing/2014/main" id="{F44BF763-6C99-F476-2478-5018D9C98151}"/>
              </a:ext>
            </a:extLst>
          </p:cNvPr>
          <p:cNvGrpSpPr/>
          <p:nvPr/>
        </p:nvGrpSpPr>
        <p:grpSpPr>
          <a:xfrm>
            <a:off x="6153596" y="9013851"/>
            <a:ext cx="1990606" cy="2680897"/>
            <a:chOff x="4668567" y="2380916"/>
            <a:chExt cx="1990606" cy="2680897"/>
          </a:xfrm>
        </p:grpSpPr>
        <p:sp>
          <p:nvSpPr>
            <p:cNvPr id="30" name="Freeform: Shape 29">
              <a:extLst>
                <a:ext uri="{FF2B5EF4-FFF2-40B4-BE49-F238E27FC236}">
                  <a16:creationId xmlns:a16="http://schemas.microsoft.com/office/drawing/2014/main" id="{D8C59640-4AE7-2B06-BAF3-39E007258474}"/>
                </a:ext>
              </a:extLst>
            </p:cNvPr>
            <p:cNvSpPr/>
            <p:nvPr/>
          </p:nvSpPr>
          <p:spPr>
            <a:xfrm>
              <a:off x="4668567"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t" anchorCtr="1">
              <a:noAutofit/>
            </a:bodyPr>
            <a:lstStyle/>
            <a:p>
              <a:pPr defTabSz="622300">
                <a:lnSpc>
                  <a:spcPct val="90000"/>
                </a:lnSpc>
                <a:spcBef>
                  <a:spcPct val="0"/>
                </a:spcBef>
                <a:spcAft>
                  <a:spcPct val="35000"/>
                </a:spcAft>
              </a:pPr>
              <a:r>
                <a:rPr lang="en-GB" sz="1400" dirty="0">
                  <a:solidFill>
                    <a:srgbClr val="FFFFFF"/>
                  </a:solidFill>
                  <a:latin typeface="Frutiger Lt Std"/>
                </a:rPr>
                <a:t>Introduce new concepts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GITHUB</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Version Control</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Peer Review</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Introduce ‘RAP’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Infrastructure as code </a:t>
              </a:r>
            </a:p>
          </p:txBody>
        </p:sp>
        <p:sp>
          <p:nvSpPr>
            <p:cNvPr id="31" name="Oval 30" descr="Flask outline">
              <a:extLst>
                <a:ext uri="{FF2B5EF4-FFF2-40B4-BE49-F238E27FC236}">
                  <a16:creationId xmlns:a16="http://schemas.microsoft.com/office/drawing/2014/main" id="{A67C9B23-0B1E-E017-B13E-97943394CFE0}"/>
                </a:ext>
              </a:extLst>
            </p:cNvPr>
            <p:cNvSpPr/>
            <p:nvPr/>
          </p:nvSpPr>
          <p:spPr>
            <a:xfrm>
              <a:off x="5217500" y="2541769"/>
              <a:ext cx="892738" cy="892738"/>
            </a:xfrm>
            <a:prstGeom prst="ellipse">
              <a:avLst/>
            </a:prstGeom>
            <a:blipFill>
              <a:blip r:embed="rId15">
                <a:extLst>
                  <a:ext uri="{96DAC541-7B7A-43D3-8B79-37D633B846F1}">
                    <asvg:svgBlip xmlns:asvg="http://schemas.microsoft.com/office/drawing/2016/SVG/main" r:embed="rId16"/>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32" name="Group 31">
            <a:extLst>
              <a:ext uri="{FF2B5EF4-FFF2-40B4-BE49-F238E27FC236}">
                <a16:creationId xmlns:a16="http://schemas.microsoft.com/office/drawing/2014/main" id="{AA7B0D95-0795-85BC-65F8-6792DBC99546}"/>
              </a:ext>
            </a:extLst>
          </p:cNvPr>
          <p:cNvGrpSpPr/>
          <p:nvPr/>
        </p:nvGrpSpPr>
        <p:grpSpPr>
          <a:xfrm>
            <a:off x="8295414" y="7831408"/>
            <a:ext cx="1990606" cy="2680897"/>
            <a:chOff x="6718891" y="2380916"/>
            <a:chExt cx="1990606" cy="2680897"/>
          </a:xfrm>
        </p:grpSpPr>
        <p:sp>
          <p:nvSpPr>
            <p:cNvPr id="33" name="Freeform: Shape 32">
              <a:extLst>
                <a:ext uri="{FF2B5EF4-FFF2-40B4-BE49-F238E27FC236}">
                  <a16:creationId xmlns:a16="http://schemas.microsoft.com/office/drawing/2014/main" id="{F182AB82-CD34-4AA0-4AF8-159242FEAF27}"/>
                </a:ext>
              </a:extLst>
            </p:cNvPr>
            <p:cNvSpPr/>
            <p:nvPr/>
          </p:nvSpPr>
          <p:spPr>
            <a:xfrm>
              <a:off x="6718891"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Create a reusable template for the future.</a:t>
              </a:r>
            </a:p>
          </p:txBody>
        </p:sp>
        <p:sp>
          <p:nvSpPr>
            <p:cNvPr id="34" name="Oval 33" descr="Architecture outline">
              <a:extLst>
                <a:ext uri="{FF2B5EF4-FFF2-40B4-BE49-F238E27FC236}">
                  <a16:creationId xmlns:a16="http://schemas.microsoft.com/office/drawing/2014/main" id="{27A330CD-CF12-ACA7-0B63-F74A7A9427E4}"/>
                </a:ext>
              </a:extLst>
            </p:cNvPr>
            <p:cNvSpPr/>
            <p:nvPr/>
          </p:nvSpPr>
          <p:spPr>
            <a:xfrm>
              <a:off x="7267825" y="2541769"/>
              <a:ext cx="892738" cy="892738"/>
            </a:xfrm>
            <a:prstGeom prst="ellipse">
              <a:avLst/>
            </a:prstGeom>
            <a:blipFill>
              <a:blip r:embed="rId17">
                <a:extLst>
                  <a:ext uri="{96DAC541-7B7A-43D3-8B79-37D633B846F1}">
                    <asvg:svgBlip xmlns:asvg="http://schemas.microsoft.com/office/drawing/2016/SVG/main" r:embed="rId18"/>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sp>
        <p:nvSpPr>
          <p:cNvPr id="9" name="Title 1">
            <a:extLst>
              <a:ext uri="{FF2B5EF4-FFF2-40B4-BE49-F238E27FC236}">
                <a16:creationId xmlns:a16="http://schemas.microsoft.com/office/drawing/2014/main" id="{D6A50F34-2255-B0B4-C6A2-CD36502FCA00}"/>
              </a:ext>
            </a:extLst>
          </p:cNvPr>
          <p:cNvSpPr>
            <a:spLocks noGrp="1"/>
          </p:cNvSpPr>
          <p:nvPr>
            <p:ph type="title"/>
          </p:nvPr>
        </p:nvSpPr>
        <p:spPr>
          <a:xfrm>
            <a:off x="1787494" y="954133"/>
            <a:ext cx="7208117" cy="485993"/>
          </a:xfrm>
        </p:spPr>
        <p:txBody>
          <a:bodyPr/>
          <a:lstStyle/>
          <a:p>
            <a:r>
              <a:rPr lang="en-GB" dirty="0"/>
              <a:t>Data Engineering</a:t>
            </a:r>
          </a:p>
        </p:txBody>
      </p:sp>
      <p:grpSp>
        <p:nvGrpSpPr>
          <p:cNvPr id="2" name="Group 1">
            <a:extLst>
              <a:ext uri="{FF2B5EF4-FFF2-40B4-BE49-F238E27FC236}">
                <a16:creationId xmlns:a16="http://schemas.microsoft.com/office/drawing/2014/main" id="{E4720811-CD84-5B39-2D8C-F8D713AE09EA}"/>
              </a:ext>
            </a:extLst>
          </p:cNvPr>
          <p:cNvGrpSpPr/>
          <p:nvPr/>
        </p:nvGrpSpPr>
        <p:grpSpPr>
          <a:xfrm>
            <a:off x="4011778" y="10354299"/>
            <a:ext cx="1990606" cy="2680897"/>
            <a:chOff x="2618242" y="2380916"/>
            <a:chExt cx="1990606" cy="2680897"/>
          </a:xfrm>
        </p:grpSpPr>
        <p:sp>
          <p:nvSpPr>
            <p:cNvPr id="5" name="Freeform: Shape 4">
              <a:extLst>
                <a:ext uri="{FF2B5EF4-FFF2-40B4-BE49-F238E27FC236}">
                  <a16:creationId xmlns:a16="http://schemas.microsoft.com/office/drawing/2014/main" id="{FB8BC190-B02C-960C-DE56-D5AF9473D3F7}"/>
                </a:ext>
              </a:extLst>
            </p:cNvPr>
            <p:cNvSpPr/>
            <p:nvPr/>
          </p:nvSpPr>
          <p:spPr>
            <a:xfrm>
              <a:off x="2618242"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Improve performance and reliability </a:t>
              </a:r>
            </a:p>
            <a:p>
              <a:pPr marL="171450" indent="-171450" algn="ctr" defTabSz="622300">
                <a:lnSpc>
                  <a:spcPct val="90000"/>
                </a:lnSpc>
                <a:spcBef>
                  <a:spcPct val="0"/>
                </a:spcBef>
                <a:spcAft>
                  <a:spcPct val="35000"/>
                </a:spcAft>
                <a:buFont typeface="Arial" panose="020B0604020202020204" pitchFamily="34" charset="0"/>
                <a:buChar char="•"/>
              </a:pPr>
              <a:r>
                <a:rPr lang="en-GB" sz="1100" dirty="0">
                  <a:solidFill>
                    <a:srgbClr val="FFFFFF"/>
                  </a:solidFill>
                  <a:latin typeface="Frutiger Lt Std"/>
                </a:rPr>
                <a:t>Near Real Time</a:t>
              </a:r>
            </a:p>
            <a:p>
              <a:pPr algn="ctr" defTabSz="622300">
                <a:lnSpc>
                  <a:spcPct val="90000"/>
                </a:lnSpc>
                <a:spcBef>
                  <a:spcPct val="0"/>
                </a:spcBef>
                <a:spcAft>
                  <a:spcPct val="35000"/>
                </a:spcAft>
              </a:pPr>
              <a:endParaRPr lang="en-GB" sz="1400" dirty="0">
                <a:solidFill>
                  <a:srgbClr val="FFFFFF"/>
                </a:solidFill>
                <a:latin typeface="Frutiger Lt Std"/>
              </a:endParaRPr>
            </a:p>
          </p:txBody>
        </p:sp>
        <p:sp>
          <p:nvSpPr>
            <p:cNvPr id="6" name="Oval 5" descr="Race Car outline">
              <a:extLst>
                <a:ext uri="{FF2B5EF4-FFF2-40B4-BE49-F238E27FC236}">
                  <a16:creationId xmlns:a16="http://schemas.microsoft.com/office/drawing/2014/main" id="{13FA7303-1AFD-FE89-203F-363F5856BD24}"/>
                </a:ext>
              </a:extLst>
            </p:cNvPr>
            <p:cNvSpPr/>
            <p:nvPr/>
          </p:nvSpPr>
          <p:spPr>
            <a:xfrm>
              <a:off x="3167176" y="2541769"/>
              <a:ext cx="892738" cy="892738"/>
            </a:xfrm>
            <a:prstGeom prst="ellipse">
              <a:avLst/>
            </a:prstGeom>
            <a:blipFill>
              <a:blip r:embed="rId19">
                <a:extLst>
                  <a:ext uri="{96DAC541-7B7A-43D3-8B79-37D633B846F1}">
                    <asvg:svgBlip xmlns:asvg="http://schemas.microsoft.com/office/drawing/2016/SVG/main" r:embed="rId2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sp>
        <p:nvSpPr>
          <p:cNvPr id="10" name="Freeform: Shape 9">
            <a:extLst>
              <a:ext uri="{FF2B5EF4-FFF2-40B4-BE49-F238E27FC236}">
                <a16:creationId xmlns:a16="http://schemas.microsoft.com/office/drawing/2014/main" id="{14ED4371-2752-0420-85E6-494EE4D59640}"/>
              </a:ext>
            </a:extLst>
          </p:cNvPr>
          <p:cNvSpPr/>
          <p:nvPr/>
        </p:nvSpPr>
        <p:spPr>
          <a:xfrm>
            <a:off x="-4330443" y="2544782"/>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Maxims</a:t>
            </a:r>
          </a:p>
        </p:txBody>
      </p:sp>
      <p:sp>
        <p:nvSpPr>
          <p:cNvPr id="12" name="Rectangle: Rounded Corners 11">
            <a:extLst>
              <a:ext uri="{FF2B5EF4-FFF2-40B4-BE49-F238E27FC236}">
                <a16:creationId xmlns:a16="http://schemas.microsoft.com/office/drawing/2014/main" id="{578A288C-FB64-E006-D844-F1041554326D}"/>
              </a:ext>
            </a:extLst>
          </p:cNvPr>
          <p:cNvSpPr/>
          <p:nvPr/>
        </p:nvSpPr>
        <p:spPr>
          <a:xfrm>
            <a:off x="-4278072" y="2569993"/>
            <a:ext cx="660818" cy="418975"/>
          </a:xfrm>
          <a:prstGeom prst="roundRect">
            <a:avLst>
              <a:gd name="adj" fmla="val 10000"/>
            </a:avLst>
          </a:prstGeom>
          <a:blipFill>
            <a:blip r:embed="rId21">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13" name="Freeform: Shape 12">
            <a:extLst>
              <a:ext uri="{FF2B5EF4-FFF2-40B4-BE49-F238E27FC236}">
                <a16:creationId xmlns:a16="http://schemas.microsoft.com/office/drawing/2014/main" id="{38B58939-D814-7401-0EED-1F41F3D2DC26}"/>
              </a:ext>
            </a:extLst>
          </p:cNvPr>
          <p:cNvSpPr/>
          <p:nvPr/>
        </p:nvSpPr>
        <p:spPr>
          <a:xfrm>
            <a:off x="-5510314" y="3156344"/>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TrakCare</a:t>
            </a:r>
          </a:p>
        </p:txBody>
      </p:sp>
      <p:sp>
        <p:nvSpPr>
          <p:cNvPr id="22" name="Rectangle: Rounded Corners 21">
            <a:extLst>
              <a:ext uri="{FF2B5EF4-FFF2-40B4-BE49-F238E27FC236}">
                <a16:creationId xmlns:a16="http://schemas.microsoft.com/office/drawing/2014/main" id="{D337A215-6767-7AFB-80E3-EC43E9730E4E}"/>
              </a:ext>
            </a:extLst>
          </p:cNvPr>
          <p:cNvSpPr/>
          <p:nvPr/>
        </p:nvSpPr>
        <p:spPr>
          <a:xfrm>
            <a:off x="-5457943" y="3208716"/>
            <a:ext cx="660818" cy="418975"/>
          </a:xfrm>
          <a:prstGeom prst="roundRect">
            <a:avLst>
              <a:gd name="adj" fmla="val 10000"/>
            </a:avLst>
          </a:prstGeom>
          <a:blipFill>
            <a:blip r:embed="rId22">
              <a:extLst>
                <a:ext uri="{28A0092B-C50C-407E-A947-70E740481C1C}">
                  <a14:useLocalDpi xmlns:a14="http://schemas.microsoft.com/office/drawing/2010/main" val="0"/>
                </a:ext>
              </a:extLst>
            </a:blip>
            <a:srcRect/>
            <a:stretch>
              <a:fillRect l="-45000" r="-45000"/>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35" name="Freeform: Shape 34">
            <a:extLst>
              <a:ext uri="{FF2B5EF4-FFF2-40B4-BE49-F238E27FC236}">
                <a16:creationId xmlns:a16="http://schemas.microsoft.com/office/drawing/2014/main" id="{EC4DE564-8A76-09AF-65C0-A03C6A43084F}"/>
              </a:ext>
            </a:extLst>
          </p:cNvPr>
          <p:cNvSpPr/>
          <p:nvPr/>
        </p:nvSpPr>
        <p:spPr>
          <a:xfrm>
            <a:off x="-7031716" y="3732435"/>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Oceano</a:t>
            </a:r>
          </a:p>
        </p:txBody>
      </p:sp>
      <p:sp>
        <p:nvSpPr>
          <p:cNvPr id="36" name="Rectangle: Rounded Corners 35">
            <a:extLst>
              <a:ext uri="{FF2B5EF4-FFF2-40B4-BE49-F238E27FC236}">
                <a16:creationId xmlns:a16="http://schemas.microsoft.com/office/drawing/2014/main" id="{4FF83D99-6D0F-99CE-C20F-3F83B10A9176}"/>
              </a:ext>
            </a:extLst>
          </p:cNvPr>
          <p:cNvSpPr/>
          <p:nvPr/>
        </p:nvSpPr>
        <p:spPr>
          <a:xfrm>
            <a:off x="-6979345" y="3784807"/>
            <a:ext cx="660818" cy="418975"/>
          </a:xfrm>
          <a:prstGeom prst="roundRect">
            <a:avLst>
              <a:gd name="adj" fmla="val 10000"/>
            </a:avLst>
          </a:prstGeom>
          <a:blipFill>
            <a:blip r:embed="rId23">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grpSp>
        <p:nvGrpSpPr>
          <p:cNvPr id="27" name="Group 26">
            <a:extLst>
              <a:ext uri="{FF2B5EF4-FFF2-40B4-BE49-F238E27FC236}">
                <a16:creationId xmlns:a16="http://schemas.microsoft.com/office/drawing/2014/main" id="{547F737B-B11E-FEE9-9103-B1B1917650D8}"/>
              </a:ext>
            </a:extLst>
          </p:cNvPr>
          <p:cNvGrpSpPr/>
          <p:nvPr/>
        </p:nvGrpSpPr>
        <p:grpSpPr>
          <a:xfrm>
            <a:off x="12961442" y="2264540"/>
            <a:ext cx="1199779" cy="2726300"/>
            <a:chOff x="1098590" y="2374692"/>
            <a:chExt cx="1199779" cy="2726300"/>
          </a:xfrm>
          <a:effectLst>
            <a:outerShdw blurRad="50800" dist="38100" dir="2700000" algn="tl" rotWithShape="0">
              <a:prstClr val="black">
                <a:alpha val="40000"/>
              </a:prstClr>
            </a:outerShdw>
          </a:effectLst>
        </p:grpSpPr>
        <p:sp>
          <p:nvSpPr>
            <p:cNvPr id="28" name="Freeform: Shape 27">
              <a:extLst>
                <a:ext uri="{FF2B5EF4-FFF2-40B4-BE49-F238E27FC236}">
                  <a16:creationId xmlns:a16="http://schemas.microsoft.com/office/drawing/2014/main" id="{E6B20725-271A-602D-C5D9-6AD38FF5C444}"/>
                </a:ext>
              </a:extLst>
            </p:cNvPr>
            <p:cNvSpPr/>
            <p:nvPr/>
          </p:nvSpPr>
          <p:spPr>
            <a:xfrm>
              <a:off x="1098590"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a:solidFill>
              <a:schemeClr val="bg2">
                <a:lumMod val="75000"/>
              </a:schemeClr>
            </a:solidFill>
            <a:scene3d>
              <a:camera prst="orthographicFront"/>
              <a:lightRig rig="threePt" dir="t"/>
            </a:scene3d>
            <a:sp3d prstMaterial="matte"/>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Tools</a:t>
              </a:r>
            </a:p>
          </p:txBody>
        </p:sp>
        <p:sp>
          <p:nvSpPr>
            <p:cNvPr id="37" name="Oval 36" descr="Mining tools outline">
              <a:extLst>
                <a:ext uri="{FF2B5EF4-FFF2-40B4-BE49-F238E27FC236}">
                  <a16:creationId xmlns:a16="http://schemas.microsoft.com/office/drawing/2014/main" id="{0D32780B-ABBA-F440-D9B7-478941F8B1F3}"/>
                </a:ext>
              </a:extLst>
            </p:cNvPr>
            <p:cNvSpPr/>
            <p:nvPr/>
          </p:nvSpPr>
          <p:spPr>
            <a:xfrm>
              <a:off x="1244550" y="2538269"/>
              <a:ext cx="907857" cy="907857"/>
            </a:xfrm>
            <a:prstGeom prst="ellipse">
              <a:avLst/>
            </a:prstGeom>
            <a:blipFill>
              <a:blip r:embed="rId24">
                <a:extLst>
                  <a:ext uri="{96DAC541-7B7A-43D3-8B79-37D633B846F1}">
                    <asvg:svgBlip xmlns:asvg="http://schemas.microsoft.com/office/drawing/2016/SVG/main" r:embed="rId25"/>
                  </a:ext>
                </a:extLst>
              </a:blip>
              <a:srcRect/>
              <a:stretch>
                <a:fillRect/>
              </a:stretch>
            </a:blipFill>
            <a:scene3d>
              <a:camera prst="orthographicFront"/>
              <a:lightRig rig="threePt" dir="t"/>
            </a:scene3d>
            <a:sp3d prstMaterial="matte"/>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38" name="Group 37">
            <a:extLst>
              <a:ext uri="{FF2B5EF4-FFF2-40B4-BE49-F238E27FC236}">
                <a16:creationId xmlns:a16="http://schemas.microsoft.com/office/drawing/2014/main" id="{93D901A8-C61B-14FB-F330-EBB437D2E692}"/>
              </a:ext>
            </a:extLst>
          </p:cNvPr>
          <p:cNvGrpSpPr/>
          <p:nvPr/>
        </p:nvGrpSpPr>
        <p:grpSpPr>
          <a:xfrm>
            <a:off x="15483071" y="2264540"/>
            <a:ext cx="1199779" cy="2726300"/>
            <a:chOff x="3645654" y="2374692"/>
            <a:chExt cx="1199779" cy="2726300"/>
          </a:xfrm>
          <a:effectLst>
            <a:outerShdw blurRad="50800" dist="38100" dir="2700000" algn="tl" rotWithShape="0">
              <a:prstClr val="black">
                <a:alpha val="40000"/>
              </a:prstClr>
            </a:outerShdw>
          </a:effectLst>
        </p:grpSpPr>
        <p:sp>
          <p:nvSpPr>
            <p:cNvPr id="39" name="Freeform: Shape 38">
              <a:extLst>
                <a:ext uri="{FF2B5EF4-FFF2-40B4-BE49-F238E27FC236}">
                  <a16:creationId xmlns:a16="http://schemas.microsoft.com/office/drawing/2014/main" id="{2A18DB1C-9088-A8FC-5DEA-F86DF37E16FD}"/>
                </a:ext>
              </a:extLst>
            </p:cNvPr>
            <p:cNvSpPr/>
            <p:nvPr/>
          </p:nvSpPr>
          <p:spPr>
            <a:xfrm>
              <a:off x="3645654"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Development Cycle</a:t>
              </a:r>
            </a:p>
          </p:txBody>
        </p:sp>
        <p:sp>
          <p:nvSpPr>
            <p:cNvPr id="40" name="Oval 39" descr="Construction worker male outline">
              <a:extLst>
                <a:ext uri="{FF2B5EF4-FFF2-40B4-BE49-F238E27FC236}">
                  <a16:creationId xmlns:a16="http://schemas.microsoft.com/office/drawing/2014/main" id="{A33483AD-4459-59A9-9310-A841047831ED}"/>
                </a:ext>
              </a:extLst>
            </p:cNvPr>
            <p:cNvSpPr/>
            <p:nvPr/>
          </p:nvSpPr>
          <p:spPr>
            <a:xfrm>
              <a:off x="3791615" y="2538269"/>
              <a:ext cx="907857" cy="907857"/>
            </a:xfrm>
            <a:prstGeom prst="ellipse">
              <a:avLst/>
            </a:prstGeom>
            <a:blipFill>
              <a:blip r:embed="rId26">
                <a:extLst>
                  <a:ext uri="{96DAC541-7B7A-43D3-8B79-37D633B846F1}">
                    <asvg:svgBlip xmlns:asvg="http://schemas.microsoft.com/office/drawing/2016/SVG/main" r:embed="rId27"/>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41" name="Group 40">
            <a:extLst>
              <a:ext uri="{FF2B5EF4-FFF2-40B4-BE49-F238E27FC236}">
                <a16:creationId xmlns:a16="http://schemas.microsoft.com/office/drawing/2014/main" id="{4A190999-9106-BA4E-6AAB-FA4786B7C3CA}"/>
              </a:ext>
            </a:extLst>
          </p:cNvPr>
          <p:cNvGrpSpPr/>
          <p:nvPr/>
        </p:nvGrpSpPr>
        <p:grpSpPr>
          <a:xfrm>
            <a:off x="18387035" y="2264540"/>
            <a:ext cx="1199779" cy="2726300"/>
            <a:chOff x="4881427" y="2374692"/>
            <a:chExt cx="1199779" cy="2726300"/>
          </a:xfrm>
          <a:effectLst>
            <a:outerShdw blurRad="50800" dist="38100" dir="2700000" algn="tl" rotWithShape="0">
              <a:prstClr val="black">
                <a:alpha val="40000"/>
              </a:prstClr>
            </a:outerShdw>
          </a:effectLst>
        </p:grpSpPr>
        <p:sp>
          <p:nvSpPr>
            <p:cNvPr id="42" name="Freeform: Shape 41">
              <a:extLst>
                <a:ext uri="{FF2B5EF4-FFF2-40B4-BE49-F238E27FC236}">
                  <a16:creationId xmlns:a16="http://schemas.microsoft.com/office/drawing/2014/main" id="{7B0628E9-453D-F4BA-7E73-F68316A10C56}"/>
                </a:ext>
              </a:extLst>
            </p:cNvPr>
            <p:cNvSpPr/>
            <p:nvPr/>
          </p:nvSpPr>
          <p:spPr>
            <a:xfrm>
              <a:off x="4881427"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Deployment Process</a:t>
              </a:r>
            </a:p>
          </p:txBody>
        </p:sp>
        <p:sp>
          <p:nvSpPr>
            <p:cNvPr id="43" name="Oval 42" descr="Box outline">
              <a:extLst>
                <a:ext uri="{FF2B5EF4-FFF2-40B4-BE49-F238E27FC236}">
                  <a16:creationId xmlns:a16="http://schemas.microsoft.com/office/drawing/2014/main" id="{DB68DF72-3080-251D-0489-38BEAC9453EF}"/>
                </a:ext>
              </a:extLst>
            </p:cNvPr>
            <p:cNvSpPr/>
            <p:nvPr/>
          </p:nvSpPr>
          <p:spPr>
            <a:xfrm>
              <a:off x="5027388" y="2538269"/>
              <a:ext cx="907857" cy="907857"/>
            </a:xfrm>
            <a:prstGeom prst="ellipse">
              <a:avLst/>
            </a:prstGeom>
            <a:blipFill>
              <a:blip r:embed="rId28">
                <a:extLst>
                  <a:ext uri="{96DAC541-7B7A-43D3-8B79-37D633B846F1}">
                    <asvg:svgBlip xmlns:asvg="http://schemas.microsoft.com/office/drawing/2016/SVG/main" r:embed="rId29"/>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Tree>
    <p:extLst>
      <p:ext uri="{BB962C8B-B14F-4D97-AF65-F5344CB8AC3E}">
        <p14:creationId xmlns:p14="http://schemas.microsoft.com/office/powerpoint/2010/main" val="1128704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a:t>Design Overview</a:t>
            </a:r>
            <a:endParaRPr lang="en-GB" sz="200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1794273" y="1615447"/>
            <a:ext cx="7386381" cy="301057"/>
          </a:xfrm>
        </p:spPr>
        <p:txBody>
          <a:bodyPr/>
          <a:lstStyle/>
          <a:p>
            <a:r>
              <a:rPr lang="en-GB" dirty="0"/>
              <a:t>Warehouse Approach </a:t>
            </a:r>
          </a:p>
        </p:txBody>
      </p:sp>
      <p:grpSp>
        <p:nvGrpSpPr>
          <p:cNvPr id="19" name="Group 18">
            <a:extLst>
              <a:ext uri="{FF2B5EF4-FFF2-40B4-BE49-F238E27FC236}">
                <a16:creationId xmlns:a16="http://schemas.microsoft.com/office/drawing/2014/main" id="{9E8FF183-C92F-92E2-8F93-B30540DF55B2}"/>
              </a:ext>
            </a:extLst>
          </p:cNvPr>
          <p:cNvGrpSpPr/>
          <p:nvPr/>
        </p:nvGrpSpPr>
        <p:grpSpPr>
          <a:xfrm>
            <a:off x="3564884" y="2422317"/>
            <a:ext cx="1199779" cy="2726300"/>
            <a:chOff x="1098590" y="2374692"/>
            <a:chExt cx="1199779" cy="2726300"/>
          </a:xfrm>
          <a:effectLst>
            <a:outerShdw blurRad="50800" dist="38100" dir="2700000" algn="tl" rotWithShape="0">
              <a:prstClr val="black">
                <a:alpha val="40000"/>
              </a:prstClr>
            </a:outerShdw>
          </a:effectLst>
        </p:grpSpPr>
        <p:sp>
          <p:nvSpPr>
            <p:cNvPr id="8" name="Freeform: Shape 7">
              <a:extLst>
                <a:ext uri="{FF2B5EF4-FFF2-40B4-BE49-F238E27FC236}">
                  <a16:creationId xmlns:a16="http://schemas.microsoft.com/office/drawing/2014/main" id="{C8B7E3F2-05EA-1C11-1F02-468A7ADB2ADE}"/>
                </a:ext>
              </a:extLst>
            </p:cNvPr>
            <p:cNvSpPr/>
            <p:nvPr/>
          </p:nvSpPr>
          <p:spPr>
            <a:xfrm>
              <a:off x="1098590"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a:solidFill>
              <a:schemeClr val="bg2">
                <a:lumMod val="75000"/>
              </a:schemeClr>
            </a:solidFill>
            <a:scene3d>
              <a:camera prst="orthographicFront"/>
              <a:lightRig rig="threePt" dir="t"/>
            </a:scene3d>
            <a:sp3d prstMaterial="matte"/>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Tools</a:t>
              </a:r>
            </a:p>
          </p:txBody>
        </p:sp>
        <p:sp>
          <p:nvSpPr>
            <p:cNvPr id="9" name="Oval 8" descr="Mining tools outline">
              <a:extLst>
                <a:ext uri="{FF2B5EF4-FFF2-40B4-BE49-F238E27FC236}">
                  <a16:creationId xmlns:a16="http://schemas.microsoft.com/office/drawing/2014/main" id="{68CAE2F0-DB30-0692-33A6-AF6336355429}"/>
                </a:ext>
              </a:extLst>
            </p:cNvPr>
            <p:cNvSpPr/>
            <p:nvPr/>
          </p:nvSpPr>
          <p:spPr>
            <a:xfrm>
              <a:off x="1244550" y="2538269"/>
              <a:ext cx="907857" cy="907857"/>
            </a:xfrm>
            <a:prstGeom prst="ellipse">
              <a:avLst/>
            </a:prstGeom>
            <a:blipFill>
              <a:blip r:embed="rId4">
                <a:extLst>
                  <a:ext uri="{96DAC541-7B7A-43D3-8B79-37D633B846F1}">
                    <asvg:svgBlip xmlns:asvg="http://schemas.microsoft.com/office/drawing/2016/SVG/main" r:embed="rId5"/>
                  </a:ext>
                </a:extLst>
              </a:blip>
              <a:srcRect/>
              <a:stretch>
                <a:fillRect/>
              </a:stretch>
            </a:blipFill>
            <a:scene3d>
              <a:camera prst="orthographicFront"/>
              <a:lightRig rig="threePt" dir="t"/>
            </a:scene3d>
            <a:sp3d prstMaterial="matte"/>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20" name="Group 19">
            <a:extLst>
              <a:ext uri="{FF2B5EF4-FFF2-40B4-BE49-F238E27FC236}">
                <a16:creationId xmlns:a16="http://schemas.microsoft.com/office/drawing/2014/main" id="{85D7EAD9-2601-ADCE-AEA9-E13808BB04F2}"/>
              </a:ext>
            </a:extLst>
          </p:cNvPr>
          <p:cNvGrpSpPr/>
          <p:nvPr/>
        </p:nvGrpSpPr>
        <p:grpSpPr>
          <a:xfrm>
            <a:off x="5289151" y="2422317"/>
            <a:ext cx="1199779" cy="2726300"/>
            <a:chOff x="3645654" y="2374692"/>
            <a:chExt cx="1199779" cy="2726300"/>
          </a:xfrm>
          <a:effectLst>
            <a:outerShdw blurRad="50800" dist="38100" dir="2700000" algn="tl" rotWithShape="0">
              <a:prstClr val="black">
                <a:alpha val="40000"/>
              </a:prstClr>
            </a:outerShdw>
          </a:effectLst>
        </p:grpSpPr>
        <p:sp>
          <p:nvSpPr>
            <p:cNvPr id="12" name="Freeform: Shape 11">
              <a:extLst>
                <a:ext uri="{FF2B5EF4-FFF2-40B4-BE49-F238E27FC236}">
                  <a16:creationId xmlns:a16="http://schemas.microsoft.com/office/drawing/2014/main" id="{56B43158-680E-6657-4945-F2C9AF7EE2C8}"/>
                </a:ext>
              </a:extLst>
            </p:cNvPr>
            <p:cNvSpPr/>
            <p:nvPr/>
          </p:nvSpPr>
          <p:spPr>
            <a:xfrm>
              <a:off x="3645654"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Development Cycle</a:t>
              </a:r>
            </a:p>
          </p:txBody>
        </p:sp>
        <p:sp>
          <p:nvSpPr>
            <p:cNvPr id="13" name="Oval 12" descr="Construction worker male outline">
              <a:extLst>
                <a:ext uri="{FF2B5EF4-FFF2-40B4-BE49-F238E27FC236}">
                  <a16:creationId xmlns:a16="http://schemas.microsoft.com/office/drawing/2014/main" id="{A994CF77-2F34-CE0A-BE2C-148AE9067ADD}"/>
                </a:ext>
              </a:extLst>
            </p:cNvPr>
            <p:cNvSpPr/>
            <p:nvPr/>
          </p:nvSpPr>
          <p:spPr>
            <a:xfrm>
              <a:off x="3791615" y="2538269"/>
              <a:ext cx="907857" cy="907857"/>
            </a:xfrm>
            <a:prstGeom prst="ellipse">
              <a:avLst/>
            </a:prstGeom>
            <a:blipFill>
              <a:blip r:embed="rId6">
                <a:extLst>
                  <a:ext uri="{96DAC541-7B7A-43D3-8B79-37D633B846F1}">
                    <asvg:svgBlip xmlns:asvg="http://schemas.microsoft.com/office/drawing/2016/SVG/main" r:embed="rId7"/>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21" name="Group 20">
            <a:extLst>
              <a:ext uri="{FF2B5EF4-FFF2-40B4-BE49-F238E27FC236}">
                <a16:creationId xmlns:a16="http://schemas.microsoft.com/office/drawing/2014/main" id="{E70DC903-A32E-1633-DEC9-E709672B12CF}"/>
              </a:ext>
            </a:extLst>
          </p:cNvPr>
          <p:cNvGrpSpPr/>
          <p:nvPr/>
        </p:nvGrpSpPr>
        <p:grpSpPr>
          <a:xfrm>
            <a:off x="6990227" y="2422317"/>
            <a:ext cx="1199779" cy="2726300"/>
            <a:chOff x="4881427" y="2374692"/>
            <a:chExt cx="1199779" cy="2726300"/>
          </a:xfrm>
          <a:effectLst>
            <a:outerShdw blurRad="50800" dist="38100" dir="2700000" algn="tl" rotWithShape="0">
              <a:prstClr val="black">
                <a:alpha val="40000"/>
              </a:prstClr>
            </a:outerShdw>
          </a:effectLst>
        </p:grpSpPr>
        <p:sp>
          <p:nvSpPr>
            <p:cNvPr id="14" name="Freeform: Shape 13">
              <a:extLst>
                <a:ext uri="{FF2B5EF4-FFF2-40B4-BE49-F238E27FC236}">
                  <a16:creationId xmlns:a16="http://schemas.microsoft.com/office/drawing/2014/main" id="{7563D20E-F463-B4B5-9E26-6736D4F340C7}"/>
                </a:ext>
              </a:extLst>
            </p:cNvPr>
            <p:cNvSpPr/>
            <p:nvPr/>
          </p:nvSpPr>
          <p:spPr>
            <a:xfrm>
              <a:off x="4881427"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Deployment Process</a:t>
              </a:r>
            </a:p>
          </p:txBody>
        </p:sp>
        <p:sp>
          <p:nvSpPr>
            <p:cNvPr id="15" name="Oval 14" descr="Box outline">
              <a:extLst>
                <a:ext uri="{FF2B5EF4-FFF2-40B4-BE49-F238E27FC236}">
                  <a16:creationId xmlns:a16="http://schemas.microsoft.com/office/drawing/2014/main" id="{5715B9AE-37FE-30DD-BB74-F5E5AF38BB99}"/>
                </a:ext>
              </a:extLst>
            </p:cNvPr>
            <p:cNvSpPr/>
            <p:nvPr/>
          </p:nvSpPr>
          <p:spPr>
            <a:xfrm>
              <a:off x="5027388" y="2538269"/>
              <a:ext cx="907857" cy="907857"/>
            </a:xfrm>
            <a:prstGeom prst="ellipse">
              <a:avLst/>
            </a:prstGeom>
            <a:blipFill>
              <a:blip r:embed="rId8">
                <a:extLst>
                  <a:ext uri="{96DAC541-7B7A-43D3-8B79-37D633B846F1}">
                    <asvg:svgBlip xmlns:asvg="http://schemas.microsoft.com/office/drawing/2016/SVG/main" r:embed="rId9"/>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
        <p:nvSpPr>
          <p:cNvPr id="2" name="Freeform: Shape 1">
            <a:extLst>
              <a:ext uri="{FF2B5EF4-FFF2-40B4-BE49-F238E27FC236}">
                <a16:creationId xmlns:a16="http://schemas.microsoft.com/office/drawing/2014/main" id="{A756EEB4-1FBA-4F1D-C7A7-A63585FD59EA}"/>
              </a:ext>
            </a:extLst>
          </p:cNvPr>
          <p:cNvSpPr/>
          <p:nvPr/>
        </p:nvSpPr>
        <p:spPr>
          <a:xfrm>
            <a:off x="-11941383" y="6401468"/>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Focus on ED Data</a:t>
            </a:r>
          </a:p>
        </p:txBody>
      </p:sp>
      <p:sp>
        <p:nvSpPr>
          <p:cNvPr id="3" name="Oval 2" descr="First aid kit outline">
            <a:extLst>
              <a:ext uri="{FF2B5EF4-FFF2-40B4-BE49-F238E27FC236}">
                <a16:creationId xmlns:a16="http://schemas.microsoft.com/office/drawing/2014/main" id="{FBA1DF9C-8510-51C4-4BF6-4020562B3801}"/>
              </a:ext>
            </a:extLst>
          </p:cNvPr>
          <p:cNvSpPr/>
          <p:nvPr/>
        </p:nvSpPr>
        <p:spPr>
          <a:xfrm>
            <a:off x="-11361206" y="6524993"/>
            <a:ext cx="685559" cy="685559"/>
          </a:xfrm>
          <a:prstGeom prst="ellipse">
            <a:avLst/>
          </a:prstGeom>
          <a:blipFill>
            <a:blip r:embed="rId10">
              <a:extLst>
                <a:ext uri="{96DAC541-7B7A-43D3-8B79-37D633B846F1}">
                  <asvg:svgBlip xmlns:asvg="http://schemas.microsoft.com/office/drawing/2016/SVG/main" r:embed="rId11"/>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10" name="Freeform: Shape 9">
            <a:extLst>
              <a:ext uri="{FF2B5EF4-FFF2-40B4-BE49-F238E27FC236}">
                <a16:creationId xmlns:a16="http://schemas.microsoft.com/office/drawing/2014/main" id="{AB392E0E-8DF6-D856-9DA3-532F4428D163}"/>
              </a:ext>
            </a:extLst>
          </p:cNvPr>
          <p:cNvSpPr/>
          <p:nvPr/>
        </p:nvSpPr>
        <p:spPr>
          <a:xfrm>
            <a:off x="-9154971" y="5426436"/>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a:solidFill>
                  <a:srgbClr val="FFFFFF"/>
                </a:solidFill>
                <a:latin typeface="Frutiger Lt Std"/>
              </a:rPr>
              <a:t>Automate National returns and other requests to save time</a:t>
            </a:r>
          </a:p>
        </p:txBody>
      </p:sp>
      <p:sp>
        <p:nvSpPr>
          <p:cNvPr id="11" name="Oval 10" descr="Open envelope outline">
            <a:extLst>
              <a:ext uri="{FF2B5EF4-FFF2-40B4-BE49-F238E27FC236}">
                <a16:creationId xmlns:a16="http://schemas.microsoft.com/office/drawing/2014/main" id="{998D119D-D7BD-C9F9-EBC6-08054624B09D}"/>
              </a:ext>
            </a:extLst>
          </p:cNvPr>
          <p:cNvSpPr/>
          <p:nvPr/>
        </p:nvSpPr>
        <p:spPr>
          <a:xfrm>
            <a:off x="-8536956" y="5549961"/>
            <a:ext cx="685559" cy="685559"/>
          </a:xfrm>
          <a:prstGeom prst="ellipse">
            <a:avLst/>
          </a:prstGeom>
          <a:blipFill>
            <a:blip r:embed="rId12">
              <a:extLst>
                <a:ext uri="{96DAC541-7B7A-43D3-8B79-37D633B846F1}">
                  <asvg:svgBlip xmlns:asvg="http://schemas.microsoft.com/office/drawing/2016/SVG/main" r:embed="rId13"/>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16" name="Freeform: Shape 15">
            <a:extLst>
              <a:ext uri="{FF2B5EF4-FFF2-40B4-BE49-F238E27FC236}">
                <a16:creationId xmlns:a16="http://schemas.microsoft.com/office/drawing/2014/main" id="{E9A205FD-3A2D-538C-7BE5-0C7E2B4F9951}"/>
              </a:ext>
            </a:extLst>
          </p:cNvPr>
          <p:cNvSpPr/>
          <p:nvPr/>
        </p:nvSpPr>
        <p:spPr>
          <a:xfrm>
            <a:off x="-6396411" y="4740877"/>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Deliver data in a clear and transparent warehouse</a:t>
            </a:r>
          </a:p>
        </p:txBody>
      </p:sp>
      <p:sp>
        <p:nvSpPr>
          <p:cNvPr id="17" name="Oval 16" descr="Research outline">
            <a:extLst>
              <a:ext uri="{FF2B5EF4-FFF2-40B4-BE49-F238E27FC236}">
                <a16:creationId xmlns:a16="http://schemas.microsoft.com/office/drawing/2014/main" id="{0B4962F6-228A-67C4-F02D-EDD68A52B907}"/>
              </a:ext>
            </a:extLst>
          </p:cNvPr>
          <p:cNvSpPr/>
          <p:nvPr/>
        </p:nvSpPr>
        <p:spPr>
          <a:xfrm>
            <a:off x="-5816233" y="4864402"/>
            <a:ext cx="685559" cy="685559"/>
          </a:xfrm>
          <a:prstGeom prst="ellipse">
            <a:avLst/>
          </a:prstGeom>
          <a:blipFill>
            <a:blip r:embed="rId14">
              <a:extLst>
                <a:ext uri="{96DAC541-7B7A-43D3-8B79-37D633B846F1}">
                  <asvg:svgBlip xmlns:asvg="http://schemas.microsoft.com/office/drawing/2016/SVG/main" r:embed="rId15"/>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18" name="Freeform: Shape 17">
            <a:extLst>
              <a:ext uri="{FF2B5EF4-FFF2-40B4-BE49-F238E27FC236}">
                <a16:creationId xmlns:a16="http://schemas.microsoft.com/office/drawing/2014/main" id="{8DB77C47-8E51-89E3-1FC1-FBE822252B87}"/>
              </a:ext>
            </a:extLst>
          </p:cNvPr>
          <p:cNvSpPr/>
          <p:nvPr/>
        </p:nvSpPr>
        <p:spPr>
          <a:xfrm>
            <a:off x="-3765993" y="4278202"/>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Test new platforms and processes</a:t>
            </a:r>
          </a:p>
        </p:txBody>
      </p:sp>
      <p:sp>
        <p:nvSpPr>
          <p:cNvPr id="22" name="Oval 21" descr="Clipboard Mixed outline">
            <a:extLst>
              <a:ext uri="{FF2B5EF4-FFF2-40B4-BE49-F238E27FC236}">
                <a16:creationId xmlns:a16="http://schemas.microsoft.com/office/drawing/2014/main" id="{DC8F5275-C776-0C66-E19B-CC7DFFD9CACD}"/>
              </a:ext>
            </a:extLst>
          </p:cNvPr>
          <p:cNvSpPr/>
          <p:nvPr/>
        </p:nvSpPr>
        <p:spPr>
          <a:xfrm>
            <a:off x="-3185816" y="4401727"/>
            <a:ext cx="685559" cy="685559"/>
          </a:xfrm>
          <a:prstGeom prst="ellipse">
            <a:avLst/>
          </a:prstGeom>
          <a:blipFill>
            <a:blip r:embed="rId16">
              <a:extLst>
                <a:ext uri="{96DAC541-7B7A-43D3-8B79-37D633B846F1}">
                  <asvg:svgBlip xmlns:asvg="http://schemas.microsoft.com/office/drawing/2016/SVG/main" r:embed="rId17"/>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Tree>
    <p:extLst>
      <p:ext uri="{BB962C8B-B14F-4D97-AF65-F5344CB8AC3E}">
        <p14:creationId xmlns:p14="http://schemas.microsoft.com/office/powerpoint/2010/main" val="1699705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a:t>Design Overview</a:t>
            </a:r>
            <a:endParaRPr lang="en-GB" sz="200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1794273" y="1615447"/>
            <a:ext cx="7386381" cy="301057"/>
          </a:xfrm>
        </p:spPr>
        <p:txBody>
          <a:bodyPr/>
          <a:lstStyle/>
          <a:p>
            <a:r>
              <a:rPr lang="en-GB"/>
              <a:t>Warehouse Toolset</a:t>
            </a:r>
          </a:p>
        </p:txBody>
      </p:sp>
      <p:grpSp>
        <p:nvGrpSpPr>
          <p:cNvPr id="3" name="Group 2">
            <a:extLst>
              <a:ext uri="{FF2B5EF4-FFF2-40B4-BE49-F238E27FC236}">
                <a16:creationId xmlns:a16="http://schemas.microsoft.com/office/drawing/2014/main" id="{BAAC5DE2-4CD3-2F3E-71CF-C1EE25E96563}"/>
              </a:ext>
            </a:extLst>
          </p:cNvPr>
          <p:cNvGrpSpPr/>
          <p:nvPr/>
        </p:nvGrpSpPr>
        <p:grpSpPr>
          <a:xfrm>
            <a:off x="2698109" y="2374692"/>
            <a:ext cx="1199779" cy="2726300"/>
            <a:chOff x="1098590" y="2374692"/>
            <a:chExt cx="1199779" cy="2726300"/>
          </a:xfrm>
          <a:effectLst>
            <a:outerShdw blurRad="50800" dist="38100" dir="2700000" algn="tl" rotWithShape="0">
              <a:prstClr val="black">
                <a:alpha val="40000"/>
              </a:prstClr>
            </a:outerShdw>
          </a:effectLst>
        </p:grpSpPr>
        <p:sp>
          <p:nvSpPr>
            <p:cNvPr id="18" name="Freeform: Shape 17">
              <a:extLst>
                <a:ext uri="{FF2B5EF4-FFF2-40B4-BE49-F238E27FC236}">
                  <a16:creationId xmlns:a16="http://schemas.microsoft.com/office/drawing/2014/main" id="{C28BC5F6-8B99-F113-0428-0A3B06CC84DE}"/>
                </a:ext>
              </a:extLst>
            </p:cNvPr>
            <p:cNvSpPr/>
            <p:nvPr/>
          </p:nvSpPr>
          <p:spPr>
            <a:xfrm>
              <a:off x="1098590"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Tools</a:t>
              </a:r>
            </a:p>
          </p:txBody>
        </p:sp>
        <p:sp>
          <p:nvSpPr>
            <p:cNvPr id="24" name="Oval 23" descr="Mining tools outline">
              <a:extLst>
                <a:ext uri="{FF2B5EF4-FFF2-40B4-BE49-F238E27FC236}">
                  <a16:creationId xmlns:a16="http://schemas.microsoft.com/office/drawing/2014/main" id="{E2651BA2-01B2-772A-6089-9C35345223E4}"/>
                </a:ext>
              </a:extLst>
            </p:cNvPr>
            <p:cNvSpPr/>
            <p:nvPr/>
          </p:nvSpPr>
          <p:spPr>
            <a:xfrm>
              <a:off x="1244550" y="2538269"/>
              <a:ext cx="907857" cy="907857"/>
            </a:xfrm>
            <a:prstGeom prst="ellipse">
              <a:avLst/>
            </a:prstGeom>
            <a:blipFill>
              <a:blip r:embed="rId4">
                <a:extLst>
                  <a:ext uri="{96DAC541-7B7A-43D3-8B79-37D633B846F1}">
                    <asvg:svgBlip xmlns:asvg="http://schemas.microsoft.com/office/drawing/2016/SVG/main" r:embed="rId5"/>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pic>
        <p:nvPicPr>
          <p:cNvPr id="26" name="Picture 25" descr="Work tools and supplies">
            <a:extLst>
              <a:ext uri="{FF2B5EF4-FFF2-40B4-BE49-F238E27FC236}">
                <a16:creationId xmlns:a16="http://schemas.microsoft.com/office/drawing/2014/main" id="{2B153A3E-A076-178F-8889-FB677C107F7A}"/>
              </a:ext>
            </a:extLst>
          </p:cNvPr>
          <p:cNvPicPr>
            <a:picLocks noChangeAspect="1"/>
          </p:cNvPicPr>
          <p:nvPr/>
        </p:nvPicPr>
        <p:blipFill>
          <a:blip r:embed="rId6" cstate="print">
            <a:alphaModFix amt="60000"/>
            <a:extLst>
              <a:ext uri="{28A0092B-C50C-407E-A947-70E740481C1C}">
                <a14:useLocalDpi xmlns:a14="http://schemas.microsoft.com/office/drawing/2010/main" val="0"/>
              </a:ext>
            </a:extLst>
          </a:blip>
          <a:stretch>
            <a:fillRect/>
          </a:stretch>
        </p:blipFill>
        <p:spPr>
          <a:xfrm>
            <a:off x="4467259" y="2374693"/>
            <a:ext cx="4089452" cy="2726301"/>
          </a:xfrm>
          <a:prstGeom prst="rect">
            <a:avLst/>
          </a:prstGeom>
        </p:spPr>
      </p:pic>
      <p:grpSp>
        <p:nvGrpSpPr>
          <p:cNvPr id="27" name="Group 26">
            <a:extLst>
              <a:ext uri="{FF2B5EF4-FFF2-40B4-BE49-F238E27FC236}">
                <a16:creationId xmlns:a16="http://schemas.microsoft.com/office/drawing/2014/main" id="{76EBD381-F170-B806-7CF5-AB55D7853BB9}"/>
              </a:ext>
            </a:extLst>
          </p:cNvPr>
          <p:cNvGrpSpPr/>
          <p:nvPr/>
        </p:nvGrpSpPr>
        <p:grpSpPr>
          <a:xfrm>
            <a:off x="4060651" y="8998416"/>
            <a:ext cx="1199779" cy="2726300"/>
            <a:chOff x="2399265" y="2374692"/>
            <a:chExt cx="1199779" cy="2726300"/>
          </a:xfrm>
        </p:grpSpPr>
        <p:sp>
          <p:nvSpPr>
            <p:cNvPr id="28" name="Freeform: Shape 27">
              <a:extLst>
                <a:ext uri="{FF2B5EF4-FFF2-40B4-BE49-F238E27FC236}">
                  <a16:creationId xmlns:a16="http://schemas.microsoft.com/office/drawing/2014/main" id="{4D26B977-0A6B-6596-C779-810735A5D6A3}"/>
                </a:ext>
              </a:extLst>
            </p:cNvPr>
            <p:cNvSpPr/>
            <p:nvPr/>
          </p:nvSpPr>
          <p:spPr>
            <a:xfrm>
              <a:off x="2399265"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Configuration</a:t>
              </a:r>
            </a:p>
          </p:txBody>
        </p:sp>
        <p:sp>
          <p:nvSpPr>
            <p:cNvPr id="29" name="Oval 28" descr="Architecture outline">
              <a:extLst>
                <a:ext uri="{FF2B5EF4-FFF2-40B4-BE49-F238E27FC236}">
                  <a16:creationId xmlns:a16="http://schemas.microsoft.com/office/drawing/2014/main" id="{A3930D1F-A643-ABA3-BB9C-BEDB95453547}"/>
                </a:ext>
              </a:extLst>
            </p:cNvPr>
            <p:cNvSpPr/>
            <p:nvPr/>
          </p:nvSpPr>
          <p:spPr>
            <a:xfrm>
              <a:off x="2555841" y="2538269"/>
              <a:ext cx="907857" cy="907857"/>
            </a:xfrm>
            <a:prstGeom prst="ellipse">
              <a:avLst/>
            </a:prstGeom>
            <a:blipFill>
              <a:blip r:embed="rId7">
                <a:extLst>
                  <a:ext uri="{96DAC541-7B7A-43D3-8B79-37D633B846F1}">
                    <asvg:svgBlip xmlns:asvg="http://schemas.microsoft.com/office/drawing/2016/SVG/main" r:embed="rId8"/>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30" name="Group 29">
            <a:extLst>
              <a:ext uri="{FF2B5EF4-FFF2-40B4-BE49-F238E27FC236}">
                <a16:creationId xmlns:a16="http://schemas.microsoft.com/office/drawing/2014/main" id="{A7C936DE-2598-CDC5-7BF7-7BD6748DA3EC}"/>
              </a:ext>
            </a:extLst>
          </p:cNvPr>
          <p:cNvGrpSpPr/>
          <p:nvPr/>
        </p:nvGrpSpPr>
        <p:grpSpPr>
          <a:xfrm>
            <a:off x="5297054" y="8428753"/>
            <a:ext cx="1199779" cy="2726300"/>
            <a:chOff x="3645654" y="2374692"/>
            <a:chExt cx="1199779" cy="2726300"/>
          </a:xfrm>
        </p:grpSpPr>
        <p:sp>
          <p:nvSpPr>
            <p:cNvPr id="31" name="Freeform: Shape 30">
              <a:extLst>
                <a:ext uri="{FF2B5EF4-FFF2-40B4-BE49-F238E27FC236}">
                  <a16:creationId xmlns:a16="http://schemas.microsoft.com/office/drawing/2014/main" id="{715795F8-BFF2-CB7D-A9DA-F6AEC3A65467}"/>
                </a:ext>
              </a:extLst>
            </p:cNvPr>
            <p:cNvSpPr/>
            <p:nvPr/>
          </p:nvSpPr>
          <p:spPr>
            <a:xfrm>
              <a:off x="3645654"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Development Cycle</a:t>
              </a:r>
            </a:p>
          </p:txBody>
        </p:sp>
        <p:sp>
          <p:nvSpPr>
            <p:cNvPr id="32" name="Oval 31" descr="Construction worker male outline">
              <a:extLst>
                <a:ext uri="{FF2B5EF4-FFF2-40B4-BE49-F238E27FC236}">
                  <a16:creationId xmlns:a16="http://schemas.microsoft.com/office/drawing/2014/main" id="{2209BFB2-DF6C-A178-CCE9-3FCE09191E77}"/>
                </a:ext>
              </a:extLst>
            </p:cNvPr>
            <p:cNvSpPr/>
            <p:nvPr/>
          </p:nvSpPr>
          <p:spPr>
            <a:xfrm>
              <a:off x="3791615" y="2538269"/>
              <a:ext cx="907857" cy="907857"/>
            </a:xfrm>
            <a:prstGeom prst="ellipse">
              <a:avLst/>
            </a:prstGeom>
            <a:blipFill>
              <a:blip r:embed="rId9">
                <a:extLst>
                  <a:ext uri="{96DAC541-7B7A-43D3-8B79-37D633B846F1}">
                    <asvg:svgBlip xmlns:asvg="http://schemas.microsoft.com/office/drawing/2016/SVG/main" r:embed="rId1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33" name="Group 32">
            <a:extLst>
              <a:ext uri="{FF2B5EF4-FFF2-40B4-BE49-F238E27FC236}">
                <a16:creationId xmlns:a16="http://schemas.microsoft.com/office/drawing/2014/main" id="{F57450D4-A972-4FA5-6EDC-A98F1D99E23C}"/>
              </a:ext>
            </a:extLst>
          </p:cNvPr>
          <p:cNvGrpSpPr/>
          <p:nvPr/>
        </p:nvGrpSpPr>
        <p:grpSpPr>
          <a:xfrm>
            <a:off x="6533457" y="7635266"/>
            <a:ext cx="1199779" cy="2726300"/>
            <a:chOff x="4881426" y="2828621"/>
            <a:chExt cx="1199779" cy="2726300"/>
          </a:xfrm>
        </p:grpSpPr>
        <p:sp>
          <p:nvSpPr>
            <p:cNvPr id="34" name="Freeform: Shape 33">
              <a:extLst>
                <a:ext uri="{FF2B5EF4-FFF2-40B4-BE49-F238E27FC236}">
                  <a16:creationId xmlns:a16="http://schemas.microsoft.com/office/drawing/2014/main" id="{E1B51C9C-9387-2AB4-DB91-FE5287D49356}"/>
                </a:ext>
              </a:extLst>
            </p:cNvPr>
            <p:cNvSpPr/>
            <p:nvPr/>
          </p:nvSpPr>
          <p:spPr>
            <a:xfrm>
              <a:off x="4881426" y="2828621"/>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Deployment Process</a:t>
              </a:r>
            </a:p>
          </p:txBody>
        </p:sp>
        <p:sp>
          <p:nvSpPr>
            <p:cNvPr id="35" name="Oval 34" descr="Box outline">
              <a:extLst>
                <a:ext uri="{FF2B5EF4-FFF2-40B4-BE49-F238E27FC236}">
                  <a16:creationId xmlns:a16="http://schemas.microsoft.com/office/drawing/2014/main" id="{5C2553D2-93D1-0CF0-EC8D-4531667D5AA6}"/>
                </a:ext>
              </a:extLst>
            </p:cNvPr>
            <p:cNvSpPr/>
            <p:nvPr/>
          </p:nvSpPr>
          <p:spPr>
            <a:xfrm>
              <a:off x="5069403" y="3062449"/>
              <a:ext cx="907857" cy="907857"/>
            </a:xfrm>
            <a:prstGeom prst="ellipse">
              <a:avLst/>
            </a:prstGeom>
            <a:blipFill>
              <a:blip r:embed="rId11">
                <a:extLst>
                  <a:ext uri="{96DAC541-7B7A-43D3-8B79-37D633B846F1}">
                    <asvg:svgBlip xmlns:asvg="http://schemas.microsoft.com/office/drawing/2016/SVG/main" r:embed="rId12"/>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36" name="Group 35">
            <a:extLst>
              <a:ext uri="{FF2B5EF4-FFF2-40B4-BE49-F238E27FC236}">
                <a16:creationId xmlns:a16="http://schemas.microsoft.com/office/drawing/2014/main" id="{7908403D-3983-9D3B-5536-AA1726A93B42}"/>
              </a:ext>
            </a:extLst>
          </p:cNvPr>
          <p:cNvGrpSpPr/>
          <p:nvPr/>
        </p:nvGrpSpPr>
        <p:grpSpPr>
          <a:xfrm>
            <a:off x="7817268" y="7209609"/>
            <a:ext cx="1199779" cy="2726300"/>
            <a:chOff x="6117200" y="2374692"/>
            <a:chExt cx="1199779" cy="2726300"/>
          </a:xfrm>
        </p:grpSpPr>
        <p:sp>
          <p:nvSpPr>
            <p:cNvPr id="37" name="Freeform: Shape 36">
              <a:extLst>
                <a:ext uri="{FF2B5EF4-FFF2-40B4-BE49-F238E27FC236}">
                  <a16:creationId xmlns:a16="http://schemas.microsoft.com/office/drawing/2014/main" id="{5032628A-7CA6-6690-2395-8BBC63BCBC98}"/>
                </a:ext>
              </a:extLst>
            </p:cNvPr>
            <p:cNvSpPr/>
            <p:nvPr/>
          </p:nvSpPr>
          <p:spPr>
            <a:xfrm>
              <a:off x="6117200"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Learning Material</a:t>
              </a:r>
            </a:p>
          </p:txBody>
        </p:sp>
        <p:sp>
          <p:nvSpPr>
            <p:cNvPr id="38" name="Oval 37" descr="Classroom">
              <a:extLst>
                <a:ext uri="{FF2B5EF4-FFF2-40B4-BE49-F238E27FC236}">
                  <a16:creationId xmlns:a16="http://schemas.microsoft.com/office/drawing/2014/main" id="{7D408E87-E905-E7E8-AA55-F94819BADC72}"/>
                </a:ext>
              </a:extLst>
            </p:cNvPr>
            <p:cNvSpPr/>
            <p:nvPr/>
          </p:nvSpPr>
          <p:spPr>
            <a:xfrm>
              <a:off x="6263161" y="2538269"/>
              <a:ext cx="907857" cy="907857"/>
            </a:xfrm>
            <a:prstGeom prst="ellipse">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39" name="Group 38">
            <a:extLst>
              <a:ext uri="{FF2B5EF4-FFF2-40B4-BE49-F238E27FC236}">
                <a16:creationId xmlns:a16="http://schemas.microsoft.com/office/drawing/2014/main" id="{8573E0B1-3309-5BB7-C2F3-447F4D54F0E7}"/>
              </a:ext>
            </a:extLst>
          </p:cNvPr>
          <p:cNvGrpSpPr/>
          <p:nvPr/>
        </p:nvGrpSpPr>
        <p:grpSpPr>
          <a:xfrm>
            <a:off x="3001313" y="-3091918"/>
            <a:ext cx="1501224" cy="2585323"/>
            <a:chOff x="1175540" y="2374692"/>
            <a:chExt cx="1501224" cy="2585323"/>
          </a:xfrm>
        </p:grpSpPr>
        <p:sp>
          <p:nvSpPr>
            <p:cNvPr id="40" name="Freeform: Shape 39">
              <a:extLst>
                <a:ext uri="{FF2B5EF4-FFF2-40B4-BE49-F238E27FC236}">
                  <a16:creationId xmlns:a16="http://schemas.microsoft.com/office/drawing/2014/main" id="{C7547438-E613-73B7-5020-C250E76FEBB2}"/>
                </a:ext>
              </a:extLst>
            </p:cNvPr>
            <p:cNvSpPr/>
            <p:nvPr/>
          </p:nvSpPr>
          <p:spPr>
            <a:xfrm>
              <a:off x="1175540"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GIT </a:t>
              </a:r>
            </a:p>
          </p:txBody>
        </p:sp>
        <p:sp>
          <p:nvSpPr>
            <p:cNvPr id="41" name="Oval 40">
              <a:extLst>
                <a:ext uri="{FF2B5EF4-FFF2-40B4-BE49-F238E27FC236}">
                  <a16:creationId xmlns:a16="http://schemas.microsoft.com/office/drawing/2014/main" id="{528B7B1D-11DE-B199-0F20-CE1CD37C175B}"/>
                </a:ext>
              </a:extLst>
            </p:cNvPr>
            <p:cNvSpPr/>
            <p:nvPr/>
          </p:nvSpPr>
          <p:spPr>
            <a:xfrm>
              <a:off x="1495696" y="2529811"/>
              <a:ext cx="860912" cy="860912"/>
            </a:xfrm>
            <a:prstGeom prst="ellipse">
              <a:avLst/>
            </a:prstGeom>
            <a:blipFill>
              <a:blip r:embed="rId15" cstate="print">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42" name="Group 41">
            <a:extLst>
              <a:ext uri="{FF2B5EF4-FFF2-40B4-BE49-F238E27FC236}">
                <a16:creationId xmlns:a16="http://schemas.microsoft.com/office/drawing/2014/main" id="{1716FA60-C045-A54E-E3C9-440C4222B5E7}"/>
              </a:ext>
            </a:extLst>
          </p:cNvPr>
          <p:cNvGrpSpPr/>
          <p:nvPr/>
        </p:nvGrpSpPr>
        <p:grpSpPr>
          <a:xfrm>
            <a:off x="4546441" y="-4211250"/>
            <a:ext cx="1501224" cy="2585323"/>
            <a:chOff x="2721801" y="2374692"/>
            <a:chExt cx="1501224" cy="2585323"/>
          </a:xfrm>
        </p:grpSpPr>
        <p:sp>
          <p:nvSpPr>
            <p:cNvPr id="43" name="Freeform: Shape 42">
              <a:extLst>
                <a:ext uri="{FF2B5EF4-FFF2-40B4-BE49-F238E27FC236}">
                  <a16:creationId xmlns:a16="http://schemas.microsoft.com/office/drawing/2014/main" id="{B123708D-A484-95FF-514D-17175A330936}"/>
                </a:ext>
              </a:extLst>
            </p:cNvPr>
            <p:cNvSpPr/>
            <p:nvPr/>
          </p:nvSpPr>
          <p:spPr>
            <a:xfrm>
              <a:off x="2721801"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GITHUB</a:t>
              </a:r>
            </a:p>
          </p:txBody>
        </p:sp>
        <p:sp>
          <p:nvSpPr>
            <p:cNvPr id="44" name="Oval 43">
              <a:extLst>
                <a:ext uri="{FF2B5EF4-FFF2-40B4-BE49-F238E27FC236}">
                  <a16:creationId xmlns:a16="http://schemas.microsoft.com/office/drawing/2014/main" id="{E8C20D0A-3B99-36CA-0E5F-8197458AD60D}"/>
                </a:ext>
              </a:extLst>
            </p:cNvPr>
            <p:cNvSpPr/>
            <p:nvPr/>
          </p:nvSpPr>
          <p:spPr>
            <a:xfrm>
              <a:off x="3041957" y="2529811"/>
              <a:ext cx="860912" cy="860912"/>
            </a:xfrm>
            <a:prstGeom prst="ellipse">
              <a:avLst/>
            </a:prstGeom>
            <a:blipFill>
              <a:blip r:embed="rId16" cstate="print">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48" name="Group 47">
            <a:extLst>
              <a:ext uri="{FF2B5EF4-FFF2-40B4-BE49-F238E27FC236}">
                <a16:creationId xmlns:a16="http://schemas.microsoft.com/office/drawing/2014/main" id="{D9D6BA72-5DC1-D254-29B5-5B790B562910}"/>
              </a:ext>
            </a:extLst>
          </p:cNvPr>
          <p:cNvGrpSpPr/>
          <p:nvPr/>
        </p:nvGrpSpPr>
        <p:grpSpPr>
          <a:xfrm>
            <a:off x="7567728" y="-5864919"/>
            <a:ext cx="1501224" cy="2585323"/>
            <a:chOff x="5814323" y="2374692"/>
            <a:chExt cx="1501224" cy="2585323"/>
          </a:xfrm>
        </p:grpSpPr>
        <p:sp>
          <p:nvSpPr>
            <p:cNvPr id="49" name="Freeform: Shape 48">
              <a:extLst>
                <a:ext uri="{FF2B5EF4-FFF2-40B4-BE49-F238E27FC236}">
                  <a16:creationId xmlns:a16="http://schemas.microsoft.com/office/drawing/2014/main" id="{AB15811E-A65B-D2B8-15B1-6FCB372B29F4}"/>
                </a:ext>
              </a:extLst>
            </p:cNvPr>
            <p:cNvSpPr/>
            <p:nvPr/>
          </p:nvSpPr>
          <p:spPr>
            <a:xfrm>
              <a:off x="5814323"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Draw.io</a:t>
              </a:r>
            </a:p>
          </p:txBody>
        </p:sp>
        <p:sp>
          <p:nvSpPr>
            <p:cNvPr id="50" name="Oval 49">
              <a:extLst>
                <a:ext uri="{FF2B5EF4-FFF2-40B4-BE49-F238E27FC236}">
                  <a16:creationId xmlns:a16="http://schemas.microsoft.com/office/drawing/2014/main" id="{F401291E-C5C2-6252-9420-3E9500E63AF3}"/>
                </a:ext>
              </a:extLst>
            </p:cNvPr>
            <p:cNvSpPr/>
            <p:nvPr/>
          </p:nvSpPr>
          <p:spPr>
            <a:xfrm>
              <a:off x="6134479" y="2529811"/>
              <a:ext cx="860912" cy="860912"/>
            </a:xfrm>
            <a:prstGeom prst="ellipse">
              <a:avLst/>
            </a:prstGeom>
            <a:blipFill>
              <a:blip r:embed="rId17">
                <a:extLst>
                  <a:ext uri="{96DAC541-7B7A-43D3-8B79-37D633B846F1}">
                    <asvg:svgBlip xmlns:asvg="http://schemas.microsoft.com/office/drawing/2016/SVG/main" r:embed="rId18"/>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2" name="Group 1">
            <a:extLst>
              <a:ext uri="{FF2B5EF4-FFF2-40B4-BE49-F238E27FC236}">
                <a16:creationId xmlns:a16="http://schemas.microsoft.com/office/drawing/2014/main" id="{A13E0423-376A-409D-4234-EA9236F8F95C}"/>
              </a:ext>
            </a:extLst>
          </p:cNvPr>
          <p:cNvGrpSpPr/>
          <p:nvPr/>
        </p:nvGrpSpPr>
        <p:grpSpPr>
          <a:xfrm>
            <a:off x="6156721" y="-4523282"/>
            <a:ext cx="1354868" cy="2575686"/>
            <a:chOff x="-578192" y="2304203"/>
            <a:chExt cx="1501223" cy="2726300"/>
          </a:xfrm>
        </p:grpSpPr>
        <p:sp>
          <p:nvSpPr>
            <p:cNvPr id="8" name="Freeform: Shape 7">
              <a:extLst>
                <a:ext uri="{FF2B5EF4-FFF2-40B4-BE49-F238E27FC236}">
                  <a16:creationId xmlns:a16="http://schemas.microsoft.com/office/drawing/2014/main" id="{83FA6446-BA66-2733-F020-EF93222FA550}"/>
                </a:ext>
              </a:extLst>
            </p:cNvPr>
            <p:cNvSpPr/>
            <p:nvPr/>
          </p:nvSpPr>
          <p:spPr>
            <a:xfrm>
              <a:off x="-578192" y="2304203"/>
              <a:ext cx="1501223" cy="2726300"/>
            </a:xfrm>
            <a:custGeom>
              <a:avLst/>
              <a:gdLst>
                <a:gd name="connsiteX0" fmla="*/ 0 w 2155500"/>
                <a:gd name="connsiteY0" fmla="*/ 215550 h 2585322"/>
                <a:gd name="connsiteX1" fmla="*/ 215550 w 2155500"/>
                <a:gd name="connsiteY1" fmla="*/ 0 h 2585322"/>
                <a:gd name="connsiteX2" fmla="*/ 1939950 w 2155500"/>
                <a:gd name="connsiteY2" fmla="*/ 0 h 2585322"/>
                <a:gd name="connsiteX3" fmla="*/ 2155500 w 2155500"/>
                <a:gd name="connsiteY3" fmla="*/ 215550 h 2585322"/>
                <a:gd name="connsiteX4" fmla="*/ 2155500 w 2155500"/>
                <a:gd name="connsiteY4" fmla="*/ 2369772 h 2585322"/>
                <a:gd name="connsiteX5" fmla="*/ 1939950 w 2155500"/>
                <a:gd name="connsiteY5" fmla="*/ 2585322 h 2585322"/>
                <a:gd name="connsiteX6" fmla="*/ 215550 w 2155500"/>
                <a:gd name="connsiteY6" fmla="*/ 2585322 h 2585322"/>
                <a:gd name="connsiteX7" fmla="*/ 0 w 2155500"/>
                <a:gd name="connsiteY7" fmla="*/ 2369772 h 2585322"/>
                <a:gd name="connsiteX8" fmla="*/ 0 w 2155500"/>
                <a:gd name="connsiteY8" fmla="*/ 215550 h 258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500" h="2585322">
                  <a:moveTo>
                    <a:pt x="0" y="215550"/>
                  </a:moveTo>
                  <a:cubicBezTo>
                    <a:pt x="0" y="96505"/>
                    <a:pt x="96505" y="0"/>
                    <a:pt x="215550" y="0"/>
                  </a:cubicBezTo>
                  <a:lnTo>
                    <a:pt x="1939950" y="0"/>
                  </a:lnTo>
                  <a:cubicBezTo>
                    <a:pt x="2058995" y="0"/>
                    <a:pt x="2155500" y="96505"/>
                    <a:pt x="2155500" y="215550"/>
                  </a:cubicBezTo>
                  <a:lnTo>
                    <a:pt x="2155500" y="2369772"/>
                  </a:lnTo>
                  <a:cubicBezTo>
                    <a:pt x="2155500" y="2488817"/>
                    <a:pt x="2058995" y="2585322"/>
                    <a:pt x="1939950" y="2585322"/>
                  </a:cubicBezTo>
                  <a:lnTo>
                    <a:pt x="215550" y="2585322"/>
                  </a:lnTo>
                  <a:cubicBezTo>
                    <a:pt x="96505" y="2585322"/>
                    <a:pt x="0" y="2488817"/>
                    <a:pt x="0" y="2369772"/>
                  </a:cubicBezTo>
                  <a:lnTo>
                    <a:pt x="0" y="21555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6" rIns="170688" bIns="687754"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Azure Data Studio</a:t>
              </a:r>
            </a:p>
          </p:txBody>
        </p:sp>
        <p:sp>
          <p:nvSpPr>
            <p:cNvPr id="9" name="Oval 8">
              <a:extLst>
                <a:ext uri="{FF2B5EF4-FFF2-40B4-BE49-F238E27FC236}">
                  <a16:creationId xmlns:a16="http://schemas.microsoft.com/office/drawing/2014/main" id="{4843F8B0-F8C3-7A7C-7BC2-38D4C58ACB9C}"/>
                </a:ext>
              </a:extLst>
            </p:cNvPr>
            <p:cNvSpPr/>
            <p:nvPr/>
          </p:nvSpPr>
          <p:spPr>
            <a:xfrm>
              <a:off x="-258037" y="2491252"/>
              <a:ext cx="860912" cy="860912"/>
            </a:xfrm>
            <a:prstGeom prst="ellipse">
              <a:avLst/>
            </a:prstGeom>
            <a:blipFill>
              <a:blip r:embed="rId19">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10" name="Group 9">
            <a:extLst>
              <a:ext uri="{FF2B5EF4-FFF2-40B4-BE49-F238E27FC236}">
                <a16:creationId xmlns:a16="http://schemas.microsoft.com/office/drawing/2014/main" id="{CAF50007-A65A-EFC8-E087-A881729DAAC6}"/>
              </a:ext>
            </a:extLst>
          </p:cNvPr>
          <p:cNvGrpSpPr/>
          <p:nvPr/>
        </p:nvGrpSpPr>
        <p:grpSpPr>
          <a:xfrm>
            <a:off x="6171345" y="-5338450"/>
            <a:ext cx="1354869" cy="2585323"/>
            <a:chOff x="3847264" y="2304203"/>
            <a:chExt cx="1354869" cy="2585323"/>
          </a:xfrm>
        </p:grpSpPr>
        <p:sp>
          <p:nvSpPr>
            <p:cNvPr id="11" name="Freeform: Shape 10">
              <a:extLst>
                <a:ext uri="{FF2B5EF4-FFF2-40B4-BE49-F238E27FC236}">
                  <a16:creationId xmlns:a16="http://schemas.microsoft.com/office/drawing/2014/main" id="{DC1CC124-DFBD-F1C5-671A-4CB7B94DEC90}"/>
                </a:ext>
              </a:extLst>
            </p:cNvPr>
            <p:cNvSpPr/>
            <p:nvPr/>
          </p:nvSpPr>
          <p:spPr>
            <a:xfrm>
              <a:off x="3847264" y="2304203"/>
              <a:ext cx="1354869"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Visual Studio Code</a:t>
              </a:r>
            </a:p>
          </p:txBody>
        </p:sp>
        <p:sp>
          <p:nvSpPr>
            <p:cNvPr id="12" name="Oval 11">
              <a:extLst>
                <a:ext uri="{FF2B5EF4-FFF2-40B4-BE49-F238E27FC236}">
                  <a16:creationId xmlns:a16="http://schemas.microsoft.com/office/drawing/2014/main" id="{713E5402-012A-A975-F6D4-C3DD8DF7F97E}"/>
                </a:ext>
              </a:extLst>
            </p:cNvPr>
            <p:cNvSpPr/>
            <p:nvPr/>
          </p:nvSpPr>
          <p:spPr>
            <a:xfrm>
              <a:off x="4238975" y="2556140"/>
              <a:ext cx="571446" cy="667276"/>
            </a:xfrm>
            <a:prstGeom prst="ellipse">
              <a:avLst/>
            </a:prstGeom>
            <a:blipFill>
              <a:blip r:embed="rId20">
                <a:extLst>
                  <a:ext uri="{96DAC541-7B7A-43D3-8B79-37D633B846F1}">
                    <asvg:svgBlip xmlns:asvg="http://schemas.microsoft.com/office/drawing/2016/SVG/main" r:embed="rId21"/>
                  </a:ext>
                </a:extLst>
              </a:blip>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Tree>
    <p:extLst>
      <p:ext uri="{BB962C8B-B14F-4D97-AF65-F5344CB8AC3E}">
        <p14:creationId xmlns:p14="http://schemas.microsoft.com/office/powerpoint/2010/main" val="3334443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a:t>Design Overview</a:t>
            </a:r>
            <a:endParaRPr lang="en-GB" sz="200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1794273" y="1615447"/>
            <a:ext cx="7386381" cy="301057"/>
          </a:xfrm>
        </p:spPr>
        <p:txBody>
          <a:bodyPr/>
          <a:lstStyle/>
          <a:p>
            <a:r>
              <a:rPr lang="en-GB"/>
              <a:t>Warehouse Toolset</a:t>
            </a:r>
          </a:p>
        </p:txBody>
      </p:sp>
      <p:grpSp>
        <p:nvGrpSpPr>
          <p:cNvPr id="29" name="Group 28">
            <a:extLst>
              <a:ext uri="{FF2B5EF4-FFF2-40B4-BE49-F238E27FC236}">
                <a16:creationId xmlns:a16="http://schemas.microsoft.com/office/drawing/2014/main" id="{7097545D-4898-9B04-D031-DC6EDE24F89B}"/>
              </a:ext>
            </a:extLst>
          </p:cNvPr>
          <p:cNvGrpSpPr/>
          <p:nvPr/>
        </p:nvGrpSpPr>
        <p:grpSpPr>
          <a:xfrm>
            <a:off x="2723243" y="2356175"/>
            <a:ext cx="1354869" cy="2585323"/>
            <a:chOff x="1175540" y="2374692"/>
            <a:chExt cx="1501224" cy="2585323"/>
          </a:xfrm>
          <a:effectLst>
            <a:outerShdw blurRad="50800" dist="38100" dir="2700000" algn="tl" rotWithShape="0">
              <a:prstClr val="black">
                <a:alpha val="40000"/>
              </a:prstClr>
            </a:outerShdw>
          </a:effectLst>
        </p:grpSpPr>
        <p:sp>
          <p:nvSpPr>
            <p:cNvPr id="18" name="Freeform: Shape 17">
              <a:extLst>
                <a:ext uri="{FF2B5EF4-FFF2-40B4-BE49-F238E27FC236}">
                  <a16:creationId xmlns:a16="http://schemas.microsoft.com/office/drawing/2014/main" id="{32B2C1FF-58D4-CBA4-0664-A62FB33FC5F9}"/>
                </a:ext>
              </a:extLst>
            </p:cNvPr>
            <p:cNvSpPr/>
            <p:nvPr/>
          </p:nvSpPr>
          <p:spPr>
            <a:xfrm>
              <a:off x="1175540"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GIT </a:t>
              </a:r>
            </a:p>
          </p:txBody>
        </p:sp>
        <p:sp>
          <p:nvSpPr>
            <p:cNvPr id="19" name="Oval 18">
              <a:extLst>
                <a:ext uri="{FF2B5EF4-FFF2-40B4-BE49-F238E27FC236}">
                  <a16:creationId xmlns:a16="http://schemas.microsoft.com/office/drawing/2014/main" id="{8EA17B33-7FE9-0541-2117-869FC72A3EC4}"/>
                </a:ext>
              </a:extLst>
            </p:cNvPr>
            <p:cNvSpPr/>
            <p:nvPr/>
          </p:nvSpPr>
          <p:spPr>
            <a:xfrm>
              <a:off x="1495696" y="2529811"/>
              <a:ext cx="860912" cy="860912"/>
            </a:xfrm>
            <a:prstGeom prst="ellipse">
              <a:avLst/>
            </a:prstGeom>
            <a:blipFill>
              <a:blip r:embed="rId4" cstate="print">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28" name="Group 27">
            <a:extLst>
              <a:ext uri="{FF2B5EF4-FFF2-40B4-BE49-F238E27FC236}">
                <a16:creationId xmlns:a16="http://schemas.microsoft.com/office/drawing/2014/main" id="{946ACD3D-7A37-66DD-C058-76F1A03A5619}"/>
              </a:ext>
            </a:extLst>
          </p:cNvPr>
          <p:cNvGrpSpPr/>
          <p:nvPr/>
        </p:nvGrpSpPr>
        <p:grpSpPr>
          <a:xfrm>
            <a:off x="4269504" y="2356175"/>
            <a:ext cx="1354869" cy="2585323"/>
            <a:chOff x="2721801" y="2374692"/>
            <a:chExt cx="1501224" cy="2585323"/>
          </a:xfrm>
          <a:effectLst>
            <a:outerShdw blurRad="50800" dist="38100" dir="2700000" algn="tl" rotWithShape="0">
              <a:prstClr val="black">
                <a:alpha val="40000"/>
              </a:prstClr>
            </a:outerShdw>
          </a:effectLst>
        </p:grpSpPr>
        <p:sp>
          <p:nvSpPr>
            <p:cNvPr id="20" name="Freeform: Shape 19">
              <a:extLst>
                <a:ext uri="{FF2B5EF4-FFF2-40B4-BE49-F238E27FC236}">
                  <a16:creationId xmlns:a16="http://schemas.microsoft.com/office/drawing/2014/main" id="{9FB435F1-C47B-011B-7743-B46E79EAA50C}"/>
                </a:ext>
              </a:extLst>
            </p:cNvPr>
            <p:cNvSpPr/>
            <p:nvPr/>
          </p:nvSpPr>
          <p:spPr>
            <a:xfrm>
              <a:off x="2721801"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GITHUB</a:t>
              </a:r>
            </a:p>
          </p:txBody>
        </p:sp>
        <p:sp>
          <p:nvSpPr>
            <p:cNvPr id="21" name="Oval 20">
              <a:extLst>
                <a:ext uri="{FF2B5EF4-FFF2-40B4-BE49-F238E27FC236}">
                  <a16:creationId xmlns:a16="http://schemas.microsoft.com/office/drawing/2014/main" id="{43E0BCF2-5B60-12F9-1534-9D5D808304F3}"/>
                </a:ext>
              </a:extLst>
            </p:cNvPr>
            <p:cNvSpPr/>
            <p:nvPr/>
          </p:nvSpPr>
          <p:spPr>
            <a:xfrm>
              <a:off x="3041957" y="2529811"/>
              <a:ext cx="860912" cy="860912"/>
            </a:xfrm>
            <a:prstGeom prst="ellipse">
              <a:avLst/>
            </a:prstGeom>
            <a:blipFill>
              <a:blip r:embed="rId5" cstate="print">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3" name="Group 2">
            <a:extLst>
              <a:ext uri="{FF2B5EF4-FFF2-40B4-BE49-F238E27FC236}">
                <a16:creationId xmlns:a16="http://schemas.microsoft.com/office/drawing/2014/main" id="{A515504C-8AF0-4DC7-4238-4C2A02BF09E5}"/>
              </a:ext>
            </a:extLst>
          </p:cNvPr>
          <p:cNvGrpSpPr/>
          <p:nvPr/>
        </p:nvGrpSpPr>
        <p:grpSpPr>
          <a:xfrm>
            <a:off x="5815765" y="2356175"/>
            <a:ext cx="1354869" cy="2585323"/>
            <a:chOff x="3847264" y="2304203"/>
            <a:chExt cx="1354869" cy="2585323"/>
          </a:xfrm>
        </p:grpSpPr>
        <p:sp>
          <p:nvSpPr>
            <p:cNvPr id="22" name="Freeform: Shape 21">
              <a:extLst>
                <a:ext uri="{FF2B5EF4-FFF2-40B4-BE49-F238E27FC236}">
                  <a16:creationId xmlns:a16="http://schemas.microsoft.com/office/drawing/2014/main" id="{652A04AA-65AD-AEE5-25DE-CC3E34642B86}"/>
                </a:ext>
              </a:extLst>
            </p:cNvPr>
            <p:cNvSpPr/>
            <p:nvPr/>
          </p:nvSpPr>
          <p:spPr>
            <a:xfrm>
              <a:off x="3847264" y="2304203"/>
              <a:ext cx="1354869"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Visual Studio Code</a:t>
              </a:r>
            </a:p>
          </p:txBody>
        </p:sp>
        <p:sp>
          <p:nvSpPr>
            <p:cNvPr id="23" name="Oval 22">
              <a:extLst>
                <a:ext uri="{FF2B5EF4-FFF2-40B4-BE49-F238E27FC236}">
                  <a16:creationId xmlns:a16="http://schemas.microsoft.com/office/drawing/2014/main" id="{E1132C2B-C8B0-C59E-4808-A8C93105DA80}"/>
                </a:ext>
              </a:extLst>
            </p:cNvPr>
            <p:cNvSpPr/>
            <p:nvPr/>
          </p:nvSpPr>
          <p:spPr>
            <a:xfrm>
              <a:off x="4238975" y="2556140"/>
              <a:ext cx="571446" cy="667276"/>
            </a:xfrm>
            <a:prstGeom prst="ellipse">
              <a:avLst/>
            </a:prstGeom>
            <a:blipFill>
              <a:blip r:embed="rId6">
                <a:extLst>
                  <a:ext uri="{96DAC541-7B7A-43D3-8B79-37D633B846F1}">
                    <asvg:svgBlip xmlns:asvg="http://schemas.microsoft.com/office/drawing/2016/SVG/main" r:embed="rId7"/>
                  </a:ext>
                </a:extLst>
              </a:blip>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32" name="Group 31">
            <a:extLst>
              <a:ext uri="{FF2B5EF4-FFF2-40B4-BE49-F238E27FC236}">
                <a16:creationId xmlns:a16="http://schemas.microsoft.com/office/drawing/2014/main" id="{AE8FCD3A-15FB-503D-0AEC-8A1741CA98EA}"/>
              </a:ext>
            </a:extLst>
          </p:cNvPr>
          <p:cNvGrpSpPr/>
          <p:nvPr/>
        </p:nvGrpSpPr>
        <p:grpSpPr>
          <a:xfrm>
            <a:off x="-2391808" y="2304203"/>
            <a:ext cx="1199779" cy="2726300"/>
            <a:chOff x="1098590" y="2374692"/>
            <a:chExt cx="1199779" cy="2726300"/>
          </a:xfrm>
        </p:grpSpPr>
        <p:sp>
          <p:nvSpPr>
            <p:cNvPr id="33" name="Freeform: Shape 32">
              <a:extLst>
                <a:ext uri="{FF2B5EF4-FFF2-40B4-BE49-F238E27FC236}">
                  <a16:creationId xmlns:a16="http://schemas.microsoft.com/office/drawing/2014/main" id="{791CDB5F-91CA-520B-A507-9C2ED432216C}"/>
                </a:ext>
              </a:extLst>
            </p:cNvPr>
            <p:cNvSpPr/>
            <p:nvPr/>
          </p:nvSpPr>
          <p:spPr>
            <a:xfrm>
              <a:off x="1098590"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Tools</a:t>
              </a:r>
            </a:p>
          </p:txBody>
        </p:sp>
        <p:sp>
          <p:nvSpPr>
            <p:cNvPr id="34" name="Oval 33" descr="Mining tools outline">
              <a:extLst>
                <a:ext uri="{FF2B5EF4-FFF2-40B4-BE49-F238E27FC236}">
                  <a16:creationId xmlns:a16="http://schemas.microsoft.com/office/drawing/2014/main" id="{C37C022A-6DF0-28E2-7101-DD5DC41BAB6A}"/>
                </a:ext>
              </a:extLst>
            </p:cNvPr>
            <p:cNvSpPr/>
            <p:nvPr/>
          </p:nvSpPr>
          <p:spPr>
            <a:xfrm>
              <a:off x="1244550" y="2538269"/>
              <a:ext cx="907857" cy="907857"/>
            </a:xfrm>
            <a:prstGeom prst="ellipse">
              <a:avLst/>
            </a:prstGeom>
            <a:blipFill>
              <a:blip r:embed="rId8">
                <a:extLst>
                  <a:ext uri="{96DAC541-7B7A-43D3-8B79-37D633B846F1}">
                    <asvg:svgBlip xmlns:asvg="http://schemas.microsoft.com/office/drawing/2016/SVG/main" r:embed="rId9"/>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
        <p:nvSpPr>
          <p:cNvPr id="39" name="Freeform: Shape 38">
            <a:extLst>
              <a:ext uri="{FF2B5EF4-FFF2-40B4-BE49-F238E27FC236}">
                <a16:creationId xmlns:a16="http://schemas.microsoft.com/office/drawing/2014/main" id="{9D415A97-85CC-37C6-6DD3-7A331793AAD8}"/>
              </a:ext>
            </a:extLst>
          </p:cNvPr>
          <p:cNvSpPr/>
          <p:nvPr/>
        </p:nvSpPr>
        <p:spPr>
          <a:xfrm>
            <a:off x="5143666" y="-5427930"/>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Free Open source</a:t>
            </a:r>
          </a:p>
        </p:txBody>
      </p:sp>
      <p:sp>
        <p:nvSpPr>
          <p:cNvPr id="40" name="Freeform: Shape 39">
            <a:extLst>
              <a:ext uri="{FF2B5EF4-FFF2-40B4-BE49-F238E27FC236}">
                <a16:creationId xmlns:a16="http://schemas.microsoft.com/office/drawing/2014/main" id="{286A147F-7FBC-ABBD-582A-5F11B3036A18}"/>
              </a:ext>
            </a:extLst>
          </p:cNvPr>
          <p:cNvSpPr/>
          <p:nvPr/>
        </p:nvSpPr>
        <p:spPr>
          <a:xfrm>
            <a:off x="5161951" y="-3981944"/>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Version control management</a:t>
            </a:r>
          </a:p>
          <a:p>
            <a:pPr algn="ctr" defTabSz="266700">
              <a:lnSpc>
                <a:spcPct val="90000"/>
              </a:lnSpc>
              <a:spcBef>
                <a:spcPct val="0"/>
              </a:spcBef>
              <a:spcAft>
                <a:spcPct val="35000"/>
              </a:spcAft>
              <a:defRPr/>
            </a:pPr>
            <a:r>
              <a:rPr lang="en-GB" sz="1200">
                <a:solidFill>
                  <a:srgbClr val="FFFFFF"/>
                </a:solidFill>
                <a:latin typeface="Frutiger Lt Std"/>
              </a:rPr>
              <a:t>Tracks Changes</a:t>
            </a:r>
          </a:p>
        </p:txBody>
      </p:sp>
      <p:sp>
        <p:nvSpPr>
          <p:cNvPr id="42" name="Freeform: Shape 41">
            <a:extLst>
              <a:ext uri="{FF2B5EF4-FFF2-40B4-BE49-F238E27FC236}">
                <a16:creationId xmlns:a16="http://schemas.microsoft.com/office/drawing/2014/main" id="{8C94A620-AF89-9E45-882B-04043F40C22C}"/>
              </a:ext>
            </a:extLst>
          </p:cNvPr>
          <p:cNvSpPr/>
          <p:nvPr/>
        </p:nvSpPr>
        <p:spPr>
          <a:xfrm>
            <a:off x="5161950" y="-1089973"/>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Allows parallel development</a:t>
            </a:r>
          </a:p>
        </p:txBody>
      </p:sp>
      <p:sp>
        <p:nvSpPr>
          <p:cNvPr id="2" name="Freeform: Shape 1">
            <a:extLst>
              <a:ext uri="{FF2B5EF4-FFF2-40B4-BE49-F238E27FC236}">
                <a16:creationId xmlns:a16="http://schemas.microsoft.com/office/drawing/2014/main" id="{6612757D-DDBC-0B27-2F07-91CBC16AC650}"/>
              </a:ext>
            </a:extLst>
          </p:cNvPr>
          <p:cNvSpPr/>
          <p:nvPr/>
        </p:nvSpPr>
        <p:spPr>
          <a:xfrm>
            <a:off x="5178971" y="-2539808"/>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400">
                <a:solidFill>
                  <a:srgbClr val="FFFFFF"/>
                </a:solidFill>
                <a:latin typeface="Frutiger Lt Std"/>
              </a:rPr>
              <a:t>Allow developers to work on same file at  same time and not lose their work</a:t>
            </a:r>
          </a:p>
        </p:txBody>
      </p:sp>
      <p:grpSp>
        <p:nvGrpSpPr>
          <p:cNvPr id="13" name="Group 12">
            <a:extLst>
              <a:ext uri="{FF2B5EF4-FFF2-40B4-BE49-F238E27FC236}">
                <a16:creationId xmlns:a16="http://schemas.microsoft.com/office/drawing/2014/main" id="{38D3C9FF-AA1C-A7E5-ACC1-4606ECBA755E}"/>
              </a:ext>
            </a:extLst>
          </p:cNvPr>
          <p:cNvGrpSpPr/>
          <p:nvPr/>
        </p:nvGrpSpPr>
        <p:grpSpPr>
          <a:xfrm>
            <a:off x="7391528" y="2365812"/>
            <a:ext cx="1354868" cy="2575686"/>
            <a:chOff x="-578192" y="2304203"/>
            <a:chExt cx="1501223" cy="2726300"/>
          </a:xfrm>
          <a:effectLst>
            <a:outerShdw blurRad="50800" dist="38100" dir="2700000" algn="tl" rotWithShape="0">
              <a:prstClr val="black">
                <a:alpha val="40000"/>
              </a:prstClr>
            </a:outerShdw>
          </a:effectLst>
        </p:grpSpPr>
        <p:sp>
          <p:nvSpPr>
            <p:cNvPr id="10" name="Freeform: Shape 9">
              <a:extLst>
                <a:ext uri="{FF2B5EF4-FFF2-40B4-BE49-F238E27FC236}">
                  <a16:creationId xmlns:a16="http://schemas.microsoft.com/office/drawing/2014/main" id="{174E8659-1DBC-7215-CF82-01D3D0EA22FB}"/>
                </a:ext>
              </a:extLst>
            </p:cNvPr>
            <p:cNvSpPr/>
            <p:nvPr/>
          </p:nvSpPr>
          <p:spPr>
            <a:xfrm>
              <a:off x="-578192" y="2304203"/>
              <a:ext cx="1501223" cy="2726300"/>
            </a:xfrm>
            <a:custGeom>
              <a:avLst/>
              <a:gdLst>
                <a:gd name="connsiteX0" fmla="*/ 0 w 2155500"/>
                <a:gd name="connsiteY0" fmla="*/ 215550 h 2585322"/>
                <a:gd name="connsiteX1" fmla="*/ 215550 w 2155500"/>
                <a:gd name="connsiteY1" fmla="*/ 0 h 2585322"/>
                <a:gd name="connsiteX2" fmla="*/ 1939950 w 2155500"/>
                <a:gd name="connsiteY2" fmla="*/ 0 h 2585322"/>
                <a:gd name="connsiteX3" fmla="*/ 2155500 w 2155500"/>
                <a:gd name="connsiteY3" fmla="*/ 215550 h 2585322"/>
                <a:gd name="connsiteX4" fmla="*/ 2155500 w 2155500"/>
                <a:gd name="connsiteY4" fmla="*/ 2369772 h 2585322"/>
                <a:gd name="connsiteX5" fmla="*/ 1939950 w 2155500"/>
                <a:gd name="connsiteY5" fmla="*/ 2585322 h 2585322"/>
                <a:gd name="connsiteX6" fmla="*/ 215550 w 2155500"/>
                <a:gd name="connsiteY6" fmla="*/ 2585322 h 2585322"/>
                <a:gd name="connsiteX7" fmla="*/ 0 w 2155500"/>
                <a:gd name="connsiteY7" fmla="*/ 2369772 h 2585322"/>
                <a:gd name="connsiteX8" fmla="*/ 0 w 2155500"/>
                <a:gd name="connsiteY8" fmla="*/ 215550 h 258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500" h="2585322">
                  <a:moveTo>
                    <a:pt x="0" y="215550"/>
                  </a:moveTo>
                  <a:cubicBezTo>
                    <a:pt x="0" y="96505"/>
                    <a:pt x="96505" y="0"/>
                    <a:pt x="215550" y="0"/>
                  </a:cubicBezTo>
                  <a:lnTo>
                    <a:pt x="1939950" y="0"/>
                  </a:lnTo>
                  <a:cubicBezTo>
                    <a:pt x="2058995" y="0"/>
                    <a:pt x="2155500" y="96505"/>
                    <a:pt x="2155500" y="215550"/>
                  </a:cubicBezTo>
                  <a:lnTo>
                    <a:pt x="2155500" y="2369772"/>
                  </a:lnTo>
                  <a:cubicBezTo>
                    <a:pt x="2155500" y="2488817"/>
                    <a:pt x="2058995" y="2585322"/>
                    <a:pt x="1939950" y="2585322"/>
                  </a:cubicBezTo>
                  <a:lnTo>
                    <a:pt x="215550" y="2585322"/>
                  </a:lnTo>
                  <a:cubicBezTo>
                    <a:pt x="96505" y="2585322"/>
                    <a:pt x="0" y="2488817"/>
                    <a:pt x="0" y="2369772"/>
                  </a:cubicBezTo>
                  <a:lnTo>
                    <a:pt x="0" y="21555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6" rIns="170688" bIns="687754"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Azure Data Studio</a:t>
              </a:r>
            </a:p>
          </p:txBody>
        </p:sp>
        <p:sp>
          <p:nvSpPr>
            <p:cNvPr id="11" name="Oval 10">
              <a:extLst>
                <a:ext uri="{FF2B5EF4-FFF2-40B4-BE49-F238E27FC236}">
                  <a16:creationId xmlns:a16="http://schemas.microsoft.com/office/drawing/2014/main" id="{1F3ACACD-3738-30B6-C7BE-CE0BE80E0C9E}"/>
                </a:ext>
              </a:extLst>
            </p:cNvPr>
            <p:cNvSpPr/>
            <p:nvPr/>
          </p:nvSpPr>
          <p:spPr>
            <a:xfrm>
              <a:off x="-258037" y="2491252"/>
              <a:ext cx="860912" cy="860912"/>
            </a:xfrm>
            <a:prstGeom prst="ellipse">
              <a:avLst/>
            </a:prstGeom>
            <a:blipFill>
              <a:blip r:embed="rId10">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Tree>
    <p:extLst>
      <p:ext uri="{BB962C8B-B14F-4D97-AF65-F5344CB8AC3E}">
        <p14:creationId xmlns:p14="http://schemas.microsoft.com/office/powerpoint/2010/main" val="35994927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8285" y="4861159"/>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a:t>Design Overview</a:t>
            </a:r>
            <a:endParaRPr lang="en-GB" sz="200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1794273" y="1615447"/>
            <a:ext cx="7386381" cy="301057"/>
          </a:xfrm>
        </p:spPr>
        <p:txBody>
          <a:bodyPr/>
          <a:lstStyle/>
          <a:p>
            <a:r>
              <a:rPr lang="en-GB"/>
              <a:t>Warehouse Toolset</a:t>
            </a:r>
          </a:p>
        </p:txBody>
      </p:sp>
      <p:sp>
        <p:nvSpPr>
          <p:cNvPr id="11" name="Freeform: Shape 10">
            <a:extLst>
              <a:ext uri="{FF2B5EF4-FFF2-40B4-BE49-F238E27FC236}">
                <a16:creationId xmlns:a16="http://schemas.microsoft.com/office/drawing/2014/main" id="{C172F689-D212-BCCB-9E1C-620D68FF4C1F}"/>
              </a:ext>
            </a:extLst>
          </p:cNvPr>
          <p:cNvSpPr/>
          <p:nvPr/>
        </p:nvSpPr>
        <p:spPr>
          <a:xfrm>
            <a:off x="5143666" y="2242754"/>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400">
                <a:solidFill>
                  <a:srgbClr val="FFFFFF"/>
                </a:solidFill>
                <a:latin typeface="Frutiger Lt Std"/>
              </a:rPr>
              <a:t>Free Open source</a:t>
            </a:r>
          </a:p>
        </p:txBody>
      </p:sp>
      <p:sp>
        <p:nvSpPr>
          <p:cNvPr id="12" name="Freeform: Shape 11">
            <a:extLst>
              <a:ext uri="{FF2B5EF4-FFF2-40B4-BE49-F238E27FC236}">
                <a16:creationId xmlns:a16="http://schemas.microsoft.com/office/drawing/2014/main" id="{05821356-FE49-5844-5AF7-46F7621D2348}"/>
              </a:ext>
            </a:extLst>
          </p:cNvPr>
          <p:cNvSpPr/>
          <p:nvPr/>
        </p:nvSpPr>
        <p:spPr>
          <a:xfrm>
            <a:off x="5143666" y="2976814"/>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400">
                <a:solidFill>
                  <a:srgbClr val="FFFFFF"/>
                </a:solidFill>
                <a:latin typeface="Frutiger Lt Std"/>
              </a:rPr>
              <a:t>Version control management</a:t>
            </a:r>
          </a:p>
          <a:p>
            <a:pPr algn="ctr" defTabSz="266700">
              <a:lnSpc>
                <a:spcPct val="90000"/>
              </a:lnSpc>
              <a:spcBef>
                <a:spcPct val="0"/>
              </a:spcBef>
              <a:spcAft>
                <a:spcPct val="35000"/>
              </a:spcAft>
              <a:defRPr/>
            </a:pPr>
            <a:r>
              <a:rPr lang="en-GB" sz="1400">
                <a:solidFill>
                  <a:srgbClr val="FFFFFF"/>
                </a:solidFill>
                <a:latin typeface="Frutiger Lt Std"/>
              </a:rPr>
              <a:t>Tracks Changes</a:t>
            </a:r>
          </a:p>
        </p:txBody>
      </p:sp>
      <p:sp>
        <p:nvSpPr>
          <p:cNvPr id="13" name="Freeform: Shape 12">
            <a:extLst>
              <a:ext uri="{FF2B5EF4-FFF2-40B4-BE49-F238E27FC236}">
                <a16:creationId xmlns:a16="http://schemas.microsoft.com/office/drawing/2014/main" id="{407CB9BC-9A6A-C11B-DE7B-83ED8D4A26B7}"/>
              </a:ext>
            </a:extLst>
          </p:cNvPr>
          <p:cNvSpPr/>
          <p:nvPr/>
        </p:nvSpPr>
        <p:spPr>
          <a:xfrm>
            <a:off x="5143666" y="3710873"/>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400">
                <a:solidFill>
                  <a:srgbClr val="FFFFFF"/>
                </a:solidFill>
                <a:latin typeface="Frutiger Lt Std"/>
              </a:rPr>
              <a:t>Allow developers to work on same file at  same time and not lose their work</a:t>
            </a:r>
          </a:p>
        </p:txBody>
      </p:sp>
      <p:grpSp>
        <p:nvGrpSpPr>
          <p:cNvPr id="14" name="Group 13">
            <a:extLst>
              <a:ext uri="{FF2B5EF4-FFF2-40B4-BE49-F238E27FC236}">
                <a16:creationId xmlns:a16="http://schemas.microsoft.com/office/drawing/2014/main" id="{22BCAA26-0480-8FB9-4450-5F7F60E527ED}"/>
              </a:ext>
            </a:extLst>
          </p:cNvPr>
          <p:cNvGrpSpPr/>
          <p:nvPr/>
        </p:nvGrpSpPr>
        <p:grpSpPr>
          <a:xfrm>
            <a:off x="2699540" y="2374693"/>
            <a:ext cx="1501224" cy="2585323"/>
            <a:chOff x="1175540" y="2374692"/>
            <a:chExt cx="1501224" cy="2585323"/>
          </a:xfrm>
          <a:effectLst>
            <a:outerShdw blurRad="50800" dist="38100" dir="2700000" algn="tl" rotWithShape="0">
              <a:prstClr val="black">
                <a:alpha val="40000"/>
              </a:prstClr>
            </a:outerShdw>
          </a:effectLst>
        </p:grpSpPr>
        <p:sp>
          <p:nvSpPr>
            <p:cNvPr id="15" name="Freeform: Shape 14">
              <a:extLst>
                <a:ext uri="{FF2B5EF4-FFF2-40B4-BE49-F238E27FC236}">
                  <a16:creationId xmlns:a16="http://schemas.microsoft.com/office/drawing/2014/main" id="{57D0374E-D4E1-A13D-470A-CDEDED7B2CE2}"/>
                </a:ext>
              </a:extLst>
            </p:cNvPr>
            <p:cNvSpPr/>
            <p:nvPr/>
          </p:nvSpPr>
          <p:spPr>
            <a:xfrm>
              <a:off x="1175540"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GIT </a:t>
              </a:r>
            </a:p>
          </p:txBody>
        </p:sp>
        <p:sp>
          <p:nvSpPr>
            <p:cNvPr id="16" name="Oval 15">
              <a:extLst>
                <a:ext uri="{FF2B5EF4-FFF2-40B4-BE49-F238E27FC236}">
                  <a16:creationId xmlns:a16="http://schemas.microsoft.com/office/drawing/2014/main" id="{31D3EDD6-C8A1-4838-A18D-C9DAF6C7462F}"/>
                </a:ext>
              </a:extLst>
            </p:cNvPr>
            <p:cNvSpPr/>
            <p:nvPr/>
          </p:nvSpPr>
          <p:spPr>
            <a:xfrm>
              <a:off x="1495696" y="2529811"/>
              <a:ext cx="860912" cy="860912"/>
            </a:xfrm>
            <a:prstGeom prst="ellipse">
              <a:avLst/>
            </a:prstGeom>
            <a:blipFill>
              <a:blip r:embed="rId4" cstate="print">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
        <p:nvSpPr>
          <p:cNvPr id="17" name="Freeform: Shape 16">
            <a:extLst>
              <a:ext uri="{FF2B5EF4-FFF2-40B4-BE49-F238E27FC236}">
                <a16:creationId xmlns:a16="http://schemas.microsoft.com/office/drawing/2014/main" id="{B480822C-63EB-4CA2-7AD5-B32474C6A927}"/>
              </a:ext>
            </a:extLst>
          </p:cNvPr>
          <p:cNvSpPr/>
          <p:nvPr/>
        </p:nvSpPr>
        <p:spPr>
          <a:xfrm>
            <a:off x="5143665" y="4460545"/>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400">
                <a:solidFill>
                  <a:srgbClr val="FFFFFF"/>
                </a:solidFill>
                <a:latin typeface="Frutiger Lt Std"/>
              </a:rPr>
              <a:t>Allows parallel development</a:t>
            </a:r>
          </a:p>
        </p:txBody>
      </p:sp>
      <p:grpSp>
        <p:nvGrpSpPr>
          <p:cNvPr id="24" name="Group 23">
            <a:extLst>
              <a:ext uri="{FF2B5EF4-FFF2-40B4-BE49-F238E27FC236}">
                <a16:creationId xmlns:a16="http://schemas.microsoft.com/office/drawing/2014/main" id="{33494B98-8424-1CBC-F2ED-3837E201479A}"/>
              </a:ext>
            </a:extLst>
          </p:cNvPr>
          <p:cNvGrpSpPr/>
          <p:nvPr/>
        </p:nvGrpSpPr>
        <p:grpSpPr>
          <a:xfrm>
            <a:off x="18154367" y="2383255"/>
            <a:ext cx="1501224" cy="2585323"/>
            <a:chOff x="5814323" y="2374692"/>
            <a:chExt cx="1501224" cy="2585323"/>
          </a:xfrm>
        </p:grpSpPr>
        <p:sp>
          <p:nvSpPr>
            <p:cNvPr id="26" name="Freeform: Shape 25">
              <a:extLst>
                <a:ext uri="{FF2B5EF4-FFF2-40B4-BE49-F238E27FC236}">
                  <a16:creationId xmlns:a16="http://schemas.microsoft.com/office/drawing/2014/main" id="{9E04F937-6308-15ED-59C6-7FB8C20FB61D}"/>
                </a:ext>
              </a:extLst>
            </p:cNvPr>
            <p:cNvSpPr/>
            <p:nvPr/>
          </p:nvSpPr>
          <p:spPr>
            <a:xfrm>
              <a:off x="5814323"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Draw.io</a:t>
              </a:r>
            </a:p>
          </p:txBody>
        </p:sp>
        <p:sp>
          <p:nvSpPr>
            <p:cNvPr id="27" name="Oval 26">
              <a:extLst>
                <a:ext uri="{FF2B5EF4-FFF2-40B4-BE49-F238E27FC236}">
                  <a16:creationId xmlns:a16="http://schemas.microsoft.com/office/drawing/2014/main" id="{340485A0-7D83-5C91-9DB2-88860102E8B1}"/>
                </a:ext>
              </a:extLst>
            </p:cNvPr>
            <p:cNvSpPr/>
            <p:nvPr/>
          </p:nvSpPr>
          <p:spPr>
            <a:xfrm>
              <a:off x="6134479" y="2529811"/>
              <a:ext cx="860912" cy="860912"/>
            </a:xfrm>
            <a:prstGeom prst="ellipse">
              <a:avLst/>
            </a:prstGeom>
            <a:blipFill>
              <a:blip r:embed="rId5">
                <a:extLst>
                  <a:ext uri="{96DAC541-7B7A-43D3-8B79-37D633B846F1}">
                    <asvg:svgBlip xmlns:asvg="http://schemas.microsoft.com/office/drawing/2016/SVG/main" r:embed="rId6"/>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
        <p:nvSpPr>
          <p:cNvPr id="28" name="Freeform: Shape 27">
            <a:extLst>
              <a:ext uri="{FF2B5EF4-FFF2-40B4-BE49-F238E27FC236}">
                <a16:creationId xmlns:a16="http://schemas.microsoft.com/office/drawing/2014/main" id="{A3920941-E30E-4FB3-FAC4-A25EA0671B79}"/>
              </a:ext>
            </a:extLst>
          </p:cNvPr>
          <p:cNvSpPr/>
          <p:nvPr/>
        </p:nvSpPr>
        <p:spPr>
          <a:xfrm>
            <a:off x="5116914" y="-7092986"/>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US" sz="1200">
                <a:solidFill>
                  <a:srgbClr val="FFFFFF"/>
                </a:solidFill>
                <a:latin typeface="Frutiger Lt Std"/>
              </a:rPr>
              <a:t>Cloud based hosting service for Git Repositories</a:t>
            </a:r>
          </a:p>
        </p:txBody>
      </p:sp>
      <p:sp>
        <p:nvSpPr>
          <p:cNvPr id="29" name="Freeform: Shape 28">
            <a:extLst>
              <a:ext uri="{FF2B5EF4-FFF2-40B4-BE49-F238E27FC236}">
                <a16:creationId xmlns:a16="http://schemas.microsoft.com/office/drawing/2014/main" id="{2618E125-92CD-E7AA-283D-C19FA2001473}"/>
              </a:ext>
            </a:extLst>
          </p:cNvPr>
          <p:cNvSpPr/>
          <p:nvPr/>
        </p:nvSpPr>
        <p:spPr>
          <a:xfrm>
            <a:off x="5143665" y="-5284773"/>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Easier to collaborate</a:t>
            </a:r>
          </a:p>
        </p:txBody>
      </p:sp>
      <p:sp>
        <p:nvSpPr>
          <p:cNvPr id="30" name="Freeform: Shape 29">
            <a:extLst>
              <a:ext uri="{FF2B5EF4-FFF2-40B4-BE49-F238E27FC236}">
                <a16:creationId xmlns:a16="http://schemas.microsoft.com/office/drawing/2014/main" id="{F49F13D6-A8A6-7F2F-F97F-A2B8CD9EC24A}"/>
              </a:ext>
            </a:extLst>
          </p:cNvPr>
          <p:cNvSpPr/>
          <p:nvPr/>
        </p:nvSpPr>
        <p:spPr>
          <a:xfrm>
            <a:off x="5116913" y="-3503698"/>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Project management</a:t>
            </a:r>
          </a:p>
        </p:txBody>
      </p:sp>
      <p:sp>
        <p:nvSpPr>
          <p:cNvPr id="31" name="Freeform: Shape 30">
            <a:extLst>
              <a:ext uri="{FF2B5EF4-FFF2-40B4-BE49-F238E27FC236}">
                <a16:creationId xmlns:a16="http://schemas.microsoft.com/office/drawing/2014/main" id="{FF417DAE-6AA6-E7FD-A5F7-69495B4ED0AF}"/>
              </a:ext>
            </a:extLst>
          </p:cNvPr>
          <p:cNvSpPr/>
          <p:nvPr/>
        </p:nvSpPr>
        <p:spPr>
          <a:xfrm>
            <a:off x="5143665" y="-1840533"/>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755650">
              <a:lnSpc>
                <a:spcPct val="90000"/>
              </a:lnSpc>
              <a:spcBef>
                <a:spcPct val="0"/>
              </a:spcBef>
              <a:spcAft>
                <a:spcPct val="35000"/>
              </a:spcAft>
              <a:defRPr/>
            </a:pPr>
            <a:r>
              <a:rPr lang="en-GB" sz="1200">
                <a:solidFill>
                  <a:srgbClr val="FFFFFF"/>
                </a:solidFill>
                <a:latin typeface="Frutiger Lt Std"/>
              </a:rPr>
              <a:t>Support ticket management</a:t>
            </a:r>
          </a:p>
        </p:txBody>
      </p:sp>
      <p:grpSp>
        <p:nvGrpSpPr>
          <p:cNvPr id="35" name="Group 34">
            <a:extLst>
              <a:ext uri="{FF2B5EF4-FFF2-40B4-BE49-F238E27FC236}">
                <a16:creationId xmlns:a16="http://schemas.microsoft.com/office/drawing/2014/main" id="{77BDC0C7-480A-09A7-93F4-8E3E8D265D3A}"/>
              </a:ext>
            </a:extLst>
          </p:cNvPr>
          <p:cNvGrpSpPr/>
          <p:nvPr/>
        </p:nvGrpSpPr>
        <p:grpSpPr>
          <a:xfrm>
            <a:off x="13026506" y="2374692"/>
            <a:ext cx="1501224" cy="2585323"/>
            <a:chOff x="2721801" y="2374692"/>
            <a:chExt cx="1501224" cy="2585323"/>
          </a:xfrm>
        </p:grpSpPr>
        <p:sp>
          <p:nvSpPr>
            <p:cNvPr id="36" name="Freeform: Shape 35">
              <a:extLst>
                <a:ext uri="{FF2B5EF4-FFF2-40B4-BE49-F238E27FC236}">
                  <a16:creationId xmlns:a16="http://schemas.microsoft.com/office/drawing/2014/main" id="{30333E2B-B9E0-4D59-6552-78961FD7374F}"/>
                </a:ext>
              </a:extLst>
            </p:cNvPr>
            <p:cNvSpPr/>
            <p:nvPr/>
          </p:nvSpPr>
          <p:spPr>
            <a:xfrm>
              <a:off x="2721801"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GITHUB</a:t>
              </a:r>
            </a:p>
          </p:txBody>
        </p:sp>
        <p:sp>
          <p:nvSpPr>
            <p:cNvPr id="37" name="Oval 36">
              <a:extLst>
                <a:ext uri="{FF2B5EF4-FFF2-40B4-BE49-F238E27FC236}">
                  <a16:creationId xmlns:a16="http://schemas.microsoft.com/office/drawing/2014/main" id="{C6B9D803-5ADA-593E-B1D0-887466B875FA}"/>
                </a:ext>
              </a:extLst>
            </p:cNvPr>
            <p:cNvSpPr/>
            <p:nvPr/>
          </p:nvSpPr>
          <p:spPr>
            <a:xfrm>
              <a:off x="3041957" y="2529811"/>
              <a:ext cx="860912" cy="860912"/>
            </a:xfrm>
            <a:prstGeom prst="ellipse">
              <a:avLst/>
            </a:prstGeom>
            <a:blipFill>
              <a:blip r:embed="rId7" cstate="print">
                <a:alphaModFix/>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2" name="Group 1">
            <a:extLst>
              <a:ext uri="{FF2B5EF4-FFF2-40B4-BE49-F238E27FC236}">
                <a16:creationId xmlns:a16="http://schemas.microsoft.com/office/drawing/2014/main" id="{3F7282C4-1D14-CBBE-ADB1-F375FA638C36}"/>
              </a:ext>
            </a:extLst>
          </p:cNvPr>
          <p:cNvGrpSpPr/>
          <p:nvPr/>
        </p:nvGrpSpPr>
        <p:grpSpPr>
          <a:xfrm>
            <a:off x="16300357" y="2374691"/>
            <a:ext cx="1354868" cy="2575686"/>
            <a:chOff x="-578192" y="2304203"/>
            <a:chExt cx="1501223" cy="2726300"/>
          </a:xfrm>
        </p:grpSpPr>
        <p:sp>
          <p:nvSpPr>
            <p:cNvPr id="3" name="Freeform: Shape 2">
              <a:extLst>
                <a:ext uri="{FF2B5EF4-FFF2-40B4-BE49-F238E27FC236}">
                  <a16:creationId xmlns:a16="http://schemas.microsoft.com/office/drawing/2014/main" id="{53203AAC-BB90-7A6A-C360-966D12B458A6}"/>
                </a:ext>
              </a:extLst>
            </p:cNvPr>
            <p:cNvSpPr/>
            <p:nvPr/>
          </p:nvSpPr>
          <p:spPr>
            <a:xfrm>
              <a:off x="-578192" y="2304203"/>
              <a:ext cx="1501223" cy="2726300"/>
            </a:xfrm>
            <a:custGeom>
              <a:avLst/>
              <a:gdLst>
                <a:gd name="connsiteX0" fmla="*/ 0 w 2155500"/>
                <a:gd name="connsiteY0" fmla="*/ 215550 h 2585322"/>
                <a:gd name="connsiteX1" fmla="*/ 215550 w 2155500"/>
                <a:gd name="connsiteY1" fmla="*/ 0 h 2585322"/>
                <a:gd name="connsiteX2" fmla="*/ 1939950 w 2155500"/>
                <a:gd name="connsiteY2" fmla="*/ 0 h 2585322"/>
                <a:gd name="connsiteX3" fmla="*/ 2155500 w 2155500"/>
                <a:gd name="connsiteY3" fmla="*/ 215550 h 2585322"/>
                <a:gd name="connsiteX4" fmla="*/ 2155500 w 2155500"/>
                <a:gd name="connsiteY4" fmla="*/ 2369772 h 2585322"/>
                <a:gd name="connsiteX5" fmla="*/ 1939950 w 2155500"/>
                <a:gd name="connsiteY5" fmla="*/ 2585322 h 2585322"/>
                <a:gd name="connsiteX6" fmla="*/ 215550 w 2155500"/>
                <a:gd name="connsiteY6" fmla="*/ 2585322 h 2585322"/>
                <a:gd name="connsiteX7" fmla="*/ 0 w 2155500"/>
                <a:gd name="connsiteY7" fmla="*/ 2369772 h 2585322"/>
                <a:gd name="connsiteX8" fmla="*/ 0 w 2155500"/>
                <a:gd name="connsiteY8" fmla="*/ 215550 h 258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500" h="2585322">
                  <a:moveTo>
                    <a:pt x="0" y="215550"/>
                  </a:moveTo>
                  <a:cubicBezTo>
                    <a:pt x="0" y="96505"/>
                    <a:pt x="96505" y="0"/>
                    <a:pt x="215550" y="0"/>
                  </a:cubicBezTo>
                  <a:lnTo>
                    <a:pt x="1939950" y="0"/>
                  </a:lnTo>
                  <a:cubicBezTo>
                    <a:pt x="2058995" y="0"/>
                    <a:pt x="2155500" y="96505"/>
                    <a:pt x="2155500" y="215550"/>
                  </a:cubicBezTo>
                  <a:lnTo>
                    <a:pt x="2155500" y="2369772"/>
                  </a:lnTo>
                  <a:cubicBezTo>
                    <a:pt x="2155500" y="2488817"/>
                    <a:pt x="2058995" y="2585322"/>
                    <a:pt x="1939950" y="2585322"/>
                  </a:cubicBezTo>
                  <a:lnTo>
                    <a:pt x="215550" y="2585322"/>
                  </a:lnTo>
                  <a:cubicBezTo>
                    <a:pt x="96505" y="2585322"/>
                    <a:pt x="0" y="2488817"/>
                    <a:pt x="0" y="2369772"/>
                  </a:cubicBezTo>
                  <a:lnTo>
                    <a:pt x="0" y="21555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6" rIns="170688" bIns="687754"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Azure Data Studio</a:t>
              </a:r>
            </a:p>
          </p:txBody>
        </p:sp>
        <p:sp>
          <p:nvSpPr>
            <p:cNvPr id="8" name="Oval 7">
              <a:extLst>
                <a:ext uri="{FF2B5EF4-FFF2-40B4-BE49-F238E27FC236}">
                  <a16:creationId xmlns:a16="http://schemas.microsoft.com/office/drawing/2014/main" id="{7E793682-C8DA-9081-243D-0DAF0D75B411}"/>
                </a:ext>
              </a:extLst>
            </p:cNvPr>
            <p:cNvSpPr/>
            <p:nvPr/>
          </p:nvSpPr>
          <p:spPr>
            <a:xfrm>
              <a:off x="-258037" y="2491252"/>
              <a:ext cx="860912" cy="860912"/>
            </a:xfrm>
            <a:prstGeom prst="ellipse">
              <a:avLst/>
            </a:prstGeom>
            <a:blipFill>
              <a:blip r:embed="rId8">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9" name="Group 8">
            <a:extLst>
              <a:ext uri="{FF2B5EF4-FFF2-40B4-BE49-F238E27FC236}">
                <a16:creationId xmlns:a16="http://schemas.microsoft.com/office/drawing/2014/main" id="{42830250-D915-11B9-4969-B5C14DAAF2CA}"/>
              </a:ext>
            </a:extLst>
          </p:cNvPr>
          <p:cNvGrpSpPr/>
          <p:nvPr/>
        </p:nvGrpSpPr>
        <p:grpSpPr>
          <a:xfrm>
            <a:off x="14914275" y="2383255"/>
            <a:ext cx="1354869" cy="2585323"/>
            <a:chOff x="3847264" y="2304203"/>
            <a:chExt cx="1354869" cy="2585323"/>
          </a:xfrm>
        </p:grpSpPr>
        <p:sp>
          <p:nvSpPr>
            <p:cNvPr id="10" name="Freeform: Shape 9">
              <a:extLst>
                <a:ext uri="{FF2B5EF4-FFF2-40B4-BE49-F238E27FC236}">
                  <a16:creationId xmlns:a16="http://schemas.microsoft.com/office/drawing/2014/main" id="{77E33526-0664-4791-04C8-F369AFDC0243}"/>
                </a:ext>
              </a:extLst>
            </p:cNvPr>
            <p:cNvSpPr/>
            <p:nvPr/>
          </p:nvSpPr>
          <p:spPr>
            <a:xfrm>
              <a:off x="3847264" y="2304203"/>
              <a:ext cx="1354869"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Visual Studio Code</a:t>
              </a:r>
            </a:p>
          </p:txBody>
        </p:sp>
        <p:sp>
          <p:nvSpPr>
            <p:cNvPr id="18" name="Oval 17">
              <a:extLst>
                <a:ext uri="{FF2B5EF4-FFF2-40B4-BE49-F238E27FC236}">
                  <a16:creationId xmlns:a16="http://schemas.microsoft.com/office/drawing/2014/main" id="{4DF85D61-826A-7810-00C7-59DB770FE0FB}"/>
                </a:ext>
              </a:extLst>
            </p:cNvPr>
            <p:cNvSpPr/>
            <p:nvPr/>
          </p:nvSpPr>
          <p:spPr>
            <a:xfrm>
              <a:off x="4238975" y="2556140"/>
              <a:ext cx="571446" cy="667276"/>
            </a:xfrm>
            <a:prstGeom prst="ellipse">
              <a:avLst/>
            </a:prstGeom>
            <a:blipFill>
              <a:blip r:embed="rId9">
                <a:extLst>
                  <a:ext uri="{96DAC541-7B7A-43D3-8B79-37D633B846F1}">
                    <asvg:svgBlip xmlns:asvg="http://schemas.microsoft.com/office/drawing/2016/SVG/main" r:embed="rId10"/>
                  </a:ext>
                </a:extLst>
              </a:blip>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Tree>
    <p:extLst>
      <p:ext uri="{BB962C8B-B14F-4D97-AF65-F5344CB8AC3E}">
        <p14:creationId xmlns:p14="http://schemas.microsoft.com/office/powerpoint/2010/main" val="1627758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a:t>Design Overview</a:t>
            </a:r>
            <a:endParaRPr lang="en-GB" sz="200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1794273" y="1615447"/>
            <a:ext cx="7386381" cy="301057"/>
          </a:xfrm>
        </p:spPr>
        <p:txBody>
          <a:bodyPr/>
          <a:lstStyle/>
          <a:p>
            <a:r>
              <a:rPr lang="en-GB"/>
              <a:t>Warehouse Toolset</a:t>
            </a:r>
          </a:p>
        </p:txBody>
      </p:sp>
      <p:grpSp>
        <p:nvGrpSpPr>
          <p:cNvPr id="3" name="Group 2">
            <a:extLst>
              <a:ext uri="{FF2B5EF4-FFF2-40B4-BE49-F238E27FC236}">
                <a16:creationId xmlns:a16="http://schemas.microsoft.com/office/drawing/2014/main" id="{FFB5D71A-E629-5E25-2DD7-DA5B1B9756A0}"/>
              </a:ext>
            </a:extLst>
          </p:cNvPr>
          <p:cNvGrpSpPr/>
          <p:nvPr/>
        </p:nvGrpSpPr>
        <p:grpSpPr>
          <a:xfrm>
            <a:off x="2598370" y="2356176"/>
            <a:ext cx="1501224" cy="2585323"/>
            <a:chOff x="2721801" y="2374692"/>
            <a:chExt cx="1501224" cy="2585323"/>
          </a:xfrm>
          <a:effectLst>
            <a:outerShdw blurRad="50800" dist="38100" dir="2700000" algn="tl" rotWithShape="0">
              <a:prstClr val="black">
                <a:alpha val="40000"/>
              </a:prstClr>
            </a:outerShdw>
          </a:effectLst>
        </p:grpSpPr>
        <p:sp>
          <p:nvSpPr>
            <p:cNvPr id="8" name="Freeform: Shape 7">
              <a:extLst>
                <a:ext uri="{FF2B5EF4-FFF2-40B4-BE49-F238E27FC236}">
                  <a16:creationId xmlns:a16="http://schemas.microsoft.com/office/drawing/2014/main" id="{C731210A-8AC2-A54C-AB84-A1F2EB0D06B0}"/>
                </a:ext>
              </a:extLst>
            </p:cNvPr>
            <p:cNvSpPr/>
            <p:nvPr/>
          </p:nvSpPr>
          <p:spPr>
            <a:xfrm>
              <a:off x="2721801"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GITHUB</a:t>
              </a:r>
            </a:p>
          </p:txBody>
        </p:sp>
        <p:sp>
          <p:nvSpPr>
            <p:cNvPr id="9" name="Oval 8">
              <a:extLst>
                <a:ext uri="{FF2B5EF4-FFF2-40B4-BE49-F238E27FC236}">
                  <a16:creationId xmlns:a16="http://schemas.microsoft.com/office/drawing/2014/main" id="{CD29502B-804B-77B9-55EC-DD636EEC810E}"/>
                </a:ext>
              </a:extLst>
            </p:cNvPr>
            <p:cNvSpPr/>
            <p:nvPr/>
          </p:nvSpPr>
          <p:spPr>
            <a:xfrm>
              <a:off x="3041957" y="2529811"/>
              <a:ext cx="860912" cy="860912"/>
            </a:xfrm>
            <a:prstGeom prst="ellipse">
              <a:avLst/>
            </a:prstGeom>
            <a:blipFill>
              <a:blip r:embed="rId4" cstate="print">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
        <p:nvSpPr>
          <p:cNvPr id="18" name="Freeform: Shape 17">
            <a:extLst>
              <a:ext uri="{FF2B5EF4-FFF2-40B4-BE49-F238E27FC236}">
                <a16:creationId xmlns:a16="http://schemas.microsoft.com/office/drawing/2014/main" id="{C601B0FD-6CCA-3D59-0C05-962867807514}"/>
              </a:ext>
            </a:extLst>
          </p:cNvPr>
          <p:cNvSpPr/>
          <p:nvPr/>
        </p:nvSpPr>
        <p:spPr>
          <a:xfrm>
            <a:off x="4981813" y="2168368"/>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US" sz="1600">
                <a:solidFill>
                  <a:srgbClr val="FFFFFF"/>
                </a:solidFill>
                <a:latin typeface="Frutiger Lt Std"/>
              </a:rPr>
              <a:t>Cloud based hosting service for Git Repositories</a:t>
            </a:r>
          </a:p>
        </p:txBody>
      </p:sp>
      <p:sp>
        <p:nvSpPr>
          <p:cNvPr id="20" name="Freeform: Shape 19">
            <a:extLst>
              <a:ext uri="{FF2B5EF4-FFF2-40B4-BE49-F238E27FC236}">
                <a16:creationId xmlns:a16="http://schemas.microsoft.com/office/drawing/2014/main" id="{34CB20B8-1714-5553-F9A3-E7F93E8194EA}"/>
              </a:ext>
            </a:extLst>
          </p:cNvPr>
          <p:cNvSpPr/>
          <p:nvPr/>
        </p:nvSpPr>
        <p:spPr>
          <a:xfrm>
            <a:off x="4981816" y="2935379"/>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600">
                <a:solidFill>
                  <a:srgbClr val="FFFFFF"/>
                </a:solidFill>
                <a:latin typeface="Frutiger Lt Std"/>
              </a:rPr>
              <a:t>Easier to collaborate</a:t>
            </a:r>
          </a:p>
        </p:txBody>
      </p:sp>
      <p:sp>
        <p:nvSpPr>
          <p:cNvPr id="21" name="Freeform: Shape 20">
            <a:extLst>
              <a:ext uri="{FF2B5EF4-FFF2-40B4-BE49-F238E27FC236}">
                <a16:creationId xmlns:a16="http://schemas.microsoft.com/office/drawing/2014/main" id="{7B4340C1-F903-920F-9191-628EED271DC9}"/>
              </a:ext>
            </a:extLst>
          </p:cNvPr>
          <p:cNvSpPr/>
          <p:nvPr/>
        </p:nvSpPr>
        <p:spPr>
          <a:xfrm>
            <a:off x="4981815" y="3685051"/>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600">
                <a:solidFill>
                  <a:srgbClr val="FFFFFF"/>
                </a:solidFill>
                <a:latin typeface="Frutiger Lt Std"/>
              </a:rPr>
              <a:t>Project management</a:t>
            </a:r>
          </a:p>
        </p:txBody>
      </p:sp>
      <p:sp>
        <p:nvSpPr>
          <p:cNvPr id="22" name="Freeform: Shape 21">
            <a:extLst>
              <a:ext uri="{FF2B5EF4-FFF2-40B4-BE49-F238E27FC236}">
                <a16:creationId xmlns:a16="http://schemas.microsoft.com/office/drawing/2014/main" id="{0039DB5A-5098-5A24-AA45-D095052017AB}"/>
              </a:ext>
            </a:extLst>
          </p:cNvPr>
          <p:cNvSpPr/>
          <p:nvPr/>
        </p:nvSpPr>
        <p:spPr>
          <a:xfrm>
            <a:off x="4981814" y="4434723"/>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755650">
              <a:lnSpc>
                <a:spcPct val="90000"/>
              </a:lnSpc>
              <a:spcBef>
                <a:spcPct val="0"/>
              </a:spcBef>
              <a:spcAft>
                <a:spcPct val="35000"/>
              </a:spcAft>
              <a:defRPr/>
            </a:pPr>
            <a:r>
              <a:rPr lang="en-GB" sz="1600">
                <a:solidFill>
                  <a:srgbClr val="FFFFFF"/>
                </a:solidFill>
                <a:latin typeface="Frutiger Lt Std"/>
              </a:rPr>
              <a:t>Support ticket management</a:t>
            </a:r>
          </a:p>
        </p:txBody>
      </p:sp>
      <p:sp>
        <p:nvSpPr>
          <p:cNvPr id="28" name="Freeform: Shape 27">
            <a:extLst>
              <a:ext uri="{FF2B5EF4-FFF2-40B4-BE49-F238E27FC236}">
                <a16:creationId xmlns:a16="http://schemas.microsoft.com/office/drawing/2014/main" id="{1D58D0C8-3F39-0BA1-1875-F7F02F9B26EB}"/>
              </a:ext>
            </a:extLst>
          </p:cNvPr>
          <p:cNvSpPr/>
          <p:nvPr/>
        </p:nvSpPr>
        <p:spPr>
          <a:xfrm>
            <a:off x="15134550" y="2100336"/>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Free Open source</a:t>
            </a:r>
          </a:p>
        </p:txBody>
      </p:sp>
      <p:sp>
        <p:nvSpPr>
          <p:cNvPr id="29" name="Freeform: Shape 28">
            <a:extLst>
              <a:ext uri="{FF2B5EF4-FFF2-40B4-BE49-F238E27FC236}">
                <a16:creationId xmlns:a16="http://schemas.microsoft.com/office/drawing/2014/main" id="{09929C1A-896A-F249-F30E-BEAA4E014883}"/>
              </a:ext>
            </a:extLst>
          </p:cNvPr>
          <p:cNvSpPr/>
          <p:nvPr/>
        </p:nvSpPr>
        <p:spPr>
          <a:xfrm>
            <a:off x="14364069" y="2865525"/>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Version control management</a:t>
            </a:r>
          </a:p>
          <a:p>
            <a:pPr algn="ctr" defTabSz="266700">
              <a:lnSpc>
                <a:spcPct val="90000"/>
              </a:lnSpc>
              <a:spcBef>
                <a:spcPct val="0"/>
              </a:spcBef>
              <a:spcAft>
                <a:spcPct val="35000"/>
              </a:spcAft>
              <a:defRPr/>
            </a:pPr>
            <a:r>
              <a:rPr lang="en-GB" sz="1200">
                <a:solidFill>
                  <a:srgbClr val="FFFFFF"/>
                </a:solidFill>
                <a:latin typeface="Frutiger Lt Std"/>
              </a:rPr>
              <a:t>Tracks Changes</a:t>
            </a:r>
          </a:p>
        </p:txBody>
      </p:sp>
      <p:sp>
        <p:nvSpPr>
          <p:cNvPr id="31" name="Freeform: Shape 30">
            <a:extLst>
              <a:ext uri="{FF2B5EF4-FFF2-40B4-BE49-F238E27FC236}">
                <a16:creationId xmlns:a16="http://schemas.microsoft.com/office/drawing/2014/main" id="{FC612A0E-30CE-F7EF-247D-16752E4F7ACE}"/>
              </a:ext>
            </a:extLst>
          </p:cNvPr>
          <p:cNvSpPr/>
          <p:nvPr/>
        </p:nvSpPr>
        <p:spPr>
          <a:xfrm>
            <a:off x="12666760" y="4458684"/>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Allows parallel development</a:t>
            </a:r>
          </a:p>
        </p:txBody>
      </p:sp>
      <p:grpSp>
        <p:nvGrpSpPr>
          <p:cNvPr id="32" name="Group 31">
            <a:extLst>
              <a:ext uri="{FF2B5EF4-FFF2-40B4-BE49-F238E27FC236}">
                <a16:creationId xmlns:a16="http://schemas.microsoft.com/office/drawing/2014/main" id="{CD12C2BD-EC33-BF5F-5C86-60455A770DA8}"/>
              </a:ext>
            </a:extLst>
          </p:cNvPr>
          <p:cNvGrpSpPr/>
          <p:nvPr/>
        </p:nvGrpSpPr>
        <p:grpSpPr>
          <a:xfrm>
            <a:off x="-2945868" y="2400817"/>
            <a:ext cx="1501224" cy="2585323"/>
            <a:chOff x="1175540" y="2374692"/>
            <a:chExt cx="1501224" cy="2585323"/>
          </a:xfrm>
        </p:grpSpPr>
        <p:sp>
          <p:nvSpPr>
            <p:cNvPr id="33" name="Freeform: Shape 32">
              <a:extLst>
                <a:ext uri="{FF2B5EF4-FFF2-40B4-BE49-F238E27FC236}">
                  <a16:creationId xmlns:a16="http://schemas.microsoft.com/office/drawing/2014/main" id="{6E316B0D-6474-79FB-03CD-5779C0F314DD}"/>
                </a:ext>
              </a:extLst>
            </p:cNvPr>
            <p:cNvSpPr/>
            <p:nvPr/>
          </p:nvSpPr>
          <p:spPr>
            <a:xfrm>
              <a:off x="1175540"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GIT </a:t>
              </a:r>
            </a:p>
          </p:txBody>
        </p:sp>
        <p:sp>
          <p:nvSpPr>
            <p:cNvPr id="34" name="Oval 33">
              <a:extLst>
                <a:ext uri="{FF2B5EF4-FFF2-40B4-BE49-F238E27FC236}">
                  <a16:creationId xmlns:a16="http://schemas.microsoft.com/office/drawing/2014/main" id="{9E2AD99B-C765-A733-E5F7-EA970CE5D4ED}"/>
                </a:ext>
              </a:extLst>
            </p:cNvPr>
            <p:cNvSpPr/>
            <p:nvPr/>
          </p:nvSpPr>
          <p:spPr>
            <a:xfrm>
              <a:off x="1495696" y="2529811"/>
              <a:ext cx="860912" cy="860912"/>
            </a:xfrm>
            <a:prstGeom prst="ellipse">
              <a:avLst/>
            </a:prstGeom>
            <a:blipFill>
              <a:blip r:embed="rId5" cstate="print">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
        <p:nvSpPr>
          <p:cNvPr id="2" name="Freeform: Shape 1">
            <a:extLst>
              <a:ext uri="{FF2B5EF4-FFF2-40B4-BE49-F238E27FC236}">
                <a16:creationId xmlns:a16="http://schemas.microsoft.com/office/drawing/2014/main" id="{B27B1D9E-AB5C-19B5-281D-48A2CC06E011}"/>
              </a:ext>
            </a:extLst>
          </p:cNvPr>
          <p:cNvSpPr/>
          <p:nvPr/>
        </p:nvSpPr>
        <p:spPr>
          <a:xfrm>
            <a:off x="13437239" y="3662104"/>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400">
                <a:solidFill>
                  <a:srgbClr val="FFFFFF"/>
                </a:solidFill>
                <a:latin typeface="Frutiger Lt Std"/>
              </a:rPr>
              <a:t>Allow developers to work on same file at  same time and not lose their work</a:t>
            </a:r>
          </a:p>
        </p:txBody>
      </p:sp>
      <p:sp>
        <p:nvSpPr>
          <p:cNvPr id="10" name="Freeform: Shape 9">
            <a:extLst>
              <a:ext uri="{FF2B5EF4-FFF2-40B4-BE49-F238E27FC236}">
                <a16:creationId xmlns:a16="http://schemas.microsoft.com/office/drawing/2014/main" id="{AD7194B7-975E-2BA6-8E07-CBAF2D294878}"/>
              </a:ext>
            </a:extLst>
          </p:cNvPr>
          <p:cNvSpPr/>
          <p:nvPr/>
        </p:nvSpPr>
        <p:spPr>
          <a:xfrm>
            <a:off x="5071498" y="-6866608"/>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CLONE</a:t>
            </a:r>
            <a:r>
              <a:rPr lang="en-GB" sz="1200">
                <a:solidFill>
                  <a:srgbClr val="FFFFFF"/>
                </a:solidFill>
                <a:latin typeface="Frutiger Lt Std"/>
              </a:rPr>
              <a:t>: Create local copy of project</a:t>
            </a:r>
          </a:p>
        </p:txBody>
      </p:sp>
      <p:sp>
        <p:nvSpPr>
          <p:cNvPr id="11" name="Freeform: Shape 10">
            <a:extLst>
              <a:ext uri="{FF2B5EF4-FFF2-40B4-BE49-F238E27FC236}">
                <a16:creationId xmlns:a16="http://schemas.microsoft.com/office/drawing/2014/main" id="{08016E0F-EC2F-743F-22DB-06302D89DE54}"/>
              </a:ext>
            </a:extLst>
          </p:cNvPr>
          <p:cNvSpPr/>
          <p:nvPr/>
        </p:nvSpPr>
        <p:spPr>
          <a:xfrm>
            <a:off x="5083034" y="-5608669"/>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BRANCH</a:t>
            </a:r>
            <a:r>
              <a:rPr lang="en-GB" sz="1200">
                <a:solidFill>
                  <a:srgbClr val="FFFFFF"/>
                </a:solidFill>
                <a:latin typeface="Frutiger Lt Std"/>
              </a:rPr>
              <a:t>: Create working area linked to issue </a:t>
            </a:r>
          </a:p>
          <a:p>
            <a:pPr algn="ctr" defTabSz="266700">
              <a:lnSpc>
                <a:spcPct val="90000"/>
              </a:lnSpc>
              <a:spcBef>
                <a:spcPct val="0"/>
              </a:spcBef>
              <a:spcAft>
                <a:spcPct val="35000"/>
              </a:spcAft>
              <a:defRPr/>
            </a:pPr>
            <a:r>
              <a:rPr lang="en-GB" sz="1200">
                <a:solidFill>
                  <a:srgbClr val="FFFFFF"/>
                </a:solidFill>
                <a:latin typeface="Frutiger Lt Std"/>
              </a:rPr>
              <a:t>or feature</a:t>
            </a:r>
          </a:p>
        </p:txBody>
      </p:sp>
      <p:sp>
        <p:nvSpPr>
          <p:cNvPr id="12" name="Freeform: Shape 11">
            <a:extLst>
              <a:ext uri="{FF2B5EF4-FFF2-40B4-BE49-F238E27FC236}">
                <a16:creationId xmlns:a16="http://schemas.microsoft.com/office/drawing/2014/main" id="{F547E9BE-22C3-95D7-A62B-FACE874E2DB4}"/>
              </a:ext>
            </a:extLst>
          </p:cNvPr>
          <p:cNvSpPr/>
          <p:nvPr/>
        </p:nvSpPr>
        <p:spPr>
          <a:xfrm>
            <a:off x="5083034" y="-4350730"/>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COMMIT</a:t>
            </a:r>
            <a:r>
              <a:rPr lang="en-GB" sz="1200">
                <a:solidFill>
                  <a:srgbClr val="FFFFFF"/>
                </a:solidFill>
                <a:latin typeface="Frutiger Lt Std"/>
              </a:rPr>
              <a:t>: Save work back to GIT environment</a:t>
            </a:r>
          </a:p>
        </p:txBody>
      </p:sp>
      <p:sp>
        <p:nvSpPr>
          <p:cNvPr id="13" name="Freeform: Shape 12">
            <a:extLst>
              <a:ext uri="{FF2B5EF4-FFF2-40B4-BE49-F238E27FC236}">
                <a16:creationId xmlns:a16="http://schemas.microsoft.com/office/drawing/2014/main" id="{C6EEB8B4-036D-3F0A-4786-158104ECFECA}"/>
              </a:ext>
            </a:extLst>
          </p:cNvPr>
          <p:cNvSpPr/>
          <p:nvPr/>
        </p:nvSpPr>
        <p:spPr>
          <a:xfrm>
            <a:off x="5083033" y="-3092791"/>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PULL REQUEST</a:t>
            </a:r>
            <a:r>
              <a:rPr lang="en-GB" sz="1200">
                <a:solidFill>
                  <a:srgbClr val="FFFFFF"/>
                </a:solidFill>
                <a:latin typeface="Frutiger Lt Std"/>
              </a:rPr>
              <a:t>: Submit for review and comment</a:t>
            </a:r>
          </a:p>
        </p:txBody>
      </p:sp>
      <p:sp>
        <p:nvSpPr>
          <p:cNvPr id="14" name="Freeform: Shape 13">
            <a:extLst>
              <a:ext uri="{FF2B5EF4-FFF2-40B4-BE49-F238E27FC236}">
                <a16:creationId xmlns:a16="http://schemas.microsoft.com/office/drawing/2014/main" id="{A78D0927-D2E1-51D3-1B50-020B632F73DA}"/>
              </a:ext>
            </a:extLst>
          </p:cNvPr>
          <p:cNvSpPr/>
          <p:nvPr/>
        </p:nvSpPr>
        <p:spPr>
          <a:xfrm>
            <a:off x="5071499" y="-1834852"/>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MERGE</a:t>
            </a:r>
            <a:r>
              <a:rPr lang="en-GB" sz="1200">
                <a:solidFill>
                  <a:srgbClr val="FFFFFF"/>
                </a:solidFill>
                <a:latin typeface="Frutiger Lt Std"/>
              </a:rPr>
              <a:t>: Blends code into MAIN Repository</a:t>
            </a:r>
          </a:p>
        </p:txBody>
      </p:sp>
    </p:spTree>
    <p:extLst>
      <p:ext uri="{BB962C8B-B14F-4D97-AF65-F5344CB8AC3E}">
        <p14:creationId xmlns:p14="http://schemas.microsoft.com/office/powerpoint/2010/main" val="471162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8285" y="4861159"/>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a:t>Design Overview</a:t>
            </a:r>
            <a:endParaRPr lang="en-GB" sz="200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1794273" y="1615447"/>
            <a:ext cx="3206353" cy="301057"/>
          </a:xfrm>
        </p:spPr>
        <p:txBody>
          <a:bodyPr/>
          <a:lstStyle/>
          <a:p>
            <a:r>
              <a:rPr lang="en-GB"/>
              <a:t>Warehouse Toolset</a:t>
            </a:r>
          </a:p>
        </p:txBody>
      </p:sp>
      <p:sp>
        <p:nvSpPr>
          <p:cNvPr id="11" name="Freeform: Shape 10">
            <a:extLst>
              <a:ext uri="{FF2B5EF4-FFF2-40B4-BE49-F238E27FC236}">
                <a16:creationId xmlns:a16="http://schemas.microsoft.com/office/drawing/2014/main" id="{C172F689-D212-BCCB-9E1C-620D68FF4C1F}"/>
              </a:ext>
            </a:extLst>
          </p:cNvPr>
          <p:cNvSpPr/>
          <p:nvPr/>
        </p:nvSpPr>
        <p:spPr>
          <a:xfrm>
            <a:off x="5143665" y="1990258"/>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CLONE</a:t>
            </a:r>
            <a:r>
              <a:rPr lang="en-GB" sz="1200">
                <a:solidFill>
                  <a:srgbClr val="FFFFFF"/>
                </a:solidFill>
                <a:latin typeface="Frutiger Lt Std"/>
              </a:rPr>
              <a:t>: Create local copy of project</a:t>
            </a:r>
          </a:p>
        </p:txBody>
      </p:sp>
      <p:sp>
        <p:nvSpPr>
          <p:cNvPr id="12" name="Freeform: Shape 11">
            <a:extLst>
              <a:ext uri="{FF2B5EF4-FFF2-40B4-BE49-F238E27FC236}">
                <a16:creationId xmlns:a16="http://schemas.microsoft.com/office/drawing/2014/main" id="{05821356-FE49-5844-5AF7-46F7621D2348}"/>
              </a:ext>
            </a:extLst>
          </p:cNvPr>
          <p:cNvSpPr/>
          <p:nvPr/>
        </p:nvSpPr>
        <p:spPr>
          <a:xfrm>
            <a:off x="5143665" y="2737341"/>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BRANCH</a:t>
            </a:r>
            <a:r>
              <a:rPr lang="en-GB" sz="1200">
                <a:solidFill>
                  <a:srgbClr val="FFFFFF"/>
                </a:solidFill>
                <a:latin typeface="Frutiger Lt Std"/>
              </a:rPr>
              <a:t>: Create working area linked to issue </a:t>
            </a:r>
          </a:p>
          <a:p>
            <a:pPr algn="ctr" defTabSz="266700">
              <a:lnSpc>
                <a:spcPct val="90000"/>
              </a:lnSpc>
              <a:spcBef>
                <a:spcPct val="0"/>
              </a:spcBef>
              <a:spcAft>
                <a:spcPct val="35000"/>
              </a:spcAft>
              <a:defRPr/>
            </a:pPr>
            <a:r>
              <a:rPr lang="en-GB" sz="1200">
                <a:solidFill>
                  <a:srgbClr val="FFFFFF"/>
                </a:solidFill>
                <a:latin typeface="Frutiger Lt Std"/>
              </a:rPr>
              <a:t>or feature</a:t>
            </a:r>
          </a:p>
        </p:txBody>
      </p:sp>
      <p:sp>
        <p:nvSpPr>
          <p:cNvPr id="13" name="Freeform: Shape 12">
            <a:extLst>
              <a:ext uri="{FF2B5EF4-FFF2-40B4-BE49-F238E27FC236}">
                <a16:creationId xmlns:a16="http://schemas.microsoft.com/office/drawing/2014/main" id="{407CB9BC-9A6A-C11B-DE7B-83ED8D4A26B7}"/>
              </a:ext>
            </a:extLst>
          </p:cNvPr>
          <p:cNvSpPr/>
          <p:nvPr/>
        </p:nvSpPr>
        <p:spPr>
          <a:xfrm>
            <a:off x="5143665" y="3484424"/>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COMMIT</a:t>
            </a:r>
            <a:r>
              <a:rPr lang="en-GB" sz="1200">
                <a:solidFill>
                  <a:srgbClr val="FFFFFF"/>
                </a:solidFill>
                <a:latin typeface="Frutiger Lt Std"/>
              </a:rPr>
              <a:t>: Save work back to GIT environment</a:t>
            </a:r>
          </a:p>
        </p:txBody>
      </p:sp>
      <p:grpSp>
        <p:nvGrpSpPr>
          <p:cNvPr id="14" name="Group 13">
            <a:extLst>
              <a:ext uri="{FF2B5EF4-FFF2-40B4-BE49-F238E27FC236}">
                <a16:creationId xmlns:a16="http://schemas.microsoft.com/office/drawing/2014/main" id="{22BCAA26-0480-8FB9-4450-5F7F60E527ED}"/>
              </a:ext>
            </a:extLst>
          </p:cNvPr>
          <p:cNvGrpSpPr/>
          <p:nvPr/>
        </p:nvGrpSpPr>
        <p:grpSpPr>
          <a:xfrm>
            <a:off x="1794272" y="2347410"/>
            <a:ext cx="1399830" cy="2585323"/>
            <a:chOff x="1175540" y="2374692"/>
            <a:chExt cx="1501224" cy="2585323"/>
          </a:xfrm>
          <a:effectLst>
            <a:outerShdw blurRad="50800" dist="38100" dir="2700000" algn="tl" rotWithShape="0">
              <a:prstClr val="black">
                <a:alpha val="40000"/>
              </a:prstClr>
            </a:outerShdw>
          </a:effectLst>
        </p:grpSpPr>
        <p:sp>
          <p:nvSpPr>
            <p:cNvPr id="15" name="Freeform: Shape 14">
              <a:extLst>
                <a:ext uri="{FF2B5EF4-FFF2-40B4-BE49-F238E27FC236}">
                  <a16:creationId xmlns:a16="http://schemas.microsoft.com/office/drawing/2014/main" id="{57D0374E-D4E1-A13D-470A-CDEDED7B2CE2}"/>
                </a:ext>
              </a:extLst>
            </p:cNvPr>
            <p:cNvSpPr/>
            <p:nvPr/>
          </p:nvSpPr>
          <p:spPr>
            <a:xfrm>
              <a:off x="1175540"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GIT </a:t>
              </a:r>
            </a:p>
          </p:txBody>
        </p:sp>
        <p:sp>
          <p:nvSpPr>
            <p:cNvPr id="16" name="Oval 15">
              <a:extLst>
                <a:ext uri="{FF2B5EF4-FFF2-40B4-BE49-F238E27FC236}">
                  <a16:creationId xmlns:a16="http://schemas.microsoft.com/office/drawing/2014/main" id="{31D3EDD6-C8A1-4838-A18D-C9DAF6C7462F}"/>
                </a:ext>
              </a:extLst>
            </p:cNvPr>
            <p:cNvSpPr/>
            <p:nvPr/>
          </p:nvSpPr>
          <p:spPr>
            <a:xfrm>
              <a:off x="1495696" y="2529811"/>
              <a:ext cx="860912" cy="860912"/>
            </a:xfrm>
            <a:prstGeom prst="ellipse">
              <a:avLst/>
            </a:prstGeom>
            <a:blipFill>
              <a:blip r:embed="rId4" cstate="print">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
        <p:nvSpPr>
          <p:cNvPr id="17" name="Freeform: Shape 16">
            <a:extLst>
              <a:ext uri="{FF2B5EF4-FFF2-40B4-BE49-F238E27FC236}">
                <a16:creationId xmlns:a16="http://schemas.microsoft.com/office/drawing/2014/main" id="{B480822C-63EB-4CA2-7AD5-B32474C6A927}"/>
              </a:ext>
            </a:extLst>
          </p:cNvPr>
          <p:cNvSpPr/>
          <p:nvPr/>
        </p:nvSpPr>
        <p:spPr>
          <a:xfrm>
            <a:off x="5143664" y="4231507"/>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PULL REQUEST</a:t>
            </a:r>
            <a:r>
              <a:rPr lang="en-GB" sz="1200">
                <a:solidFill>
                  <a:srgbClr val="FFFFFF"/>
                </a:solidFill>
                <a:latin typeface="Frutiger Lt Std"/>
              </a:rPr>
              <a:t>: Submit for review and comment</a:t>
            </a:r>
          </a:p>
        </p:txBody>
      </p:sp>
      <p:grpSp>
        <p:nvGrpSpPr>
          <p:cNvPr id="2" name="Group 1">
            <a:extLst>
              <a:ext uri="{FF2B5EF4-FFF2-40B4-BE49-F238E27FC236}">
                <a16:creationId xmlns:a16="http://schemas.microsoft.com/office/drawing/2014/main" id="{F8A07255-187F-7928-2C04-DB3EFB41B34B}"/>
              </a:ext>
            </a:extLst>
          </p:cNvPr>
          <p:cNvGrpSpPr/>
          <p:nvPr/>
        </p:nvGrpSpPr>
        <p:grpSpPr>
          <a:xfrm>
            <a:off x="3310384" y="2356176"/>
            <a:ext cx="1461935" cy="2585323"/>
            <a:chOff x="2721801" y="2374692"/>
            <a:chExt cx="1501224" cy="2585323"/>
          </a:xfrm>
          <a:effectLst>
            <a:outerShdw blurRad="50800" dist="38100" dir="2700000" algn="tl" rotWithShape="0">
              <a:prstClr val="black">
                <a:alpha val="40000"/>
              </a:prstClr>
            </a:outerShdw>
          </a:effectLst>
        </p:grpSpPr>
        <p:sp>
          <p:nvSpPr>
            <p:cNvPr id="3" name="Freeform: Shape 2">
              <a:extLst>
                <a:ext uri="{FF2B5EF4-FFF2-40B4-BE49-F238E27FC236}">
                  <a16:creationId xmlns:a16="http://schemas.microsoft.com/office/drawing/2014/main" id="{1242C121-DD6C-545C-39B7-9489AE061DB1}"/>
                </a:ext>
              </a:extLst>
            </p:cNvPr>
            <p:cNvSpPr/>
            <p:nvPr/>
          </p:nvSpPr>
          <p:spPr>
            <a:xfrm>
              <a:off x="2721801"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GITHUB</a:t>
              </a:r>
            </a:p>
          </p:txBody>
        </p:sp>
        <p:sp>
          <p:nvSpPr>
            <p:cNvPr id="8" name="Oval 7">
              <a:extLst>
                <a:ext uri="{FF2B5EF4-FFF2-40B4-BE49-F238E27FC236}">
                  <a16:creationId xmlns:a16="http://schemas.microsoft.com/office/drawing/2014/main" id="{0DC78EB6-F1EF-3EA4-2DEA-C59CF247E848}"/>
                </a:ext>
              </a:extLst>
            </p:cNvPr>
            <p:cNvSpPr/>
            <p:nvPr/>
          </p:nvSpPr>
          <p:spPr>
            <a:xfrm>
              <a:off x="3041957" y="2529811"/>
              <a:ext cx="860912" cy="860912"/>
            </a:xfrm>
            <a:prstGeom prst="ellipse">
              <a:avLst/>
            </a:prstGeom>
            <a:blipFill>
              <a:blip r:embed="rId5" cstate="print">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
        <p:nvSpPr>
          <p:cNvPr id="9" name="Freeform: Shape 8">
            <a:extLst>
              <a:ext uri="{FF2B5EF4-FFF2-40B4-BE49-F238E27FC236}">
                <a16:creationId xmlns:a16="http://schemas.microsoft.com/office/drawing/2014/main" id="{F8032DBB-496A-EA4F-4A36-2E42BF678876}"/>
              </a:ext>
            </a:extLst>
          </p:cNvPr>
          <p:cNvSpPr/>
          <p:nvPr/>
        </p:nvSpPr>
        <p:spPr>
          <a:xfrm>
            <a:off x="5132130" y="4978591"/>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MERGE</a:t>
            </a:r>
            <a:r>
              <a:rPr lang="en-GB" sz="1200">
                <a:solidFill>
                  <a:srgbClr val="FFFFFF"/>
                </a:solidFill>
                <a:latin typeface="Frutiger Lt Std"/>
              </a:rPr>
              <a:t>: Blends code into MAIN Repository</a:t>
            </a:r>
          </a:p>
        </p:txBody>
      </p:sp>
      <p:sp>
        <p:nvSpPr>
          <p:cNvPr id="10" name="Freeform: Shape 9">
            <a:extLst>
              <a:ext uri="{FF2B5EF4-FFF2-40B4-BE49-F238E27FC236}">
                <a16:creationId xmlns:a16="http://schemas.microsoft.com/office/drawing/2014/main" id="{9D0B6CFE-5A24-B8B5-DB46-B253A8535B0B}"/>
              </a:ext>
            </a:extLst>
          </p:cNvPr>
          <p:cNvSpPr/>
          <p:nvPr/>
        </p:nvSpPr>
        <p:spPr>
          <a:xfrm>
            <a:off x="16419221" y="2161743"/>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US" sz="1200">
                <a:solidFill>
                  <a:srgbClr val="FFFFFF"/>
                </a:solidFill>
                <a:latin typeface="Frutiger Lt Std"/>
              </a:rPr>
              <a:t>Cloud based hosting service for Git Repositories</a:t>
            </a:r>
          </a:p>
        </p:txBody>
      </p:sp>
      <p:sp>
        <p:nvSpPr>
          <p:cNvPr id="18" name="Freeform: Shape 17">
            <a:extLst>
              <a:ext uri="{FF2B5EF4-FFF2-40B4-BE49-F238E27FC236}">
                <a16:creationId xmlns:a16="http://schemas.microsoft.com/office/drawing/2014/main" id="{246AE07A-8FB5-AA3A-8195-622AAD382943}"/>
              </a:ext>
            </a:extLst>
          </p:cNvPr>
          <p:cNvSpPr/>
          <p:nvPr/>
        </p:nvSpPr>
        <p:spPr>
          <a:xfrm>
            <a:off x="15590822" y="2949734"/>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Easier to collaborate</a:t>
            </a:r>
          </a:p>
        </p:txBody>
      </p:sp>
      <p:sp>
        <p:nvSpPr>
          <p:cNvPr id="19" name="Freeform: Shape 18">
            <a:extLst>
              <a:ext uri="{FF2B5EF4-FFF2-40B4-BE49-F238E27FC236}">
                <a16:creationId xmlns:a16="http://schemas.microsoft.com/office/drawing/2014/main" id="{0CBEAE04-87DC-A750-7EC0-337FE2FC2F9D}"/>
              </a:ext>
            </a:extLst>
          </p:cNvPr>
          <p:cNvSpPr/>
          <p:nvPr/>
        </p:nvSpPr>
        <p:spPr>
          <a:xfrm>
            <a:off x="14721910" y="3723617"/>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Project management</a:t>
            </a:r>
          </a:p>
        </p:txBody>
      </p:sp>
      <p:sp>
        <p:nvSpPr>
          <p:cNvPr id="20" name="Freeform: Shape 19">
            <a:extLst>
              <a:ext uri="{FF2B5EF4-FFF2-40B4-BE49-F238E27FC236}">
                <a16:creationId xmlns:a16="http://schemas.microsoft.com/office/drawing/2014/main" id="{2C5566AA-2F56-0D51-3BF7-63A7C84F030A}"/>
              </a:ext>
            </a:extLst>
          </p:cNvPr>
          <p:cNvSpPr/>
          <p:nvPr/>
        </p:nvSpPr>
        <p:spPr>
          <a:xfrm>
            <a:off x="13024600" y="4511608"/>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755650">
              <a:lnSpc>
                <a:spcPct val="90000"/>
              </a:lnSpc>
              <a:spcBef>
                <a:spcPct val="0"/>
              </a:spcBef>
              <a:spcAft>
                <a:spcPct val="35000"/>
              </a:spcAft>
              <a:defRPr/>
            </a:pPr>
            <a:r>
              <a:rPr lang="en-GB" sz="1200">
                <a:solidFill>
                  <a:srgbClr val="FFFFFF"/>
                </a:solidFill>
                <a:latin typeface="Frutiger Lt Std"/>
              </a:rPr>
              <a:t>Support ticket management</a:t>
            </a:r>
          </a:p>
        </p:txBody>
      </p:sp>
      <p:sp>
        <p:nvSpPr>
          <p:cNvPr id="21" name="Freeform: Shape 20">
            <a:extLst>
              <a:ext uri="{FF2B5EF4-FFF2-40B4-BE49-F238E27FC236}">
                <a16:creationId xmlns:a16="http://schemas.microsoft.com/office/drawing/2014/main" id="{5670B767-9182-4281-9736-069FBE8346CD}"/>
              </a:ext>
            </a:extLst>
          </p:cNvPr>
          <p:cNvSpPr/>
          <p:nvPr/>
        </p:nvSpPr>
        <p:spPr>
          <a:xfrm>
            <a:off x="5132130" y="-4088710"/>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US" sz="1200">
                <a:solidFill>
                  <a:srgbClr val="FFFFFF"/>
                </a:solidFill>
                <a:latin typeface="Frutiger Lt Std"/>
              </a:rPr>
              <a:t>Streamlined code editor</a:t>
            </a:r>
          </a:p>
        </p:txBody>
      </p:sp>
      <p:sp>
        <p:nvSpPr>
          <p:cNvPr id="22" name="Freeform: Shape 21">
            <a:extLst>
              <a:ext uri="{FF2B5EF4-FFF2-40B4-BE49-F238E27FC236}">
                <a16:creationId xmlns:a16="http://schemas.microsoft.com/office/drawing/2014/main" id="{89D32E5A-C09A-90C5-B216-191B31BBBD2E}"/>
              </a:ext>
            </a:extLst>
          </p:cNvPr>
          <p:cNvSpPr/>
          <p:nvPr/>
        </p:nvSpPr>
        <p:spPr>
          <a:xfrm>
            <a:off x="5143664" y="-5402109"/>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Built on Open source</a:t>
            </a:r>
          </a:p>
        </p:txBody>
      </p:sp>
      <p:sp>
        <p:nvSpPr>
          <p:cNvPr id="23" name="Freeform: Shape 22">
            <a:extLst>
              <a:ext uri="{FF2B5EF4-FFF2-40B4-BE49-F238E27FC236}">
                <a16:creationId xmlns:a16="http://schemas.microsoft.com/office/drawing/2014/main" id="{D973EC19-E4D0-0281-2663-FC1C16F39290}"/>
              </a:ext>
            </a:extLst>
          </p:cNvPr>
          <p:cNvSpPr/>
          <p:nvPr/>
        </p:nvSpPr>
        <p:spPr>
          <a:xfrm>
            <a:off x="5132130" y="-2775311"/>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Integrated Development Environment</a:t>
            </a:r>
          </a:p>
        </p:txBody>
      </p:sp>
      <p:sp>
        <p:nvSpPr>
          <p:cNvPr id="24" name="Freeform: Shape 23">
            <a:extLst>
              <a:ext uri="{FF2B5EF4-FFF2-40B4-BE49-F238E27FC236}">
                <a16:creationId xmlns:a16="http://schemas.microsoft.com/office/drawing/2014/main" id="{A36EFBE4-CCCE-C8CC-252B-ED39B60FD5C1}"/>
              </a:ext>
            </a:extLst>
          </p:cNvPr>
          <p:cNvSpPr/>
          <p:nvPr/>
        </p:nvSpPr>
        <p:spPr>
          <a:xfrm>
            <a:off x="5132130" y="-1461912"/>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Expandable: SQL, Python, C++ </a:t>
            </a:r>
          </a:p>
        </p:txBody>
      </p:sp>
      <p:grpSp>
        <p:nvGrpSpPr>
          <p:cNvPr id="28" name="Group 27">
            <a:extLst>
              <a:ext uri="{FF2B5EF4-FFF2-40B4-BE49-F238E27FC236}">
                <a16:creationId xmlns:a16="http://schemas.microsoft.com/office/drawing/2014/main" id="{A662E0CD-AAD6-9B8B-8B2D-EAE0C77EFC8E}"/>
              </a:ext>
            </a:extLst>
          </p:cNvPr>
          <p:cNvGrpSpPr/>
          <p:nvPr/>
        </p:nvGrpSpPr>
        <p:grpSpPr>
          <a:xfrm>
            <a:off x="-3010187" y="2365812"/>
            <a:ext cx="1354868" cy="2575686"/>
            <a:chOff x="-578192" y="2304203"/>
            <a:chExt cx="1501223" cy="2726300"/>
          </a:xfrm>
        </p:grpSpPr>
        <p:sp>
          <p:nvSpPr>
            <p:cNvPr id="29" name="Freeform: Shape 28">
              <a:extLst>
                <a:ext uri="{FF2B5EF4-FFF2-40B4-BE49-F238E27FC236}">
                  <a16:creationId xmlns:a16="http://schemas.microsoft.com/office/drawing/2014/main" id="{BA53833E-26E7-D978-F6E1-79A0EB225950}"/>
                </a:ext>
              </a:extLst>
            </p:cNvPr>
            <p:cNvSpPr/>
            <p:nvPr/>
          </p:nvSpPr>
          <p:spPr>
            <a:xfrm>
              <a:off x="-578192" y="2304203"/>
              <a:ext cx="1501223" cy="2726300"/>
            </a:xfrm>
            <a:custGeom>
              <a:avLst/>
              <a:gdLst>
                <a:gd name="connsiteX0" fmla="*/ 0 w 2155500"/>
                <a:gd name="connsiteY0" fmla="*/ 215550 h 2585322"/>
                <a:gd name="connsiteX1" fmla="*/ 215550 w 2155500"/>
                <a:gd name="connsiteY1" fmla="*/ 0 h 2585322"/>
                <a:gd name="connsiteX2" fmla="*/ 1939950 w 2155500"/>
                <a:gd name="connsiteY2" fmla="*/ 0 h 2585322"/>
                <a:gd name="connsiteX3" fmla="*/ 2155500 w 2155500"/>
                <a:gd name="connsiteY3" fmla="*/ 215550 h 2585322"/>
                <a:gd name="connsiteX4" fmla="*/ 2155500 w 2155500"/>
                <a:gd name="connsiteY4" fmla="*/ 2369772 h 2585322"/>
                <a:gd name="connsiteX5" fmla="*/ 1939950 w 2155500"/>
                <a:gd name="connsiteY5" fmla="*/ 2585322 h 2585322"/>
                <a:gd name="connsiteX6" fmla="*/ 215550 w 2155500"/>
                <a:gd name="connsiteY6" fmla="*/ 2585322 h 2585322"/>
                <a:gd name="connsiteX7" fmla="*/ 0 w 2155500"/>
                <a:gd name="connsiteY7" fmla="*/ 2369772 h 2585322"/>
                <a:gd name="connsiteX8" fmla="*/ 0 w 2155500"/>
                <a:gd name="connsiteY8" fmla="*/ 215550 h 258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500" h="2585322">
                  <a:moveTo>
                    <a:pt x="0" y="215550"/>
                  </a:moveTo>
                  <a:cubicBezTo>
                    <a:pt x="0" y="96505"/>
                    <a:pt x="96505" y="0"/>
                    <a:pt x="215550" y="0"/>
                  </a:cubicBezTo>
                  <a:lnTo>
                    <a:pt x="1939950" y="0"/>
                  </a:lnTo>
                  <a:cubicBezTo>
                    <a:pt x="2058995" y="0"/>
                    <a:pt x="2155500" y="96505"/>
                    <a:pt x="2155500" y="215550"/>
                  </a:cubicBezTo>
                  <a:lnTo>
                    <a:pt x="2155500" y="2369772"/>
                  </a:lnTo>
                  <a:cubicBezTo>
                    <a:pt x="2155500" y="2488817"/>
                    <a:pt x="2058995" y="2585322"/>
                    <a:pt x="1939950" y="2585322"/>
                  </a:cubicBezTo>
                  <a:lnTo>
                    <a:pt x="215550" y="2585322"/>
                  </a:lnTo>
                  <a:cubicBezTo>
                    <a:pt x="96505" y="2585322"/>
                    <a:pt x="0" y="2488817"/>
                    <a:pt x="0" y="2369772"/>
                  </a:cubicBezTo>
                  <a:lnTo>
                    <a:pt x="0" y="21555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6" rIns="170688" bIns="687754"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Azure Data Studio</a:t>
              </a:r>
            </a:p>
          </p:txBody>
        </p:sp>
        <p:sp>
          <p:nvSpPr>
            <p:cNvPr id="30" name="Oval 29">
              <a:extLst>
                <a:ext uri="{FF2B5EF4-FFF2-40B4-BE49-F238E27FC236}">
                  <a16:creationId xmlns:a16="http://schemas.microsoft.com/office/drawing/2014/main" id="{B375281D-790A-C7C3-4A33-C14E0D43BE0A}"/>
                </a:ext>
              </a:extLst>
            </p:cNvPr>
            <p:cNvSpPr/>
            <p:nvPr/>
          </p:nvSpPr>
          <p:spPr>
            <a:xfrm>
              <a:off x="-258037" y="2491252"/>
              <a:ext cx="860912" cy="860912"/>
            </a:xfrm>
            <a:prstGeom prst="ellipse">
              <a:avLst/>
            </a:prstGeom>
            <a:blipFill>
              <a:blip r:embed="rId6">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31" name="Group 30">
            <a:extLst>
              <a:ext uri="{FF2B5EF4-FFF2-40B4-BE49-F238E27FC236}">
                <a16:creationId xmlns:a16="http://schemas.microsoft.com/office/drawing/2014/main" id="{678B9B08-B9F0-AD84-6F9A-0F47B525987D}"/>
              </a:ext>
            </a:extLst>
          </p:cNvPr>
          <p:cNvGrpSpPr/>
          <p:nvPr/>
        </p:nvGrpSpPr>
        <p:grpSpPr>
          <a:xfrm>
            <a:off x="-6541212" y="2393268"/>
            <a:ext cx="1354869" cy="2585323"/>
            <a:chOff x="3847264" y="2304203"/>
            <a:chExt cx="1354869" cy="2585323"/>
          </a:xfrm>
        </p:grpSpPr>
        <p:sp>
          <p:nvSpPr>
            <p:cNvPr id="32" name="Freeform: Shape 31">
              <a:extLst>
                <a:ext uri="{FF2B5EF4-FFF2-40B4-BE49-F238E27FC236}">
                  <a16:creationId xmlns:a16="http://schemas.microsoft.com/office/drawing/2014/main" id="{32769288-24D2-1DC4-84B5-5FD6135A55F8}"/>
                </a:ext>
              </a:extLst>
            </p:cNvPr>
            <p:cNvSpPr/>
            <p:nvPr/>
          </p:nvSpPr>
          <p:spPr>
            <a:xfrm>
              <a:off x="3847264" y="2304203"/>
              <a:ext cx="1354869"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Visual Studio Code</a:t>
              </a:r>
            </a:p>
          </p:txBody>
        </p:sp>
        <p:sp>
          <p:nvSpPr>
            <p:cNvPr id="33" name="Oval 32">
              <a:extLst>
                <a:ext uri="{FF2B5EF4-FFF2-40B4-BE49-F238E27FC236}">
                  <a16:creationId xmlns:a16="http://schemas.microsoft.com/office/drawing/2014/main" id="{F7B715C6-B0E4-FCFA-3F8A-D46378ED8C64}"/>
                </a:ext>
              </a:extLst>
            </p:cNvPr>
            <p:cNvSpPr/>
            <p:nvPr/>
          </p:nvSpPr>
          <p:spPr>
            <a:xfrm>
              <a:off x="4238975" y="2556140"/>
              <a:ext cx="571446" cy="667276"/>
            </a:xfrm>
            <a:prstGeom prst="ellipse">
              <a:avLst/>
            </a:prstGeom>
            <a:blipFill>
              <a:blip r:embed="rId7">
                <a:extLst>
                  <a:ext uri="{96DAC541-7B7A-43D3-8B79-37D633B846F1}">
                    <asvg:svgBlip xmlns:asvg="http://schemas.microsoft.com/office/drawing/2016/SVG/main" r:embed="rId8"/>
                  </a:ext>
                </a:extLst>
              </a:blip>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Tree>
    <p:extLst>
      <p:ext uri="{BB962C8B-B14F-4D97-AF65-F5344CB8AC3E}">
        <p14:creationId xmlns:p14="http://schemas.microsoft.com/office/powerpoint/2010/main" val="2063927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a:t>Design Overview</a:t>
            </a:r>
            <a:endParaRPr lang="en-GB" sz="200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1794273" y="1615447"/>
            <a:ext cx="3242938" cy="301057"/>
          </a:xfrm>
        </p:spPr>
        <p:txBody>
          <a:bodyPr/>
          <a:lstStyle/>
          <a:p>
            <a:r>
              <a:rPr lang="en-GB"/>
              <a:t>Warehouse Toolset</a:t>
            </a:r>
          </a:p>
        </p:txBody>
      </p:sp>
      <p:sp>
        <p:nvSpPr>
          <p:cNvPr id="18" name="Freeform: Shape 17">
            <a:extLst>
              <a:ext uri="{FF2B5EF4-FFF2-40B4-BE49-F238E27FC236}">
                <a16:creationId xmlns:a16="http://schemas.microsoft.com/office/drawing/2014/main" id="{C601B0FD-6CCA-3D59-0C05-962867807514}"/>
              </a:ext>
            </a:extLst>
          </p:cNvPr>
          <p:cNvSpPr/>
          <p:nvPr/>
        </p:nvSpPr>
        <p:spPr>
          <a:xfrm>
            <a:off x="5037211" y="3038161"/>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US" sz="1600">
                <a:solidFill>
                  <a:srgbClr val="FFFFFF"/>
                </a:solidFill>
                <a:latin typeface="Frutiger Lt Std"/>
              </a:rPr>
              <a:t>Streamlined code editor</a:t>
            </a:r>
          </a:p>
        </p:txBody>
      </p:sp>
      <p:sp>
        <p:nvSpPr>
          <p:cNvPr id="19" name="Freeform: Shape 18">
            <a:extLst>
              <a:ext uri="{FF2B5EF4-FFF2-40B4-BE49-F238E27FC236}">
                <a16:creationId xmlns:a16="http://schemas.microsoft.com/office/drawing/2014/main" id="{656F1C6A-1B12-5A14-1574-D52BD83E974B}"/>
              </a:ext>
            </a:extLst>
          </p:cNvPr>
          <p:cNvSpPr/>
          <p:nvPr/>
        </p:nvSpPr>
        <p:spPr>
          <a:xfrm>
            <a:off x="5037211" y="2258561"/>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600">
                <a:solidFill>
                  <a:srgbClr val="FFFFFF"/>
                </a:solidFill>
                <a:latin typeface="Frutiger Lt Std"/>
              </a:rPr>
              <a:t>Built on Open source</a:t>
            </a:r>
          </a:p>
        </p:txBody>
      </p:sp>
      <p:sp>
        <p:nvSpPr>
          <p:cNvPr id="20" name="Freeform: Shape 19">
            <a:extLst>
              <a:ext uri="{FF2B5EF4-FFF2-40B4-BE49-F238E27FC236}">
                <a16:creationId xmlns:a16="http://schemas.microsoft.com/office/drawing/2014/main" id="{34CB20B8-1714-5553-F9A3-E7F93E8194EA}"/>
              </a:ext>
            </a:extLst>
          </p:cNvPr>
          <p:cNvSpPr/>
          <p:nvPr/>
        </p:nvSpPr>
        <p:spPr>
          <a:xfrm>
            <a:off x="5037211" y="3817761"/>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600">
                <a:solidFill>
                  <a:srgbClr val="FFFFFF"/>
                </a:solidFill>
                <a:latin typeface="Frutiger Lt Std"/>
              </a:rPr>
              <a:t>Integrated Development Environment</a:t>
            </a:r>
          </a:p>
        </p:txBody>
      </p:sp>
      <p:sp>
        <p:nvSpPr>
          <p:cNvPr id="15" name="Freeform: Shape 14">
            <a:extLst>
              <a:ext uri="{FF2B5EF4-FFF2-40B4-BE49-F238E27FC236}">
                <a16:creationId xmlns:a16="http://schemas.microsoft.com/office/drawing/2014/main" id="{685F8BA6-DDDC-569B-9320-46B3385DECD4}"/>
              </a:ext>
            </a:extLst>
          </p:cNvPr>
          <p:cNvSpPr/>
          <p:nvPr/>
        </p:nvSpPr>
        <p:spPr>
          <a:xfrm>
            <a:off x="5037211" y="4597362"/>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600">
                <a:solidFill>
                  <a:srgbClr val="FFFFFF"/>
                </a:solidFill>
                <a:latin typeface="Frutiger Lt Std"/>
              </a:rPr>
              <a:t>Expandable: SQL, Python, C++ </a:t>
            </a:r>
          </a:p>
        </p:txBody>
      </p:sp>
      <p:sp>
        <p:nvSpPr>
          <p:cNvPr id="26" name="Freeform: Shape 25">
            <a:extLst>
              <a:ext uri="{FF2B5EF4-FFF2-40B4-BE49-F238E27FC236}">
                <a16:creationId xmlns:a16="http://schemas.microsoft.com/office/drawing/2014/main" id="{51873DED-D92B-79D7-4024-680E2343D7AA}"/>
              </a:ext>
            </a:extLst>
          </p:cNvPr>
          <p:cNvSpPr/>
          <p:nvPr/>
        </p:nvSpPr>
        <p:spPr>
          <a:xfrm>
            <a:off x="9228076" y="-3924570"/>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US" sz="1200">
                <a:solidFill>
                  <a:srgbClr val="FFFFFF"/>
                </a:solidFill>
                <a:latin typeface="Frutiger Lt Std"/>
              </a:rPr>
              <a:t>Collaborate on flowcharts</a:t>
            </a:r>
          </a:p>
        </p:txBody>
      </p:sp>
      <p:sp>
        <p:nvSpPr>
          <p:cNvPr id="27" name="Freeform: Shape 26">
            <a:extLst>
              <a:ext uri="{FF2B5EF4-FFF2-40B4-BE49-F238E27FC236}">
                <a16:creationId xmlns:a16="http://schemas.microsoft.com/office/drawing/2014/main" id="{5FEF3E88-E774-B413-64BA-99BCE84AA089}"/>
              </a:ext>
            </a:extLst>
          </p:cNvPr>
          <p:cNvSpPr/>
          <p:nvPr/>
        </p:nvSpPr>
        <p:spPr>
          <a:xfrm>
            <a:off x="8281899" y="-4777343"/>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Diagramming software</a:t>
            </a:r>
          </a:p>
        </p:txBody>
      </p:sp>
      <p:sp>
        <p:nvSpPr>
          <p:cNvPr id="28" name="Freeform: Shape 27">
            <a:extLst>
              <a:ext uri="{FF2B5EF4-FFF2-40B4-BE49-F238E27FC236}">
                <a16:creationId xmlns:a16="http://schemas.microsoft.com/office/drawing/2014/main" id="{2159C61F-BFAE-5BFE-D7C3-89F58871CF38}"/>
              </a:ext>
            </a:extLst>
          </p:cNvPr>
          <p:cNvSpPr/>
          <p:nvPr/>
        </p:nvSpPr>
        <p:spPr>
          <a:xfrm>
            <a:off x="6840976" y="-4274121"/>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Export</a:t>
            </a:r>
          </a:p>
        </p:txBody>
      </p:sp>
      <p:grpSp>
        <p:nvGrpSpPr>
          <p:cNvPr id="29" name="Group 28">
            <a:extLst>
              <a:ext uri="{FF2B5EF4-FFF2-40B4-BE49-F238E27FC236}">
                <a16:creationId xmlns:a16="http://schemas.microsoft.com/office/drawing/2014/main" id="{A6FDB7F9-213F-689E-F797-10092E2A6253}"/>
              </a:ext>
            </a:extLst>
          </p:cNvPr>
          <p:cNvGrpSpPr/>
          <p:nvPr/>
        </p:nvGrpSpPr>
        <p:grpSpPr>
          <a:xfrm>
            <a:off x="-4396054" y="2258561"/>
            <a:ext cx="1399830" cy="2585323"/>
            <a:chOff x="1175540" y="2374692"/>
            <a:chExt cx="1501224" cy="2585323"/>
          </a:xfrm>
        </p:grpSpPr>
        <p:sp>
          <p:nvSpPr>
            <p:cNvPr id="30" name="Freeform: Shape 29">
              <a:extLst>
                <a:ext uri="{FF2B5EF4-FFF2-40B4-BE49-F238E27FC236}">
                  <a16:creationId xmlns:a16="http://schemas.microsoft.com/office/drawing/2014/main" id="{0EEBBB72-4DCB-9BDB-47E1-C68FC1DEE027}"/>
                </a:ext>
              </a:extLst>
            </p:cNvPr>
            <p:cNvSpPr/>
            <p:nvPr/>
          </p:nvSpPr>
          <p:spPr>
            <a:xfrm>
              <a:off x="1175540"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GIT </a:t>
              </a:r>
            </a:p>
          </p:txBody>
        </p:sp>
        <p:sp>
          <p:nvSpPr>
            <p:cNvPr id="31" name="Oval 30">
              <a:extLst>
                <a:ext uri="{FF2B5EF4-FFF2-40B4-BE49-F238E27FC236}">
                  <a16:creationId xmlns:a16="http://schemas.microsoft.com/office/drawing/2014/main" id="{D21EB46D-87FD-9C98-4371-C32A0D581953}"/>
                </a:ext>
              </a:extLst>
            </p:cNvPr>
            <p:cNvSpPr/>
            <p:nvPr/>
          </p:nvSpPr>
          <p:spPr>
            <a:xfrm>
              <a:off x="1495696" y="2529811"/>
              <a:ext cx="860912" cy="860912"/>
            </a:xfrm>
            <a:prstGeom prst="ellipse">
              <a:avLst/>
            </a:prstGeom>
            <a:blipFill>
              <a:blip r:embed="rId4" cstate="print">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32" name="Group 31">
            <a:extLst>
              <a:ext uri="{FF2B5EF4-FFF2-40B4-BE49-F238E27FC236}">
                <a16:creationId xmlns:a16="http://schemas.microsoft.com/office/drawing/2014/main" id="{CA7F0C5B-1812-353D-4D86-1DBE43E1DEF8}"/>
              </a:ext>
            </a:extLst>
          </p:cNvPr>
          <p:cNvGrpSpPr/>
          <p:nvPr/>
        </p:nvGrpSpPr>
        <p:grpSpPr>
          <a:xfrm>
            <a:off x="-1972444" y="2267327"/>
            <a:ext cx="1461935" cy="2585323"/>
            <a:chOff x="2721801" y="2374692"/>
            <a:chExt cx="1501224" cy="2585323"/>
          </a:xfrm>
        </p:grpSpPr>
        <p:sp>
          <p:nvSpPr>
            <p:cNvPr id="33" name="Freeform: Shape 32">
              <a:extLst>
                <a:ext uri="{FF2B5EF4-FFF2-40B4-BE49-F238E27FC236}">
                  <a16:creationId xmlns:a16="http://schemas.microsoft.com/office/drawing/2014/main" id="{3F0CB594-7039-4374-BF87-BD3EF9FCB74E}"/>
                </a:ext>
              </a:extLst>
            </p:cNvPr>
            <p:cNvSpPr/>
            <p:nvPr/>
          </p:nvSpPr>
          <p:spPr>
            <a:xfrm>
              <a:off x="2721801"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GITHUB</a:t>
              </a:r>
            </a:p>
          </p:txBody>
        </p:sp>
        <p:sp>
          <p:nvSpPr>
            <p:cNvPr id="34" name="Oval 33">
              <a:extLst>
                <a:ext uri="{FF2B5EF4-FFF2-40B4-BE49-F238E27FC236}">
                  <a16:creationId xmlns:a16="http://schemas.microsoft.com/office/drawing/2014/main" id="{75347DD8-3E82-F7BB-6DDB-C2F3124A8CA0}"/>
                </a:ext>
              </a:extLst>
            </p:cNvPr>
            <p:cNvSpPr/>
            <p:nvPr/>
          </p:nvSpPr>
          <p:spPr>
            <a:xfrm>
              <a:off x="3041957" y="2529811"/>
              <a:ext cx="860912" cy="860912"/>
            </a:xfrm>
            <a:prstGeom prst="ellipse">
              <a:avLst/>
            </a:prstGeom>
            <a:blipFill>
              <a:blip r:embed="rId5" cstate="print">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35" name="Group 34">
            <a:extLst>
              <a:ext uri="{FF2B5EF4-FFF2-40B4-BE49-F238E27FC236}">
                <a16:creationId xmlns:a16="http://schemas.microsoft.com/office/drawing/2014/main" id="{DDD19DC9-97CC-3D88-26C4-1353BB5DA329}"/>
              </a:ext>
            </a:extLst>
          </p:cNvPr>
          <p:cNvGrpSpPr/>
          <p:nvPr/>
        </p:nvGrpSpPr>
        <p:grpSpPr>
          <a:xfrm>
            <a:off x="-6653332" y="2323967"/>
            <a:ext cx="1501224" cy="2585323"/>
            <a:chOff x="5814323" y="2374692"/>
            <a:chExt cx="1501224" cy="2585323"/>
          </a:xfrm>
        </p:grpSpPr>
        <p:sp>
          <p:nvSpPr>
            <p:cNvPr id="36" name="Freeform: Shape 35">
              <a:extLst>
                <a:ext uri="{FF2B5EF4-FFF2-40B4-BE49-F238E27FC236}">
                  <a16:creationId xmlns:a16="http://schemas.microsoft.com/office/drawing/2014/main" id="{35689ED1-A0FE-7E03-295F-C32DA2B504AD}"/>
                </a:ext>
              </a:extLst>
            </p:cNvPr>
            <p:cNvSpPr/>
            <p:nvPr/>
          </p:nvSpPr>
          <p:spPr>
            <a:xfrm>
              <a:off x="5814323"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Draw.io</a:t>
              </a:r>
            </a:p>
          </p:txBody>
        </p:sp>
        <p:sp>
          <p:nvSpPr>
            <p:cNvPr id="37" name="Oval 36">
              <a:extLst>
                <a:ext uri="{FF2B5EF4-FFF2-40B4-BE49-F238E27FC236}">
                  <a16:creationId xmlns:a16="http://schemas.microsoft.com/office/drawing/2014/main" id="{C8F5A277-65B4-772D-E22B-B1AA0CFAA8E1}"/>
                </a:ext>
              </a:extLst>
            </p:cNvPr>
            <p:cNvSpPr/>
            <p:nvPr/>
          </p:nvSpPr>
          <p:spPr>
            <a:xfrm>
              <a:off x="6134479" y="2529811"/>
              <a:ext cx="860912" cy="860912"/>
            </a:xfrm>
            <a:prstGeom prst="ellipse">
              <a:avLst/>
            </a:prstGeom>
            <a:blipFill>
              <a:blip r:embed="rId6">
                <a:extLst>
                  <a:ext uri="{96DAC541-7B7A-43D3-8B79-37D633B846F1}">
                    <asvg:svgBlip xmlns:asvg="http://schemas.microsoft.com/office/drawing/2016/SVG/main" r:embed="rId7"/>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
        <p:nvSpPr>
          <p:cNvPr id="3" name="Freeform: Shape 2">
            <a:extLst>
              <a:ext uri="{FF2B5EF4-FFF2-40B4-BE49-F238E27FC236}">
                <a16:creationId xmlns:a16="http://schemas.microsoft.com/office/drawing/2014/main" id="{6B5C8870-0A50-4E85-5F7E-BB5E247F6B3F}"/>
              </a:ext>
            </a:extLst>
          </p:cNvPr>
          <p:cNvSpPr/>
          <p:nvPr/>
        </p:nvSpPr>
        <p:spPr>
          <a:xfrm>
            <a:off x="18082526" y="2210439"/>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CLONE</a:t>
            </a:r>
            <a:r>
              <a:rPr lang="en-GB" sz="1200">
                <a:solidFill>
                  <a:srgbClr val="FFFFFF"/>
                </a:solidFill>
                <a:latin typeface="Frutiger Lt Std"/>
              </a:rPr>
              <a:t>: Create local copy of project</a:t>
            </a:r>
          </a:p>
        </p:txBody>
      </p:sp>
      <p:sp>
        <p:nvSpPr>
          <p:cNvPr id="8" name="Freeform: Shape 7">
            <a:extLst>
              <a:ext uri="{FF2B5EF4-FFF2-40B4-BE49-F238E27FC236}">
                <a16:creationId xmlns:a16="http://schemas.microsoft.com/office/drawing/2014/main" id="{525D09CE-7F79-5723-FD0D-529FA3243B4B}"/>
              </a:ext>
            </a:extLst>
          </p:cNvPr>
          <p:cNvSpPr/>
          <p:nvPr/>
        </p:nvSpPr>
        <p:spPr>
          <a:xfrm>
            <a:off x="17091926" y="2936951"/>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BRANCH</a:t>
            </a:r>
            <a:r>
              <a:rPr lang="en-GB" sz="1200">
                <a:solidFill>
                  <a:srgbClr val="FFFFFF"/>
                </a:solidFill>
                <a:latin typeface="Frutiger Lt Std"/>
              </a:rPr>
              <a:t>: Create working area linked to issue </a:t>
            </a:r>
          </a:p>
          <a:p>
            <a:pPr algn="ctr" defTabSz="266700">
              <a:lnSpc>
                <a:spcPct val="90000"/>
              </a:lnSpc>
              <a:spcBef>
                <a:spcPct val="0"/>
              </a:spcBef>
              <a:spcAft>
                <a:spcPct val="35000"/>
              </a:spcAft>
              <a:defRPr/>
            </a:pPr>
            <a:r>
              <a:rPr lang="en-GB" sz="1200">
                <a:solidFill>
                  <a:srgbClr val="FFFFFF"/>
                </a:solidFill>
                <a:latin typeface="Frutiger Lt Std"/>
              </a:rPr>
              <a:t>or feature</a:t>
            </a:r>
          </a:p>
        </p:txBody>
      </p:sp>
      <p:sp>
        <p:nvSpPr>
          <p:cNvPr id="9" name="Freeform: Shape 8">
            <a:extLst>
              <a:ext uri="{FF2B5EF4-FFF2-40B4-BE49-F238E27FC236}">
                <a16:creationId xmlns:a16="http://schemas.microsoft.com/office/drawing/2014/main" id="{DDC9815F-47BA-0343-39C9-E35AF944CEA9}"/>
              </a:ext>
            </a:extLst>
          </p:cNvPr>
          <p:cNvSpPr/>
          <p:nvPr/>
        </p:nvSpPr>
        <p:spPr>
          <a:xfrm>
            <a:off x="16101326" y="3648675"/>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COMMIT</a:t>
            </a:r>
            <a:r>
              <a:rPr lang="en-GB" sz="1200">
                <a:solidFill>
                  <a:srgbClr val="FFFFFF"/>
                </a:solidFill>
                <a:latin typeface="Frutiger Lt Std"/>
              </a:rPr>
              <a:t>: Save work back to GIT environment</a:t>
            </a:r>
          </a:p>
        </p:txBody>
      </p:sp>
      <p:sp>
        <p:nvSpPr>
          <p:cNvPr id="12" name="Freeform: Shape 11">
            <a:extLst>
              <a:ext uri="{FF2B5EF4-FFF2-40B4-BE49-F238E27FC236}">
                <a16:creationId xmlns:a16="http://schemas.microsoft.com/office/drawing/2014/main" id="{A3669A6D-221B-1A08-A426-4497C8E504AD}"/>
              </a:ext>
            </a:extLst>
          </p:cNvPr>
          <p:cNvSpPr/>
          <p:nvPr/>
        </p:nvSpPr>
        <p:spPr>
          <a:xfrm>
            <a:off x="14958325" y="4370783"/>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PULL REQUEST</a:t>
            </a:r>
            <a:r>
              <a:rPr lang="en-GB" sz="1200">
                <a:solidFill>
                  <a:srgbClr val="FFFFFF"/>
                </a:solidFill>
                <a:latin typeface="Frutiger Lt Std"/>
              </a:rPr>
              <a:t>: Submit for review and comment</a:t>
            </a:r>
          </a:p>
        </p:txBody>
      </p:sp>
      <p:sp>
        <p:nvSpPr>
          <p:cNvPr id="13" name="Freeform: Shape 12">
            <a:extLst>
              <a:ext uri="{FF2B5EF4-FFF2-40B4-BE49-F238E27FC236}">
                <a16:creationId xmlns:a16="http://schemas.microsoft.com/office/drawing/2014/main" id="{4547DAF2-10F4-509C-D2DD-A2087FFCFC77}"/>
              </a:ext>
            </a:extLst>
          </p:cNvPr>
          <p:cNvSpPr/>
          <p:nvPr/>
        </p:nvSpPr>
        <p:spPr>
          <a:xfrm>
            <a:off x="13833915" y="5092891"/>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b="1">
                <a:solidFill>
                  <a:srgbClr val="FFFFFF"/>
                </a:solidFill>
                <a:latin typeface="Frutiger Lt Std"/>
              </a:rPr>
              <a:t>MERGE</a:t>
            </a:r>
            <a:r>
              <a:rPr lang="en-GB" sz="1200">
                <a:solidFill>
                  <a:srgbClr val="FFFFFF"/>
                </a:solidFill>
                <a:latin typeface="Frutiger Lt Std"/>
              </a:rPr>
              <a:t>: Blends code into MAIN Repository</a:t>
            </a:r>
          </a:p>
        </p:txBody>
      </p:sp>
      <p:grpSp>
        <p:nvGrpSpPr>
          <p:cNvPr id="14" name="Group 13">
            <a:extLst>
              <a:ext uri="{FF2B5EF4-FFF2-40B4-BE49-F238E27FC236}">
                <a16:creationId xmlns:a16="http://schemas.microsoft.com/office/drawing/2014/main" id="{A5768ED7-5751-BCBC-EC6E-ECAC1E3AA037}"/>
              </a:ext>
            </a:extLst>
          </p:cNvPr>
          <p:cNvGrpSpPr/>
          <p:nvPr/>
        </p:nvGrpSpPr>
        <p:grpSpPr>
          <a:xfrm>
            <a:off x="3459626" y="2347544"/>
            <a:ext cx="1354868" cy="2585323"/>
            <a:chOff x="-578192" y="2304203"/>
            <a:chExt cx="1501223" cy="2726300"/>
          </a:xfrm>
          <a:effectLst>
            <a:outerShdw blurRad="50800" dist="38100" dir="2700000" algn="tl" rotWithShape="0">
              <a:prstClr val="black">
                <a:alpha val="40000"/>
              </a:prstClr>
            </a:outerShdw>
          </a:effectLst>
        </p:grpSpPr>
        <p:sp>
          <p:nvSpPr>
            <p:cNvPr id="16" name="Freeform: Shape 15">
              <a:extLst>
                <a:ext uri="{FF2B5EF4-FFF2-40B4-BE49-F238E27FC236}">
                  <a16:creationId xmlns:a16="http://schemas.microsoft.com/office/drawing/2014/main" id="{89D7255F-B2FB-77B0-C153-A7DB675B187D}"/>
                </a:ext>
              </a:extLst>
            </p:cNvPr>
            <p:cNvSpPr/>
            <p:nvPr/>
          </p:nvSpPr>
          <p:spPr>
            <a:xfrm>
              <a:off x="-578192" y="2304203"/>
              <a:ext cx="1501223" cy="2726300"/>
            </a:xfrm>
            <a:custGeom>
              <a:avLst/>
              <a:gdLst>
                <a:gd name="connsiteX0" fmla="*/ 0 w 2155500"/>
                <a:gd name="connsiteY0" fmla="*/ 215550 h 2585322"/>
                <a:gd name="connsiteX1" fmla="*/ 215550 w 2155500"/>
                <a:gd name="connsiteY1" fmla="*/ 0 h 2585322"/>
                <a:gd name="connsiteX2" fmla="*/ 1939950 w 2155500"/>
                <a:gd name="connsiteY2" fmla="*/ 0 h 2585322"/>
                <a:gd name="connsiteX3" fmla="*/ 2155500 w 2155500"/>
                <a:gd name="connsiteY3" fmla="*/ 215550 h 2585322"/>
                <a:gd name="connsiteX4" fmla="*/ 2155500 w 2155500"/>
                <a:gd name="connsiteY4" fmla="*/ 2369772 h 2585322"/>
                <a:gd name="connsiteX5" fmla="*/ 1939950 w 2155500"/>
                <a:gd name="connsiteY5" fmla="*/ 2585322 h 2585322"/>
                <a:gd name="connsiteX6" fmla="*/ 215550 w 2155500"/>
                <a:gd name="connsiteY6" fmla="*/ 2585322 h 2585322"/>
                <a:gd name="connsiteX7" fmla="*/ 0 w 2155500"/>
                <a:gd name="connsiteY7" fmla="*/ 2369772 h 2585322"/>
                <a:gd name="connsiteX8" fmla="*/ 0 w 2155500"/>
                <a:gd name="connsiteY8" fmla="*/ 215550 h 258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500" h="2585322">
                  <a:moveTo>
                    <a:pt x="0" y="215550"/>
                  </a:moveTo>
                  <a:cubicBezTo>
                    <a:pt x="0" y="96505"/>
                    <a:pt x="96505" y="0"/>
                    <a:pt x="215550" y="0"/>
                  </a:cubicBezTo>
                  <a:lnTo>
                    <a:pt x="1939950" y="0"/>
                  </a:lnTo>
                  <a:cubicBezTo>
                    <a:pt x="2058995" y="0"/>
                    <a:pt x="2155500" y="96505"/>
                    <a:pt x="2155500" y="215550"/>
                  </a:cubicBezTo>
                  <a:lnTo>
                    <a:pt x="2155500" y="2369772"/>
                  </a:lnTo>
                  <a:cubicBezTo>
                    <a:pt x="2155500" y="2488817"/>
                    <a:pt x="2058995" y="2585322"/>
                    <a:pt x="1939950" y="2585322"/>
                  </a:cubicBezTo>
                  <a:lnTo>
                    <a:pt x="215550" y="2585322"/>
                  </a:lnTo>
                  <a:cubicBezTo>
                    <a:pt x="96505" y="2585322"/>
                    <a:pt x="0" y="2488817"/>
                    <a:pt x="0" y="2369772"/>
                  </a:cubicBezTo>
                  <a:lnTo>
                    <a:pt x="0" y="21555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6" rIns="170688" bIns="687754"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Azure Data Studio</a:t>
              </a:r>
            </a:p>
          </p:txBody>
        </p:sp>
        <p:sp>
          <p:nvSpPr>
            <p:cNvPr id="17" name="Oval 16">
              <a:extLst>
                <a:ext uri="{FF2B5EF4-FFF2-40B4-BE49-F238E27FC236}">
                  <a16:creationId xmlns:a16="http://schemas.microsoft.com/office/drawing/2014/main" id="{BB0EBCAD-184F-5AAD-9EB4-CB5DFFF0999C}"/>
                </a:ext>
              </a:extLst>
            </p:cNvPr>
            <p:cNvSpPr/>
            <p:nvPr/>
          </p:nvSpPr>
          <p:spPr>
            <a:xfrm>
              <a:off x="-258037" y="2491252"/>
              <a:ext cx="860912" cy="860912"/>
            </a:xfrm>
            <a:prstGeom prst="ellipse">
              <a:avLst/>
            </a:prstGeom>
            <a:blipFill>
              <a:blip r:embed="rId8">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21" name="Group 20">
            <a:extLst>
              <a:ext uri="{FF2B5EF4-FFF2-40B4-BE49-F238E27FC236}">
                <a16:creationId xmlns:a16="http://schemas.microsoft.com/office/drawing/2014/main" id="{7A4B0EC8-E3E1-C941-2732-D125862E1272}"/>
              </a:ext>
            </a:extLst>
          </p:cNvPr>
          <p:cNvGrpSpPr/>
          <p:nvPr/>
        </p:nvGrpSpPr>
        <p:grpSpPr>
          <a:xfrm>
            <a:off x="1951746" y="2343392"/>
            <a:ext cx="1354869" cy="2585323"/>
            <a:chOff x="3847264" y="2304203"/>
            <a:chExt cx="1354869" cy="2585323"/>
          </a:xfrm>
        </p:grpSpPr>
        <p:sp>
          <p:nvSpPr>
            <p:cNvPr id="22" name="Freeform: Shape 21">
              <a:extLst>
                <a:ext uri="{FF2B5EF4-FFF2-40B4-BE49-F238E27FC236}">
                  <a16:creationId xmlns:a16="http://schemas.microsoft.com/office/drawing/2014/main" id="{003C44CA-3BF6-B958-25AB-1B07F42BCCDB}"/>
                </a:ext>
              </a:extLst>
            </p:cNvPr>
            <p:cNvSpPr/>
            <p:nvPr/>
          </p:nvSpPr>
          <p:spPr>
            <a:xfrm>
              <a:off x="3847264" y="2304203"/>
              <a:ext cx="1354869"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Visual Studio Code</a:t>
              </a:r>
            </a:p>
          </p:txBody>
        </p:sp>
        <p:sp>
          <p:nvSpPr>
            <p:cNvPr id="23" name="Oval 22">
              <a:extLst>
                <a:ext uri="{FF2B5EF4-FFF2-40B4-BE49-F238E27FC236}">
                  <a16:creationId xmlns:a16="http://schemas.microsoft.com/office/drawing/2014/main" id="{607AC3A8-2CD9-A81D-0CF1-1B740731FC4F}"/>
                </a:ext>
              </a:extLst>
            </p:cNvPr>
            <p:cNvSpPr/>
            <p:nvPr/>
          </p:nvSpPr>
          <p:spPr>
            <a:xfrm>
              <a:off x="4238975" y="2556140"/>
              <a:ext cx="571446" cy="667276"/>
            </a:xfrm>
            <a:prstGeom prst="ellipse">
              <a:avLst/>
            </a:prstGeom>
            <a:blipFill>
              <a:blip r:embed="rId9">
                <a:extLst>
                  <a:ext uri="{96DAC541-7B7A-43D3-8B79-37D633B846F1}">
                    <asvg:svgBlip xmlns:asvg="http://schemas.microsoft.com/office/drawing/2016/SVG/main" r:embed="rId10"/>
                  </a:ext>
                </a:extLst>
              </a:blip>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Tree>
    <p:extLst>
      <p:ext uri="{BB962C8B-B14F-4D97-AF65-F5344CB8AC3E}">
        <p14:creationId xmlns:p14="http://schemas.microsoft.com/office/powerpoint/2010/main" val="1966694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a:t>Design Overview</a:t>
            </a:r>
            <a:endParaRPr lang="en-GB" sz="200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1794273" y="1615447"/>
            <a:ext cx="7386381" cy="301057"/>
          </a:xfrm>
        </p:spPr>
        <p:txBody>
          <a:bodyPr/>
          <a:lstStyle/>
          <a:p>
            <a:r>
              <a:rPr lang="en-GB"/>
              <a:t>Development Cycle</a:t>
            </a:r>
          </a:p>
        </p:txBody>
      </p:sp>
      <p:grpSp>
        <p:nvGrpSpPr>
          <p:cNvPr id="20" name="Group 19">
            <a:extLst>
              <a:ext uri="{FF2B5EF4-FFF2-40B4-BE49-F238E27FC236}">
                <a16:creationId xmlns:a16="http://schemas.microsoft.com/office/drawing/2014/main" id="{85D7EAD9-2601-ADCE-AEA9-E13808BB04F2}"/>
              </a:ext>
            </a:extLst>
          </p:cNvPr>
          <p:cNvGrpSpPr/>
          <p:nvPr/>
        </p:nvGrpSpPr>
        <p:grpSpPr>
          <a:xfrm>
            <a:off x="2249474" y="2338050"/>
            <a:ext cx="1199779" cy="2726300"/>
            <a:chOff x="3645654" y="2374692"/>
            <a:chExt cx="1199779" cy="2726300"/>
          </a:xfrm>
          <a:effectLst>
            <a:outerShdw blurRad="50800" dist="38100" dir="2700000" algn="tl" rotWithShape="0">
              <a:prstClr val="black">
                <a:alpha val="40000"/>
              </a:prstClr>
            </a:outerShdw>
          </a:effectLst>
        </p:grpSpPr>
        <p:sp>
          <p:nvSpPr>
            <p:cNvPr id="12" name="Freeform: Shape 11">
              <a:extLst>
                <a:ext uri="{FF2B5EF4-FFF2-40B4-BE49-F238E27FC236}">
                  <a16:creationId xmlns:a16="http://schemas.microsoft.com/office/drawing/2014/main" id="{56B43158-680E-6657-4945-F2C9AF7EE2C8}"/>
                </a:ext>
              </a:extLst>
            </p:cNvPr>
            <p:cNvSpPr/>
            <p:nvPr/>
          </p:nvSpPr>
          <p:spPr>
            <a:xfrm>
              <a:off x="3645654"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Development Cycle</a:t>
              </a:r>
            </a:p>
          </p:txBody>
        </p:sp>
        <p:sp>
          <p:nvSpPr>
            <p:cNvPr id="13" name="Oval 12" descr="Construction worker male outline">
              <a:extLst>
                <a:ext uri="{FF2B5EF4-FFF2-40B4-BE49-F238E27FC236}">
                  <a16:creationId xmlns:a16="http://schemas.microsoft.com/office/drawing/2014/main" id="{A994CF77-2F34-CE0A-BE2C-148AE9067ADD}"/>
                </a:ext>
              </a:extLst>
            </p:cNvPr>
            <p:cNvSpPr/>
            <p:nvPr/>
          </p:nvSpPr>
          <p:spPr>
            <a:xfrm>
              <a:off x="3791615" y="2538269"/>
              <a:ext cx="907857" cy="907857"/>
            </a:xfrm>
            <a:prstGeom prst="ellipse">
              <a:avLst/>
            </a:prstGeom>
            <a:blipFill>
              <a:blip r:embed="rId4">
                <a:extLst>
                  <a:ext uri="{96DAC541-7B7A-43D3-8B79-37D633B846F1}">
                    <asvg:svgBlip xmlns:asvg="http://schemas.microsoft.com/office/drawing/2016/SVG/main" r:embed="rId5"/>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3" name="Group 2">
            <a:extLst>
              <a:ext uri="{FF2B5EF4-FFF2-40B4-BE49-F238E27FC236}">
                <a16:creationId xmlns:a16="http://schemas.microsoft.com/office/drawing/2014/main" id="{D392362F-95F4-E015-AE7B-042C1E3618C8}"/>
              </a:ext>
            </a:extLst>
          </p:cNvPr>
          <p:cNvGrpSpPr/>
          <p:nvPr/>
        </p:nvGrpSpPr>
        <p:grpSpPr>
          <a:xfrm>
            <a:off x="-2427400" y="2575040"/>
            <a:ext cx="1501224" cy="2585323"/>
            <a:chOff x="2721801" y="2374692"/>
            <a:chExt cx="1501224" cy="2585323"/>
          </a:xfrm>
        </p:grpSpPr>
        <p:sp>
          <p:nvSpPr>
            <p:cNvPr id="18" name="Freeform: Shape 17">
              <a:extLst>
                <a:ext uri="{FF2B5EF4-FFF2-40B4-BE49-F238E27FC236}">
                  <a16:creationId xmlns:a16="http://schemas.microsoft.com/office/drawing/2014/main" id="{5082A918-C455-4EAC-02F2-85D9247A0CD5}"/>
                </a:ext>
              </a:extLst>
            </p:cNvPr>
            <p:cNvSpPr/>
            <p:nvPr/>
          </p:nvSpPr>
          <p:spPr>
            <a:xfrm>
              <a:off x="2721801"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GITHUB</a:t>
              </a:r>
            </a:p>
          </p:txBody>
        </p:sp>
        <p:sp>
          <p:nvSpPr>
            <p:cNvPr id="24" name="Oval 23">
              <a:extLst>
                <a:ext uri="{FF2B5EF4-FFF2-40B4-BE49-F238E27FC236}">
                  <a16:creationId xmlns:a16="http://schemas.microsoft.com/office/drawing/2014/main" id="{5BBAF717-ADC5-283D-3157-7AF4B067AFFA}"/>
                </a:ext>
              </a:extLst>
            </p:cNvPr>
            <p:cNvSpPr/>
            <p:nvPr/>
          </p:nvSpPr>
          <p:spPr>
            <a:xfrm>
              <a:off x="3041957" y="2529811"/>
              <a:ext cx="860912" cy="860912"/>
            </a:xfrm>
            <a:prstGeom prst="ellipse">
              <a:avLst/>
            </a:prstGeom>
            <a:blipFill>
              <a:blip r:embed="rId6" cstate="print">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
        <p:nvSpPr>
          <p:cNvPr id="25" name="Freeform: Shape 24">
            <a:extLst>
              <a:ext uri="{FF2B5EF4-FFF2-40B4-BE49-F238E27FC236}">
                <a16:creationId xmlns:a16="http://schemas.microsoft.com/office/drawing/2014/main" id="{1473B254-7810-68C2-51E0-6F2A2469CA6D}"/>
              </a:ext>
            </a:extLst>
          </p:cNvPr>
          <p:cNvSpPr/>
          <p:nvPr/>
        </p:nvSpPr>
        <p:spPr>
          <a:xfrm>
            <a:off x="14286842" y="2486029"/>
            <a:ext cx="3394621" cy="469527"/>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 ‘VS Code’ linked GITHUB</a:t>
            </a:r>
          </a:p>
        </p:txBody>
      </p:sp>
      <p:pic>
        <p:nvPicPr>
          <p:cNvPr id="27" name="Picture 26" descr="Two people reviewing papers together">
            <a:extLst>
              <a:ext uri="{FF2B5EF4-FFF2-40B4-BE49-F238E27FC236}">
                <a16:creationId xmlns:a16="http://schemas.microsoft.com/office/drawing/2014/main" id="{2EDEE9DE-5143-10F6-B106-938F0A691C8B}"/>
              </a:ext>
            </a:extLst>
          </p:cNvPr>
          <p:cNvPicPr>
            <a:picLocks noChangeAspect="1"/>
          </p:cNvPicPr>
          <p:nvPr/>
        </p:nvPicPr>
        <p:blipFill>
          <a:blip r:embed="rId7" cstate="print">
            <a:alphaModFix amt="60000"/>
            <a:extLst>
              <a:ext uri="{28A0092B-C50C-407E-A947-70E740481C1C}">
                <a14:useLocalDpi xmlns:a14="http://schemas.microsoft.com/office/drawing/2010/main" val="0"/>
              </a:ext>
            </a:extLst>
          </a:blip>
          <a:stretch>
            <a:fillRect/>
          </a:stretch>
        </p:blipFill>
        <p:spPr>
          <a:xfrm>
            <a:off x="3953761" y="2331747"/>
            <a:ext cx="4821940" cy="2726300"/>
          </a:xfrm>
          <a:prstGeom prst="rect">
            <a:avLst/>
          </a:prstGeom>
        </p:spPr>
      </p:pic>
      <p:grpSp>
        <p:nvGrpSpPr>
          <p:cNvPr id="8" name="Group 7">
            <a:extLst>
              <a:ext uri="{FF2B5EF4-FFF2-40B4-BE49-F238E27FC236}">
                <a16:creationId xmlns:a16="http://schemas.microsoft.com/office/drawing/2014/main" id="{BA981EA3-535C-FA5C-1830-9817226E6A73}"/>
              </a:ext>
            </a:extLst>
          </p:cNvPr>
          <p:cNvGrpSpPr/>
          <p:nvPr/>
        </p:nvGrpSpPr>
        <p:grpSpPr>
          <a:xfrm>
            <a:off x="-4733602" y="2575039"/>
            <a:ext cx="1501224" cy="2585323"/>
            <a:chOff x="5814323" y="2374692"/>
            <a:chExt cx="1501224" cy="2585323"/>
          </a:xfrm>
          <a:effectLst>
            <a:outerShdw blurRad="50800" dist="38100" dir="2700000" algn="tl" rotWithShape="0">
              <a:prstClr val="black">
                <a:alpha val="40000"/>
              </a:prstClr>
            </a:outerShdw>
          </a:effectLst>
        </p:grpSpPr>
        <p:sp>
          <p:nvSpPr>
            <p:cNvPr id="9" name="Freeform: Shape 8">
              <a:extLst>
                <a:ext uri="{FF2B5EF4-FFF2-40B4-BE49-F238E27FC236}">
                  <a16:creationId xmlns:a16="http://schemas.microsoft.com/office/drawing/2014/main" id="{929638E4-CD55-4158-0B47-E11091113E85}"/>
                </a:ext>
              </a:extLst>
            </p:cNvPr>
            <p:cNvSpPr/>
            <p:nvPr/>
          </p:nvSpPr>
          <p:spPr>
            <a:xfrm>
              <a:off x="5814323" y="2374692"/>
              <a:ext cx="1501224" cy="2585323"/>
            </a:xfrm>
            <a:custGeom>
              <a:avLst/>
              <a:gdLst>
                <a:gd name="connsiteX0" fmla="*/ 0 w 1501224"/>
                <a:gd name="connsiteY0" fmla="*/ 150122 h 2585323"/>
                <a:gd name="connsiteX1" fmla="*/ 150122 w 1501224"/>
                <a:gd name="connsiteY1" fmla="*/ 0 h 2585323"/>
                <a:gd name="connsiteX2" fmla="*/ 1351102 w 1501224"/>
                <a:gd name="connsiteY2" fmla="*/ 0 h 2585323"/>
                <a:gd name="connsiteX3" fmla="*/ 1501224 w 1501224"/>
                <a:gd name="connsiteY3" fmla="*/ 150122 h 2585323"/>
                <a:gd name="connsiteX4" fmla="*/ 1501224 w 1501224"/>
                <a:gd name="connsiteY4" fmla="*/ 2435201 h 2585323"/>
                <a:gd name="connsiteX5" fmla="*/ 1351102 w 1501224"/>
                <a:gd name="connsiteY5" fmla="*/ 2585323 h 2585323"/>
                <a:gd name="connsiteX6" fmla="*/ 150122 w 1501224"/>
                <a:gd name="connsiteY6" fmla="*/ 2585323 h 2585323"/>
                <a:gd name="connsiteX7" fmla="*/ 0 w 1501224"/>
                <a:gd name="connsiteY7" fmla="*/ 2435201 h 2585323"/>
                <a:gd name="connsiteX8" fmla="*/ 0 w 1501224"/>
                <a:gd name="connsiteY8" fmla="*/ 150122 h 2585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1224" h="2585323">
                  <a:moveTo>
                    <a:pt x="0" y="150122"/>
                  </a:moveTo>
                  <a:cubicBezTo>
                    <a:pt x="0" y="67212"/>
                    <a:pt x="67212" y="0"/>
                    <a:pt x="150122" y="0"/>
                  </a:cubicBezTo>
                  <a:lnTo>
                    <a:pt x="1351102" y="0"/>
                  </a:lnTo>
                  <a:cubicBezTo>
                    <a:pt x="1434012" y="0"/>
                    <a:pt x="1501224" y="67212"/>
                    <a:pt x="1501224" y="150122"/>
                  </a:cubicBezTo>
                  <a:lnTo>
                    <a:pt x="1501224" y="2435201"/>
                  </a:lnTo>
                  <a:cubicBezTo>
                    <a:pt x="1501224" y="2518111"/>
                    <a:pt x="1434012" y="2585323"/>
                    <a:pt x="1351102" y="2585323"/>
                  </a:cubicBezTo>
                  <a:lnTo>
                    <a:pt x="150122" y="2585323"/>
                  </a:lnTo>
                  <a:cubicBezTo>
                    <a:pt x="67212" y="2585323"/>
                    <a:pt x="0" y="2518111"/>
                    <a:pt x="0" y="2435201"/>
                  </a:cubicBezTo>
                  <a:lnTo>
                    <a:pt x="0" y="15012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70688" tIns="1204817" rIns="170688" bIns="687753" numCol="1" spcCol="1270" anchor="ctr" anchorCtr="0">
              <a:noAutofit/>
            </a:bodyPr>
            <a:lstStyle/>
            <a:p>
              <a:pPr algn="ctr" defTabSz="1066800">
                <a:lnSpc>
                  <a:spcPct val="90000"/>
                </a:lnSpc>
                <a:spcBef>
                  <a:spcPct val="0"/>
                </a:spcBef>
                <a:spcAft>
                  <a:spcPct val="35000"/>
                </a:spcAft>
                <a:defRPr/>
              </a:pPr>
              <a:r>
                <a:rPr lang="en-GB" sz="2400">
                  <a:solidFill>
                    <a:srgbClr val="FFFFFF"/>
                  </a:solidFill>
                  <a:latin typeface="Frutiger Lt Std"/>
                </a:rPr>
                <a:t>Draw.io</a:t>
              </a:r>
            </a:p>
          </p:txBody>
        </p:sp>
        <p:sp>
          <p:nvSpPr>
            <p:cNvPr id="10" name="Oval 9">
              <a:extLst>
                <a:ext uri="{FF2B5EF4-FFF2-40B4-BE49-F238E27FC236}">
                  <a16:creationId xmlns:a16="http://schemas.microsoft.com/office/drawing/2014/main" id="{C161CAC2-CCC9-C6A6-C805-5E71847C9410}"/>
                </a:ext>
              </a:extLst>
            </p:cNvPr>
            <p:cNvSpPr/>
            <p:nvPr/>
          </p:nvSpPr>
          <p:spPr>
            <a:xfrm>
              <a:off x="6134479" y="2529811"/>
              <a:ext cx="860912" cy="860912"/>
            </a:xfrm>
            <a:prstGeom prst="ellipse">
              <a:avLst/>
            </a:prstGeom>
            <a:blipFill>
              <a:blip r:embed="rId8">
                <a:extLst>
                  <a:ext uri="{96DAC541-7B7A-43D3-8B79-37D633B846F1}">
                    <asvg:svgBlip xmlns:asvg="http://schemas.microsoft.com/office/drawing/2016/SVG/main" r:embed="rId9"/>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
        <p:nvSpPr>
          <p:cNvPr id="11" name="Freeform: Shape 10">
            <a:extLst>
              <a:ext uri="{FF2B5EF4-FFF2-40B4-BE49-F238E27FC236}">
                <a16:creationId xmlns:a16="http://schemas.microsoft.com/office/drawing/2014/main" id="{1FAD5B1B-A5C3-D603-DA98-20226FAE174F}"/>
              </a:ext>
            </a:extLst>
          </p:cNvPr>
          <p:cNvSpPr/>
          <p:nvPr/>
        </p:nvSpPr>
        <p:spPr>
          <a:xfrm>
            <a:off x="19349859" y="3265099"/>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US" sz="1600">
                <a:solidFill>
                  <a:srgbClr val="FFFFFF"/>
                </a:solidFill>
                <a:latin typeface="Frutiger Lt Std"/>
              </a:rPr>
              <a:t>Collaborate on flowcharts</a:t>
            </a:r>
          </a:p>
        </p:txBody>
      </p:sp>
      <p:sp>
        <p:nvSpPr>
          <p:cNvPr id="14" name="Freeform: Shape 13">
            <a:extLst>
              <a:ext uri="{FF2B5EF4-FFF2-40B4-BE49-F238E27FC236}">
                <a16:creationId xmlns:a16="http://schemas.microsoft.com/office/drawing/2014/main" id="{B155F75C-7251-3EAD-AC16-B31E9D71A7EA}"/>
              </a:ext>
            </a:extLst>
          </p:cNvPr>
          <p:cNvSpPr/>
          <p:nvPr/>
        </p:nvSpPr>
        <p:spPr>
          <a:xfrm>
            <a:off x="19987665" y="2420462"/>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600">
                <a:solidFill>
                  <a:srgbClr val="FFFFFF"/>
                </a:solidFill>
                <a:latin typeface="Frutiger Lt Std"/>
              </a:rPr>
              <a:t>Diagramming software</a:t>
            </a:r>
          </a:p>
        </p:txBody>
      </p:sp>
      <p:sp>
        <p:nvSpPr>
          <p:cNvPr id="15" name="Freeform: Shape 14">
            <a:extLst>
              <a:ext uri="{FF2B5EF4-FFF2-40B4-BE49-F238E27FC236}">
                <a16:creationId xmlns:a16="http://schemas.microsoft.com/office/drawing/2014/main" id="{F0F8CF6A-A3C8-7B3C-093A-37213995C624}"/>
              </a:ext>
            </a:extLst>
          </p:cNvPr>
          <p:cNvSpPr/>
          <p:nvPr/>
        </p:nvSpPr>
        <p:spPr>
          <a:xfrm>
            <a:off x="17681463" y="4133757"/>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600">
                <a:solidFill>
                  <a:srgbClr val="FFFFFF"/>
                </a:solidFill>
                <a:latin typeface="Frutiger Lt Std"/>
              </a:rPr>
              <a:t>Export</a:t>
            </a:r>
          </a:p>
        </p:txBody>
      </p:sp>
      <p:sp>
        <p:nvSpPr>
          <p:cNvPr id="2" name="Freeform: Shape 1">
            <a:extLst>
              <a:ext uri="{FF2B5EF4-FFF2-40B4-BE49-F238E27FC236}">
                <a16:creationId xmlns:a16="http://schemas.microsoft.com/office/drawing/2014/main" id="{3CC31013-A8A8-6C40-2181-620BA7371EE8}"/>
              </a:ext>
            </a:extLst>
          </p:cNvPr>
          <p:cNvSpPr/>
          <p:nvPr/>
        </p:nvSpPr>
        <p:spPr>
          <a:xfrm>
            <a:off x="15224105" y="3119698"/>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US" sz="1200">
                <a:solidFill>
                  <a:srgbClr val="FFFFFF"/>
                </a:solidFill>
                <a:latin typeface="Frutiger Lt Std"/>
              </a:rPr>
              <a:t>Streamlined code editor</a:t>
            </a:r>
          </a:p>
        </p:txBody>
      </p:sp>
      <p:sp>
        <p:nvSpPr>
          <p:cNvPr id="16" name="Freeform: Shape 15">
            <a:extLst>
              <a:ext uri="{FF2B5EF4-FFF2-40B4-BE49-F238E27FC236}">
                <a16:creationId xmlns:a16="http://schemas.microsoft.com/office/drawing/2014/main" id="{A583C105-628C-85F3-0B1A-D15166A13F12}"/>
              </a:ext>
            </a:extLst>
          </p:cNvPr>
          <p:cNvSpPr/>
          <p:nvPr/>
        </p:nvSpPr>
        <p:spPr>
          <a:xfrm>
            <a:off x="16109008" y="2349370"/>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Built on Open source</a:t>
            </a:r>
          </a:p>
        </p:txBody>
      </p:sp>
      <p:sp>
        <p:nvSpPr>
          <p:cNvPr id="17" name="Freeform: Shape 16">
            <a:extLst>
              <a:ext uri="{FF2B5EF4-FFF2-40B4-BE49-F238E27FC236}">
                <a16:creationId xmlns:a16="http://schemas.microsoft.com/office/drawing/2014/main" id="{B1D6EE32-E194-D40C-FB1A-25BE4D479C8F}"/>
              </a:ext>
            </a:extLst>
          </p:cNvPr>
          <p:cNvSpPr/>
          <p:nvPr/>
        </p:nvSpPr>
        <p:spPr>
          <a:xfrm>
            <a:off x="14116731" y="3825255"/>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Integrated Development Environment</a:t>
            </a:r>
          </a:p>
        </p:txBody>
      </p:sp>
      <p:sp>
        <p:nvSpPr>
          <p:cNvPr id="19" name="Freeform: Shape 18">
            <a:extLst>
              <a:ext uri="{FF2B5EF4-FFF2-40B4-BE49-F238E27FC236}">
                <a16:creationId xmlns:a16="http://schemas.microsoft.com/office/drawing/2014/main" id="{B059D715-DC83-4FC9-951E-F31FD7FDD327}"/>
              </a:ext>
            </a:extLst>
          </p:cNvPr>
          <p:cNvSpPr/>
          <p:nvPr/>
        </p:nvSpPr>
        <p:spPr>
          <a:xfrm>
            <a:off x="13261015" y="4591947"/>
            <a:ext cx="3394621" cy="699103"/>
          </a:xfrm>
          <a:custGeom>
            <a:avLst/>
            <a:gdLst>
              <a:gd name="connsiteX0" fmla="*/ 0 w 1305351"/>
              <a:gd name="connsiteY0" fmla="*/ 64472 h 386824"/>
              <a:gd name="connsiteX1" fmla="*/ 64472 w 1305351"/>
              <a:gd name="connsiteY1" fmla="*/ 0 h 386824"/>
              <a:gd name="connsiteX2" fmla="*/ 1240879 w 1305351"/>
              <a:gd name="connsiteY2" fmla="*/ 0 h 386824"/>
              <a:gd name="connsiteX3" fmla="*/ 1305351 w 1305351"/>
              <a:gd name="connsiteY3" fmla="*/ 64472 h 386824"/>
              <a:gd name="connsiteX4" fmla="*/ 1305351 w 1305351"/>
              <a:gd name="connsiteY4" fmla="*/ 322352 h 386824"/>
              <a:gd name="connsiteX5" fmla="*/ 1240879 w 1305351"/>
              <a:gd name="connsiteY5" fmla="*/ 386824 h 386824"/>
              <a:gd name="connsiteX6" fmla="*/ 64472 w 1305351"/>
              <a:gd name="connsiteY6" fmla="*/ 386824 h 386824"/>
              <a:gd name="connsiteX7" fmla="*/ 0 w 1305351"/>
              <a:gd name="connsiteY7" fmla="*/ 322352 h 386824"/>
              <a:gd name="connsiteX8" fmla="*/ 0 w 1305351"/>
              <a:gd name="connsiteY8" fmla="*/ 64472 h 38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351" h="386824">
                <a:moveTo>
                  <a:pt x="0" y="64472"/>
                </a:moveTo>
                <a:cubicBezTo>
                  <a:pt x="0" y="28865"/>
                  <a:pt x="28865" y="0"/>
                  <a:pt x="64472" y="0"/>
                </a:cubicBezTo>
                <a:lnTo>
                  <a:pt x="1240879" y="0"/>
                </a:lnTo>
                <a:cubicBezTo>
                  <a:pt x="1276486" y="0"/>
                  <a:pt x="1305351" y="28865"/>
                  <a:pt x="1305351" y="64472"/>
                </a:cubicBezTo>
                <a:lnTo>
                  <a:pt x="1305351" y="322352"/>
                </a:lnTo>
                <a:cubicBezTo>
                  <a:pt x="1305351" y="357959"/>
                  <a:pt x="1276486" y="386824"/>
                  <a:pt x="1240879" y="386824"/>
                </a:cubicBezTo>
                <a:lnTo>
                  <a:pt x="64472" y="386824"/>
                </a:lnTo>
                <a:cubicBezTo>
                  <a:pt x="28865" y="386824"/>
                  <a:pt x="0" y="357959"/>
                  <a:pt x="0" y="322352"/>
                </a:cubicBezTo>
                <a:lnTo>
                  <a:pt x="0" y="64472"/>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743" tIns="30313" rIns="41743" bIns="30313" numCol="1" spcCol="1270" anchor="ctr" anchorCtr="0">
            <a:noAutofit/>
          </a:bodyPr>
          <a:lstStyle/>
          <a:p>
            <a:pPr algn="ctr" defTabSz="266700">
              <a:lnSpc>
                <a:spcPct val="90000"/>
              </a:lnSpc>
              <a:spcBef>
                <a:spcPct val="0"/>
              </a:spcBef>
              <a:spcAft>
                <a:spcPct val="35000"/>
              </a:spcAft>
              <a:defRPr/>
            </a:pPr>
            <a:r>
              <a:rPr lang="en-GB" sz="1200">
                <a:solidFill>
                  <a:srgbClr val="FFFFFF"/>
                </a:solidFill>
                <a:latin typeface="Frutiger Lt Std"/>
              </a:rPr>
              <a:t>Expandable: SQL, Python, C++ </a:t>
            </a:r>
          </a:p>
        </p:txBody>
      </p:sp>
    </p:spTree>
    <p:extLst>
      <p:ext uri="{BB962C8B-B14F-4D97-AF65-F5344CB8AC3E}">
        <p14:creationId xmlns:p14="http://schemas.microsoft.com/office/powerpoint/2010/main" val="2460525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oxes On Rack In Warehouse">
            <a:extLst>
              <a:ext uri="{FF2B5EF4-FFF2-40B4-BE49-F238E27FC236}">
                <a16:creationId xmlns:a16="http://schemas.microsoft.com/office/drawing/2014/main" id="{E19BB319-5138-040A-F7AE-D39130A0A256}"/>
              </a:ext>
            </a:extLst>
          </p:cNvPr>
          <p:cNvPicPr>
            <a:picLocks noChangeAspect="1"/>
          </p:cNvPicPr>
          <p:nvPr/>
        </p:nvPicPr>
        <p:blipFill>
          <a:blip r:embed="rId3" cstate="print">
            <a:alphaModFix amt="75000"/>
            <a:extLst>
              <a:ext uri="{28A0092B-C50C-407E-A947-70E740481C1C}">
                <a14:useLocalDpi xmlns:a14="http://schemas.microsoft.com/office/drawing/2010/main" val="0"/>
              </a:ext>
            </a:extLst>
          </a:blip>
          <a:stretch>
            <a:fillRect/>
          </a:stretch>
        </p:blipFill>
        <p:spPr>
          <a:xfrm>
            <a:off x="3864209" y="2541531"/>
            <a:ext cx="4107481" cy="2737652"/>
          </a:xfrm>
          <a:prstGeom prst="rect">
            <a:avLst/>
          </a:prstGeom>
          <a:effectLst>
            <a:glow rad="101600">
              <a:schemeClr val="accent5">
                <a:lumMod val="75000"/>
                <a:alpha val="30000"/>
              </a:schemeClr>
            </a:glow>
          </a:effectLst>
        </p:spPr>
      </p:pic>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a:t>Design Overview</a:t>
            </a:r>
            <a:endParaRPr lang="en-GB" sz="200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1794273" y="1615447"/>
            <a:ext cx="7386381" cy="301057"/>
          </a:xfrm>
        </p:spPr>
        <p:txBody>
          <a:bodyPr/>
          <a:lstStyle/>
          <a:p>
            <a:r>
              <a:rPr lang="en-GB"/>
              <a:t>Development Cycle</a:t>
            </a:r>
          </a:p>
        </p:txBody>
      </p:sp>
      <p:sp>
        <p:nvSpPr>
          <p:cNvPr id="8" name="Freeform: Shape 7">
            <a:extLst>
              <a:ext uri="{FF2B5EF4-FFF2-40B4-BE49-F238E27FC236}">
                <a16:creationId xmlns:a16="http://schemas.microsoft.com/office/drawing/2014/main" id="{6C281CE0-5FCE-B642-1B16-3EED40715E76}"/>
              </a:ext>
            </a:extLst>
          </p:cNvPr>
          <p:cNvSpPr/>
          <p:nvPr/>
        </p:nvSpPr>
        <p:spPr>
          <a:xfrm>
            <a:off x="5414819" y="3472334"/>
            <a:ext cx="821735" cy="821735"/>
          </a:xfrm>
          <a:custGeom>
            <a:avLst/>
            <a:gdLst>
              <a:gd name="connsiteX0" fmla="*/ 0 w 821735"/>
              <a:gd name="connsiteY0" fmla="*/ 410868 h 821735"/>
              <a:gd name="connsiteX1" fmla="*/ 410868 w 821735"/>
              <a:gd name="connsiteY1" fmla="*/ 0 h 821735"/>
              <a:gd name="connsiteX2" fmla="*/ 821736 w 821735"/>
              <a:gd name="connsiteY2" fmla="*/ 410868 h 821735"/>
              <a:gd name="connsiteX3" fmla="*/ 410868 w 821735"/>
              <a:gd name="connsiteY3" fmla="*/ 821736 h 821735"/>
              <a:gd name="connsiteX4" fmla="*/ 0 w 821735"/>
              <a:gd name="connsiteY4" fmla="*/ 410868 h 821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735" h="821735">
                <a:moveTo>
                  <a:pt x="0" y="410868"/>
                </a:moveTo>
                <a:cubicBezTo>
                  <a:pt x="0" y="183952"/>
                  <a:pt x="183952" y="0"/>
                  <a:pt x="410868" y="0"/>
                </a:cubicBezTo>
                <a:cubicBezTo>
                  <a:pt x="637784" y="0"/>
                  <a:pt x="821736" y="183952"/>
                  <a:pt x="821736" y="410868"/>
                </a:cubicBezTo>
                <a:cubicBezTo>
                  <a:pt x="821736" y="637784"/>
                  <a:pt x="637784" y="821736"/>
                  <a:pt x="410868" y="821736"/>
                </a:cubicBezTo>
                <a:cubicBezTo>
                  <a:pt x="183952" y="821736"/>
                  <a:pt x="0" y="637784"/>
                  <a:pt x="0" y="410868"/>
                </a:cubicBez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r>
              <a:rPr lang="en-GB" sz="900">
                <a:solidFill>
                  <a:srgbClr val="FFFFFF"/>
                </a:solidFill>
                <a:latin typeface="Frutiger Lt Std"/>
              </a:rPr>
              <a:t>Warehouse</a:t>
            </a:r>
          </a:p>
        </p:txBody>
      </p:sp>
      <p:sp>
        <p:nvSpPr>
          <p:cNvPr id="9" name="Freeform: Shape 8">
            <a:extLst>
              <a:ext uri="{FF2B5EF4-FFF2-40B4-BE49-F238E27FC236}">
                <a16:creationId xmlns:a16="http://schemas.microsoft.com/office/drawing/2014/main" id="{50A61F4C-E1B7-9460-055A-75FC863193B8}"/>
              </a:ext>
            </a:extLst>
          </p:cNvPr>
          <p:cNvSpPr/>
          <p:nvPr/>
        </p:nvSpPr>
        <p:spPr>
          <a:xfrm rot="1080000">
            <a:off x="6274053" y="2005239"/>
            <a:ext cx="218707" cy="277335"/>
          </a:xfrm>
          <a:custGeom>
            <a:avLst/>
            <a:gdLst>
              <a:gd name="connsiteX0" fmla="*/ 0 w 218707"/>
              <a:gd name="connsiteY0" fmla="*/ 55467 h 277335"/>
              <a:gd name="connsiteX1" fmla="*/ 109354 w 218707"/>
              <a:gd name="connsiteY1" fmla="*/ 55467 h 277335"/>
              <a:gd name="connsiteX2" fmla="*/ 109354 w 218707"/>
              <a:gd name="connsiteY2" fmla="*/ 0 h 277335"/>
              <a:gd name="connsiteX3" fmla="*/ 218707 w 218707"/>
              <a:gd name="connsiteY3" fmla="*/ 138668 h 277335"/>
              <a:gd name="connsiteX4" fmla="*/ 109354 w 218707"/>
              <a:gd name="connsiteY4" fmla="*/ 277335 h 277335"/>
              <a:gd name="connsiteX5" fmla="*/ 109354 w 218707"/>
              <a:gd name="connsiteY5" fmla="*/ 221868 h 277335"/>
              <a:gd name="connsiteX6" fmla="*/ 0 w 218707"/>
              <a:gd name="connsiteY6" fmla="*/ 221868 h 277335"/>
              <a:gd name="connsiteX7" fmla="*/ 0 w 218707"/>
              <a:gd name="connsiteY7" fmla="*/ 55467 h 27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07" h="277335">
                <a:moveTo>
                  <a:pt x="0" y="55467"/>
                </a:moveTo>
                <a:lnTo>
                  <a:pt x="109354" y="55467"/>
                </a:lnTo>
                <a:lnTo>
                  <a:pt x="109354" y="0"/>
                </a:lnTo>
                <a:lnTo>
                  <a:pt x="218707" y="138668"/>
                </a:lnTo>
                <a:lnTo>
                  <a:pt x="109354" y="277335"/>
                </a:lnTo>
                <a:lnTo>
                  <a:pt x="109354" y="221868"/>
                </a:lnTo>
                <a:lnTo>
                  <a:pt x="0" y="221868"/>
                </a:lnTo>
                <a:lnTo>
                  <a:pt x="0" y="55467"/>
                </a:ln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endParaRPr lang="en-GB" sz="900">
              <a:solidFill>
                <a:srgbClr val="FFFFFF"/>
              </a:solidFill>
              <a:latin typeface="Frutiger Lt Std"/>
            </a:endParaRPr>
          </a:p>
        </p:txBody>
      </p:sp>
      <p:sp>
        <p:nvSpPr>
          <p:cNvPr id="11" name="Freeform: Shape 10">
            <a:extLst>
              <a:ext uri="{FF2B5EF4-FFF2-40B4-BE49-F238E27FC236}">
                <a16:creationId xmlns:a16="http://schemas.microsoft.com/office/drawing/2014/main" id="{7CB8593F-6896-C4E5-8ED9-F08985163023}"/>
              </a:ext>
            </a:extLst>
          </p:cNvPr>
          <p:cNvSpPr/>
          <p:nvPr/>
        </p:nvSpPr>
        <p:spPr>
          <a:xfrm rot="3240000">
            <a:off x="7226068" y="2692190"/>
            <a:ext cx="218707" cy="277335"/>
          </a:xfrm>
          <a:custGeom>
            <a:avLst/>
            <a:gdLst>
              <a:gd name="connsiteX0" fmla="*/ 0 w 218707"/>
              <a:gd name="connsiteY0" fmla="*/ 55467 h 277335"/>
              <a:gd name="connsiteX1" fmla="*/ 109354 w 218707"/>
              <a:gd name="connsiteY1" fmla="*/ 55467 h 277335"/>
              <a:gd name="connsiteX2" fmla="*/ 109354 w 218707"/>
              <a:gd name="connsiteY2" fmla="*/ 0 h 277335"/>
              <a:gd name="connsiteX3" fmla="*/ 218707 w 218707"/>
              <a:gd name="connsiteY3" fmla="*/ 138668 h 277335"/>
              <a:gd name="connsiteX4" fmla="*/ 109354 w 218707"/>
              <a:gd name="connsiteY4" fmla="*/ 277335 h 277335"/>
              <a:gd name="connsiteX5" fmla="*/ 109354 w 218707"/>
              <a:gd name="connsiteY5" fmla="*/ 221868 h 277335"/>
              <a:gd name="connsiteX6" fmla="*/ 0 w 218707"/>
              <a:gd name="connsiteY6" fmla="*/ 221868 h 277335"/>
              <a:gd name="connsiteX7" fmla="*/ 0 w 218707"/>
              <a:gd name="connsiteY7" fmla="*/ 55467 h 27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07" h="277335">
                <a:moveTo>
                  <a:pt x="0" y="55467"/>
                </a:moveTo>
                <a:lnTo>
                  <a:pt x="109354" y="55467"/>
                </a:lnTo>
                <a:lnTo>
                  <a:pt x="109354" y="0"/>
                </a:lnTo>
                <a:lnTo>
                  <a:pt x="218707" y="138668"/>
                </a:lnTo>
                <a:lnTo>
                  <a:pt x="109354" y="277335"/>
                </a:lnTo>
                <a:lnTo>
                  <a:pt x="109354" y="221868"/>
                </a:lnTo>
                <a:lnTo>
                  <a:pt x="0" y="221868"/>
                </a:lnTo>
                <a:lnTo>
                  <a:pt x="0" y="55467"/>
                </a:ln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endParaRPr lang="en-GB" sz="900">
              <a:solidFill>
                <a:srgbClr val="FFFFFF"/>
              </a:solidFill>
              <a:latin typeface="Frutiger Lt Std"/>
            </a:endParaRPr>
          </a:p>
        </p:txBody>
      </p:sp>
      <p:sp>
        <p:nvSpPr>
          <p:cNvPr id="12" name="Freeform: Shape 11">
            <a:extLst>
              <a:ext uri="{FF2B5EF4-FFF2-40B4-BE49-F238E27FC236}">
                <a16:creationId xmlns:a16="http://schemas.microsoft.com/office/drawing/2014/main" id="{BA72B44F-5805-402E-F0C1-3B8EAE1F5106}"/>
              </a:ext>
            </a:extLst>
          </p:cNvPr>
          <p:cNvSpPr/>
          <p:nvPr/>
        </p:nvSpPr>
        <p:spPr>
          <a:xfrm>
            <a:off x="7290970" y="2924319"/>
            <a:ext cx="821735" cy="821735"/>
          </a:xfrm>
          <a:custGeom>
            <a:avLst/>
            <a:gdLst>
              <a:gd name="connsiteX0" fmla="*/ 0 w 821735"/>
              <a:gd name="connsiteY0" fmla="*/ 410868 h 821735"/>
              <a:gd name="connsiteX1" fmla="*/ 410868 w 821735"/>
              <a:gd name="connsiteY1" fmla="*/ 0 h 821735"/>
              <a:gd name="connsiteX2" fmla="*/ 821736 w 821735"/>
              <a:gd name="connsiteY2" fmla="*/ 410868 h 821735"/>
              <a:gd name="connsiteX3" fmla="*/ 410868 w 821735"/>
              <a:gd name="connsiteY3" fmla="*/ 821736 h 821735"/>
              <a:gd name="connsiteX4" fmla="*/ 0 w 821735"/>
              <a:gd name="connsiteY4" fmla="*/ 410868 h 821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735" h="821735">
                <a:moveTo>
                  <a:pt x="0" y="410868"/>
                </a:moveTo>
                <a:cubicBezTo>
                  <a:pt x="0" y="183952"/>
                  <a:pt x="183952" y="0"/>
                  <a:pt x="410868" y="0"/>
                </a:cubicBezTo>
                <a:cubicBezTo>
                  <a:pt x="637784" y="0"/>
                  <a:pt x="821736" y="183952"/>
                  <a:pt x="821736" y="410868"/>
                </a:cubicBezTo>
                <a:cubicBezTo>
                  <a:pt x="821736" y="637784"/>
                  <a:pt x="637784" y="821736"/>
                  <a:pt x="410868" y="821736"/>
                </a:cubicBezTo>
                <a:cubicBezTo>
                  <a:pt x="183952" y="821736"/>
                  <a:pt x="0" y="637784"/>
                  <a:pt x="0" y="410868"/>
                </a:cubicBez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r>
              <a:rPr lang="en-GB" sz="900">
                <a:solidFill>
                  <a:srgbClr val="FFFFFF"/>
                </a:solidFill>
                <a:latin typeface="Frutiger Lt Std"/>
              </a:rPr>
              <a:t>Create Branch</a:t>
            </a:r>
          </a:p>
        </p:txBody>
      </p:sp>
      <p:sp>
        <p:nvSpPr>
          <p:cNvPr id="13" name="Freeform: Shape 12">
            <a:extLst>
              <a:ext uri="{FF2B5EF4-FFF2-40B4-BE49-F238E27FC236}">
                <a16:creationId xmlns:a16="http://schemas.microsoft.com/office/drawing/2014/main" id="{66BD8779-6F0F-088D-B4B9-E21EFE65BAE4}"/>
              </a:ext>
            </a:extLst>
          </p:cNvPr>
          <p:cNvSpPr/>
          <p:nvPr/>
        </p:nvSpPr>
        <p:spPr>
          <a:xfrm rot="5400000">
            <a:off x="7592485" y="3807525"/>
            <a:ext cx="218707" cy="277335"/>
          </a:xfrm>
          <a:custGeom>
            <a:avLst/>
            <a:gdLst>
              <a:gd name="connsiteX0" fmla="*/ 0 w 218707"/>
              <a:gd name="connsiteY0" fmla="*/ 55467 h 277335"/>
              <a:gd name="connsiteX1" fmla="*/ 109354 w 218707"/>
              <a:gd name="connsiteY1" fmla="*/ 55467 h 277335"/>
              <a:gd name="connsiteX2" fmla="*/ 109354 w 218707"/>
              <a:gd name="connsiteY2" fmla="*/ 0 h 277335"/>
              <a:gd name="connsiteX3" fmla="*/ 218707 w 218707"/>
              <a:gd name="connsiteY3" fmla="*/ 138668 h 277335"/>
              <a:gd name="connsiteX4" fmla="*/ 109354 w 218707"/>
              <a:gd name="connsiteY4" fmla="*/ 277335 h 277335"/>
              <a:gd name="connsiteX5" fmla="*/ 109354 w 218707"/>
              <a:gd name="connsiteY5" fmla="*/ 221868 h 277335"/>
              <a:gd name="connsiteX6" fmla="*/ 0 w 218707"/>
              <a:gd name="connsiteY6" fmla="*/ 221868 h 277335"/>
              <a:gd name="connsiteX7" fmla="*/ 0 w 218707"/>
              <a:gd name="connsiteY7" fmla="*/ 55467 h 27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07" h="277335">
                <a:moveTo>
                  <a:pt x="0" y="55467"/>
                </a:moveTo>
                <a:lnTo>
                  <a:pt x="109354" y="55467"/>
                </a:lnTo>
                <a:lnTo>
                  <a:pt x="109354" y="0"/>
                </a:lnTo>
                <a:lnTo>
                  <a:pt x="218707" y="138668"/>
                </a:lnTo>
                <a:lnTo>
                  <a:pt x="109354" y="277335"/>
                </a:lnTo>
                <a:lnTo>
                  <a:pt x="109354" y="221868"/>
                </a:lnTo>
                <a:lnTo>
                  <a:pt x="0" y="221868"/>
                </a:lnTo>
                <a:lnTo>
                  <a:pt x="0" y="55467"/>
                </a:ln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endParaRPr lang="en-GB" sz="900">
              <a:solidFill>
                <a:srgbClr val="FFFFFF"/>
              </a:solidFill>
              <a:latin typeface="Frutiger Lt Std"/>
            </a:endParaRPr>
          </a:p>
        </p:txBody>
      </p:sp>
      <p:sp>
        <p:nvSpPr>
          <p:cNvPr id="14" name="Freeform: Shape 13">
            <a:extLst>
              <a:ext uri="{FF2B5EF4-FFF2-40B4-BE49-F238E27FC236}">
                <a16:creationId xmlns:a16="http://schemas.microsoft.com/office/drawing/2014/main" id="{93BE483A-0DB7-019E-3999-662A715EB3C1}"/>
              </a:ext>
            </a:extLst>
          </p:cNvPr>
          <p:cNvSpPr/>
          <p:nvPr/>
        </p:nvSpPr>
        <p:spPr>
          <a:xfrm>
            <a:off x="7290970" y="4158711"/>
            <a:ext cx="821735" cy="821735"/>
          </a:xfrm>
          <a:custGeom>
            <a:avLst/>
            <a:gdLst>
              <a:gd name="connsiteX0" fmla="*/ 0 w 821735"/>
              <a:gd name="connsiteY0" fmla="*/ 410868 h 821735"/>
              <a:gd name="connsiteX1" fmla="*/ 410868 w 821735"/>
              <a:gd name="connsiteY1" fmla="*/ 0 h 821735"/>
              <a:gd name="connsiteX2" fmla="*/ 821736 w 821735"/>
              <a:gd name="connsiteY2" fmla="*/ 410868 h 821735"/>
              <a:gd name="connsiteX3" fmla="*/ 410868 w 821735"/>
              <a:gd name="connsiteY3" fmla="*/ 821736 h 821735"/>
              <a:gd name="connsiteX4" fmla="*/ 0 w 821735"/>
              <a:gd name="connsiteY4" fmla="*/ 410868 h 821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735" h="821735">
                <a:moveTo>
                  <a:pt x="0" y="410868"/>
                </a:moveTo>
                <a:cubicBezTo>
                  <a:pt x="0" y="183952"/>
                  <a:pt x="183952" y="0"/>
                  <a:pt x="410868" y="0"/>
                </a:cubicBezTo>
                <a:cubicBezTo>
                  <a:pt x="637784" y="0"/>
                  <a:pt x="821736" y="183952"/>
                  <a:pt x="821736" y="410868"/>
                </a:cubicBezTo>
                <a:cubicBezTo>
                  <a:pt x="821736" y="637784"/>
                  <a:pt x="637784" y="821736"/>
                  <a:pt x="410868" y="821736"/>
                </a:cubicBezTo>
                <a:cubicBezTo>
                  <a:pt x="183952" y="821736"/>
                  <a:pt x="0" y="637784"/>
                  <a:pt x="0" y="410868"/>
                </a:cubicBez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r>
              <a:rPr lang="en-GB" sz="900">
                <a:solidFill>
                  <a:srgbClr val="FFFFFF"/>
                </a:solidFill>
                <a:latin typeface="Frutiger Lt Std"/>
              </a:rPr>
              <a:t>Develop</a:t>
            </a:r>
          </a:p>
        </p:txBody>
      </p:sp>
      <p:sp>
        <p:nvSpPr>
          <p:cNvPr id="15" name="Freeform: Shape 14">
            <a:extLst>
              <a:ext uri="{FF2B5EF4-FFF2-40B4-BE49-F238E27FC236}">
                <a16:creationId xmlns:a16="http://schemas.microsoft.com/office/drawing/2014/main" id="{5C498ED0-233B-FA4B-EA53-F20F93916DCB}"/>
              </a:ext>
            </a:extLst>
          </p:cNvPr>
          <p:cNvSpPr/>
          <p:nvPr/>
        </p:nvSpPr>
        <p:spPr>
          <a:xfrm rot="18360000">
            <a:off x="7233344" y="4925223"/>
            <a:ext cx="218707" cy="277336"/>
          </a:xfrm>
          <a:custGeom>
            <a:avLst/>
            <a:gdLst>
              <a:gd name="connsiteX0" fmla="*/ 0 w 218707"/>
              <a:gd name="connsiteY0" fmla="*/ 55467 h 277335"/>
              <a:gd name="connsiteX1" fmla="*/ 109354 w 218707"/>
              <a:gd name="connsiteY1" fmla="*/ 55467 h 277335"/>
              <a:gd name="connsiteX2" fmla="*/ 109354 w 218707"/>
              <a:gd name="connsiteY2" fmla="*/ 0 h 277335"/>
              <a:gd name="connsiteX3" fmla="*/ 218707 w 218707"/>
              <a:gd name="connsiteY3" fmla="*/ 138668 h 277335"/>
              <a:gd name="connsiteX4" fmla="*/ 109354 w 218707"/>
              <a:gd name="connsiteY4" fmla="*/ 277335 h 277335"/>
              <a:gd name="connsiteX5" fmla="*/ 109354 w 218707"/>
              <a:gd name="connsiteY5" fmla="*/ 221868 h 277335"/>
              <a:gd name="connsiteX6" fmla="*/ 0 w 218707"/>
              <a:gd name="connsiteY6" fmla="*/ 221868 h 277335"/>
              <a:gd name="connsiteX7" fmla="*/ 0 w 218707"/>
              <a:gd name="connsiteY7" fmla="*/ 55467 h 27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07" h="277335">
                <a:moveTo>
                  <a:pt x="218707" y="221868"/>
                </a:moveTo>
                <a:lnTo>
                  <a:pt x="109353" y="221868"/>
                </a:lnTo>
                <a:lnTo>
                  <a:pt x="109353" y="277335"/>
                </a:lnTo>
                <a:lnTo>
                  <a:pt x="0" y="138667"/>
                </a:lnTo>
                <a:lnTo>
                  <a:pt x="109353" y="0"/>
                </a:lnTo>
                <a:lnTo>
                  <a:pt x="109353" y="55467"/>
                </a:lnTo>
                <a:lnTo>
                  <a:pt x="218707" y="55467"/>
                </a:lnTo>
                <a:lnTo>
                  <a:pt x="218707" y="221868"/>
                </a:ln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endParaRPr lang="en-GB" sz="900">
              <a:solidFill>
                <a:srgbClr val="FFFFFF"/>
              </a:solidFill>
              <a:latin typeface="Frutiger Lt Std"/>
            </a:endParaRPr>
          </a:p>
        </p:txBody>
      </p:sp>
      <p:sp>
        <p:nvSpPr>
          <p:cNvPr id="16" name="Freeform: Shape 15">
            <a:extLst>
              <a:ext uri="{FF2B5EF4-FFF2-40B4-BE49-F238E27FC236}">
                <a16:creationId xmlns:a16="http://schemas.microsoft.com/office/drawing/2014/main" id="{49DE066B-0E0B-9931-80DD-1433151E1AB6}"/>
              </a:ext>
            </a:extLst>
          </p:cNvPr>
          <p:cNvSpPr/>
          <p:nvPr/>
        </p:nvSpPr>
        <p:spPr>
          <a:xfrm>
            <a:off x="6565413" y="5157354"/>
            <a:ext cx="821735" cy="821735"/>
          </a:xfrm>
          <a:custGeom>
            <a:avLst/>
            <a:gdLst>
              <a:gd name="connsiteX0" fmla="*/ 0 w 821735"/>
              <a:gd name="connsiteY0" fmla="*/ 410868 h 821735"/>
              <a:gd name="connsiteX1" fmla="*/ 410868 w 821735"/>
              <a:gd name="connsiteY1" fmla="*/ 0 h 821735"/>
              <a:gd name="connsiteX2" fmla="*/ 821736 w 821735"/>
              <a:gd name="connsiteY2" fmla="*/ 410868 h 821735"/>
              <a:gd name="connsiteX3" fmla="*/ 410868 w 821735"/>
              <a:gd name="connsiteY3" fmla="*/ 821736 h 821735"/>
              <a:gd name="connsiteX4" fmla="*/ 0 w 821735"/>
              <a:gd name="connsiteY4" fmla="*/ 410868 h 821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735" h="821735">
                <a:moveTo>
                  <a:pt x="0" y="410868"/>
                </a:moveTo>
                <a:cubicBezTo>
                  <a:pt x="0" y="183952"/>
                  <a:pt x="183952" y="0"/>
                  <a:pt x="410868" y="0"/>
                </a:cubicBezTo>
                <a:cubicBezTo>
                  <a:pt x="637784" y="0"/>
                  <a:pt x="821736" y="183952"/>
                  <a:pt x="821736" y="410868"/>
                </a:cubicBezTo>
                <a:cubicBezTo>
                  <a:pt x="821736" y="637784"/>
                  <a:pt x="637784" y="821736"/>
                  <a:pt x="410868" y="821736"/>
                </a:cubicBezTo>
                <a:cubicBezTo>
                  <a:pt x="183952" y="821736"/>
                  <a:pt x="0" y="637784"/>
                  <a:pt x="0" y="410868"/>
                </a:cubicBez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r>
              <a:rPr lang="en-GB" sz="900">
                <a:solidFill>
                  <a:srgbClr val="FFFFFF"/>
                </a:solidFill>
                <a:latin typeface="Frutiger Lt Std"/>
              </a:rPr>
              <a:t>Deploy to DEV</a:t>
            </a:r>
          </a:p>
        </p:txBody>
      </p:sp>
      <p:sp>
        <p:nvSpPr>
          <p:cNvPr id="17" name="Freeform: Shape 16">
            <a:extLst>
              <a:ext uri="{FF2B5EF4-FFF2-40B4-BE49-F238E27FC236}">
                <a16:creationId xmlns:a16="http://schemas.microsoft.com/office/drawing/2014/main" id="{647C778C-E170-4C59-5237-B2A45490A7C9}"/>
              </a:ext>
            </a:extLst>
          </p:cNvPr>
          <p:cNvSpPr/>
          <p:nvPr/>
        </p:nvSpPr>
        <p:spPr>
          <a:xfrm rot="20520000">
            <a:off x="6285827" y="5618363"/>
            <a:ext cx="218707" cy="277336"/>
          </a:xfrm>
          <a:custGeom>
            <a:avLst/>
            <a:gdLst>
              <a:gd name="connsiteX0" fmla="*/ 0 w 218707"/>
              <a:gd name="connsiteY0" fmla="*/ 55467 h 277335"/>
              <a:gd name="connsiteX1" fmla="*/ 109354 w 218707"/>
              <a:gd name="connsiteY1" fmla="*/ 55467 h 277335"/>
              <a:gd name="connsiteX2" fmla="*/ 109354 w 218707"/>
              <a:gd name="connsiteY2" fmla="*/ 0 h 277335"/>
              <a:gd name="connsiteX3" fmla="*/ 218707 w 218707"/>
              <a:gd name="connsiteY3" fmla="*/ 138668 h 277335"/>
              <a:gd name="connsiteX4" fmla="*/ 109354 w 218707"/>
              <a:gd name="connsiteY4" fmla="*/ 277335 h 277335"/>
              <a:gd name="connsiteX5" fmla="*/ 109354 w 218707"/>
              <a:gd name="connsiteY5" fmla="*/ 221868 h 277335"/>
              <a:gd name="connsiteX6" fmla="*/ 0 w 218707"/>
              <a:gd name="connsiteY6" fmla="*/ 221868 h 277335"/>
              <a:gd name="connsiteX7" fmla="*/ 0 w 218707"/>
              <a:gd name="connsiteY7" fmla="*/ 55467 h 27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07" h="277335">
                <a:moveTo>
                  <a:pt x="218707" y="221868"/>
                </a:moveTo>
                <a:lnTo>
                  <a:pt x="109353" y="221868"/>
                </a:lnTo>
                <a:lnTo>
                  <a:pt x="109353" y="277335"/>
                </a:lnTo>
                <a:lnTo>
                  <a:pt x="0" y="138667"/>
                </a:lnTo>
                <a:lnTo>
                  <a:pt x="109353" y="0"/>
                </a:lnTo>
                <a:lnTo>
                  <a:pt x="109353" y="55467"/>
                </a:lnTo>
                <a:lnTo>
                  <a:pt x="218707" y="55467"/>
                </a:lnTo>
                <a:lnTo>
                  <a:pt x="218707" y="221868"/>
                </a:ln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endParaRPr lang="en-GB" sz="900">
              <a:solidFill>
                <a:srgbClr val="FFFFFF"/>
              </a:solidFill>
              <a:latin typeface="Frutiger Lt Std"/>
            </a:endParaRPr>
          </a:p>
        </p:txBody>
      </p:sp>
      <p:sp>
        <p:nvSpPr>
          <p:cNvPr id="18" name="Freeform: Shape 17">
            <a:extLst>
              <a:ext uri="{FF2B5EF4-FFF2-40B4-BE49-F238E27FC236}">
                <a16:creationId xmlns:a16="http://schemas.microsoft.com/office/drawing/2014/main" id="{7934F418-EB83-9354-3B14-CC7A42F8104F}"/>
              </a:ext>
            </a:extLst>
          </p:cNvPr>
          <p:cNvSpPr/>
          <p:nvPr/>
        </p:nvSpPr>
        <p:spPr>
          <a:xfrm>
            <a:off x="5391438" y="5538802"/>
            <a:ext cx="821735" cy="821735"/>
          </a:xfrm>
          <a:custGeom>
            <a:avLst/>
            <a:gdLst>
              <a:gd name="connsiteX0" fmla="*/ 0 w 821735"/>
              <a:gd name="connsiteY0" fmla="*/ 410868 h 821735"/>
              <a:gd name="connsiteX1" fmla="*/ 410868 w 821735"/>
              <a:gd name="connsiteY1" fmla="*/ 0 h 821735"/>
              <a:gd name="connsiteX2" fmla="*/ 821736 w 821735"/>
              <a:gd name="connsiteY2" fmla="*/ 410868 h 821735"/>
              <a:gd name="connsiteX3" fmla="*/ 410868 w 821735"/>
              <a:gd name="connsiteY3" fmla="*/ 821736 h 821735"/>
              <a:gd name="connsiteX4" fmla="*/ 0 w 821735"/>
              <a:gd name="connsiteY4" fmla="*/ 410868 h 821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735" h="821735">
                <a:moveTo>
                  <a:pt x="0" y="410868"/>
                </a:moveTo>
                <a:cubicBezTo>
                  <a:pt x="0" y="183952"/>
                  <a:pt x="183952" y="0"/>
                  <a:pt x="410868" y="0"/>
                </a:cubicBezTo>
                <a:cubicBezTo>
                  <a:pt x="637784" y="0"/>
                  <a:pt x="821736" y="183952"/>
                  <a:pt x="821736" y="410868"/>
                </a:cubicBezTo>
                <a:cubicBezTo>
                  <a:pt x="821736" y="637784"/>
                  <a:pt x="637784" y="821736"/>
                  <a:pt x="410868" y="821736"/>
                </a:cubicBezTo>
                <a:cubicBezTo>
                  <a:pt x="183952" y="821736"/>
                  <a:pt x="0" y="637784"/>
                  <a:pt x="0" y="410868"/>
                </a:cubicBez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r>
              <a:rPr lang="en-GB" sz="900" dirty="0">
                <a:solidFill>
                  <a:srgbClr val="FFFFFF"/>
                </a:solidFill>
                <a:latin typeface="Frutiger Lt Std"/>
              </a:rPr>
              <a:t>Pull Request</a:t>
            </a:r>
          </a:p>
        </p:txBody>
      </p:sp>
      <p:sp>
        <p:nvSpPr>
          <p:cNvPr id="19" name="Freeform: Shape 18">
            <a:extLst>
              <a:ext uri="{FF2B5EF4-FFF2-40B4-BE49-F238E27FC236}">
                <a16:creationId xmlns:a16="http://schemas.microsoft.com/office/drawing/2014/main" id="{64E01D5F-849F-6446-FB18-28A5DBEC62DC}"/>
              </a:ext>
            </a:extLst>
          </p:cNvPr>
          <p:cNvSpPr/>
          <p:nvPr/>
        </p:nvSpPr>
        <p:spPr>
          <a:xfrm rot="1080000">
            <a:off x="5111850" y="5622191"/>
            <a:ext cx="218708" cy="277335"/>
          </a:xfrm>
          <a:custGeom>
            <a:avLst/>
            <a:gdLst>
              <a:gd name="connsiteX0" fmla="*/ 0 w 218707"/>
              <a:gd name="connsiteY0" fmla="*/ 55467 h 277335"/>
              <a:gd name="connsiteX1" fmla="*/ 109354 w 218707"/>
              <a:gd name="connsiteY1" fmla="*/ 55467 h 277335"/>
              <a:gd name="connsiteX2" fmla="*/ 109354 w 218707"/>
              <a:gd name="connsiteY2" fmla="*/ 0 h 277335"/>
              <a:gd name="connsiteX3" fmla="*/ 218707 w 218707"/>
              <a:gd name="connsiteY3" fmla="*/ 138668 h 277335"/>
              <a:gd name="connsiteX4" fmla="*/ 109354 w 218707"/>
              <a:gd name="connsiteY4" fmla="*/ 277335 h 277335"/>
              <a:gd name="connsiteX5" fmla="*/ 109354 w 218707"/>
              <a:gd name="connsiteY5" fmla="*/ 221868 h 277335"/>
              <a:gd name="connsiteX6" fmla="*/ 0 w 218707"/>
              <a:gd name="connsiteY6" fmla="*/ 221868 h 277335"/>
              <a:gd name="connsiteX7" fmla="*/ 0 w 218707"/>
              <a:gd name="connsiteY7" fmla="*/ 55467 h 27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07" h="277335">
                <a:moveTo>
                  <a:pt x="218707" y="221868"/>
                </a:moveTo>
                <a:lnTo>
                  <a:pt x="109353" y="221868"/>
                </a:lnTo>
                <a:lnTo>
                  <a:pt x="109353" y="277335"/>
                </a:lnTo>
                <a:lnTo>
                  <a:pt x="0" y="138667"/>
                </a:lnTo>
                <a:lnTo>
                  <a:pt x="109353" y="0"/>
                </a:lnTo>
                <a:lnTo>
                  <a:pt x="109353" y="55467"/>
                </a:lnTo>
                <a:lnTo>
                  <a:pt x="218707" y="55467"/>
                </a:lnTo>
                <a:lnTo>
                  <a:pt x="218707" y="221868"/>
                </a:ln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endParaRPr lang="en-GB" sz="900">
              <a:solidFill>
                <a:srgbClr val="FFFFFF"/>
              </a:solidFill>
              <a:latin typeface="Frutiger Lt Std"/>
            </a:endParaRPr>
          </a:p>
        </p:txBody>
      </p:sp>
      <p:sp>
        <p:nvSpPr>
          <p:cNvPr id="20" name="Freeform: Shape 19">
            <a:extLst>
              <a:ext uri="{FF2B5EF4-FFF2-40B4-BE49-F238E27FC236}">
                <a16:creationId xmlns:a16="http://schemas.microsoft.com/office/drawing/2014/main" id="{844BAFC4-CB83-1E47-4B57-8DA7A049B25C}"/>
              </a:ext>
            </a:extLst>
          </p:cNvPr>
          <p:cNvSpPr/>
          <p:nvPr/>
        </p:nvSpPr>
        <p:spPr>
          <a:xfrm>
            <a:off x="4217462" y="5157354"/>
            <a:ext cx="821735" cy="821735"/>
          </a:xfrm>
          <a:custGeom>
            <a:avLst/>
            <a:gdLst>
              <a:gd name="connsiteX0" fmla="*/ 0 w 821735"/>
              <a:gd name="connsiteY0" fmla="*/ 410868 h 821735"/>
              <a:gd name="connsiteX1" fmla="*/ 410868 w 821735"/>
              <a:gd name="connsiteY1" fmla="*/ 0 h 821735"/>
              <a:gd name="connsiteX2" fmla="*/ 821736 w 821735"/>
              <a:gd name="connsiteY2" fmla="*/ 410868 h 821735"/>
              <a:gd name="connsiteX3" fmla="*/ 410868 w 821735"/>
              <a:gd name="connsiteY3" fmla="*/ 821736 h 821735"/>
              <a:gd name="connsiteX4" fmla="*/ 0 w 821735"/>
              <a:gd name="connsiteY4" fmla="*/ 410868 h 821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735" h="821735">
                <a:moveTo>
                  <a:pt x="0" y="410868"/>
                </a:moveTo>
                <a:cubicBezTo>
                  <a:pt x="0" y="183952"/>
                  <a:pt x="183952" y="0"/>
                  <a:pt x="410868" y="0"/>
                </a:cubicBezTo>
                <a:cubicBezTo>
                  <a:pt x="637784" y="0"/>
                  <a:pt x="821736" y="183952"/>
                  <a:pt x="821736" y="410868"/>
                </a:cubicBezTo>
                <a:cubicBezTo>
                  <a:pt x="821736" y="637784"/>
                  <a:pt x="637784" y="821736"/>
                  <a:pt x="410868" y="821736"/>
                </a:cubicBezTo>
                <a:cubicBezTo>
                  <a:pt x="183952" y="821736"/>
                  <a:pt x="0" y="637784"/>
                  <a:pt x="0" y="410868"/>
                </a:cubicBez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r>
              <a:rPr lang="en-GB" sz="900">
                <a:solidFill>
                  <a:srgbClr val="FFFFFF"/>
                </a:solidFill>
                <a:latin typeface="Frutiger Lt Std"/>
              </a:rPr>
              <a:t>Automated testing</a:t>
            </a:r>
          </a:p>
        </p:txBody>
      </p:sp>
      <p:sp>
        <p:nvSpPr>
          <p:cNvPr id="21" name="Freeform: Shape 20">
            <a:extLst>
              <a:ext uri="{FF2B5EF4-FFF2-40B4-BE49-F238E27FC236}">
                <a16:creationId xmlns:a16="http://schemas.microsoft.com/office/drawing/2014/main" id="{6B32EBD4-7E11-420F-847A-67AD75091DFE}"/>
              </a:ext>
            </a:extLst>
          </p:cNvPr>
          <p:cNvSpPr/>
          <p:nvPr/>
        </p:nvSpPr>
        <p:spPr>
          <a:xfrm rot="3240000">
            <a:off x="4159836" y="4935238"/>
            <a:ext cx="218707" cy="277336"/>
          </a:xfrm>
          <a:custGeom>
            <a:avLst/>
            <a:gdLst>
              <a:gd name="connsiteX0" fmla="*/ 0 w 218707"/>
              <a:gd name="connsiteY0" fmla="*/ 55467 h 277335"/>
              <a:gd name="connsiteX1" fmla="*/ 109354 w 218707"/>
              <a:gd name="connsiteY1" fmla="*/ 55467 h 277335"/>
              <a:gd name="connsiteX2" fmla="*/ 109354 w 218707"/>
              <a:gd name="connsiteY2" fmla="*/ 0 h 277335"/>
              <a:gd name="connsiteX3" fmla="*/ 218707 w 218707"/>
              <a:gd name="connsiteY3" fmla="*/ 138668 h 277335"/>
              <a:gd name="connsiteX4" fmla="*/ 109354 w 218707"/>
              <a:gd name="connsiteY4" fmla="*/ 277335 h 277335"/>
              <a:gd name="connsiteX5" fmla="*/ 109354 w 218707"/>
              <a:gd name="connsiteY5" fmla="*/ 221868 h 277335"/>
              <a:gd name="connsiteX6" fmla="*/ 0 w 218707"/>
              <a:gd name="connsiteY6" fmla="*/ 221868 h 277335"/>
              <a:gd name="connsiteX7" fmla="*/ 0 w 218707"/>
              <a:gd name="connsiteY7" fmla="*/ 55467 h 27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07" h="277335">
                <a:moveTo>
                  <a:pt x="218707" y="221868"/>
                </a:moveTo>
                <a:lnTo>
                  <a:pt x="109353" y="221868"/>
                </a:lnTo>
                <a:lnTo>
                  <a:pt x="109353" y="277335"/>
                </a:lnTo>
                <a:lnTo>
                  <a:pt x="0" y="138667"/>
                </a:lnTo>
                <a:lnTo>
                  <a:pt x="109353" y="0"/>
                </a:lnTo>
                <a:lnTo>
                  <a:pt x="109353" y="55467"/>
                </a:lnTo>
                <a:lnTo>
                  <a:pt x="218707" y="55467"/>
                </a:lnTo>
                <a:lnTo>
                  <a:pt x="218707" y="221868"/>
                </a:ln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endParaRPr lang="en-GB" sz="900">
              <a:solidFill>
                <a:srgbClr val="FFFFFF"/>
              </a:solidFill>
              <a:latin typeface="Frutiger Lt Std"/>
            </a:endParaRPr>
          </a:p>
        </p:txBody>
      </p:sp>
      <p:sp>
        <p:nvSpPr>
          <p:cNvPr id="22" name="Freeform: Shape 21">
            <a:extLst>
              <a:ext uri="{FF2B5EF4-FFF2-40B4-BE49-F238E27FC236}">
                <a16:creationId xmlns:a16="http://schemas.microsoft.com/office/drawing/2014/main" id="{87BA4B2B-A1F1-756D-2E3B-0F8E85B91A02}"/>
              </a:ext>
            </a:extLst>
          </p:cNvPr>
          <p:cNvSpPr/>
          <p:nvPr/>
        </p:nvSpPr>
        <p:spPr>
          <a:xfrm>
            <a:off x="3491905" y="4158711"/>
            <a:ext cx="821735" cy="821735"/>
          </a:xfrm>
          <a:custGeom>
            <a:avLst/>
            <a:gdLst>
              <a:gd name="connsiteX0" fmla="*/ 0 w 821735"/>
              <a:gd name="connsiteY0" fmla="*/ 410868 h 821735"/>
              <a:gd name="connsiteX1" fmla="*/ 410868 w 821735"/>
              <a:gd name="connsiteY1" fmla="*/ 0 h 821735"/>
              <a:gd name="connsiteX2" fmla="*/ 821736 w 821735"/>
              <a:gd name="connsiteY2" fmla="*/ 410868 h 821735"/>
              <a:gd name="connsiteX3" fmla="*/ 410868 w 821735"/>
              <a:gd name="connsiteY3" fmla="*/ 821736 h 821735"/>
              <a:gd name="connsiteX4" fmla="*/ 0 w 821735"/>
              <a:gd name="connsiteY4" fmla="*/ 410868 h 821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735" h="821735">
                <a:moveTo>
                  <a:pt x="0" y="410868"/>
                </a:moveTo>
                <a:cubicBezTo>
                  <a:pt x="0" y="183952"/>
                  <a:pt x="183952" y="0"/>
                  <a:pt x="410868" y="0"/>
                </a:cubicBezTo>
                <a:cubicBezTo>
                  <a:pt x="637784" y="0"/>
                  <a:pt x="821736" y="183952"/>
                  <a:pt x="821736" y="410868"/>
                </a:cubicBezTo>
                <a:cubicBezTo>
                  <a:pt x="821736" y="637784"/>
                  <a:pt x="637784" y="821736"/>
                  <a:pt x="410868" y="821736"/>
                </a:cubicBezTo>
                <a:cubicBezTo>
                  <a:pt x="183952" y="821736"/>
                  <a:pt x="0" y="637784"/>
                  <a:pt x="0" y="410868"/>
                </a:cubicBez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r>
              <a:rPr lang="en-GB" sz="900">
                <a:solidFill>
                  <a:srgbClr val="FFFFFF"/>
                </a:solidFill>
                <a:latin typeface="Frutiger Lt Std"/>
              </a:rPr>
              <a:t>Code Review</a:t>
            </a:r>
          </a:p>
        </p:txBody>
      </p:sp>
      <p:sp>
        <p:nvSpPr>
          <p:cNvPr id="23" name="Freeform: Shape 22">
            <a:extLst>
              <a:ext uri="{FF2B5EF4-FFF2-40B4-BE49-F238E27FC236}">
                <a16:creationId xmlns:a16="http://schemas.microsoft.com/office/drawing/2014/main" id="{A5612213-D25B-FDC9-1B01-DDEF7C1E84FC}"/>
              </a:ext>
            </a:extLst>
          </p:cNvPr>
          <p:cNvSpPr/>
          <p:nvPr/>
        </p:nvSpPr>
        <p:spPr>
          <a:xfrm rot="16200000">
            <a:off x="3793419" y="3819905"/>
            <a:ext cx="218707" cy="277335"/>
          </a:xfrm>
          <a:custGeom>
            <a:avLst/>
            <a:gdLst>
              <a:gd name="connsiteX0" fmla="*/ 0 w 218707"/>
              <a:gd name="connsiteY0" fmla="*/ 55467 h 277335"/>
              <a:gd name="connsiteX1" fmla="*/ 109354 w 218707"/>
              <a:gd name="connsiteY1" fmla="*/ 55467 h 277335"/>
              <a:gd name="connsiteX2" fmla="*/ 109354 w 218707"/>
              <a:gd name="connsiteY2" fmla="*/ 0 h 277335"/>
              <a:gd name="connsiteX3" fmla="*/ 218707 w 218707"/>
              <a:gd name="connsiteY3" fmla="*/ 138668 h 277335"/>
              <a:gd name="connsiteX4" fmla="*/ 109354 w 218707"/>
              <a:gd name="connsiteY4" fmla="*/ 277335 h 277335"/>
              <a:gd name="connsiteX5" fmla="*/ 109354 w 218707"/>
              <a:gd name="connsiteY5" fmla="*/ 221868 h 277335"/>
              <a:gd name="connsiteX6" fmla="*/ 0 w 218707"/>
              <a:gd name="connsiteY6" fmla="*/ 221868 h 277335"/>
              <a:gd name="connsiteX7" fmla="*/ 0 w 218707"/>
              <a:gd name="connsiteY7" fmla="*/ 55467 h 27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07" h="277335">
                <a:moveTo>
                  <a:pt x="0" y="55467"/>
                </a:moveTo>
                <a:lnTo>
                  <a:pt x="109354" y="55467"/>
                </a:lnTo>
                <a:lnTo>
                  <a:pt x="109354" y="0"/>
                </a:lnTo>
                <a:lnTo>
                  <a:pt x="218707" y="138668"/>
                </a:lnTo>
                <a:lnTo>
                  <a:pt x="109354" y="277335"/>
                </a:lnTo>
                <a:lnTo>
                  <a:pt x="109354" y="221868"/>
                </a:lnTo>
                <a:lnTo>
                  <a:pt x="0" y="221868"/>
                </a:lnTo>
                <a:lnTo>
                  <a:pt x="0" y="55467"/>
                </a:ln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endParaRPr lang="en-GB" sz="900">
              <a:solidFill>
                <a:srgbClr val="FFFFFF"/>
              </a:solidFill>
              <a:latin typeface="Frutiger Lt Std"/>
            </a:endParaRPr>
          </a:p>
        </p:txBody>
      </p:sp>
      <p:sp>
        <p:nvSpPr>
          <p:cNvPr id="24" name="Freeform: Shape 23">
            <a:extLst>
              <a:ext uri="{FF2B5EF4-FFF2-40B4-BE49-F238E27FC236}">
                <a16:creationId xmlns:a16="http://schemas.microsoft.com/office/drawing/2014/main" id="{23A38F25-5E84-3457-7FAF-CF1B52E3A7E8}"/>
              </a:ext>
            </a:extLst>
          </p:cNvPr>
          <p:cNvSpPr/>
          <p:nvPr/>
        </p:nvSpPr>
        <p:spPr>
          <a:xfrm>
            <a:off x="3491905" y="2924319"/>
            <a:ext cx="821735" cy="821735"/>
          </a:xfrm>
          <a:custGeom>
            <a:avLst/>
            <a:gdLst>
              <a:gd name="connsiteX0" fmla="*/ 0 w 821735"/>
              <a:gd name="connsiteY0" fmla="*/ 410868 h 821735"/>
              <a:gd name="connsiteX1" fmla="*/ 410868 w 821735"/>
              <a:gd name="connsiteY1" fmla="*/ 0 h 821735"/>
              <a:gd name="connsiteX2" fmla="*/ 821736 w 821735"/>
              <a:gd name="connsiteY2" fmla="*/ 410868 h 821735"/>
              <a:gd name="connsiteX3" fmla="*/ 410868 w 821735"/>
              <a:gd name="connsiteY3" fmla="*/ 821736 h 821735"/>
              <a:gd name="connsiteX4" fmla="*/ 0 w 821735"/>
              <a:gd name="connsiteY4" fmla="*/ 410868 h 821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735" h="821735">
                <a:moveTo>
                  <a:pt x="0" y="410868"/>
                </a:moveTo>
                <a:cubicBezTo>
                  <a:pt x="0" y="183952"/>
                  <a:pt x="183952" y="0"/>
                  <a:pt x="410868" y="0"/>
                </a:cubicBezTo>
                <a:cubicBezTo>
                  <a:pt x="637784" y="0"/>
                  <a:pt x="821736" y="183952"/>
                  <a:pt x="821736" y="410868"/>
                </a:cubicBezTo>
                <a:cubicBezTo>
                  <a:pt x="821736" y="637784"/>
                  <a:pt x="637784" y="821736"/>
                  <a:pt x="410868" y="821736"/>
                </a:cubicBezTo>
                <a:cubicBezTo>
                  <a:pt x="183952" y="821736"/>
                  <a:pt x="0" y="637784"/>
                  <a:pt x="0" y="410868"/>
                </a:cubicBez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r>
              <a:rPr lang="en-GB" sz="900">
                <a:solidFill>
                  <a:srgbClr val="FFFFFF"/>
                </a:solidFill>
                <a:latin typeface="Frutiger Lt Std"/>
              </a:rPr>
              <a:t>Approval</a:t>
            </a:r>
          </a:p>
        </p:txBody>
      </p:sp>
      <p:sp>
        <p:nvSpPr>
          <p:cNvPr id="26" name="Freeform: Shape 25">
            <a:extLst>
              <a:ext uri="{FF2B5EF4-FFF2-40B4-BE49-F238E27FC236}">
                <a16:creationId xmlns:a16="http://schemas.microsoft.com/office/drawing/2014/main" id="{775277B5-A4C2-626C-920F-F56732E155B8}"/>
              </a:ext>
            </a:extLst>
          </p:cNvPr>
          <p:cNvSpPr/>
          <p:nvPr/>
        </p:nvSpPr>
        <p:spPr>
          <a:xfrm rot="18360000">
            <a:off x="4152559" y="2702205"/>
            <a:ext cx="218707" cy="277335"/>
          </a:xfrm>
          <a:custGeom>
            <a:avLst/>
            <a:gdLst>
              <a:gd name="connsiteX0" fmla="*/ 0 w 218707"/>
              <a:gd name="connsiteY0" fmla="*/ 55467 h 277335"/>
              <a:gd name="connsiteX1" fmla="*/ 109354 w 218707"/>
              <a:gd name="connsiteY1" fmla="*/ 55467 h 277335"/>
              <a:gd name="connsiteX2" fmla="*/ 109354 w 218707"/>
              <a:gd name="connsiteY2" fmla="*/ 0 h 277335"/>
              <a:gd name="connsiteX3" fmla="*/ 218707 w 218707"/>
              <a:gd name="connsiteY3" fmla="*/ 138668 h 277335"/>
              <a:gd name="connsiteX4" fmla="*/ 109354 w 218707"/>
              <a:gd name="connsiteY4" fmla="*/ 277335 h 277335"/>
              <a:gd name="connsiteX5" fmla="*/ 109354 w 218707"/>
              <a:gd name="connsiteY5" fmla="*/ 221868 h 277335"/>
              <a:gd name="connsiteX6" fmla="*/ 0 w 218707"/>
              <a:gd name="connsiteY6" fmla="*/ 221868 h 277335"/>
              <a:gd name="connsiteX7" fmla="*/ 0 w 218707"/>
              <a:gd name="connsiteY7" fmla="*/ 55467 h 27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07" h="277335">
                <a:moveTo>
                  <a:pt x="0" y="55467"/>
                </a:moveTo>
                <a:lnTo>
                  <a:pt x="109354" y="55467"/>
                </a:lnTo>
                <a:lnTo>
                  <a:pt x="109354" y="0"/>
                </a:lnTo>
                <a:lnTo>
                  <a:pt x="218707" y="138668"/>
                </a:lnTo>
                <a:lnTo>
                  <a:pt x="109354" y="277335"/>
                </a:lnTo>
                <a:lnTo>
                  <a:pt x="109354" y="221868"/>
                </a:lnTo>
                <a:lnTo>
                  <a:pt x="0" y="221868"/>
                </a:lnTo>
                <a:lnTo>
                  <a:pt x="0" y="55467"/>
                </a:ln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endParaRPr lang="en-GB" sz="900">
              <a:solidFill>
                <a:srgbClr val="FFFFFF"/>
              </a:solidFill>
              <a:latin typeface="Frutiger Lt Std"/>
            </a:endParaRPr>
          </a:p>
        </p:txBody>
      </p:sp>
      <p:sp>
        <p:nvSpPr>
          <p:cNvPr id="27" name="Freeform: Shape 26">
            <a:extLst>
              <a:ext uri="{FF2B5EF4-FFF2-40B4-BE49-F238E27FC236}">
                <a16:creationId xmlns:a16="http://schemas.microsoft.com/office/drawing/2014/main" id="{91A11A4C-5309-DA6C-771E-8B4C0B3CE711}"/>
              </a:ext>
            </a:extLst>
          </p:cNvPr>
          <p:cNvSpPr/>
          <p:nvPr/>
        </p:nvSpPr>
        <p:spPr>
          <a:xfrm>
            <a:off x="4217462" y="1925676"/>
            <a:ext cx="821735" cy="821735"/>
          </a:xfrm>
          <a:custGeom>
            <a:avLst/>
            <a:gdLst>
              <a:gd name="connsiteX0" fmla="*/ 0 w 821735"/>
              <a:gd name="connsiteY0" fmla="*/ 410868 h 821735"/>
              <a:gd name="connsiteX1" fmla="*/ 410868 w 821735"/>
              <a:gd name="connsiteY1" fmla="*/ 0 h 821735"/>
              <a:gd name="connsiteX2" fmla="*/ 821736 w 821735"/>
              <a:gd name="connsiteY2" fmla="*/ 410868 h 821735"/>
              <a:gd name="connsiteX3" fmla="*/ 410868 w 821735"/>
              <a:gd name="connsiteY3" fmla="*/ 821736 h 821735"/>
              <a:gd name="connsiteX4" fmla="*/ 0 w 821735"/>
              <a:gd name="connsiteY4" fmla="*/ 410868 h 821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735" h="821735">
                <a:moveTo>
                  <a:pt x="0" y="410868"/>
                </a:moveTo>
                <a:cubicBezTo>
                  <a:pt x="0" y="183952"/>
                  <a:pt x="183952" y="0"/>
                  <a:pt x="410868" y="0"/>
                </a:cubicBezTo>
                <a:cubicBezTo>
                  <a:pt x="637784" y="0"/>
                  <a:pt x="821736" y="183952"/>
                  <a:pt x="821736" y="410868"/>
                </a:cubicBezTo>
                <a:cubicBezTo>
                  <a:pt x="821736" y="637784"/>
                  <a:pt x="637784" y="821736"/>
                  <a:pt x="410868" y="821736"/>
                </a:cubicBezTo>
                <a:cubicBezTo>
                  <a:pt x="183952" y="821736"/>
                  <a:pt x="0" y="637784"/>
                  <a:pt x="0" y="410868"/>
                </a:cubicBez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r>
              <a:rPr lang="en-GB" sz="900">
                <a:solidFill>
                  <a:srgbClr val="FFFFFF"/>
                </a:solidFill>
                <a:latin typeface="Frutiger Lt Std"/>
              </a:rPr>
              <a:t>Merge</a:t>
            </a:r>
          </a:p>
        </p:txBody>
      </p:sp>
      <p:sp>
        <p:nvSpPr>
          <p:cNvPr id="28" name="Freeform: Shape 27">
            <a:extLst>
              <a:ext uri="{FF2B5EF4-FFF2-40B4-BE49-F238E27FC236}">
                <a16:creationId xmlns:a16="http://schemas.microsoft.com/office/drawing/2014/main" id="{9D0A2227-F5DC-B6B1-0134-10A06A506282}"/>
              </a:ext>
            </a:extLst>
          </p:cNvPr>
          <p:cNvSpPr/>
          <p:nvPr/>
        </p:nvSpPr>
        <p:spPr>
          <a:xfrm rot="20520000">
            <a:off x="5100077" y="2009065"/>
            <a:ext cx="218707" cy="277335"/>
          </a:xfrm>
          <a:custGeom>
            <a:avLst/>
            <a:gdLst>
              <a:gd name="connsiteX0" fmla="*/ 0 w 218707"/>
              <a:gd name="connsiteY0" fmla="*/ 55467 h 277335"/>
              <a:gd name="connsiteX1" fmla="*/ 109354 w 218707"/>
              <a:gd name="connsiteY1" fmla="*/ 55467 h 277335"/>
              <a:gd name="connsiteX2" fmla="*/ 109354 w 218707"/>
              <a:gd name="connsiteY2" fmla="*/ 0 h 277335"/>
              <a:gd name="connsiteX3" fmla="*/ 218707 w 218707"/>
              <a:gd name="connsiteY3" fmla="*/ 138668 h 277335"/>
              <a:gd name="connsiteX4" fmla="*/ 109354 w 218707"/>
              <a:gd name="connsiteY4" fmla="*/ 277335 h 277335"/>
              <a:gd name="connsiteX5" fmla="*/ 109354 w 218707"/>
              <a:gd name="connsiteY5" fmla="*/ 221868 h 277335"/>
              <a:gd name="connsiteX6" fmla="*/ 0 w 218707"/>
              <a:gd name="connsiteY6" fmla="*/ 221868 h 277335"/>
              <a:gd name="connsiteX7" fmla="*/ 0 w 218707"/>
              <a:gd name="connsiteY7" fmla="*/ 55467 h 27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07" h="277335">
                <a:moveTo>
                  <a:pt x="0" y="55467"/>
                </a:moveTo>
                <a:lnTo>
                  <a:pt x="109354" y="55467"/>
                </a:lnTo>
                <a:lnTo>
                  <a:pt x="109354" y="0"/>
                </a:lnTo>
                <a:lnTo>
                  <a:pt x="218707" y="138668"/>
                </a:lnTo>
                <a:lnTo>
                  <a:pt x="109354" y="277335"/>
                </a:lnTo>
                <a:lnTo>
                  <a:pt x="109354" y="221868"/>
                </a:lnTo>
                <a:lnTo>
                  <a:pt x="0" y="221868"/>
                </a:lnTo>
                <a:lnTo>
                  <a:pt x="0" y="55467"/>
                </a:ln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endParaRPr lang="en-GB" sz="900">
              <a:solidFill>
                <a:srgbClr val="FFFFFF"/>
              </a:solidFill>
              <a:latin typeface="Frutiger Lt Std"/>
            </a:endParaRPr>
          </a:p>
        </p:txBody>
      </p:sp>
      <p:grpSp>
        <p:nvGrpSpPr>
          <p:cNvPr id="47" name="Group 46">
            <a:extLst>
              <a:ext uri="{FF2B5EF4-FFF2-40B4-BE49-F238E27FC236}">
                <a16:creationId xmlns:a16="http://schemas.microsoft.com/office/drawing/2014/main" id="{3C5170D9-B4A4-1D04-C0A0-13724B22317A}"/>
              </a:ext>
            </a:extLst>
          </p:cNvPr>
          <p:cNvGrpSpPr/>
          <p:nvPr/>
        </p:nvGrpSpPr>
        <p:grpSpPr>
          <a:xfrm>
            <a:off x="1960428" y="-3062100"/>
            <a:ext cx="1199779" cy="2726300"/>
            <a:chOff x="4881427" y="2374692"/>
            <a:chExt cx="1199779" cy="2726300"/>
          </a:xfrm>
        </p:grpSpPr>
        <p:sp>
          <p:nvSpPr>
            <p:cNvPr id="48" name="Freeform: Shape 47">
              <a:extLst>
                <a:ext uri="{FF2B5EF4-FFF2-40B4-BE49-F238E27FC236}">
                  <a16:creationId xmlns:a16="http://schemas.microsoft.com/office/drawing/2014/main" id="{6DA60863-DD04-C44F-FC4F-04013FAC968A}"/>
                </a:ext>
              </a:extLst>
            </p:cNvPr>
            <p:cNvSpPr/>
            <p:nvPr/>
          </p:nvSpPr>
          <p:spPr>
            <a:xfrm>
              <a:off x="4881427"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Deployment Process</a:t>
              </a:r>
            </a:p>
          </p:txBody>
        </p:sp>
        <p:sp>
          <p:nvSpPr>
            <p:cNvPr id="49" name="Oval 48" descr="Box outline">
              <a:extLst>
                <a:ext uri="{FF2B5EF4-FFF2-40B4-BE49-F238E27FC236}">
                  <a16:creationId xmlns:a16="http://schemas.microsoft.com/office/drawing/2014/main" id="{D90A009E-7C65-5F90-1119-62ADB4DA038D}"/>
                </a:ext>
              </a:extLst>
            </p:cNvPr>
            <p:cNvSpPr/>
            <p:nvPr/>
          </p:nvSpPr>
          <p:spPr>
            <a:xfrm>
              <a:off x="5027388" y="2538269"/>
              <a:ext cx="907857" cy="907857"/>
            </a:xfrm>
            <a:prstGeom prst="ellipse">
              <a:avLst/>
            </a:prstGeom>
            <a:blipFill>
              <a:blip r:embed="rId5">
                <a:extLst>
                  <a:ext uri="{96DAC541-7B7A-43D3-8B79-37D633B846F1}">
                    <asvg:svgBlip xmlns:asvg="http://schemas.microsoft.com/office/drawing/2016/SVG/main" r:embed="rId6"/>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
        <p:nvSpPr>
          <p:cNvPr id="50" name="Freeform: Shape 49">
            <a:extLst>
              <a:ext uri="{FF2B5EF4-FFF2-40B4-BE49-F238E27FC236}">
                <a16:creationId xmlns:a16="http://schemas.microsoft.com/office/drawing/2014/main" id="{87CD9E05-98F2-0CA3-AFA0-6E1EAB16651E}"/>
              </a:ext>
            </a:extLst>
          </p:cNvPr>
          <p:cNvSpPr/>
          <p:nvPr/>
        </p:nvSpPr>
        <p:spPr>
          <a:xfrm>
            <a:off x="6565413" y="1925676"/>
            <a:ext cx="821735" cy="821735"/>
          </a:xfrm>
          <a:custGeom>
            <a:avLst/>
            <a:gdLst>
              <a:gd name="connsiteX0" fmla="*/ 0 w 821735"/>
              <a:gd name="connsiteY0" fmla="*/ 410868 h 821735"/>
              <a:gd name="connsiteX1" fmla="*/ 410868 w 821735"/>
              <a:gd name="connsiteY1" fmla="*/ 0 h 821735"/>
              <a:gd name="connsiteX2" fmla="*/ 821736 w 821735"/>
              <a:gd name="connsiteY2" fmla="*/ 410868 h 821735"/>
              <a:gd name="connsiteX3" fmla="*/ 410868 w 821735"/>
              <a:gd name="connsiteY3" fmla="*/ 821736 h 821735"/>
              <a:gd name="connsiteX4" fmla="*/ 0 w 821735"/>
              <a:gd name="connsiteY4" fmla="*/ 410868 h 821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735" h="821735">
                <a:moveTo>
                  <a:pt x="0" y="410868"/>
                </a:moveTo>
                <a:cubicBezTo>
                  <a:pt x="0" y="183952"/>
                  <a:pt x="183952" y="0"/>
                  <a:pt x="410868" y="0"/>
                </a:cubicBezTo>
                <a:cubicBezTo>
                  <a:pt x="637784" y="0"/>
                  <a:pt x="821736" y="183952"/>
                  <a:pt x="821736" y="410868"/>
                </a:cubicBezTo>
                <a:cubicBezTo>
                  <a:pt x="821736" y="637784"/>
                  <a:pt x="637784" y="821736"/>
                  <a:pt x="410868" y="821736"/>
                </a:cubicBezTo>
                <a:cubicBezTo>
                  <a:pt x="183952" y="821736"/>
                  <a:pt x="0" y="637784"/>
                  <a:pt x="0" y="410868"/>
                </a:cubicBezTo>
                <a:close/>
              </a:path>
            </a:pathLst>
          </a:custGeom>
          <a:solidFill>
            <a:schemeClr val="accent1">
              <a:lumMod val="75000"/>
            </a:schemeClr>
          </a:solidFill>
          <a:scene3d>
            <a:camera prst="orthographicFront"/>
            <a:lightRig rig="threePt" dir="t"/>
          </a:scene3d>
          <a:sp3d>
            <a:bevelT/>
          </a:sp3d>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31770" tIns="131770" rIns="131770" bIns="131770" numCol="1" spcCol="1270" anchor="ctr" anchorCtr="0">
            <a:noAutofit/>
          </a:bodyPr>
          <a:lstStyle/>
          <a:p>
            <a:pPr algn="ctr" defTabSz="400050">
              <a:lnSpc>
                <a:spcPct val="90000"/>
              </a:lnSpc>
              <a:spcBef>
                <a:spcPct val="0"/>
              </a:spcBef>
              <a:spcAft>
                <a:spcPct val="35000"/>
              </a:spcAft>
              <a:defRPr/>
            </a:pPr>
            <a:r>
              <a:rPr lang="en-GB" sz="900" dirty="0">
                <a:solidFill>
                  <a:srgbClr val="FFFFFF"/>
                </a:solidFill>
                <a:latin typeface="Frutiger Lt Std"/>
              </a:rPr>
              <a:t>Defined Request</a:t>
            </a:r>
          </a:p>
        </p:txBody>
      </p:sp>
      <p:grpSp>
        <p:nvGrpSpPr>
          <p:cNvPr id="2" name="Group 1">
            <a:extLst>
              <a:ext uri="{FF2B5EF4-FFF2-40B4-BE49-F238E27FC236}">
                <a16:creationId xmlns:a16="http://schemas.microsoft.com/office/drawing/2014/main" id="{C807C715-D1EA-85BE-387E-BB0B430ECC8F}"/>
              </a:ext>
            </a:extLst>
          </p:cNvPr>
          <p:cNvGrpSpPr/>
          <p:nvPr/>
        </p:nvGrpSpPr>
        <p:grpSpPr>
          <a:xfrm>
            <a:off x="2106389" y="7374508"/>
            <a:ext cx="1199779" cy="2726300"/>
            <a:chOff x="3645654" y="2374692"/>
            <a:chExt cx="1199779" cy="2726300"/>
          </a:xfrm>
          <a:effectLst>
            <a:outerShdw blurRad="50800" dist="38100" dir="2700000" algn="tl" rotWithShape="0">
              <a:prstClr val="black">
                <a:alpha val="40000"/>
              </a:prstClr>
            </a:outerShdw>
          </a:effectLst>
        </p:grpSpPr>
        <p:sp>
          <p:nvSpPr>
            <p:cNvPr id="10" name="Freeform: Shape 9">
              <a:extLst>
                <a:ext uri="{FF2B5EF4-FFF2-40B4-BE49-F238E27FC236}">
                  <a16:creationId xmlns:a16="http://schemas.microsoft.com/office/drawing/2014/main" id="{C04A1909-36F8-96D6-DFE1-E3AF92C49FD1}"/>
                </a:ext>
              </a:extLst>
            </p:cNvPr>
            <p:cNvSpPr/>
            <p:nvPr/>
          </p:nvSpPr>
          <p:spPr>
            <a:xfrm>
              <a:off x="3645654"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Development Cycle</a:t>
              </a:r>
            </a:p>
          </p:txBody>
        </p:sp>
        <p:sp>
          <p:nvSpPr>
            <p:cNvPr id="25" name="Oval 24" descr="Construction worker male outline">
              <a:extLst>
                <a:ext uri="{FF2B5EF4-FFF2-40B4-BE49-F238E27FC236}">
                  <a16:creationId xmlns:a16="http://schemas.microsoft.com/office/drawing/2014/main" id="{597FC72C-66D9-AD36-21B1-0E854979129B}"/>
                </a:ext>
              </a:extLst>
            </p:cNvPr>
            <p:cNvSpPr/>
            <p:nvPr/>
          </p:nvSpPr>
          <p:spPr>
            <a:xfrm>
              <a:off x="3791615" y="2538269"/>
              <a:ext cx="907857" cy="907857"/>
            </a:xfrm>
            <a:prstGeom prst="ellipse">
              <a:avLst/>
            </a:prstGeom>
            <a:blipFill>
              <a:blip r:embed="rId7">
                <a:extLst>
                  <a:ext uri="{96DAC541-7B7A-43D3-8B79-37D633B846F1}">
                    <asvg:svgBlip xmlns:asvg="http://schemas.microsoft.com/office/drawing/2016/SVG/main" r:embed="rId8"/>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spTree>
    <p:extLst>
      <p:ext uri="{BB962C8B-B14F-4D97-AF65-F5344CB8AC3E}">
        <p14:creationId xmlns:p14="http://schemas.microsoft.com/office/powerpoint/2010/main" val="27073645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88889E-6 -3.7037E-6 L -0.00157 -0.26296 " pathEditMode="relative" rAng="0" ptsTypes="AA">
                                      <p:cBhvr>
                                        <p:cTn id="6" dur="2000" fill="hold"/>
                                        <p:tgtEl>
                                          <p:spTgt spid="8"/>
                                        </p:tgtEl>
                                        <p:attrNameLst>
                                          <p:attrName>ppt_x</p:attrName>
                                          <p:attrName>ppt_y</p:attrName>
                                        </p:attrNameLst>
                                      </p:cBhvr>
                                      <p:rCtr x="-87" y="-13148"/>
                                    </p:animMotion>
                                  </p:childTnLst>
                                </p:cTn>
                              </p:par>
                            </p:childTnLst>
                          </p:cTn>
                        </p:par>
                        <p:par>
                          <p:cTn id="7" fill="hold">
                            <p:stCondLst>
                              <p:cond delay="2000"/>
                            </p:stCondLst>
                            <p:childTnLst>
                              <p:par>
                                <p:cTn id="8" presetID="10"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par>
                          <p:cTn id="11" fill="hold">
                            <p:stCondLst>
                              <p:cond delay="2500"/>
                            </p:stCondLst>
                            <p:childTnLst>
                              <p:par>
                                <p:cTn id="12" presetID="10" presetClass="entr" presetSubtype="0"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fade">
                                      <p:cBhvr>
                                        <p:cTn id="14" dur="500"/>
                                        <p:tgtEl>
                                          <p:spTgt spid="50"/>
                                        </p:tgtEl>
                                      </p:cBhvr>
                                    </p:animEffect>
                                  </p:childTnLst>
                                </p:cTn>
                              </p:par>
                            </p:childTnLst>
                          </p:cTn>
                        </p:par>
                        <p:par>
                          <p:cTn id="15" fill="hold">
                            <p:stCondLst>
                              <p:cond delay="3000"/>
                            </p:stCondLst>
                            <p:childTnLst>
                              <p:par>
                                <p:cTn id="16" presetID="10" presetClass="entr" presetSubtype="0"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par>
                          <p:cTn id="19" fill="hold">
                            <p:stCondLst>
                              <p:cond delay="3500"/>
                            </p:stCondLst>
                            <p:childTnLst>
                              <p:par>
                                <p:cTn id="20" presetID="10" presetClass="entr" presetSubtype="0"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par>
                          <p:cTn id="23" fill="hold">
                            <p:stCondLst>
                              <p:cond delay="4000"/>
                            </p:stCondLst>
                            <p:childTnLst>
                              <p:par>
                                <p:cTn id="24" presetID="10" presetClass="entr" presetSubtype="0"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par>
                          <p:cTn id="27" fill="hold">
                            <p:stCondLst>
                              <p:cond delay="4500"/>
                            </p:stCondLst>
                            <p:childTnLst>
                              <p:par>
                                <p:cTn id="28" presetID="10"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par>
                          <p:cTn id="31" fill="hold">
                            <p:stCondLst>
                              <p:cond delay="5000"/>
                            </p:stCondLst>
                            <p:childTnLst>
                              <p:par>
                                <p:cTn id="32" presetID="10" presetClass="entr" presetSubtype="0" fill="hold" grpId="0"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par>
                          <p:cTn id="35" fill="hold">
                            <p:stCondLst>
                              <p:cond delay="5500"/>
                            </p:stCondLst>
                            <p:childTnLst>
                              <p:par>
                                <p:cTn id="36" presetID="10" presetClass="entr" presetSubtype="0"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par>
                          <p:cTn id="39" fill="hold">
                            <p:stCondLst>
                              <p:cond delay="6000"/>
                            </p:stCondLst>
                            <p:childTnLst>
                              <p:par>
                                <p:cTn id="40" presetID="10" presetClass="entr" presetSubtype="0" fill="hold" grpId="0"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par>
                          <p:cTn id="43" fill="hold">
                            <p:stCondLst>
                              <p:cond delay="6500"/>
                            </p:stCondLst>
                            <p:childTnLst>
                              <p:par>
                                <p:cTn id="44" presetID="10" presetClass="entr" presetSubtype="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par>
                          <p:cTn id="47" fill="hold">
                            <p:stCondLst>
                              <p:cond delay="7000"/>
                            </p:stCondLst>
                            <p:childTnLst>
                              <p:par>
                                <p:cTn id="48" presetID="10"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childTnLst>
                          </p:cTn>
                        </p:par>
                        <p:par>
                          <p:cTn id="51" fill="hold">
                            <p:stCondLst>
                              <p:cond delay="7500"/>
                            </p:stCondLst>
                            <p:childTnLst>
                              <p:par>
                                <p:cTn id="52" presetID="10" presetClass="entr" presetSubtype="0" fill="hold" grpId="0"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childTnLst>
                          </p:cTn>
                        </p:par>
                        <p:par>
                          <p:cTn id="55" fill="hold">
                            <p:stCondLst>
                              <p:cond delay="8000"/>
                            </p:stCondLst>
                            <p:childTnLst>
                              <p:par>
                                <p:cTn id="56" presetID="10" presetClass="entr" presetSubtype="0" fill="hold" grpId="0" nodeType="after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par>
                          <p:cTn id="59" fill="hold">
                            <p:stCondLst>
                              <p:cond delay="8500"/>
                            </p:stCondLst>
                            <p:childTnLst>
                              <p:par>
                                <p:cTn id="60" presetID="10" presetClass="entr" presetSubtype="0" fill="hold" grpId="0"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childTnLst>
                          </p:cTn>
                        </p:par>
                        <p:par>
                          <p:cTn id="63" fill="hold">
                            <p:stCondLst>
                              <p:cond delay="9000"/>
                            </p:stCondLst>
                            <p:childTnLst>
                              <p:par>
                                <p:cTn id="64" presetID="10" presetClass="entr" presetSubtype="0" fill="hold" grpId="0" nodeType="after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childTnLst>
                          </p:cTn>
                        </p:par>
                        <p:par>
                          <p:cTn id="67" fill="hold">
                            <p:stCondLst>
                              <p:cond delay="9500"/>
                            </p:stCondLst>
                            <p:childTnLst>
                              <p:par>
                                <p:cTn id="68" presetID="10" presetClass="entr" presetSubtype="0" fill="hold" grpId="0" nodeType="after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childTnLst>
                          </p:cTn>
                        </p:par>
                        <p:par>
                          <p:cTn id="71" fill="hold">
                            <p:stCondLst>
                              <p:cond delay="10000"/>
                            </p:stCondLst>
                            <p:childTnLst>
                              <p:par>
                                <p:cTn id="72" presetID="10" presetClass="entr" presetSubtype="0" fill="hold" grpId="0" nodeType="after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childTnLst>
                          </p:cTn>
                        </p:par>
                        <p:par>
                          <p:cTn id="75" fill="hold">
                            <p:stCondLst>
                              <p:cond delay="10500"/>
                            </p:stCondLst>
                            <p:childTnLst>
                              <p:par>
                                <p:cTn id="76" presetID="10" presetClass="entr" presetSubtype="0" fill="hold" grpId="0" nodeType="after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childTnLst>
                          </p:cTn>
                        </p:par>
                        <p:par>
                          <p:cTn id="79" fill="hold">
                            <p:stCondLst>
                              <p:cond delay="11000"/>
                            </p:stCondLst>
                            <p:childTnLst>
                              <p:par>
                                <p:cTn id="80" presetID="10" presetClass="entr" presetSubtype="0" fill="hold" grpId="0" nodeType="after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P spid="27" grpId="0" animBg="1"/>
      <p:bldP spid="28" grpId="0" animBg="1"/>
      <p:bldP spid="5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a:t>Design Overview</a:t>
            </a:r>
            <a:endParaRPr lang="en-GB" sz="200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1794273" y="1615447"/>
            <a:ext cx="7386381" cy="301057"/>
          </a:xfrm>
        </p:spPr>
        <p:txBody>
          <a:bodyPr/>
          <a:lstStyle/>
          <a:p>
            <a:r>
              <a:rPr lang="en-GB"/>
              <a:t>Deployment Process</a:t>
            </a:r>
          </a:p>
        </p:txBody>
      </p:sp>
      <p:grpSp>
        <p:nvGrpSpPr>
          <p:cNvPr id="21" name="Group 20">
            <a:extLst>
              <a:ext uri="{FF2B5EF4-FFF2-40B4-BE49-F238E27FC236}">
                <a16:creationId xmlns:a16="http://schemas.microsoft.com/office/drawing/2014/main" id="{E70DC903-A32E-1633-DEC9-E709672B12CF}"/>
              </a:ext>
            </a:extLst>
          </p:cNvPr>
          <p:cNvGrpSpPr/>
          <p:nvPr/>
        </p:nvGrpSpPr>
        <p:grpSpPr>
          <a:xfrm>
            <a:off x="2277928" y="2338050"/>
            <a:ext cx="1199779" cy="2726300"/>
            <a:chOff x="4881427" y="2374692"/>
            <a:chExt cx="1199779" cy="2726300"/>
          </a:xfrm>
          <a:effectLst>
            <a:outerShdw blurRad="50800" dist="38100" dir="2700000" algn="tl" rotWithShape="0">
              <a:prstClr val="black">
                <a:alpha val="40000"/>
              </a:prstClr>
            </a:outerShdw>
          </a:effectLst>
        </p:grpSpPr>
        <p:sp>
          <p:nvSpPr>
            <p:cNvPr id="14" name="Freeform: Shape 13">
              <a:extLst>
                <a:ext uri="{FF2B5EF4-FFF2-40B4-BE49-F238E27FC236}">
                  <a16:creationId xmlns:a16="http://schemas.microsoft.com/office/drawing/2014/main" id="{7563D20E-F463-B4B5-9E26-6736D4F340C7}"/>
                </a:ext>
              </a:extLst>
            </p:cNvPr>
            <p:cNvSpPr/>
            <p:nvPr/>
          </p:nvSpPr>
          <p:spPr>
            <a:xfrm>
              <a:off x="4881427"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Deployment Process</a:t>
              </a:r>
            </a:p>
          </p:txBody>
        </p:sp>
        <p:sp>
          <p:nvSpPr>
            <p:cNvPr id="15" name="Oval 14" descr="Box outline">
              <a:extLst>
                <a:ext uri="{FF2B5EF4-FFF2-40B4-BE49-F238E27FC236}">
                  <a16:creationId xmlns:a16="http://schemas.microsoft.com/office/drawing/2014/main" id="{5715B9AE-37FE-30DD-BB74-F5E5AF38BB99}"/>
                </a:ext>
              </a:extLst>
            </p:cNvPr>
            <p:cNvSpPr/>
            <p:nvPr/>
          </p:nvSpPr>
          <p:spPr>
            <a:xfrm>
              <a:off x="5027388" y="2538269"/>
              <a:ext cx="907857" cy="907857"/>
            </a:xfrm>
            <a:prstGeom prst="ellipse">
              <a:avLst/>
            </a:prstGeom>
            <a:blipFill>
              <a:blip r:embed="rId4">
                <a:extLst>
                  <a:ext uri="{96DAC541-7B7A-43D3-8B79-37D633B846F1}">
                    <asvg:svgBlip xmlns:asvg="http://schemas.microsoft.com/office/drawing/2016/SVG/main" r:embed="rId5"/>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pic>
        <p:nvPicPr>
          <p:cNvPr id="18" name="Picture 17" descr="Drone carrying a parcel among modern buildings">
            <a:extLst>
              <a:ext uri="{FF2B5EF4-FFF2-40B4-BE49-F238E27FC236}">
                <a16:creationId xmlns:a16="http://schemas.microsoft.com/office/drawing/2014/main" id="{CDE60A70-AD26-F734-4B0B-640B9612C4E9}"/>
              </a:ext>
            </a:extLst>
          </p:cNvPr>
          <p:cNvPicPr>
            <a:picLocks noChangeAspect="1"/>
          </p:cNvPicPr>
          <p:nvPr/>
        </p:nvPicPr>
        <p:blipFill>
          <a:blip r:embed="rId6" cstate="print">
            <a:alphaModFix amt="60000"/>
            <a:extLst>
              <a:ext uri="{28A0092B-C50C-407E-A947-70E740481C1C}">
                <a14:useLocalDpi xmlns:a14="http://schemas.microsoft.com/office/drawing/2010/main" val="0"/>
              </a:ext>
            </a:extLst>
          </a:blip>
          <a:stretch>
            <a:fillRect/>
          </a:stretch>
        </p:blipFill>
        <p:spPr>
          <a:xfrm>
            <a:off x="4172167" y="2396860"/>
            <a:ext cx="4058309" cy="2608681"/>
          </a:xfrm>
          <a:prstGeom prst="rect">
            <a:avLst/>
          </a:prstGeom>
        </p:spPr>
      </p:pic>
      <p:grpSp>
        <p:nvGrpSpPr>
          <p:cNvPr id="24" name="Group 23">
            <a:extLst>
              <a:ext uri="{FF2B5EF4-FFF2-40B4-BE49-F238E27FC236}">
                <a16:creationId xmlns:a16="http://schemas.microsoft.com/office/drawing/2014/main" id="{757ADEF2-5CE6-C14A-D175-CADE1E97833E}"/>
              </a:ext>
            </a:extLst>
          </p:cNvPr>
          <p:cNvGrpSpPr/>
          <p:nvPr/>
        </p:nvGrpSpPr>
        <p:grpSpPr>
          <a:xfrm>
            <a:off x="12520801" y="1889508"/>
            <a:ext cx="2728760" cy="1224238"/>
            <a:chOff x="6407393" y="1848772"/>
            <a:chExt cx="2774716" cy="1263070"/>
          </a:xfrm>
        </p:grpSpPr>
        <p:pic>
          <p:nvPicPr>
            <p:cNvPr id="25" name="Graphic 24" descr="Server with solid fill">
              <a:extLst>
                <a:ext uri="{FF2B5EF4-FFF2-40B4-BE49-F238E27FC236}">
                  <a16:creationId xmlns:a16="http://schemas.microsoft.com/office/drawing/2014/main" id="{2D2422D2-C089-89C5-701E-E1529E0CF81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28174" y="2197442"/>
              <a:ext cx="914400" cy="914400"/>
            </a:xfrm>
            <a:prstGeom prst="rect">
              <a:avLst/>
            </a:prstGeom>
            <a:effectLst>
              <a:glow rad="25400">
                <a:schemeClr val="accent5">
                  <a:satMod val="175000"/>
                  <a:alpha val="40000"/>
                </a:schemeClr>
              </a:glow>
            </a:effectLst>
          </p:spPr>
        </p:pic>
        <p:sp>
          <p:nvSpPr>
            <p:cNvPr id="26" name="TextBox 25">
              <a:extLst>
                <a:ext uri="{FF2B5EF4-FFF2-40B4-BE49-F238E27FC236}">
                  <a16:creationId xmlns:a16="http://schemas.microsoft.com/office/drawing/2014/main" id="{95EE4519-B933-279F-0EA2-0A8FA0164966}"/>
                </a:ext>
              </a:extLst>
            </p:cNvPr>
            <p:cNvSpPr txBox="1"/>
            <p:nvPr/>
          </p:nvSpPr>
          <p:spPr>
            <a:xfrm>
              <a:off x="6407393" y="1848772"/>
              <a:ext cx="2774716" cy="381047"/>
            </a:xfrm>
            <a:prstGeom prst="rect">
              <a:avLst/>
            </a:prstGeom>
            <a:noFill/>
          </p:spPr>
          <p:txBody>
            <a:bodyPr wrap="none" rtlCol="0">
              <a:spAutoFit/>
            </a:bodyPr>
            <a:lstStyle/>
            <a:p>
              <a:pPr>
                <a:defRPr/>
              </a:pPr>
              <a:r>
                <a:rPr lang="en-GB">
                  <a:solidFill>
                    <a:srgbClr val="003087"/>
                  </a:solidFill>
                  <a:latin typeface="Frutiger Lt Std"/>
                </a:rPr>
                <a:t>SFT-WAREHOUSE/ARTEMIS</a:t>
              </a:r>
            </a:p>
          </p:txBody>
        </p:sp>
      </p:grpSp>
      <p:grpSp>
        <p:nvGrpSpPr>
          <p:cNvPr id="27" name="Group 26">
            <a:extLst>
              <a:ext uri="{FF2B5EF4-FFF2-40B4-BE49-F238E27FC236}">
                <a16:creationId xmlns:a16="http://schemas.microsoft.com/office/drawing/2014/main" id="{972A7E21-974D-C7FB-AF48-BFF790FBF077}"/>
              </a:ext>
            </a:extLst>
          </p:cNvPr>
          <p:cNvGrpSpPr/>
          <p:nvPr/>
        </p:nvGrpSpPr>
        <p:grpSpPr>
          <a:xfrm>
            <a:off x="13195737" y="3358442"/>
            <a:ext cx="1330814" cy="1196350"/>
            <a:chOff x="7118884" y="1877545"/>
            <a:chExt cx="1353227" cy="1234297"/>
          </a:xfrm>
        </p:grpSpPr>
        <p:pic>
          <p:nvPicPr>
            <p:cNvPr id="28" name="Graphic 27" descr="Server with solid fill">
              <a:extLst>
                <a:ext uri="{FF2B5EF4-FFF2-40B4-BE49-F238E27FC236}">
                  <a16:creationId xmlns:a16="http://schemas.microsoft.com/office/drawing/2014/main" id="{8C69C140-A42C-23C8-28CC-862E376B6F4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28174" y="2197442"/>
              <a:ext cx="914400" cy="914400"/>
            </a:xfrm>
            <a:prstGeom prst="rect">
              <a:avLst/>
            </a:prstGeom>
            <a:effectLst>
              <a:glow rad="25400">
                <a:schemeClr val="accent5">
                  <a:satMod val="175000"/>
                  <a:alpha val="40000"/>
                </a:schemeClr>
              </a:glow>
            </a:effectLst>
          </p:spPr>
        </p:pic>
        <p:sp>
          <p:nvSpPr>
            <p:cNvPr id="29" name="TextBox 28">
              <a:extLst>
                <a:ext uri="{FF2B5EF4-FFF2-40B4-BE49-F238E27FC236}">
                  <a16:creationId xmlns:a16="http://schemas.microsoft.com/office/drawing/2014/main" id="{93273C1C-D835-3622-885D-35F6906B4B3B}"/>
                </a:ext>
              </a:extLst>
            </p:cNvPr>
            <p:cNvSpPr txBox="1"/>
            <p:nvPr/>
          </p:nvSpPr>
          <p:spPr>
            <a:xfrm>
              <a:off x="7118884" y="1877545"/>
              <a:ext cx="1353227" cy="381047"/>
            </a:xfrm>
            <a:prstGeom prst="rect">
              <a:avLst/>
            </a:prstGeom>
            <a:noFill/>
          </p:spPr>
          <p:txBody>
            <a:bodyPr wrap="none" rtlCol="0">
              <a:spAutoFit/>
            </a:bodyPr>
            <a:lstStyle/>
            <a:p>
              <a:pPr>
                <a:defRPr/>
              </a:pPr>
              <a:r>
                <a:rPr lang="en-GB">
                  <a:solidFill>
                    <a:srgbClr val="003087"/>
                  </a:solidFill>
                  <a:latin typeface="Frutiger Lt Std"/>
                </a:rPr>
                <a:t>SFT-DWHLIS</a:t>
              </a:r>
            </a:p>
          </p:txBody>
        </p:sp>
      </p:grpSp>
      <p:sp>
        <p:nvSpPr>
          <p:cNvPr id="30" name="Arrow: Right 29">
            <a:extLst>
              <a:ext uri="{FF2B5EF4-FFF2-40B4-BE49-F238E27FC236}">
                <a16:creationId xmlns:a16="http://schemas.microsoft.com/office/drawing/2014/main" id="{F9CDFA33-372A-2041-89A6-C028BB78DA97}"/>
              </a:ext>
            </a:extLst>
          </p:cNvPr>
          <p:cNvSpPr/>
          <p:nvPr/>
        </p:nvSpPr>
        <p:spPr>
          <a:xfrm>
            <a:off x="-6905800" y="1526346"/>
            <a:ext cx="6395699" cy="3766276"/>
          </a:xfrm>
          <a:prstGeom prst="rightArrow">
            <a:avLst/>
          </a:prstGeom>
        </p:spPr>
        <p:style>
          <a:lnRef idx="0">
            <a:schemeClr val="dk2">
              <a:hueOff val="0"/>
              <a:satOff val="0"/>
              <a:lumOff val="0"/>
              <a:alphaOff val="0"/>
            </a:schemeClr>
          </a:lnRef>
          <a:fillRef idx="1">
            <a:schemeClr val="dk2">
              <a:tint val="40000"/>
              <a:hueOff val="0"/>
              <a:satOff val="0"/>
              <a:lumOff val="0"/>
              <a:alphaOff val="0"/>
            </a:schemeClr>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pPr>
              <a:defRPr/>
            </a:pPr>
            <a:endParaRPr lang="en-GB">
              <a:solidFill>
                <a:srgbClr val="003087">
                  <a:hueOff val="0"/>
                  <a:satOff val="0"/>
                  <a:lumOff val="0"/>
                  <a:alphaOff val="0"/>
                </a:srgbClr>
              </a:solidFill>
              <a:latin typeface="Frutiger Lt Std"/>
            </a:endParaRPr>
          </a:p>
          <a:p>
            <a:pPr>
              <a:defRPr/>
            </a:pPr>
            <a:endParaRPr lang="en-GB">
              <a:solidFill>
                <a:srgbClr val="003087">
                  <a:hueOff val="0"/>
                  <a:satOff val="0"/>
                  <a:lumOff val="0"/>
                  <a:alphaOff val="0"/>
                </a:srgbClr>
              </a:solidFill>
              <a:latin typeface="Frutiger Lt Std"/>
            </a:endParaRPr>
          </a:p>
          <a:p>
            <a:pPr algn="ctr">
              <a:defRPr/>
            </a:pPr>
            <a:r>
              <a:rPr lang="en-GB" sz="3200">
                <a:solidFill>
                  <a:srgbClr val="003087">
                    <a:hueOff val="0"/>
                    <a:satOff val="0"/>
                    <a:lumOff val="0"/>
                    <a:alphaOff val="0"/>
                  </a:srgbClr>
                </a:solidFill>
                <a:latin typeface="Frutiger Lt Std"/>
              </a:rPr>
              <a:t>Deployment Process</a:t>
            </a:r>
          </a:p>
          <a:p>
            <a:pPr algn="ctr">
              <a:defRPr/>
            </a:pPr>
            <a:r>
              <a:rPr lang="en-GB">
                <a:solidFill>
                  <a:srgbClr val="003087">
                    <a:hueOff val="0"/>
                    <a:satOff val="0"/>
                    <a:lumOff val="0"/>
                    <a:alphaOff val="0"/>
                  </a:srgbClr>
                </a:solidFill>
                <a:latin typeface="Frutiger Lt Std"/>
              </a:rPr>
              <a:t>Approx 2 Weekly</a:t>
            </a:r>
          </a:p>
        </p:txBody>
      </p:sp>
    </p:spTree>
    <p:extLst>
      <p:ext uri="{BB962C8B-B14F-4D97-AF65-F5344CB8AC3E}">
        <p14:creationId xmlns:p14="http://schemas.microsoft.com/office/powerpoint/2010/main" val="27928136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a:t>Design Overview</a:t>
            </a:r>
            <a:endParaRPr lang="en-GB" sz="200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1794273" y="1615447"/>
            <a:ext cx="7386381" cy="301057"/>
          </a:xfrm>
        </p:spPr>
        <p:txBody>
          <a:bodyPr/>
          <a:lstStyle/>
          <a:p>
            <a:r>
              <a:rPr lang="en-GB"/>
              <a:t>Deployment Process</a:t>
            </a:r>
          </a:p>
        </p:txBody>
      </p:sp>
      <p:sp>
        <p:nvSpPr>
          <p:cNvPr id="8" name="Arrow: Right 7">
            <a:extLst>
              <a:ext uri="{FF2B5EF4-FFF2-40B4-BE49-F238E27FC236}">
                <a16:creationId xmlns:a16="http://schemas.microsoft.com/office/drawing/2014/main" id="{4AD167A2-16BB-D1AC-BD33-184F793CBA0B}"/>
              </a:ext>
            </a:extLst>
          </p:cNvPr>
          <p:cNvSpPr/>
          <p:nvPr/>
        </p:nvSpPr>
        <p:spPr>
          <a:xfrm>
            <a:off x="2142588" y="1541692"/>
            <a:ext cx="6395699" cy="3766276"/>
          </a:xfrm>
          <a:prstGeom prst="rightArrow">
            <a:avLst/>
          </a:prstGeom>
          <a:effectLst>
            <a:outerShdw blurRad="50800" dist="38100" dir="2700000" algn="tl" rotWithShape="0">
              <a:prstClr val="black">
                <a:alpha val="40000"/>
              </a:prstClr>
            </a:outerShdw>
          </a:effectLst>
        </p:spPr>
        <p:style>
          <a:lnRef idx="0">
            <a:schemeClr val="dk2">
              <a:hueOff val="0"/>
              <a:satOff val="0"/>
              <a:lumOff val="0"/>
              <a:alphaOff val="0"/>
            </a:schemeClr>
          </a:lnRef>
          <a:fillRef idx="1">
            <a:schemeClr val="dk2">
              <a:tint val="40000"/>
              <a:hueOff val="0"/>
              <a:satOff val="0"/>
              <a:lumOff val="0"/>
              <a:alphaOff val="0"/>
            </a:schemeClr>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pPr>
              <a:defRPr/>
            </a:pPr>
            <a:endParaRPr lang="en-GB">
              <a:solidFill>
                <a:srgbClr val="003087">
                  <a:hueOff val="0"/>
                  <a:satOff val="0"/>
                  <a:lumOff val="0"/>
                  <a:alphaOff val="0"/>
                </a:srgbClr>
              </a:solidFill>
              <a:latin typeface="Frutiger Lt Std"/>
            </a:endParaRPr>
          </a:p>
          <a:p>
            <a:pPr>
              <a:defRPr/>
            </a:pPr>
            <a:endParaRPr lang="en-GB">
              <a:solidFill>
                <a:srgbClr val="003087">
                  <a:hueOff val="0"/>
                  <a:satOff val="0"/>
                  <a:lumOff val="0"/>
                  <a:alphaOff val="0"/>
                </a:srgbClr>
              </a:solidFill>
              <a:latin typeface="Frutiger Lt Std"/>
            </a:endParaRPr>
          </a:p>
          <a:p>
            <a:pPr algn="ctr">
              <a:defRPr/>
            </a:pPr>
            <a:r>
              <a:rPr lang="en-GB" sz="3200">
                <a:solidFill>
                  <a:srgbClr val="003087">
                    <a:hueOff val="0"/>
                    <a:satOff val="0"/>
                    <a:lumOff val="0"/>
                    <a:alphaOff val="0"/>
                  </a:srgbClr>
                </a:solidFill>
                <a:latin typeface="Frutiger Lt Std"/>
              </a:rPr>
              <a:t>Deployment Process</a:t>
            </a:r>
          </a:p>
          <a:p>
            <a:pPr algn="ctr">
              <a:defRPr/>
            </a:pPr>
            <a:r>
              <a:rPr lang="en-GB">
                <a:solidFill>
                  <a:srgbClr val="003087">
                    <a:hueOff val="0"/>
                    <a:satOff val="0"/>
                    <a:lumOff val="0"/>
                    <a:alphaOff val="0"/>
                  </a:srgbClr>
                </a:solidFill>
                <a:latin typeface="Frutiger Lt Std"/>
              </a:rPr>
              <a:t>Approx 2 Weekly</a:t>
            </a:r>
          </a:p>
        </p:txBody>
      </p:sp>
      <p:sp>
        <p:nvSpPr>
          <p:cNvPr id="9" name="Freeform: Shape 8">
            <a:extLst>
              <a:ext uri="{FF2B5EF4-FFF2-40B4-BE49-F238E27FC236}">
                <a16:creationId xmlns:a16="http://schemas.microsoft.com/office/drawing/2014/main" id="{EF689A2A-0EBB-4FE3-8DAE-6602979D6945}"/>
              </a:ext>
            </a:extLst>
          </p:cNvPr>
          <p:cNvSpPr/>
          <p:nvPr/>
        </p:nvSpPr>
        <p:spPr>
          <a:xfrm>
            <a:off x="2666497" y="2501913"/>
            <a:ext cx="3542998" cy="424690"/>
          </a:xfrm>
          <a:custGeom>
            <a:avLst/>
            <a:gdLst>
              <a:gd name="connsiteX0" fmla="*/ 0 w 802664"/>
              <a:gd name="connsiteY0" fmla="*/ 133780 h 1224238"/>
              <a:gd name="connsiteX1" fmla="*/ 133780 w 802664"/>
              <a:gd name="connsiteY1" fmla="*/ 0 h 1224238"/>
              <a:gd name="connsiteX2" fmla="*/ 668884 w 802664"/>
              <a:gd name="connsiteY2" fmla="*/ 0 h 1224238"/>
              <a:gd name="connsiteX3" fmla="*/ 802664 w 802664"/>
              <a:gd name="connsiteY3" fmla="*/ 133780 h 1224238"/>
              <a:gd name="connsiteX4" fmla="*/ 802664 w 802664"/>
              <a:gd name="connsiteY4" fmla="*/ 1090458 h 1224238"/>
              <a:gd name="connsiteX5" fmla="*/ 668884 w 802664"/>
              <a:gd name="connsiteY5" fmla="*/ 1224238 h 1224238"/>
              <a:gd name="connsiteX6" fmla="*/ 133780 w 802664"/>
              <a:gd name="connsiteY6" fmla="*/ 1224238 h 1224238"/>
              <a:gd name="connsiteX7" fmla="*/ 0 w 802664"/>
              <a:gd name="connsiteY7" fmla="*/ 1090458 h 1224238"/>
              <a:gd name="connsiteX8" fmla="*/ 0 w 802664"/>
              <a:gd name="connsiteY8" fmla="*/ 133780 h 122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664" h="1224238">
                <a:moveTo>
                  <a:pt x="0" y="133780"/>
                </a:moveTo>
                <a:cubicBezTo>
                  <a:pt x="0" y="59895"/>
                  <a:pt x="59895" y="0"/>
                  <a:pt x="133780" y="0"/>
                </a:cubicBezTo>
                <a:lnTo>
                  <a:pt x="668884" y="0"/>
                </a:lnTo>
                <a:cubicBezTo>
                  <a:pt x="742769" y="0"/>
                  <a:pt x="802664" y="59895"/>
                  <a:pt x="802664" y="133780"/>
                </a:cubicBezTo>
                <a:lnTo>
                  <a:pt x="802664" y="1090458"/>
                </a:lnTo>
                <a:cubicBezTo>
                  <a:pt x="802664" y="1164343"/>
                  <a:pt x="742769" y="1224238"/>
                  <a:pt x="668884" y="1224238"/>
                </a:cubicBezTo>
                <a:lnTo>
                  <a:pt x="133780" y="1224238"/>
                </a:lnTo>
                <a:cubicBezTo>
                  <a:pt x="59895" y="1224238"/>
                  <a:pt x="0" y="1164343"/>
                  <a:pt x="0" y="1090458"/>
                </a:cubicBezTo>
                <a:lnTo>
                  <a:pt x="0" y="133780"/>
                </a:lnTo>
                <a:close/>
              </a:path>
            </a:pathLst>
          </a:custGeom>
          <a:solidFill>
            <a:schemeClr val="accent4">
              <a:lumMod val="75000"/>
            </a:schemeClr>
          </a:solidFill>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77283" tIns="77283" rIns="77283" bIns="77283" numCol="1" spcCol="1270" anchor="ctr" anchorCtr="0">
            <a:noAutofit/>
          </a:bodyPr>
          <a:lstStyle/>
          <a:p>
            <a:pPr algn="ctr" defTabSz="444500">
              <a:lnSpc>
                <a:spcPct val="90000"/>
              </a:lnSpc>
              <a:spcBef>
                <a:spcPct val="0"/>
              </a:spcBef>
              <a:spcAft>
                <a:spcPct val="35000"/>
              </a:spcAft>
              <a:defRPr/>
            </a:pPr>
            <a:r>
              <a:rPr lang="en-GB" sz="1000">
                <a:solidFill>
                  <a:srgbClr val="FFFFFF"/>
                </a:solidFill>
                <a:latin typeface="Frutiger Lt Std"/>
              </a:rPr>
              <a:t>Regression Testing </a:t>
            </a:r>
          </a:p>
        </p:txBody>
      </p:sp>
      <p:sp>
        <p:nvSpPr>
          <p:cNvPr id="10" name="Freeform: Shape 9">
            <a:extLst>
              <a:ext uri="{FF2B5EF4-FFF2-40B4-BE49-F238E27FC236}">
                <a16:creationId xmlns:a16="http://schemas.microsoft.com/office/drawing/2014/main" id="{08E74197-30F1-7856-201B-F437B15A9138}"/>
              </a:ext>
            </a:extLst>
          </p:cNvPr>
          <p:cNvSpPr/>
          <p:nvPr/>
        </p:nvSpPr>
        <p:spPr>
          <a:xfrm>
            <a:off x="2666498" y="2971147"/>
            <a:ext cx="725381" cy="1224238"/>
          </a:xfrm>
          <a:custGeom>
            <a:avLst/>
            <a:gdLst>
              <a:gd name="connsiteX0" fmla="*/ 0 w 802664"/>
              <a:gd name="connsiteY0" fmla="*/ 133780 h 1224238"/>
              <a:gd name="connsiteX1" fmla="*/ 133780 w 802664"/>
              <a:gd name="connsiteY1" fmla="*/ 0 h 1224238"/>
              <a:gd name="connsiteX2" fmla="*/ 668884 w 802664"/>
              <a:gd name="connsiteY2" fmla="*/ 0 h 1224238"/>
              <a:gd name="connsiteX3" fmla="*/ 802664 w 802664"/>
              <a:gd name="connsiteY3" fmla="*/ 133780 h 1224238"/>
              <a:gd name="connsiteX4" fmla="*/ 802664 w 802664"/>
              <a:gd name="connsiteY4" fmla="*/ 1090458 h 1224238"/>
              <a:gd name="connsiteX5" fmla="*/ 668884 w 802664"/>
              <a:gd name="connsiteY5" fmla="*/ 1224238 h 1224238"/>
              <a:gd name="connsiteX6" fmla="*/ 133780 w 802664"/>
              <a:gd name="connsiteY6" fmla="*/ 1224238 h 1224238"/>
              <a:gd name="connsiteX7" fmla="*/ 0 w 802664"/>
              <a:gd name="connsiteY7" fmla="*/ 1090458 h 1224238"/>
              <a:gd name="connsiteX8" fmla="*/ 0 w 802664"/>
              <a:gd name="connsiteY8" fmla="*/ 133780 h 122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664" h="1224238">
                <a:moveTo>
                  <a:pt x="0" y="133780"/>
                </a:moveTo>
                <a:cubicBezTo>
                  <a:pt x="0" y="59895"/>
                  <a:pt x="59895" y="0"/>
                  <a:pt x="133780" y="0"/>
                </a:cubicBezTo>
                <a:lnTo>
                  <a:pt x="668884" y="0"/>
                </a:lnTo>
                <a:cubicBezTo>
                  <a:pt x="742769" y="0"/>
                  <a:pt x="802664" y="59895"/>
                  <a:pt x="802664" y="133780"/>
                </a:cubicBezTo>
                <a:lnTo>
                  <a:pt x="802664" y="1090458"/>
                </a:lnTo>
                <a:cubicBezTo>
                  <a:pt x="802664" y="1164343"/>
                  <a:pt x="742769" y="1224238"/>
                  <a:pt x="668884" y="1224238"/>
                </a:cubicBezTo>
                <a:lnTo>
                  <a:pt x="133780" y="1224238"/>
                </a:lnTo>
                <a:cubicBezTo>
                  <a:pt x="59895" y="1224238"/>
                  <a:pt x="0" y="1164343"/>
                  <a:pt x="0" y="1090458"/>
                </a:cubicBezTo>
                <a:lnTo>
                  <a:pt x="0" y="133780"/>
                </a:lnTo>
                <a:close/>
              </a:path>
            </a:pathLst>
          </a:custGeom>
          <a:solidFill>
            <a:schemeClr val="accent4">
              <a:lumMod val="75000"/>
            </a:schemeClr>
          </a:solidFill>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77283" tIns="77283" rIns="77283" bIns="77283" numCol="1" spcCol="1270" anchor="ctr" anchorCtr="0">
            <a:noAutofit/>
          </a:bodyPr>
          <a:lstStyle/>
          <a:p>
            <a:pPr algn="ctr" defTabSz="444500">
              <a:lnSpc>
                <a:spcPct val="90000"/>
              </a:lnSpc>
              <a:spcBef>
                <a:spcPct val="0"/>
              </a:spcBef>
              <a:spcAft>
                <a:spcPct val="35000"/>
              </a:spcAft>
              <a:defRPr/>
            </a:pPr>
            <a:r>
              <a:rPr lang="en-GB" sz="1000">
                <a:solidFill>
                  <a:srgbClr val="FFFFFF"/>
                </a:solidFill>
                <a:latin typeface="Frutiger Lt Std"/>
              </a:rPr>
              <a:t>Copy Production</a:t>
            </a:r>
          </a:p>
        </p:txBody>
      </p:sp>
      <p:sp>
        <p:nvSpPr>
          <p:cNvPr id="11" name="Freeform: Shape 10">
            <a:extLst>
              <a:ext uri="{FF2B5EF4-FFF2-40B4-BE49-F238E27FC236}">
                <a16:creationId xmlns:a16="http://schemas.microsoft.com/office/drawing/2014/main" id="{258E28D0-B54A-54E3-D620-C038AF6CDDA6}"/>
              </a:ext>
            </a:extLst>
          </p:cNvPr>
          <p:cNvSpPr/>
          <p:nvPr/>
        </p:nvSpPr>
        <p:spPr>
          <a:xfrm>
            <a:off x="3460667" y="2971147"/>
            <a:ext cx="597458" cy="1224238"/>
          </a:xfrm>
          <a:custGeom>
            <a:avLst/>
            <a:gdLst>
              <a:gd name="connsiteX0" fmla="*/ 0 w 802664"/>
              <a:gd name="connsiteY0" fmla="*/ 133780 h 1224238"/>
              <a:gd name="connsiteX1" fmla="*/ 133780 w 802664"/>
              <a:gd name="connsiteY1" fmla="*/ 0 h 1224238"/>
              <a:gd name="connsiteX2" fmla="*/ 668884 w 802664"/>
              <a:gd name="connsiteY2" fmla="*/ 0 h 1224238"/>
              <a:gd name="connsiteX3" fmla="*/ 802664 w 802664"/>
              <a:gd name="connsiteY3" fmla="*/ 133780 h 1224238"/>
              <a:gd name="connsiteX4" fmla="*/ 802664 w 802664"/>
              <a:gd name="connsiteY4" fmla="*/ 1090458 h 1224238"/>
              <a:gd name="connsiteX5" fmla="*/ 668884 w 802664"/>
              <a:gd name="connsiteY5" fmla="*/ 1224238 h 1224238"/>
              <a:gd name="connsiteX6" fmla="*/ 133780 w 802664"/>
              <a:gd name="connsiteY6" fmla="*/ 1224238 h 1224238"/>
              <a:gd name="connsiteX7" fmla="*/ 0 w 802664"/>
              <a:gd name="connsiteY7" fmla="*/ 1090458 h 1224238"/>
              <a:gd name="connsiteX8" fmla="*/ 0 w 802664"/>
              <a:gd name="connsiteY8" fmla="*/ 133780 h 122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664" h="1224238">
                <a:moveTo>
                  <a:pt x="0" y="133780"/>
                </a:moveTo>
                <a:cubicBezTo>
                  <a:pt x="0" y="59895"/>
                  <a:pt x="59895" y="0"/>
                  <a:pt x="133780" y="0"/>
                </a:cubicBezTo>
                <a:lnTo>
                  <a:pt x="668884" y="0"/>
                </a:lnTo>
                <a:cubicBezTo>
                  <a:pt x="742769" y="0"/>
                  <a:pt x="802664" y="59895"/>
                  <a:pt x="802664" y="133780"/>
                </a:cubicBezTo>
                <a:lnTo>
                  <a:pt x="802664" y="1090458"/>
                </a:lnTo>
                <a:cubicBezTo>
                  <a:pt x="802664" y="1164343"/>
                  <a:pt x="742769" y="1224238"/>
                  <a:pt x="668884" y="1224238"/>
                </a:cubicBezTo>
                <a:lnTo>
                  <a:pt x="133780" y="1224238"/>
                </a:lnTo>
                <a:cubicBezTo>
                  <a:pt x="59895" y="1224238"/>
                  <a:pt x="0" y="1164343"/>
                  <a:pt x="0" y="1090458"/>
                </a:cubicBezTo>
                <a:lnTo>
                  <a:pt x="0" y="133780"/>
                </a:lnTo>
                <a:close/>
              </a:path>
            </a:pathLst>
          </a:custGeom>
          <a:solidFill>
            <a:schemeClr val="accent4">
              <a:lumMod val="75000"/>
            </a:schemeClr>
          </a:solidFill>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77283" tIns="77283" rIns="77283" bIns="77283" numCol="1" spcCol="1270" anchor="ctr" anchorCtr="0">
            <a:noAutofit/>
          </a:bodyPr>
          <a:lstStyle/>
          <a:p>
            <a:pPr algn="ctr" defTabSz="444500">
              <a:lnSpc>
                <a:spcPct val="90000"/>
              </a:lnSpc>
              <a:spcBef>
                <a:spcPct val="0"/>
              </a:spcBef>
              <a:spcAft>
                <a:spcPct val="35000"/>
              </a:spcAft>
              <a:defRPr/>
            </a:pPr>
            <a:r>
              <a:rPr lang="en-GB" sz="1000">
                <a:solidFill>
                  <a:srgbClr val="FFFFFF"/>
                </a:solidFill>
                <a:latin typeface="Frutiger Lt Std"/>
              </a:rPr>
              <a:t>Baseline data</a:t>
            </a:r>
          </a:p>
        </p:txBody>
      </p:sp>
      <p:sp>
        <p:nvSpPr>
          <p:cNvPr id="12" name="Freeform: Shape 11">
            <a:extLst>
              <a:ext uri="{FF2B5EF4-FFF2-40B4-BE49-F238E27FC236}">
                <a16:creationId xmlns:a16="http://schemas.microsoft.com/office/drawing/2014/main" id="{B1606ECA-52FB-B089-92C6-7215523B1EE0}"/>
              </a:ext>
            </a:extLst>
          </p:cNvPr>
          <p:cNvSpPr/>
          <p:nvPr/>
        </p:nvSpPr>
        <p:spPr>
          <a:xfrm>
            <a:off x="4126914" y="2971147"/>
            <a:ext cx="597458" cy="1224238"/>
          </a:xfrm>
          <a:custGeom>
            <a:avLst/>
            <a:gdLst>
              <a:gd name="connsiteX0" fmla="*/ 0 w 802664"/>
              <a:gd name="connsiteY0" fmla="*/ 133780 h 1224238"/>
              <a:gd name="connsiteX1" fmla="*/ 133780 w 802664"/>
              <a:gd name="connsiteY1" fmla="*/ 0 h 1224238"/>
              <a:gd name="connsiteX2" fmla="*/ 668884 w 802664"/>
              <a:gd name="connsiteY2" fmla="*/ 0 h 1224238"/>
              <a:gd name="connsiteX3" fmla="*/ 802664 w 802664"/>
              <a:gd name="connsiteY3" fmla="*/ 133780 h 1224238"/>
              <a:gd name="connsiteX4" fmla="*/ 802664 w 802664"/>
              <a:gd name="connsiteY4" fmla="*/ 1090458 h 1224238"/>
              <a:gd name="connsiteX5" fmla="*/ 668884 w 802664"/>
              <a:gd name="connsiteY5" fmla="*/ 1224238 h 1224238"/>
              <a:gd name="connsiteX6" fmla="*/ 133780 w 802664"/>
              <a:gd name="connsiteY6" fmla="*/ 1224238 h 1224238"/>
              <a:gd name="connsiteX7" fmla="*/ 0 w 802664"/>
              <a:gd name="connsiteY7" fmla="*/ 1090458 h 1224238"/>
              <a:gd name="connsiteX8" fmla="*/ 0 w 802664"/>
              <a:gd name="connsiteY8" fmla="*/ 133780 h 122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664" h="1224238">
                <a:moveTo>
                  <a:pt x="0" y="133780"/>
                </a:moveTo>
                <a:cubicBezTo>
                  <a:pt x="0" y="59895"/>
                  <a:pt x="59895" y="0"/>
                  <a:pt x="133780" y="0"/>
                </a:cubicBezTo>
                <a:lnTo>
                  <a:pt x="668884" y="0"/>
                </a:lnTo>
                <a:cubicBezTo>
                  <a:pt x="742769" y="0"/>
                  <a:pt x="802664" y="59895"/>
                  <a:pt x="802664" y="133780"/>
                </a:cubicBezTo>
                <a:lnTo>
                  <a:pt x="802664" y="1090458"/>
                </a:lnTo>
                <a:cubicBezTo>
                  <a:pt x="802664" y="1164343"/>
                  <a:pt x="742769" y="1224238"/>
                  <a:pt x="668884" y="1224238"/>
                </a:cubicBezTo>
                <a:lnTo>
                  <a:pt x="133780" y="1224238"/>
                </a:lnTo>
                <a:cubicBezTo>
                  <a:pt x="59895" y="1224238"/>
                  <a:pt x="0" y="1164343"/>
                  <a:pt x="0" y="1090458"/>
                </a:cubicBezTo>
                <a:lnTo>
                  <a:pt x="0" y="133780"/>
                </a:lnTo>
                <a:close/>
              </a:path>
            </a:pathLst>
          </a:custGeom>
          <a:solidFill>
            <a:schemeClr val="accent4">
              <a:lumMod val="75000"/>
            </a:schemeClr>
          </a:solidFill>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77283" tIns="77283" rIns="77283" bIns="77283" numCol="1" spcCol="1270" anchor="ctr" anchorCtr="0">
            <a:noAutofit/>
          </a:bodyPr>
          <a:lstStyle/>
          <a:p>
            <a:pPr algn="ctr" defTabSz="444500">
              <a:lnSpc>
                <a:spcPct val="90000"/>
              </a:lnSpc>
              <a:spcBef>
                <a:spcPct val="0"/>
              </a:spcBef>
              <a:spcAft>
                <a:spcPct val="35000"/>
              </a:spcAft>
              <a:defRPr/>
            </a:pPr>
            <a:r>
              <a:rPr lang="en-GB" sz="1000">
                <a:solidFill>
                  <a:srgbClr val="FFFFFF"/>
                </a:solidFill>
                <a:latin typeface="Frutiger Lt Std"/>
              </a:rPr>
              <a:t>Apply Release</a:t>
            </a:r>
          </a:p>
        </p:txBody>
      </p:sp>
      <p:sp>
        <p:nvSpPr>
          <p:cNvPr id="13" name="Freeform: Shape 12">
            <a:extLst>
              <a:ext uri="{FF2B5EF4-FFF2-40B4-BE49-F238E27FC236}">
                <a16:creationId xmlns:a16="http://schemas.microsoft.com/office/drawing/2014/main" id="{236F078C-3101-AE5F-8501-AB19461E3329}"/>
              </a:ext>
            </a:extLst>
          </p:cNvPr>
          <p:cNvSpPr/>
          <p:nvPr/>
        </p:nvSpPr>
        <p:spPr>
          <a:xfrm>
            <a:off x="4793162" y="2976987"/>
            <a:ext cx="765207" cy="1224238"/>
          </a:xfrm>
          <a:custGeom>
            <a:avLst/>
            <a:gdLst>
              <a:gd name="connsiteX0" fmla="*/ 0 w 802664"/>
              <a:gd name="connsiteY0" fmla="*/ 133780 h 1224238"/>
              <a:gd name="connsiteX1" fmla="*/ 133780 w 802664"/>
              <a:gd name="connsiteY1" fmla="*/ 0 h 1224238"/>
              <a:gd name="connsiteX2" fmla="*/ 668884 w 802664"/>
              <a:gd name="connsiteY2" fmla="*/ 0 h 1224238"/>
              <a:gd name="connsiteX3" fmla="*/ 802664 w 802664"/>
              <a:gd name="connsiteY3" fmla="*/ 133780 h 1224238"/>
              <a:gd name="connsiteX4" fmla="*/ 802664 w 802664"/>
              <a:gd name="connsiteY4" fmla="*/ 1090458 h 1224238"/>
              <a:gd name="connsiteX5" fmla="*/ 668884 w 802664"/>
              <a:gd name="connsiteY5" fmla="*/ 1224238 h 1224238"/>
              <a:gd name="connsiteX6" fmla="*/ 133780 w 802664"/>
              <a:gd name="connsiteY6" fmla="*/ 1224238 h 1224238"/>
              <a:gd name="connsiteX7" fmla="*/ 0 w 802664"/>
              <a:gd name="connsiteY7" fmla="*/ 1090458 h 1224238"/>
              <a:gd name="connsiteX8" fmla="*/ 0 w 802664"/>
              <a:gd name="connsiteY8" fmla="*/ 133780 h 122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664" h="1224238">
                <a:moveTo>
                  <a:pt x="0" y="133780"/>
                </a:moveTo>
                <a:cubicBezTo>
                  <a:pt x="0" y="59895"/>
                  <a:pt x="59895" y="0"/>
                  <a:pt x="133780" y="0"/>
                </a:cubicBezTo>
                <a:lnTo>
                  <a:pt x="668884" y="0"/>
                </a:lnTo>
                <a:cubicBezTo>
                  <a:pt x="742769" y="0"/>
                  <a:pt x="802664" y="59895"/>
                  <a:pt x="802664" y="133780"/>
                </a:cubicBezTo>
                <a:lnTo>
                  <a:pt x="802664" y="1090458"/>
                </a:lnTo>
                <a:cubicBezTo>
                  <a:pt x="802664" y="1164343"/>
                  <a:pt x="742769" y="1224238"/>
                  <a:pt x="668884" y="1224238"/>
                </a:cubicBezTo>
                <a:lnTo>
                  <a:pt x="133780" y="1224238"/>
                </a:lnTo>
                <a:cubicBezTo>
                  <a:pt x="59895" y="1224238"/>
                  <a:pt x="0" y="1164343"/>
                  <a:pt x="0" y="1090458"/>
                </a:cubicBezTo>
                <a:lnTo>
                  <a:pt x="0" y="133780"/>
                </a:lnTo>
                <a:close/>
              </a:path>
            </a:pathLst>
          </a:custGeom>
          <a:solidFill>
            <a:schemeClr val="accent4">
              <a:lumMod val="75000"/>
            </a:schemeClr>
          </a:solidFill>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77283" tIns="77283" rIns="77283" bIns="77283" numCol="1" spcCol="1270" anchor="ctr" anchorCtr="0">
            <a:noAutofit/>
          </a:bodyPr>
          <a:lstStyle/>
          <a:p>
            <a:pPr algn="ctr" defTabSz="444500">
              <a:lnSpc>
                <a:spcPct val="90000"/>
              </a:lnSpc>
              <a:spcBef>
                <a:spcPct val="0"/>
              </a:spcBef>
              <a:spcAft>
                <a:spcPct val="35000"/>
              </a:spcAft>
              <a:defRPr/>
            </a:pPr>
            <a:r>
              <a:rPr lang="en-GB" sz="1000">
                <a:solidFill>
                  <a:srgbClr val="FFFFFF"/>
                </a:solidFill>
                <a:latin typeface="Frutiger Lt Std"/>
              </a:rPr>
              <a:t>Data compare</a:t>
            </a:r>
          </a:p>
        </p:txBody>
      </p:sp>
      <p:sp>
        <p:nvSpPr>
          <p:cNvPr id="14" name="Freeform: Shape 13">
            <a:extLst>
              <a:ext uri="{FF2B5EF4-FFF2-40B4-BE49-F238E27FC236}">
                <a16:creationId xmlns:a16="http://schemas.microsoft.com/office/drawing/2014/main" id="{1671E453-91C0-1FCC-3B72-18ACC9EB80DB}"/>
              </a:ext>
            </a:extLst>
          </p:cNvPr>
          <p:cNvSpPr/>
          <p:nvPr/>
        </p:nvSpPr>
        <p:spPr>
          <a:xfrm>
            <a:off x="5627157" y="2971147"/>
            <a:ext cx="597458" cy="1224238"/>
          </a:xfrm>
          <a:custGeom>
            <a:avLst/>
            <a:gdLst>
              <a:gd name="connsiteX0" fmla="*/ 0 w 802664"/>
              <a:gd name="connsiteY0" fmla="*/ 133780 h 1224238"/>
              <a:gd name="connsiteX1" fmla="*/ 133780 w 802664"/>
              <a:gd name="connsiteY1" fmla="*/ 0 h 1224238"/>
              <a:gd name="connsiteX2" fmla="*/ 668884 w 802664"/>
              <a:gd name="connsiteY2" fmla="*/ 0 h 1224238"/>
              <a:gd name="connsiteX3" fmla="*/ 802664 w 802664"/>
              <a:gd name="connsiteY3" fmla="*/ 133780 h 1224238"/>
              <a:gd name="connsiteX4" fmla="*/ 802664 w 802664"/>
              <a:gd name="connsiteY4" fmla="*/ 1090458 h 1224238"/>
              <a:gd name="connsiteX5" fmla="*/ 668884 w 802664"/>
              <a:gd name="connsiteY5" fmla="*/ 1224238 h 1224238"/>
              <a:gd name="connsiteX6" fmla="*/ 133780 w 802664"/>
              <a:gd name="connsiteY6" fmla="*/ 1224238 h 1224238"/>
              <a:gd name="connsiteX7" fmla="*/ 0 w 802664"/>
              <a:gd name="connsiteY7" fmla="*/ 1090458 h 1224238"/>
              <a:gd name="connsiteX8" fmla="*/ 0 w 802664"/>
              <a:gd name="connsiteY8" fmla="*/ 133780 h 122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664" h="1224238">
                <a:moveTo>
                  <a:pt x="0" y="133780"/>
                </a:moveTo>
                <a:cubicBezTo>
                  <a:pt x="0" y="59895"/>
                  <a:pt x="59895" y="0"/>
                  <a:pt x="133780" y="0"/>
                </a:cubicBezTo>
                <a:lnTo>
                  <a:pt x="668884" y="0"/>
                </a:lnTo>
                <a:cubicBezTo>
                  <a:pt x="742769" y="0"/>
                  <a:pt x="802664" y="59895"/>
                  <a:pt x="802664" y="133780"/>
                </a:cubicBezTo>
                <a:lnTo>
                  <a:pt x="802664" y="1090458"/>
                </a:lnTo>
                <a:cubicBezTo>
                  <a:pt x="802664" y="1164343"/>
                  <a:pt x="742769" y="1224238"/>
                  <a:pt x="668884" y="1224238"/>
                </a:cubicBezTo>
                <a:lnTo>
                  <a:pt x="133780" y="1224238"/>
                </a:lnTo>
                <a:cubicBezTo>
                  <a:pt x="59895" y="1224238"/>
                  <a:pt x="0" y="1164343"/>
                  <a:pt x="0" y="1090458"/>
                </a:cubicBezTo>
                <a:lnTo>
                  <a:pt x="0" y="133780"/>
                </a:lnTo>
                <a:close/>
              </a:path>
            </a:pathLst>
          </a:custGeom>
          <a:solidFill>
            <a:schemeClr val="accent4">
              <a:lumMod val="75000"/>
            </a:schemeClr>
          </a:solidFill>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77283" tIns="77283" rIns="77283" bIns="77283" numCol="1" spcCol="1270" anchor="ctr" anchorCtr="0">
            <a:noAutofit/>
          </a:bodyPr>
          <a:lstStyle/>
          <a:p>
            <a:pPr algn="ctr" defTabSz="444500">
              <a:lnSpc>
                <a:spcPct val="90000"/>
              </a:lnSpc>
              <a:spcBef>
                <a:spcPct val="0"/>
              </a:spcBef>
              <a:spcAft>
                <a:spcPct val="35000"/>
              </a:spcAft>
              <a:defRPr/>
            </a:pPr>
            <a:r>
              <a:rPr lang="en-GB" sz="1000">
                <a:solidFill>
                  <a:srgbClr val="FFFFFF"/>
                </a:solidFill>
                <a:latin typeface="Frutiger Lt Std"/>
              </a:rPr>
              <a:t>Review</a:t>
            </a:r>
          </a:p>
        </p:txBody>
      </p:sp>
      <p:sp>
        <p:nvSpPr>
          <p:cNvPr id="15" name="Freeform: Shape 14">
            <a:extLst>
              <a:ext uri="{FF2B5EF4-FFF2-40B4-BE49-F238E27FC236}">
                <a16:creationId xmlns:a16="http://schemas.microsoft.com/office/drawing/2014/main" id="{BD4C57FB-1CA7-16DA-CC9B-4C38F2FB8CB7}"/>
              </a:ext>
            </a:extLst>
          </p:cNvPr>
          <p:cNvSpPr/>
          <p:nvPr/>
        </p:nvSpPr>
        <p:spPr>
          <a:xfrm>
            <a:off x="6307218" y="2502394"/>
            <a:ext cx="802664" cy="1692991"/>
          </a:xfrm>
          <a:custGeom>
            <a:avLst/>
            <a:gdLst>
              <a:gd name="connsiteX0" fmla="*/ 0 w 802664"/>
              <a:gd name="connsiteY0" fmla="*/ 133780 h 1224238"/>
              <a:gd name="connsiteX1" fmla="*/ 133780 w 802664"/>
              <a:gd name="connsiteY1" fmla="*/ 0 h 1224238"/>
              <a:gd name="connsiteX2" fmla="*/ 668884 w 802664"/>
              <a:gd name="connsiteY2" fmla="*/ 0 h 1224238"/>
              <a:gd name="connsiteX3" fmla="*/ 802664 w 802664"/>
              <a:gd name="connsiteY3" fmla="*/ 133780 h 1224238"/>
              <a:gd name="connsiteX4" fmla="*/ 802664 w 802664"/>
              <a:gd name="connsiteY4" fmla="*/ 1090458 h 1224238"/>
              <a:gd name="connsiteX5" fmla="*/ 668884 w 802664"/>
              <a:gd name="connsiteY5" fmla="*/ 1224238 h 1224238"/>
              <a:gd name="connsiteX6" fmla="*/ 133780 w 802664"/>
              <a:gd name="connsiteY6" fmla="*/ 1224238 h 1224238"/>
              <a:gd name="connsiteX7" fmla="*/ 0 w 802664"/>
              <a:gd name="connsiteY7" fmla="*/ 1090458 h 1224238"/>
              <a:gd name="connsiteX8" fmla="*/ 0 w 802664"/>
              <a:gd name="connsiteY8" fmla="*/ 133780 h 122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664" h="1224238">
                <a:moveTo>
                  <a:pt x="0" y="133780"/>
                </a:moveTo>
                <a:cubicBezTo>
                  <a:pt x="0" y="59895"/>
                  <a:pt x="59895" y="0"/>
                  <a:pt x="133780" y="0"/>
                </a:cubicBezTo>
                <a:lnTo>
                  <a:pt x="668884" y="0"/>
                </a:lnTo>
                <a:cubicBezTo>
                  <a:pt x="742769" y="0"/>
                  <a:pt x="802664" y="59895"/>
                  <a:pt x="802664" y="133780"/>
                </a:cubicBezTo>
                <a:lnTo>
                  <a:pt x="802664" y="1090458"/>
                </a:lnTo>
                <a:cubicBezTo>
                  <a:pt x="802664" y="1164343"/>
                  <a:pt x="742769" y="1224238"/>
                  <a:pt x="668884" y="1224238"/>
                </a:cubicBezTo>
                <a:lnTo>
                  <a:pt x="133780" y="1224238"/>
                </a:lnTo>
                <a:cubicBezTo>
                  <a:pt x="59895" y="1224238"/>
                  <a:pt x="0" y="1164343"/>
                  <a:pt x="0" y="1090458"/>
                </a:cubicBezTo>
                <a:lnTo>
                  <a:pt x="0" y="133780"/>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77283" tIns="77283" rIns="77283" bIns="77283" numCol="1" spcCol="1270" anchor="ctr" anchorCtr="0">
            <a:noAutofit/>
          </a:bodyPr>
          <a:lstStyle/>
          <a:p>
            <a:pPr algn="ctr" defTabSz="444500">
              <a:lnSpc>
                <a:spcPct val="90000"/>
              </a:lnSpc>
              <a:spcBef>
                <a:spcPct val="0"/>
              </a:spcBef>
              <a:spcAft>
                <a:spcPct val="35000"/>
              </a:spcAft>
              <a:defRPr/>
            </a:pPr>
            <a:r>
              <a:rPr lang="en-GB" sz="1000">
                <a:solidFill>
                  <a:srgbClr val="FFFFFF"/>
                </a:solidFill>
                <a:latin typeface="Frutiger Lt Std"/>
              </a:rPr>
              <a:t>Stop production platform</a:t>
            </a:r>
          </a:p>
        </p:txBody>
      </p:sp>
      <p:sp>
        <p:nvSpPr>
          <p:cNvPr id="16" name="Freeform: Shape 15">
            <a:extLst>
              <a:ext uri="{FF2B5EF4-FFF2-40B4-BE49-F238E27FC236}">
                <a16:creationId xmlns:a16="http://schemas.microsoft.com/office/drawing/2014/main" id="{613962B3-841B-C809-5A48-6609DC5819B7}"/>
              </a:ext>
            </a:extLst>
          </p:cNvPr>
          <p:cNvSpPr/>
          <p:nvPr/>
        </p:nvSpPr>
        <p:spPr>
          <a:xfrm>
            <a:off x="7207604" y="2745628"/>
            <a:ext cx="802664" cy="1224238"/>
          </a:xfrm>
          <a:custGeom>
            <a:avLst/>
            <a:gdLst>
              <a:gd name="connsiteX0" fmla="*/ 0 w 802664"/>
              <a:gd name="connsiteY0" fmla="*/ 133780 h 1224238"/>
              <a:gd name="connsiteX1" fmla="*/ 133780 w 802664"/>
              <a:gd name="connsiteY1" fmla="*/ 0 h 1224238"/>
              <a:gd name="connsiteX2" fmla="*/ 668884 w 802664"/>
              <a:gd name="connsiteY2" fmla="*/ 0 h 1224238"/>
              <a:gd name="connsiteX3" fmla="*/ 802664 w 802664"/>
              <a:gd name="connsiteY3" fmla="*/ 133780 h 1224238"/>
              <a:gd name="connsiteX4" fmla="*/ 802664 w 802664"/>
              <a:gd name="connsiteY4" fmla="*/ 1090458 h 1224238"/>
              <a:gd name="connsiteX5" fmla="*/ 668884 w 802664"/>
              <a:gd name="connsiteY5" fmla="*/ 1224238 h 1224238"/>
              <a:gd name="connsiteX6" fmla="*/ 133780 w 802664"/>
              <a:gd name="connsiteY6" fmla="*/ 1224238 h 1224238"/>
              <a:gd name="connsiteX7" fmla="*/ 0 w 802664"/>
              <a:gd name="connsiteY7" fmla="*/ 1090458 h 1224238"/>
              <a:gd name="connsiteX8" fmla="*/ 0 w 802664"/>
              <a:gd name="connsiteY8" fmla="*/ 133780 h 122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664" h="1224238">
                <a:moveTo>
                  <a:pt x="0" y="133780"/>
                </a:moveTo>
                <a:cubicBezTo>
                  <a:pt x="0" y="59895"/>
                  <a:pt x="59895" y="0"/>
                  <a:pt x="133780" y="0"/>
                </a:cubicBezTo>
                <a:lnTo>
                  <a:pt x="668884" y="0"/>
                </a:lnTo>
                <a:cubicBezTo>
                  <a:pt x="742769" y="0"/>
                  <a:pt x="802664" y="59895"/>
                  <a:pt x="802664" y="133780"/>
                </a:cubicBezTo>
                <a:lnTo>
                  <a:pt x="802664" y="1090458"/>
                </a:lnTo>
                <a:cubicBezTo>
                  <a:pt x="802664" y="1164343"/>
                  <a:pt x="742769" y="1224238"/>
                  <a:pt x="668884" y="1224238"/>
                </a:cubicBezTo>
                <a:lnTo>
                  <a:pt x="133780" y="1224238"/>
                </a:lnTo>
                <a:cubicBezTo>
                  <a:pt x="59895" y="1224238"/>
                  <a:pt x="0" y="1164343"/>
                  <a:pt x="0" y="1090458"/>
                </a:cubicBezTo>
                <a:lnTo>
                  <a:pt x="0" y="133780"/>
                </a:lnTo>
                <a:close/>
              </a:path>
            </a:pathLst>
          </a:custGeom>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77283" tIns="77283" rIns="77283" bIns="77283" numCol="1" spcCol="1270" anchor="ctr" anchorCtr="0">
            <a:noAutofit/>
          </a:bodyPr>
          <a:lstStyle/>
          <a:p>
            <a:pPr algn="ctr" defTabSz="444500">
              <a:lnSpc>
                <a:spcPct val="90000"/>
              </a:lnSpc>
              <a:spcBef>
                <a:spcPct val="0"/>
              </a:spcBef>
              <a:spcAft>
                <a:spcPct val="35000"/>
              </a:spcAft>
              <a:defRPr/>
            </a:pPr>
            <a:r>
              <a:rPr lang="en-GB" sz="1000">
                <a:solidFill>
                  <a:srgbClr val="FFFFFF"/>
                </a:solidFill>
                <a:latin typeface="Frutiger Lt Std"/>
              </a:rPr>
              <a:t>Deploy    and restart</a:t>
            </a:r>
          </a:p>
        </p:txBody>
      </p:sp>
      <p:grpSp>
        <p:nvGrpSpPr>
          <p:cNvPr id="20" name="Group 19">
            <a:extLst>
              <a:ext uri="{FF2B5EF4-FFF2-40B4-BE49-F238E27FC236}">
                <a16:creationId xmlns:a16="http://schemas.microsoft.com/office/drawing/2014/main" id="{C0614DBA-932C-780C-254D-8C57C837C26A}"/>
              </a:ext>
            </a:extLst>
          </p:cNvPr>
          <p:cNvGrpSpPr/>
          <p:nvPr/>
        </p:nvGrpSpPr>
        <p:grpSpPr>
          <a:xfrm>
            <a:off x="7887732" y="1758698"/>
            <a:ext cx="2728760" cy="1224238"/>
            <a:chOff x="6407393" y="1848772"/>
            <a:chExt cx="2774716" cy="1263070"/>
          </a:xfrm>
        </p:grpSpPr>
        <p:pic>
          <p:nvPicPr>
            <p:cNvPr id="18" name="Graphic 17" descr="Server with solid fill">
              <a:extLst>
                <a:ext uri="{FF2B5EF4-FFF2-40B4-BE49-F238E27FC236}">
                  <a16:creationId xmlns:a16="http://schemas.microsoft.com/office/drawing/2014/main" id="{E54D0ABD-9B88-C1F1-6AF5-0F0B25EAB14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8174" y="2197442"/>
              <a:ext cx="914400" cy="914400"/>
            </a:xfrm>
            <a:prstGeom prst="rect">
              <a:avLst/>
            </a:prstGeom>
            <a:effectLst>
              <a:glow rad="25400">
                <a:schemeClr val="accent5">
                  <a:satMod val="175000"/>
                  <a:alpha val="40000"/>
                </a:schemeClr>
              </a:glow>
            </a:effectLst>
          </p:spPr>
        </p:pic>
        <p:sp>
          <p:nvSpPr>
            <p:cNvPr id="19" name="TextBox 18">
              <a:extLst>
                <a:ext uri="{FF2B5EF4-FFF2-40B4-BE49-F238E27FC236}">
                  <a16:creationId xmlns:a16="http://schemas.microsoft.com/office/drawing/2014/main" id="{F56A8B89-C523-A207-C157-382B0C54F155}"/>
                </a:ext>
              </a:extLst>
            </p:cNvPr>
            <p:cNvSpPr txBox="1"/>
            <p:nvPr/>
          </p:nvSpPr>
          <p:spPr>
            <a:xfrm>
              <a:off x="6407393" y="1848772"/>
              <a:ext cx="2774716" cy="381047"/>
            </a:xfrm>
            <a:prstGeom prst="rect">
              <a:avLst/>
            </a:prstGeom>
            <a:noFill/>
          </p:spPr>
          <p:txBody>
            <a:bodyPr wrap="none" rtlCol="0">
              <a:spAutoFit/>
            </a:bodyPr>
            <a:lstStyle/>
            <a:p>
              <a:pPr>
                <a:defRPr/>
              </a:pPr>
              <a:r>
                <a:rPr lang="en-GB">
                  <a:solidFill>
                    <a:srgbClr val="003087"/>
                  </a:solidFill>
                  <a:latin typeface="Frutiger Lt Std"/>
                </a:rPr>
                <a:t>SFT-WAREHOUSE/ARTEMIS</a:t>
              </a:r>
            </a:p>
          </p:txBody>
        </p:sp>
      </p:grpSp>
      <p:sp>
        <p:nvSpPr>
          <p:cNvPr id="22" name="Freeform: Shape 21">
            <a:extLst>
              <a:ext uri="{FF2B5EF4-FFF2-40B4-BE49-F238E27FC236}">
                <a16:creationId xmlns:a16="http://schemas.microsoft.com/office/drawing/2014/main" id="{8ED8B3B8-06B6-EAAA-BABF-476C57E83147}"/>
              </a:ext>
            </a:extLst>
          </p:cNvPr>
          <p:cNvSpPr/>
          <p:nvPr/>
        </p:nvSpPr>
        <p:spPr>
          <a:xfrm>
            <a:off x="2000250" y="2971147"/>
            <a:ext cx="597458" cy="1224238"/>
          </a:xfrm>
          <a:custGeom>
            <a:avLst/>
            <a:gdLst>
              <a:gd name="connsiteX0" fmla="*/ 0 w 802664"/>
              <a:gd name="connsiteY0" fmla="*/ 133780 h 1224238"/>
              <a:gd name="connsiteX1" fmla="*/ 133780 w 802664"/>
              <a:gd name="connsiteY1" fmla="*/ 0 h 1224238"/>
              <a:gd name="connsiteX2" fmla="*/ 668884 w 802664"/>
              <a:gd name="connsiteY2" fmla="*/ 0 h 1224238"/>
              <a:gd name="connsiteX3" fmla="*/ 802664 w 802664"/>
              <a:gd name="connsiteY3" fmla="*/ 133780 h 1224238"/>
              <a:gd name="connsiteX4" fmla="*/ 802664 w 802664"/>
              <a:gd name="connsiteY4" fmla="*/ 1090458 h 1224238"/>
              <a:gd name="connsiteX5" fmla="*/ 668884 w 802664"/>
              <a:gd name="connsiteY5" fmla="*/ 1224238 h 1224238"/>
              <a:gd name="connsiteX6" fmla="*/ 133780 w 802664"/>
              <a:gd name="connsiteY6" fmla="*/ 1224238 h 1224238"/>
              <a:gd name="connsiteX7" fmla="*/ 0 w 802664"/>
              <a:gd name="connsiteY7" fmla="*/ 1090458 h 1224238"/>
              <a:gd name="connsiteX8" fmla="*/ 0 w 802664"/>
              <a:gd name="connsiteY8" fmla="*/ 133780 h 122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664" h="1224238">
                <a:moveTo>
                  <a:pt x="0" y="133780"/>
                </a:moveTo>
                <a:cubicBezTo>
                  <a:pt x="0" y="59895"/>
                  <a:pt x="59895" y="0"/>
                  <a:pt x="133780" y="0"/>
                </a:cubicBezTo>
                <a:lnTo>
                  <a:pt x="668884" y="0"/>
                </a:lnTo>
                <a:cubicBezTo>
                  <a:pt x="742769" y="0"/>
                  <a:pt x="802664" y="59895"/>
                  <a:pt x="802664" y="133780"/>
                </a:cubicBezTo>
                <a:lnTo>
                  <a:pt x="802664" y="1090458"/>
                </a:lnTo>
                <a:cubicBezTo>
                  <a:pt x="802664" y="1164343"/>
                  <a:pt x="742769" y="1224238"/>
                  <a:pt x="668884" y="1224238"/>
                </a:cubicBezTo>
                <a:lnTo>
                  <a:pt x="133780" y="1224238"/>
                </a:lnTo>
                <a:cubicBezTo>
                  <a:pt x="59895" y="1224238"/>
                  <a:pt x="0" y="1164343"/>
                  <a:pt x="0" y="1090458"/>
                </a:cubicBezTo>
                <a:lnTo>
                  <a:pt x="0" y="133780"/>
                </a:lnTo>
                <a:close/>
              </a:path>
            </a:pathLst>
          </a:custGeom>
          <a:solidFill>
            <a:schemeClr val="accent1">
              <a:lumMod val="75000"/>
            </a:schemeClr>
          </a:solidFill>
          <a:effectLst>
            <a:outerShdw blurRad="50800" dist="38100" dir="2700000" algn="tl" rotWithShape="0">
              <a:prstClr val="black">
                <a:alpha val="40000"/>
              </a:prstClr>
            </a:outerShdw>
          </a:effectLst>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77283" tIns="77283" rIns="77283" bIns="77283" numCol="1" spcCol="1270" anchor="ctr" anchorCtr="0">
            <a:noAutofit/>
          </a:bodyPr>
          <a:lstStyle/>
          <a:p>
            <a:pPr algn="ctr" defTabSz="444500">
              <a:lnSpc>
                <a:spcPct val="90000"/>
              </a:lnSpc>
              <a:spcBef>
                <a:spcPct val="0"/>
              </a:spcBef>
              <a:spcAft>
                <a:spcPct val="35000"/>
              </a:spcAft>
              <a:defRPr/>
            </a:pPr>
            <a:r>
              <a:rPr lang="en-GB" sz="1000">
                <a:solidFill>
                  <a:srgbClr val="FFFFFF"/>
                </a:solidFill>
                <a:latin typeface="Frutiger Lt Std"/>
              </a:rPr>
              <a:t>Create Release Code</a:t>
            </a:r>
          </a:p>
        </p:txBody>
      </p:sp>
      <p:grpSp>
        <p:nvGrpSpPr>
          <p:cNvPr id="23" name="Group 22">
            <a:extLst>
              <a:ext uri="{FF2B5EF4-FFF2-40B4-BE49-F238E27FC236}">
                <a16:creationId xmlns:a16="http://schemas.microsoft.com/office/drawing/2014/main" id="{B03DA061-110C-E1B4-EDD2-9AC42337776D}"/>
              </a:ext>
            </a:extLst>
          </p:cNvPr>
          <p:cNvGrpSpPr/>
          <p:nvPr/>
        </p:nvGrpSpPr>
        <p:grpSpPr>
          <a:xfrm>
            <a:off x="8562668" y="3227632"/>
            <a:ext cx="1330814" cy="1196350"/>
            <a:chOff x="7118884" y="1877545"/>
            <a:chExt cx="1353227" cy="1234297"/>
          </a:xfrm>
        </p:grpSpPr>
        <p:pic>
          <p:nvPicPr>
            <p:cNvPr id="24" name="Graphic 23" descr="Server with solid fill">
              <a:extLst>
                <a:ext uri="{FF2B5EF4-FFF2-40B4-BE49-F238E27FC236}">
                  <a16:creationId xmlns:a16="http://schemas.microsoft.com/office/drawing/2014/main" id="{A6ECC5A0-31E1-1F81-9BA1-47BDC94611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8174" y="2197442"/>
              <a:ext cx="914400" cy="914400"/>
            </a:xfrm>
            <a:prstGeom prst="rect">
              <a:avLst/>
            </a:prstGeom>
            <a:effectLst>
              <a:glow rad="25400">
                <a:schemeClr val="accent5">
                  <a:satMod val="175000"/>
                  <a:alpha val="40000"/>
                </a:schemeClr>
              </a:glow>
            </a:effectLst>
          </p:spPr>
        </p:pic>
        <p:sp>
          <p:nvSpPr>
            <p:cNvPr id="26" name="TextBox 25">
              <a:extLst>
                <a:ext uri="{FF2B5EF4-FFF2-40B4-BE49-F238E27FC236}">
                  <a16:creationId xmlns:a16="http://schemas.microsoft.com/office/drawing/2014/main" id="{AFE3D6AC-CF3A-E117-4599-300A0DC6A0DE}"/>
                </a:ext>
              </a:extLst>
            </p:cNvPr>
            <p:cNvSpPr txBox="1"/>
            <p:nvPr/>
          </p:nvSpPr>
          <p:spPr>
            <a:xfrm>
              <a:off x="7118884" y="1877545"/>
              <a:ext cx="1353227" cy="381047"/>
            </a:xfrm>
            <a:prstGeom prst="rect">
              <a:avLst/>
            </a:prstGeom>
            <a:noFill/>
          </p:spPr>
          <p:txBody>
            <a:bodyPr wrap="none" rtlCol="0">
              <a:spAutoFit/>
            </a:bodyPr>
            <a:lstStyle/>
            <a:p>
              <a:pPr>
                <a:defRPr/>
              </a:pPr>
              <a:r>
                <a:rPr lang="en-GB">
                  <a:solidFill>
                    <a:srgbClr val="003087"/>
                  </a:solidFill>
                  <a:latin typeface="Frutiger Lt Std"/>
                </a:rPr>
                <a:t>SFT-DWHLIS</a:t>
              </a:r>
            </a:p>
          </p:txBody>
        </p:sp>
      </p:grpSp>
      <p:grpSp>
        <p:nvGrpSpPr>
          <p:cNvPr id="27" name="Group 26">
            <a:extLst>
              <a:ext uri="{FF2B5EF4-FFF2-40B4-BE49-F238E27FC236}">
                <a16:creationId xmlns:a16="http://schemas.microsoft.com/office/drawing/2014/main" id="{F1048A6F-6397-3BF3-5C45-2EA5DCA219BB}"/>
              </a:ext>
            </a:extLst>
          </p:cNvPr>
          <p:cNvGrpSpPr/>
          <p:nvPr/>
        </p:nvGrpSpPr>
        <p:grpSpPr>
          <a:xfrm>
            <a:off x="-1784765" y="2233814"/>
            <a:ext cx="1199779" cy="2726300"/>
            <a:chOff x="4881427" y="2374692"/>
            <a:chExt cx="1199779" cy="2726300"/>
          </a:xfrm>
        </p:grpSpPr>
        <p:sp>
          <p:nvSpPr>
            <p:cNvPr id="28" name="Freeform: Shape 27">
              <a:extLst>
                <a:ext uri="{FF2B5EF4-FFF2-40B4-BE49-F238E27FC236}">
                  <a16:creationId xmlns:a16="http://schemas.microsoft.com/office/drawing/2014/main" id="{54E8DB33-1D5D-1659-BAEF-11A31A690193}"/>
                </a:ext>
              </a:extLst>
            </p:cNvPr>
            <p:cNvSpPr/>
            <p:nvPr/>
          </p:nvSpPr>
          <p:spPr>
            <a:xfrm>
              <a:off x="4881427"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Deployment Process</a:t>
              </a:r>
            </a:p>
          </p:txBody>
        </p:sp>
        <p:sp>
          <p:nvSpPr>
            <p:cNvPr id="29" name="Oval 28" descr="Box outline">
              <a:extLst>
                <a:ext uri="{FF2B5EF4-FFF2-40B4-BE49-F238E27FC236}">
                  <a16:creationId xmlns:a16="http://schemas.microsoft.com/office/drawing/2014/main" id="{531853A2-266E-FDEF-C960-D32A05BFD637}"/>
                </a:ext>
              </a:extLst>
            </p:cNvPr>
            <p:cNvSpPr/>
            <p:nvPr/>
          </p:nvSpPr>
          <p:spPr>
            <a:xfrm>
              <a:off x="5027388" y="2538269"/>
              <a:ext cx="907857" cy="907857"/>
            </a:xfrm>
            <a:prstGeom prst="ellipse">
              <a:avLst/>
            </a:prstGeom>
            <a:blipFill>
              <a:blip r:embed="rId6">
                <a:extLst>
                  <a:ext uri="{96DAC541-7B7A-43D3-8B79-37D633B846F1}">
                    <asvg:svgBlip xmlns:asvg="http://schemas.microsoft.com/office/drawing/2016/SVG/main" r:embed="rId7"/>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30" name="Group 29">
            <a:extLst>
              <a:ext uri="{FF2B5EF4-FFF2-40B4-BE49-F238E27FC236}">
                <a16:creationId xmlns:a16="http://schemas.microsoft.com/office/drawing/2014/main" id="{768193A8-850D-B5A6-1DEE-2E59541E1A5E}"/>
              </a:ext>
            </a:extLst>
          </p:cNvPr>
          <p:cNvGrpSpPr/>
          <p:nvPr/>
        </p:nvGrpSpPr>
        <p:grpSpPr>
          <a:xfrm>
            <a:off x="2298980" y="-3243867"/>
            <a:ext cx="1199779" cy="2726300"/>
            <a:chOff x="6117200" y="2374692"/>
            <a:chExt cx="1199779" cy="2726300"/>
          </a:xfrm>
        </p:grpSpPr>
        <p:sp>
          <p:nvSpPr>
            <p:cNvPr id="31" name="Freeform: Shape 30">
              <a:extLst>
                <a:ext uri="{FF2B5EF4-FFF2-40B4-BE49-F238E27FC236}">
                  <a16:creationId xmlns:a16="http://schemas.microsoft.com/office/drawing/2014/main" id="{9C89CF5C-D77E-39B9-E452-4EAA505EE53C}"/>
                </a:ext>
              </a:extLst>
            </p:cNvPr>
            <p:cNvSpPr/>
            <p:nvPr/>
          </p:nvSpPr>
          <p:spPr>
            <a:xfrm>
              <a:off x="6117200" y="2374692"/>
              <a:ext cx="1199779" cy="2726300"/>
            </a:xfrm>
            <a:custGeom>
              <a:avLst/>
              <a:gdLst>
                <a:gd name="connsiteX0" fmla="*/ 0 w 1199779"/>
                <a:gd name="connsiteY0" fmla="*/ 119978 h 2726300"/>
                <a:gd name="connsiteX1" fmla="*/ 119978 w 1199779"/>
                <a:gd name="connsiteY1" fmla="*/ 0 h 2726300"/>
                <a:gd name="connsiteX2" fmla="*/ 1079801 w 1199779"/>
                <a:gd name="connsiteY2" fmla="*/ 0 h 2726300"/>
                <a:gd name="connsiteX3" fmla="*/ 1199779 w 1199779"/>
                <a:gd name="connsiteY3" fmla="*/ 119978 h 2726300"/>
                <a:gd name="connsiteX4" fmla="*/ 1199779 w 1199779"/>
                <a:gd name="connsiteY4" fmla="*/ 2606322 h 2726300"/>
                <a:gd name="connsiteX5" fmla="*/ 1079801 w 1199779"/>
                <a:gd name="connsiteY5" fmla="*/ 2726300 h 2726300"/>
                <a:gd name="connsiteX6" fmla="*/ 119978 w 1199779"/>
                <a:gd name="connsiteY6" fmla="*/ 2726300 h 2726300"/>
                <a:gd name="connsiteX7" fmla="*/ 0 w 1199779"/>
                <a:gd name="connsiteY7" fmla="*/ 2606322 h 2726300"/>
                <a:gd name="connsiteX8" fmla="*/ 0 w 1199779"/>
                <a:gd name="connsiteY8" fmla="*/ 119978 h 27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779" h="2726300">
                  <a:moveTo>
                    <a:pt x="0" y="119978"/>
                  </a:moveTo>
                  <a:cubicBezTo>
                    <a:pt x="0" y="53716"/>
                    <a:pt x="53716" y="0"/>
                    <a:pt x="119978" y="0"/>
                  </a:cubicBezTo>
                  <a:lnTo>
                    <a:pt x="1079801" y="0"/>
                  </a:lnTo>
                  <a:cubicBezTo>
                    <a:pt x="1146063" y="0"/>
                    <a:pt x="1199779" y="53716"/>
                    <a:pt x="1199779" y="119978"/>
                  </a:cubicBezTo>
                  <a:lnTo>
                    <a:pt x="1199779" y="2606322"/>
                  </a:lnTo>
                  <a:cubicBezTo>
                    <a:pt x="1199779" y="2672584"/>
                    <a:pt x="1146063" y="2726300"/>
                    <a:pt x="1079801" y="2726300"/>
                  </a:cubicBezTo>
                  <a:lnTo>
                    <a:pt x="119978" y="2726300"/>
                  </a:lnTo>
                  <a:cubicBezTo>
                    <a:pt x="53716" y="2726300"/>
                    <a:pt x="0" y="2672584"/>
                    <a:pt x="0" y="2606322"/>
                  </a:cubicBezTo>
                  <a:lnTo>
                    <a:pt x="0" y="119978"/>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99568" tIns="1190088" rIns="99568" bIns="644828" numCol="1" spcCol="1270" anchor="ctr" anchorCtr="0">
              <a:noAutofit/>
            </a:bodyPr>
            <a:lstStyle/>
            <a:p>
              <a:pPr algn="ctr" defTabSz="622300">
                <a:lnSpc>
                  <a:spcPct val="90000"/>
                </a:lnSpc>
                <a:spcBef>
                  <a:spcPct val="0"/>
                </a:spcBef>
                <a:spcAft>
                  <a:spcPct val="35000"/>
                </a:spcAft>
                <a:defRPr/>
              </a:pPr>
              <a:r>
                <a:rPr lang="en-GB" sz="1400">
                  <a:solidFill>
                    <a:srgbClr val="FFFFFF"/>
                  </a:solidFill>
                  <a:latin typeface="Frutiger Lt Std"/>
                </a:rPr>
                <a:t>Learning Material</a:t>
              </a:r>
            </a:p>
          </p:txBody>
        </p:sp>
        <p:sp>
          <p:nvSpPr>
            <p:cNvPr id="32" name="Oval 31" descr="Classroom">
              <a:extLst>
                <a:ext uri="{FF2B5EF4-FFF2-40B4-BE49-F238E27FC236}">
                  <a16:creationId xmlns:a16="http://schemas.microsoft.com/office/drawing/2014/main" id="{4F51EC22-71AE-5820-D1BB-CFE2F31EB5B3}"/>
                </a:ext>
              </a:extLst>
            </p:cNvPr>
            <p:cNvSpPr/>
            <p:nvPr/>
          </p:nvSpPr>
          <p:spPr>
            <a:xfrm>
              <a:off x="6263161" y="2538269"/>
              <a:ext cx="907857" cy="907857"/>
            </a:xfrm>
            <a:prstGeom prst="ellipse">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pPr>
                <a:defRPr/>
              </a:pPr>
              <a:endParaRPr lang="en-GB">
                <a:solidFill>
                  <a:srgbClr val="41B6E6">
                    <a:hueOff val="0"/>
                    <a:satOff val="0"/>
                    <a:lumOff val="0"/>
                    <a:alphaOff val="0"/>
                  </a:srgbClr>
                </a:solidFill>
                <a:latin typeface="Frutiger Lt Std"/>
              </a:endParaRPr>
            </a:p>
          </p:txBody>
        </p:sp>
      </p:grpSp>
      <p:grpSp>
        <p:nvGrpSpPr>
          <p:cNvPr id="2" name="Group 1">
            <a:extLst>
              <a:ext uri="{FF2B5EF4-FFF2-40B4-BE49-F238E27FC236}">
                <a16:creationId xmlns:a16="http://schemas.microsoft.com/office/drawing/2014/main" id="{9D1A9B4C-6334-36DC-DC9E-24A7C32D7A52}"/>
              </a:ext>
            </a:extLst>
          </p:cNvPr>
          <p:cNvGrpSpPr/>
          <p:nvPr/>
        </p:nvGrpSpPr>
        <p:grpSpPr>
          <a:xfrm>
            <a:off x="12676262" y="2233815"/>
            <a:ext cx="1990606" cy="2680897"/>
            <a:chOff x="567918" y="2380916"/>
            <a:chExt cx="1990606" cy="2680897"/>
          </a:xfrm>
        </p:grpSpPr>
        <p:sp>
          <p:nvSpPr>
            <p:cNvPr id="3" name="Freeform: Shape 2">
              <a:extLst>
                <a:ext uri="{FF2B5EF4-FFF2-40B4-BE49-F238E27FC236}">
                  <a16:creationId xmlns:a16="http://schemas.microsoft.com/office/drawing/2014/main" id="{ACD54D0D-31D8-6C51-2D5D-6AFA0B525E7C}"/>
                </a:ext>
              </a:extLst>
            </p:cNvPr>
            <p:cNvSpPr/>
            <p:nvPr/>
          </p:nvSpPr>
          <p:spPr>
            <a:xfrm>
              <a:off x="567918"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t" anchorCtr="1">
              <a:noAutofit/>
            </a:bodyPr>
            <a:lstStyle/>
            <a:p>
              <a:pPr defTabSz="622300">
                <a:lnSpc>
                  <a:spcPct val="90000"/>
                </a:lnSpc>
                <a:spcBef>
                  <a:spcPct val="0"/>
                </a:spcBef>
                <a:spcAft>
                  <a:spcPct val="35000"/>
                </a:spcAft>
              </a:pPr>
              <a:r>
                <a:rPr lang="en-GB" sz="1400" dirty="0">
                  <a:solidFill>
                    <a:srgbClr val="FFFFFF"/>
                  </a:solidFill>
                  <a:latin typeface="Frutiger Lt Std"/>
                </a:rPr>
                <a:t>Reduce silo working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Community</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Mental Health</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Acute Yeovil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Acute Taunton</a:t>
              </a:r>
            </a:p>
          </p:txBody>
        </p:sp>
        <p:sp>
          <p:nvSpPr>
            <p:cNvPr id="17" name="Oval 16" descr="Silo outline">
              <a:extLst>
                <a:ext uri="{FF2B5EF4-FFF2-40B4-BE49-F238E27FC236}">
                  <a16:creationId xmlns:a16="http://schemas.microsoft.com/office/drawing/2014/main" id="{75692287-252F-5FBA-5AC7-5DBFAC341A43}"/>
                </a:ext>
              </a:extLst>
            </p:cNvPr>
            <p:cNvSpPr/>
            <p:nvPr/>
          </p:nvSpPr>
          <p:spPr>
            <a:xfrm>
              <a:off x="1116851" y="2541769"/>
              <a:ext cx="892738" cy="892738"/>
            </a:xfrm>
            <a:prstGeom prst="ellipse">
              <a:avLst/>
            </a:prstGeom>
            <a:blipFill>
              <a:blip r:embed="rId10">
                <a:extLst>
                  <a:ext uri="{96DAC541-7B7A-43D3-8B79-37D633B846F1}">
                    <asvg:svgBlip xmlns:asvg="http://schemas.microsoft.com/office/drawing/2016/SVG/main" r:embed="rId11"/>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21" name="Group 20">
            <a:extLst>
              <a:ext uri="{FF2B5EF4-FFF2-40B4-BE49-F238E27FC236}">
                <a16:creationId xmlns:a16="http://schemas.microsoft.com/office/drawing/2014/main" id="{2D15D74A-CFC3-EDD3-504C-09B9B5916194}"/>
              </a:ext>
            </a:extLst>
          </p:cNvPr>
          <p:cNvGrpSpPr/>
          <p:nvPr/>
        </p:nvGrpSpPr>
        <p:grpSpPr>
          <a:xfrm>
            <a:off x="15925648" y="2279218"/>
            <a:ext cx="1990606" cy="2680897"/>
            <a:chOff x="2618242" y="2380916"/>
            <a:chExt cx="1990606" cy="2680897"/>
          </a:xfrm>
        </p:grpSpPr>
        <p:sp>
          <p:nvSpPr>
            <p:cNvPr id="25" name="Freeform: Shape 24">
              <a:extLst>
                <a:ext uri="{FF2B5EF4-FFF2-40B4-BE49-F238E27FC236}">
                  <a16:creationId xmlns:a16="http://schemas.microsoft.com/office/drawing/2014/main" id="{A39BF78B-99FF-594F-EB93-492CCAC72359}"/>
                </a:ext>
              </a:extLst>
            </p:cNvPr>
            <p:cNvSpPr/>
            <p:nvPr/>
          </p:nvSpPr>
          <p:spPr>
            <a:xfrm>
              <a:off x="2618242"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Improve performance and reliability </a:t>
              </a:r>
            </a:p>
            <a:p>
              <a:pPr marL="171450" indent="-171450" algn="ctr" defTabSz="622300">
                <a:lnSpc>
                  <a:spcPct val="90000"/>
                </a:lnSpc>
                <a:spcBef>
                  <a:spcPct val="0"/>
                </a:spcBef>
                <a:spcAft>
                  <a:spcPct val="35000"/>
                </a:spcAft>
                <a:buFont typeface="Arial" panose="020B0604020202020204" pitchFamily="34" charset="0"/>
                <a:buChar char="•"/>
              </a:pPr>
              <a:r>
                <a:rPr lang="en-GB" sz="1100" dirty="0">
                  <a:solidFill>
                    <a:srgbClr val="FFFFFF"/>
                  </a:solidFill>
                  <a:latin typeface="Frutiger Lt Std"/>
                </a:rPr>
                <a:t>Near Real Time</a:t>
              </a:r>
            </a:p>
            <a:p>
              <a:pPr algn="ctr" defTabSz="622300">
                <a:lnSpc>
                  <a:spcPct val="90000"/>
                </a:lnSpc>
                <a:spcBef>
                  <a:spcPct val="0"/>
                </a:spcBef>
                <a:spcAft>
                  <a:spcPct val="35000"/>
                </a:spcAft>
              </a:pPr>
              <a:endParaRPr lang="en-GB" sz="1400" dirty="0">
                <a:solidFill>
                  <a:srgbClr val="FFFFFF"/>
                </a:solidFill>
                <a:latin typeface="Frutiger Lt Std"/>
              </a:endParaRPr>
            </a:p>
          </p:txBody>
        </p:sp>
        <p:sp>
          <p:nvSpPr>
            <p:cNvPr id="33" name="Oval 32" descr="Race Car outline">
              <a:extLst>
                <a:ext uri="{FF2B5EF4-FFF2-40B4-BE49-F238E27FC236}">
                  <a16:creationId xmlns:a16="http://schemas.microsoft.com/office/drawing/2014/main" id="{F398A67E-CF14-F41C-6E0D-F45B86E3F8D2}"/>
                </a:ext>
              </a:extLst>
            </p:cNvPr>
            <p:cNvSpPr/>
            <p:nvPr/>
          </p:nvSpPr>
          <p:spPr>
            <a:xfrm>
              <a:off x="3167176" y="2541769"/>
              <a:ext cx="892738" cy="892738"/>
            </a:xfrm>
            <a:prstGeom prst="ellipse">
              <a:avLst/>
            </a:prstGeom>
            <a:blipFill>
              <a:blip r:embed="rId12">
                <a:extLst>
                  <a:ext uri="{96DAC541-7B7A-43D3-8B79-37D633B846F1}">
                    <asvg:svgBlip xmlns:asvg="http://schemas.microsoft.com/office/drawing/2016/SVG/main" r:embed="rId13"/>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34" name="Group 33">
            <a:extLst>
              <a:ext uri="{FF2B5EF4-FFF2-40B4-BE49-F238E27FC236}">
                <a16:creationId xmlns:a16="http://schemas.microsoft.com/office/drawing/2014/main" id="{3420B56A-DD0D-D213-BD32-66D9EBABFD05}"/>
              </a:ext>
            </a:extLst>
          </p:cNvPr>
          <p:cNvGrpSpPr/>
          <p:nvPr/>
        </p:nvGrpSpPr>
        <p:grpSpPr>
          <a:xfrm>
            <a:off x="19175034" y="2279218"/>
            <a:ext cx="1990606" cy="2680897"/>
            <a:chOff x="4668567" y="2380916"/>
            <a:chExt cx="1990606" cy="2680897"/>
          </a:xfrm>
        </p:grpSpPr>
        <p:sp>
          <p:nvSpPr>
            <p:cNvPr id="35" name="Freeform: Shape 34">
              <a:extLst>
                <a:ext uri="{FF2B5EF4-FFF2-40B4-BE49-F238E27FC236}">
                  <a16:creationId xmlns:a16="http://schemas.microsoft.com/office/drawing/2014/main" id="{07CC3834-7616-A389-BD28-AA15324AF176}"/>
                </a:ext>
              </a:extLst>
            </p:cNvPr>
            <p:cNvSpPr/>
            <p:nvPr/>
          </p:nvSpPr>
          <p:spPr>
            <a:xfrm>
              <a:off x="4668567"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t" anchorCtr="1">
              <a:noAutofit/>
            </a:bodyPr>
            <a:lstStyle/>
            <a:p>
              <a:pPr defTabSz="622300">
                <a:lnSpc>
                  <a:spcPct val="90000"/>
                </a:lnSpc>
                <a:spcBef>
                  <a:spcPct val="0"/>
                </a:spcBef>
                <a:spcAft>
                  <a:spcPct val="35000"/>
                </a:spcAft>
              </a:pPr>
              <a:r>
                <a:rPr lang="en-GB" sz="1400" dirty="0">
                  <a:solidFill>
                    <a:srgbClr val="FFFFFF"/>
                  </a:solidFill>
                  <a:latin typeface="Frutiger Lt Std"/>
                </a:rPr>
                <a:t>Introduce new concepts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GITHUB</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Version Control</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Peer Review</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Introduce ‘RAP’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Infrastructure as code </a:t>
              </a:r>
            </a:p>
          </p:txBody>
        </p:sp>
        <p:sp>
          <p:nvSpPr>
            <p:cNvPr id="36" name="Oval 35" descr="Flask outline">
              <a:extLst>
                <a:ext uri="{FF2B5EF4-FFF2-40B4-BE49-F238E27FC236}">
                  <a16:creationId xmlns:a16="http://schemas.microsoft.com/office/drawing/2014/main" id="{CE6656EE-5224-8FE0-B294-38971C0B244C}"/>
                </a:ext>
              </a:extLst>
            </p:cNvPr>
            <p:cNvSpPr/>
            <p:nvPr/>
          </p:nvSpPr>
          <p:spPr>
            <a:xfrm>
              <a:off x="5217500" y="2541769"/>
              <a:ext cx="892738" cy="892738"/>
            </a:xfrm>
            <a:prstGeom prst="ellipse">
              <a:avLst/>
            </a:prstGeom>
            <a:blipFill>
              <a:blip r:embed="rId14">
                <a:extLst>
                  <a:ext uri="{96DAC541-7B7A-43D3-8B79-37D633B846F1}">
                    <asvg:svgBlip xmlns:asvg="http://schemas.microsoft.com/office/drawing/2016/SVG/main" r:embed="rId15"/>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37" name="Group 36">
            <a:extLst>
              <a:ext uri="{FF2B5EF4-FFF2-40B4-BE49-F238E27FC236}">
                <a16:creationId xmlns:a16="http://schemas.microsoft.com/office/drawing/2014/main" id="{8717B82B-9793-CAEE-CD42-ECAE27E08D65}"/>
              </a:ext>
            </a:extLst>
          </p:cNvPr>
          <p:cNvGrpSpPr/>
          <p:nvPr/>
        </p:nvGrpSpPr>
        <p:grpSpPr>
          <a:xfrm>
            <a:off x="22147950" y="2256516"/>
            <a:ext cx="1990606" cy="2680897"/>
            <a:chOff x="6718891" y="2380916"/>
            <a:chExt cx="1990606" cy="2680897"/>
          </a:xfrm>
        </p:grpSpPr>
        <p:sp>
          <p:nvSpPr>
            <p:cNvPr id="38" name="Freeform: Shape 37">
              <a:extLst>
                <a:ext uri="{FF2B5EF4-FFF2-40B4-BE49-F238E27FC236}">
                  <a16:creationId xmlns:a16="http://schemas.microsoft.com/office/drawing/2014/main" id="{E8B989DC-E5DE-A031-3BB1-F40EA7306A16}"/>
                </a:ext>
              </a:extLst>
            </p:cNvPr>
            <p:cNvSpPr/>
            <p:nvPr/>
          </p:nvSpPr>
          <p:spPr>
            <a:xfrm>
              <a:off x="6718891"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Create a reusable template for the future.</a:t>
              </a:r>
            </a:p>
          </p:txBody>
        </p:sp>
        <p:sp>
          <p:nvSpPr>
            <p:cNvPr id="39" name="Oval 38" descr="Architecture outline">
              <a:extLst>
                <a:ext uri="{FF2B5EF4-FFF2-40B4-BE49-F238E27FC236}">
                  <a16:creationId xmlns:a16="http://schemas.microsoft.com/office/drawing/2014/main" id="{967CA9DF-B70F-8F8E-7C43-7628D98A2E48}"/>
                </a:ext>
              </a:extLst>
            </p:cNvPr>
            <p:cNvSpPr/>
            <p:nvPr/>
          </p:nvSpPr>
          <p:spPr>
            <a:xfrm>
              <a:off x="7267825" y="2541769"/>
              <a:ext cx="892738" cy="892738"/>
            </a:xfrm>
            <a:prstGeom prst="ellipse">
              <a:avLst/>
            </a:prstGeom>
            <a:blipFill>
              <a:blip r:embed="rId16">
                <a:extLst>
                  <a:ext uri="{96DAC541-7B7A-43D3-8B79-37D633B846F1}">
                    <asvg:svgBlip xmlns:asvg="http://schemas.microsoft.com/office/drawing/2016/SVG/main" r:embed="rId17"/>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sp>
        <p:nvSpPr>
          <p:cNvPr id="40" name="Freeform: Shape 39">
            <a:extLst>
              <a:ext uri="{FF2B5EF4-FFF2-40B4-BE49-F238E27FC236}">
                <a16:creationId xmlns:a16="http://schemas.microsoft.com/office/drawing/2014/main" id="{DA637693-ACAC-BFA8-19C9-7A6FCA0A2A49}"/>
              </a:ext>
            </a:extLst>
          </p:cNvPr>
          <p:cNvSpPr/>
          <p:nvPr/>
        </p:nvSpPr>
        <p:spPr>
          <a:xfrm>
            <a:off x="-4330443" y="2544782"/>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Maxims</a:t>
            </a:r>
          </a:p>
        </p:txBody>
      </p:sp>
      <p:sp>
        <p:nvSpPr>
          <p:cNvPr id="41" name="Rectangle: Rounded Corners 40">
            <a:extLst>
              <a:ext uri="{FF2B5EF4-FFF2-40B4-BE49-F238E27FC236}">
                <a16:creationId xmlns:a16="http://schemas.microsoft.com/office/drawing/2014/main" id="{B1F28AB0-DCB1-6273-690E-09CC5339B174}"/>
              </a:ext>
            </a:extLst>
          </p:cNvPr>
          <p:cNvSpPr/>
          <p:nvPr/>
        </p:nvSpPr>
        <p:spPr>
          <a:xfrm>
            <a:off x="-4278072" y="2569993"/>
            <a:ext cx="660818" cy="418975"/>
          </a:xfrm>
          <a:prstGeom prst="roundRect">
            <a:avLst>
              <a:gd name="adj" fmla="val 10000"/>
            </a:avLst>
          </a:prstGeom>
          <a:blipFill>
            <a:blip r:embed="rId18">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42" name="Freeform: Shape 41">
            <a:extLst>
              <a:ext uri="{FF2B5EF4-FFF2-40B4-BE49-F238E27FC236}">
                <a16:creationId xmlns:a16="http://schemas.microsoft.com/office/drawing/2014/main" id="{8A45D960-B0FE-333C-BAA1-461174DF4F6D}"/>
              </a:ext>
            </a:extLst>
          </p:cNvPr>
          <p:cNvSpPr/>
          <p:nvPr/>
        </p:nvSpPr>
        <p:spPr>
          <a:xfrm>
            <a:off x="-5510314" y="3156344"/>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TrakCare</a:t>
            </a:r>
          </a:p>
        </p:txBody>
      </p:sp>
      <p:sp>
        <p:nvSpPr>
          <p:cNvPr id="43" name="Rectangle: Rounded Corners 42">
            <a:extLst>
              <a:ext uri="{FF2B5EF4-FFF2-40B4-BE49-F238E27FC236}">
                <a16:creationId xmlns:a16="http://schemas.microsoft.com/office/drawing/2014/main" id="{0E2727A3-C54F-91A4-7A5E-D7B1CA246362}"/>
              </a:ext>
            </a:extLst>
          </p:cNvPr>
          <p:cNvSpPr/>
          <p:nvPr/>
        </p:nvSpPr>
        <p:spPr>
          <a:xfrm>
            <a:off x="-5457943" y="3208716"/>
            <a:ext cx="660818" cy="418975"/>
          </a:xfrm>
          <a:prstGeom prst="roundRect">
            <a:avLst>
              <a:gd name="adj" fmla="val 10000"/>
            </a:avLst>
          </a:prstGeom>
          <a:blipFill>
            <a:blip r:embed="rId19">
              <a:extLst>
                <a:ext uri="{28A0092B-C50C-407E-A947-70E740481C1C}">
                  <a14:useLocalDpi xmlns:a14="http://schemas.microsoft.com/office/drawing/2010/main" val="0"/>
                </a:ext>
              </a:extLst>
            </a:blip>
            <a:srcRect/>
            <a:stretch>
              <a:fillRect l="-45000" r="-45000"/>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44" name="Freeform: Shape 43">
            <a:extLst>
              <a:ext uri="{FF2B5EF4-FFF2-40B4-BE49-F238E27FC236}">
                <a16:creationId xmlns:a16="http://schemas.microsoft.com/office/drawing/2014/main" id="{8799BA83-8F72-A44A-9D4F-3DE6FBAD0661}"/>
              </a:ext>
            </a:extLst>
          </p:cNvPr>
          <p:cNvSpPr/>
          <p:nvPr/>
        </p:nvSpPr>
        <p:spPr>
          <a:xfrm>
            <a:off x="-7031716" y="3732435"/>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Oceano</a:t>
            </a:r>
          </a:p>
        </p:txBody>
      </p:sp>
      <p:sp>
        <p:nvSpPr>
          <p:cNvPr id="45" name="Rectangle: Rounded Corners 44">
            <a:extLst>
              <a:ext uri="{FF2B5EF4-FFF2-40B4-BE49-F238E27FC236}">
                <a16:creationId xmlns:a16="http://schemas.microsoft.com/office/drawing/2014/main" id="{E13539A1-77DF-169F-AA12-32F0CA15787E}"/>
              </a:ext>
            </a:extLst>
          </p:cNvPr>
          <p:cNvSpPr/>
          <p:nvPr/>
        </p:nvSpPr>
        <p:spPr>
          <a:xfrm>
            <a:off x="-6979345" y="3784807"/>
            <a:ext cx="660818" cy="418975"/>
          </a:xfrm>
          <a:prstGeom prst="roundRect">
            <a:avLst>
              <a:gd name="adj" fmla="val 10000"/>
            </a:avLst>
          </a:prstGeom>
          <a:blipFill>
            <a:blip r:embed="rId20">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46" name="Freeform: Shape 45">
            <a:extLst>
              <a:ext uri="{FF2B5EF4-FFF2-40B4-BE49-F238E27FC236}">
                <a16:creationId xmlns:a16="http://schemas.microsoft.com/office/drawing/2014/main" id="{A4718273-ACF5-4498-F61B-8466068F16BD}"/>
              </a:ext>
            </a:extLst>
          </p:cNvPr>
          <p:cNvSpPr/>
          <p:nvPr/>
        </p:nvSpPr>
        <p:spPr>
          <a:xfrm>
            <a:off x="14074221" y="2682247"/>
            <a:ext cx="3304091" cy="159636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dirty="0">
                <a:solidFill>
                  <a:srgbClr val="FFFFFF"/>
                </a:solidFill>
                <a:latin typeface="Frutiger Lt Std"/>
              </a:rPr>
              <a:t>New Warehouse</a:t>
            </a:r>
          </a:p>
        </p:txBody>
      </p:sp>
    </p:spTree>
    <p:extLst>
      <p:ext uri="{BB962C8B-B14F-4D97-AF65-F5344CB8AC3E}">
        <p14:creationId xmlns:p14="http://schemas.microsoft.com/office/powerpoint/2010/main" val="2078615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par>
                          <p:cTn id="14" fill="hold">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anim calcmode="lin" valueType="num">
                                      <p:cBhvr>
                                        <p:cTn id="24" dur="1000" fill="hold"/>
                                        <p:tgtEl>
                                          <p:spTgt spid="11"/>
                                        </p:tgtEl>
                                        <p:attrNameLst>
                                          <p:attrName>ppt_x</p:attrName>
                                        </p:attrNameLst>
                                      </p:cBhvr>
                                      <p:tavLst>
                                        <p:tav tm="0">
                                          <p:val>
                                            <p:strVal val="#ppt_x"/>
                                          </p:val>
                                        </p:tav>
                                        <p:tav tm="100000">
                                          <p:val>
                                            <p:strVal val="#ppt_x"/>
                                          </p:val>
                                        </p:tav>
                                      </p:tavLst>
                                    </p:anim>
                                    <p:anim calcmode="lin" valueType="num">
                                      <p:cBhvr>
                                        <p:cTn id="25" dur="1000" fill="hold"/>
                                        <p:tgtEl>
                                          <p:spTgt spid="11"/>
                                        </p:tgtEl>
                                        <p:attrNameLst>
                                          <p:attrName>ppt_y</p:attrName>
                                        </p:attrNameLst>
                                      </p:cBhvr>
                                      <p:tavLst>
                                        <p:tav tm="0">
                                          <p:val>
                                            <p:strVal val="#ppt_y+.1"/>
                                          </p:val>
                                        </p:tav>
                                        <p:tav tm="100000">
                                          <p:val>
                                            <p:strVal val="#ppt_y"/>
                                          </p:val>
                                        </p:tav>
                                      </p:tavLst>
                                    </p:anim>
                                  </p:childTnLst>
                                </p:cTn>
                              </p:par>
                            </p:childTnLst>
                          </p:cTn>
                        </p:par>
                        <p:par>
                          <p:cTn id="26" fill="hold">
                            <p:stCondLst>
                              <p:cond delay="3500"/>
                            </p:stCondLst>
                            <p:childTnLst>
                              <p:par>
                                <p:cTn id="27" presetID="42"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childTnLst>
                          </p:cTn>
                        </p:par>
                        <p:par>
                          <p:cTn id="32" fill="hold">
                            <p:stCondLst>
                              <p:cond delay="4500"/>
                            </p:stCondLst>
                            <p:childTnLst>
                              <p:par>
                                <p:cTn id="33" presetID="42"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childTnLst>
                          </p:cTn>
                        </p:par>
                        <p:par>
                          <p:cTn id="38" fill="hold">
                            <p:stCondLst>
                              <p:cond delay="5500"/>
                            </p:stCondLst>
                            <p:childTnLst>
                              <p:par>
                                <p:cTn id="39" presetID="42"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anim calcmode="lin" valueType="num">
                                      <p:cBhvr>
                                        <p:cTn id="42" dur="1000" fill="hold"/>
                                        <p:tgtEl>
                                          <p:spTgt spid="14"/>
                                        </p:tgtEl>
                                        <p:attrNameLst>
                                          <p:attrName>ppt_x</p:attrName>
                                        </p:attrNameLst>
                                      </p:cBhvr>
                                      <p:tavLst>
                                        <p:tav tm="0">
                                          <p:val>
                                            <p:strVal val="#ppt_x"/>
                                          </p:val>
                                        </p:tav>
                                        <p:tav tm="100000">
                                          <p:val>
                                            <p:strVal val="#ppt_x"/>
                                          </p:val>
                                        </p:tav>
                                      </p:tavLst>
                                    </p:anim>
                                    <p:anim calcmode="lin" valueType="num">
                                      <p:cBhvr>
                                        <p:cTn id="43" dur="1000" fill="hold"/>
                                        <p:tgtEl>
                                          <p:spTgt spid="14"/>
                                        </p:tgtEl>
                                        <p:attrNameLst>
                                          <p:attrName>ppt_y</p:attrName>
                                        </p:attrNameLst>
                                      </p:cBhvr>
                                      <p:tavLst>
                                        <p:tav tm="0">
                                          <p:val>
                                            <p:strVal val="#ppt_y+.1"/>
                                          </p:val>
                                        </p:tav>
                                        <p:tav tm="100000">
                                          <p:val>
                                            <p:strVal val="#ppt_y"/>
                                          </p:val>
                                        </p:tav>
                                      </p:tavLst>
                                    </p:anim>
                                  </p:childTnLst>
                                </p:cTn>
                              </p:par>
                            </p:childTnLst>
                          </p:cTn>
                        </p:par>
                        <p:par>
                          <p:cTn id="44" fill="hold">
                            <p:stCondLst>
                              <p:cond delay="6500"/>
                            </p:stCondLst>
                            <p:childTnLst>
                              <p:par>
                                <p:cTn id="45" presetID="42" presetClass="entr" presetSubtype="0"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1000"/>
                                        <p:tgtEl>
                                          <p:spTgt spid="15"/>
                                        </p:tgtEl>
                                      </p:cBhvr>
                                    </p:animEffect>
                                    <p:anim calcmode="lin" valueType="num">
                                      <p:cBhvr>
                                        <p:cTn id="48" dur="1000" fill="hold"/>
                                        <p:tgtEl>
                                          <p:spTgt spid="15"/>
                                        </p:tgtEl>
                                        <p:attrNameLst>
                                          <p:attrName>ppt_x</p:attrName>
                                        </p:attrNameLst>
                                      </p:cBhvr>
                                      <p:tavLst>
                                        <p:tav tm="0">
                                          <p:val>
                                            <p:strVal val="#ppt_x"/>
                                          </p:val>
                                        </p:tav>
                                        <p:tav tm="100000">
                                          <p:val>
                                            <p:strVal val="#ppt_x"/>
                                          </p:val>
                                        </p:tav>
                                      </p:tavLst>
                                    </p:anim>
                                    <p:anim calcmode="lin" valueType="num">
                                      <p:cBhvr>
                                        <p:cTn id="49" dur="1000" fill="hold"/>
                                        <p:tgtEl>
                                          <p:spTgt spid="15"/>
                                        </p:tgtEl>
                                        <p:attrNameLst>
                                          <p:attrName>ppt_y</p:attrName>
                                        </p:attrNameLst>
                                      </p:cBhvr>
                                      <p:tavLst>
                                        <p:tav tm="0">
                                          <p:val>
                                            <p:strVal val="#ppt_y+.1"/>
                                          </p:val>
                                        </p:tav>
                                        <p:tav tm="100000">
                                          <p:val>
                                            <p:strVal val="#ppt_y"/>
                                          </p:val>
                                        </p:tav>
                                      </p:tavLst>
                                    </p:anim>
                                  </p:childTnLst>
                                </p:cTn>
                              </p:par>
                            </p:childTnLst>
                          </p:cTn>
                        </p:par>
                        <p:par>
                          <p:cTn id="50" fill="hold">
                            <p:stCondLst>
                              <p:cond delay="7500"/>
                            </p:stCondLst>
                            <p:childTnLst>
                              <p:par>
                                <p:cTn id="51" presetID="42" presetClass="entr" presetSubtype="0" fill="hold" grpId="0" nodeType="after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1000"/>
                                        <p:tgtEl>
                                          <p:spTgt spid="16"/>
                                        </p:tgtEl>
                                      </p:cBhvr>
                                    </p:animEffect>
                                    <p:anim calcmode="lin" valueType="num">
                                      <p:cBhvr>
                                        <p:cTn id="54" dur="1000" fill="hold"/>
                                        <p:tgtEl>
                                          <p:spTgt spid="16"/>
                                        </p:tgtEl>
                                        <p:attrNameLst>
                                          <p:attrName>ppt_x</p:attrName>
                                        </p:attrNameLst>
                                      </p:cBhvr>
                                      <p:tavLst>
                                        <p:tav tm="0">
                                          <p:val>
                                            <p:strVal val="#ppt_x"/>
                                          </p:val>
                                        </p:tav>
                                        <p:tav tm="100000">
                                          <p:val>
                                            <p:strVal val="#ppt_x"/>
                                          </p:val>
                                        </p:tav>
                                      </p:tavLst>
                                    </p:anim>
                                    <p:anim calcmode="lin" valueType="num">
                                      <p:cBhvr>
                                        <p:cTn id="5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2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dirty="0"/>
              <a:t>Design Overview</a:t>
            </a:r>
            <a:endParaRPr lang="en-GB" sz="2000" dirty="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dirty="0"/>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1794273" y="1615447"/>
            <a:ext cx="7386381" cy="301057"/>
          </a:xfrm>
        </p:spPr>
        <p:txBody>
          <a:bodyPr/>
          <a:lstStyle/>
          <a:p>
            <a:r>
              <a:rPr lang="en-GB" dirty="0"/>
              <a:t>Warehouse in practice </a:t>
            </a:r>
          </a:p>
        </p:txBody>
      </p:sp>
      <p:sp>
        <p:nvSpPr>
          <p:cNvPr id="18" name="Freeform: Shape 17">
            <a:extLst>
              <a:ext uri="{FF2B5EF4-FFF2-40B4-BE49-F238E27FC236}">
                <a16:creationId xmlns:a16="http://schemas.microsoft.com/office/drawing/2014/main" id="{9DDE75B4-81EE-433E-B787-2998E67E34AB}"/>
              </a:ext>
            </a:extLst>
          </p:cNvPr>
          <p:cNvSpPr/>
          <p:nvPr/>
        </p:nvSpPr>
        <p:spPr>
          <a:xfrm>
            <a:off x="1982494" y="2415232"/>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Maxims</a:t>
            </a:r>
          </a:p>
        </p:txBody>
      </p:sp>
      <p:sp>
        <p:nvSpPr>
          <p:cNvPr id="19" name="Rectangle: Rounded Corners 18">
            <a:extLst>
              <a:ext uri="{FF2B5EF4-FFF2-40B4-BE49-F238E27FC236}">
                <a16:creationId xmlns:a16="http://schemas.microsoft.com/office/drawing/2014/main" id="{802AEC26-41C0-90F9-6D4B-CB726E02269A}"/>
              </a:ext>
            </a:extLst>
          </p:cNvPr>
          <p:cNvSpPr/>
          <p:nvPr/>
        </p:nvSpPr>
        <p:spPr>
          <a:xfrm>
            <a:off x="2034864" y="2440443"/>
            <a:ext cx="660818" cy="418975"/>
          </a:xfrm>
          <a:prstGeom prst="roundRect">
            <a:avLst>
              <a:gd name="adj" fmla="val 10000"/>
            </a:avLst>
          </a:prstGeom>
          <a:blipFill>
            <a:blip r:embed="rId4">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20" name="Freeform: Shape 19">
            <a:extLst>
              <a:ext uri="{FF2B5EF4-FFF2-40B4-BE49-F238E27FC236}">
                <a16:creationId xmlns:a16="http://schemas.microsoft.com/office/drawing/2014/main" id="{8AE4E10C-642F-255F-8C74-7CC5B6A1185E}"/>
              </a:ext>
            </a:extLst>
          </p:cNvPr>
          <p:cNvSpPr/>
          <p:nvPr/>
        </p:nvSpPr>
        <p:spPr>
          <a:xfrm>
            <a:off x="1982494" y="2977743"/>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TrakCare</a:t>
            </a:r>
          </a:p>
        </p:txBody>
      </p:sp>
      <p:sp>
        <p:nvSpPr>
          <p:cNvPr id="21" name="Rectangle: Rounded Corners 20">
            <a:extLst>
              <a:ext uri="{FF2B5EF4-FFF2-40B4-BE49-F238E27FC236}">
                <a16:creationId xmlns:a16="http://schemas.microsoft.com/office/drawing/2014/main" id="{1CDC7C27-0267-B7F9-0618-EE94965983C1}"/>
              </a:ext>
            </a:extLst>
          </p:cNvPr>
          <p:cNvSpPr/>
          <p:nvPr/>
        </p:nvSpPr>
        <p:spPr>
          <a:xfrm>
            <a:off x="2034864" y="3016535"/>
            <a:ext cx="660818" cy="418975"/>
          </a:xfrm>
          <a:prstGeom prst="roundRect">
            <a:avLst>
              <a:gd name="adj" fmla="val 10000"/>
            </a:avLst>
          </a:prstGeom>
          <a:blipFill>
            <a:blip r:embed="rId5">
              <a:extLst>
                <a:ext uri="{28A0092B-C50C-407E-A947-70E740481C1C}">
                  <a14:useLocalDpi xmlns:a14="http://schemas.microsoft.com/office/drawing/2010/main" val="0"/>
                </a:ext>
              </a:extLst>
            </a:blip>
            <a:srcRect/>
            <a:stretch>
              <a:fillRect l="-45000" r="-45000"/>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22" name="Freeform: Shape 21">
            <a:extLst>
              <a:ext uri="{FF2B5EF4-FFF2-40B4-BE49-F238E27FC236}">
                <a16:creationId xmlns:a16="http://schemas.microsoft.com/office/drawing/2014/main" id="{8E1270F8-F5B3-BE3D-A352-8E9BEDF477C6}"/>
              </a:ext>
            </a:extLst>
          </p:cNvPr>
          <p:cNvSpPr/>
          <p:nvPr/>
        </p:nvSpPr>
        <p:spPr>
          <a:xfrm>
            <a:off x="1982494" y="3540254"/>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Oceano</a:t>
            </a:r>
          </a:p>
        </p:txBody>
      </p:sp>
      <p:sp>
        <p:nvSpPr>
          <p:cNvPr id="23" name="Rectangle: Rounded Corners 22">
            <a:extLst>
              <a:ext uri="{FF2B5EF4-FFF2-40B4-BE49-F238E27FC236}">
                <a16:creationId xmlns:a16="http://schemas.microsoft.com/office/drawing/2014/main" id="{EEF12E2A-00DC-A697-4EF3-DD37265B8C9A}"/>
              </a:ext>
            </a:extLst>
          </p:cNvPr>
          <p:cNvSpPr/>
          <p:nvPr/>
        </p:nvSpPr>
        <p:spPr>
          <a:xfrm>
            <a:off x="2034864" y="3592626"/>
            <a:ext cx="660818" cy="418975"/>
          </a:xfrm>
          <a:prstGeom prst="roundRect">
            <a:avLst>
              <a:gd name="adj" fmla="val 10000"/>
            </a:avLst>
          </a:prstGeom>
          <a:blipFill>
            <a:blip r:embed="rId6">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13" name="Arrow: Right 12">
            <a:extLst>
              <a:ext uri="{FF2B5EF4-FFF2-40B4-BE49-F238E27FC236}">
                <a16:creationId xmlns:a16="http://schemas.microsoft.com/office/drawing/2014/main" id="{EA435DEE-1AE3-4F47-49A1-F08647B2F1F1}"/>
              </a:ext>
            </a:extLst>
          </p:cNvPr>
          <p:cNvSpPr/>
          <p:nvPr/>
        </p:nvSpPr>
        <p:spPr>
          <a:xfrm>
            <a:off x="-3600063" y="2291313"/>
            <a:ext cx="3564312" cy="1869417"/>
          </a:xfrm>
          <a:prstGeom prst="rightArrow">
            <a:avLst/>
          </a:prstGeom>
          <a:scene3d>
            <a:camera prst="orthographicFront"/>
            <a:lightRig rig="chilly" dir="t"/>
          </a:scene3d>
          <a:sp3d z="-12700" extrusionH="1700" prstMaterial="translucentPowder">
            <a:bevelT w="25400" h="6350" prst="softRound"/>
            <a:bevelB w="0" h="0" prst="convex"/>
          </a:sp3d>
        </p:spPr>
        <p:style>
          <a:lnRef idx="0">
            <a:schemeClr val="dk2">
              <a:hueOff val="0"/>
              <a:satOff val="0"/>
              <a:lumOff val="0"/>
              <a:alphaOff val="0"/>
            </a:schemeClr>
          </a:lnRef>
          <a:fillRef idx="1">
            <a:schemeClr val="dk2">
              <a:tint val="40000"/>
              <a:hueOff val="0"/>
              <a:satOff val="0"/>
              <a:lumOff val="0"/>
              <a:alphaOff val="0"/>
            </a:schemeClr>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14" name="ExtractionLayer">
            <a:extLst>
              <a:ext uri="{FF2B5EF4-FFF2-40B4-BE49-F238E27FC236}">
                <a16:creationId xmlns:a16="http://schemas.microsoft.com/office/drawing/2014/main" id="{0E73D117-727B-1EAB-A207-E520CB3D220D}"/>
              </a:ext>
            </a:extLst>
          </p:cNvPr>
          <p:cNvSpPr/>
          <p:nvPr/>
        </p:nvSpPr>
        <p:spPr>
          <a:xfrm>
            <a:off x="-4094307" y="2844859"/>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75000"/>
            </a:schemeClr>
          </a:solidFill>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Extraction Layer</a:t>
            </a:r>
          </a:p>
        </p:txBody>
      </p:sp>
      <p:sp>
        <p:nvSpPr>
          <p:cNvPr id="15" name="Freeform: Shape 14">
            <a:extLst>
              <a:ext uri="{FF2B5EF4-FFF2-40B4-BE49-F238E27FC236}">
                <a16:creationId xmlns:a16="http://schemas.microsoft.com/office/drawing/2014/main" id="{B46009E0-5EE0-4DC5-3681-CC84674AB0DE}"/>
              </a:ext>
            </a:extLst>
          </p:cNvPr>
          <p:cNvSpPr/>
          <p:nvPr/>
        </p:nvSpPr>
        <p:spPr>
          <a:xfrm>
            <a:off x="-5822988" y="2841611"/>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75000"/>
            </a:schemeClr>
          </a:solidFill>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Business Layer</a:t>
            </a:r>
          </a:p>
        </p:txBody>
      </p:sp>
      <p:sp>
        <p:nvSpPr>
          <p:cNvPr id="16" name="Freeform: Shape 15">
            <a:extLst>
              <a:ext uri="{FF2B5EF4-FFF2-40B4-BE49-F238E27FC236}">
                <a16:creationId xmlns:a16="http://schemas.microsoft.com/office/drawing/2014/main" id="{51985D98-FAFC-AD58-B4E8-18F0F164800F}"/>
              </a:ext>
            </a:extLst>
          </p:cNvPr>
          <p:cNvSpPr/>
          <p:nvPr/>
        </p:nvSpPr>
        <p:spPr>
          <a:xfrm>
            <a:off x="-7767460" y="2841611"/>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75000"/>
            </a:schemeClr>
          </a:solidFill>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Presentation Layer</a:t>
            </a:r>
          </a:p>
        </p:txBody>
      </p:sp>
      <p:sp>
        <p:nvSpPr>
          <p:cNvPr id="24" name="Freeform: Shape 23">
            <a:extLst>
              <a:ext uri="{FF2B5EF4-FFF2-40B4-BE49-F238E27FC236}">
                <a16:creationId xmlns:a16="http://schemas.microsoft.com/office/drawing/2014/main" id="{CE95FA79-8C98-05EC-CF32-D2EF557D8938}"/>
              </a:ext>
            </a:extLst>
          </p:cNvPr>
          <p:cNvSpPr/>
          <p:nvPr/>
        </p:nvSpPr>
        <p:spPr>
          <a:xfrm>
            <a:off x="6489180" y="2415232"/>
            <a:ext cx="3304091" cy="159636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dirty="0">
                <a:solidFill>
                  <a:srgbClr val="FFFFFF"/>
                </a:solidFill>
                <a:latin typeface="Frutiger Lt Std"/>
              </a:rPr>
              <a:t>New Warehouse</a:t>
            </a:r>
          </a:p>
        </p:txBody>
      </p:sp>
      <p:sp>
        <p:nvSpPr>
          <p:cNvPr id="2" name="Freeform: Shape 1">
            <a:extLst>
              <a:ext uri="{FF2B5EF4-FFF2-40B4-BE49-F238E27FC236}">
                <a16:creationId xmlns:a16="http://schemas.microsoft.com/office/drawing/2014/main" id="{D49F3323-3B1C-4C8B-78A1-B082EE1C0EB1}"/>
              </a:ext>
            </a:extLst>
          </p:cNvPr>
          <p:cNvSpPr/>
          <p:nvPr/>
        </p:nvSpPr>
        <p:spPr>
          <a:xfrm>
            <a:off x="2383747" y="11844936"/>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Focus on ED Data</a:t>
            </a:r>
          </a:p>
        </p:txBody>
      </p:sp>
      <p:sp>
        <p:nvSpPr>
          <p:cNvPr id="3" name="Oval 2" descr="First aid kit outline">
            <a:extLst>
              <a:ext uri="{FF2B5EF4-FFF2-40B4-BE49-F238E27FC236}">
                <a16:creationId xmlns:a16="http://schemas.microsoft.com/office/drawing/2014/main" id="{996884F9-362A-BBBC-CA41-A2E61F59015A}"/>
              </a:ext>
            </a:extLst>
          </p:cNvPr>
          <p:cNvSpPr/>
          <p:nvPr/>
        </p:nvSpPr>
        <p:spPr>
          <a:xfrm>
            <a:off x="2963925" y="11968460"/>
            <a:ext cx="685559" cy="685559"/>
          </a:xfrm>
          <a:prstGeom prst="ellipse">
            <a:avLst/>
          </a:prstGeom>
          <a:blipFill>
            <a:blip r:embed="rId7">
              <a:extLst>
                <a:ext uri="{96DAC541-7B7A-43D3-8B79-37D633B846F1}">
                  <asvg:svgBlip xmlns:asvg="http://schemas.microsoft.com/office/drawing/2016/SVG/main" r:embed="rId8"/>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8" name="Freeform: Shape 7">
            <a:extLst>
              <a:ext uri="{FF2B5EF4-FFF2-40B4-BE49-F238E27FC236}">
                <a16:creationId xmlns:a16="http://schemas.microsoft.com/office/drawing/2014/main" id="{D0351E88-4709-CCC2-A0D0-055452A49711}"/>
              </a:ext>
            </a:extLst>
          </p:cNvPr>
          <p:cNvSpPr/>
          <p:nvPr/>
        </p:nvSpPr>
        <p:spPr>
          <a:xfrm>
            <a:off x="4191606" y="10802541"/>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Automate National returns and other requests to save time</a:t>
            </a:r>
          </a:p>
        </p:txBody>
      </p:sp>
      <p:sp>
        <p:nvSpPr>
          <p:cNvPr id="9" name="Oval 8" descr="Open envelope outline">
            <a:extLst>
              <a:ext uri="{FF2B5EF4-FFF2-40B4-BE49-F238E27FC236}">
                <a16:creationId xmlns:a16="http://schemas.microsoft.com/office/drawing/2014/main" id="{39707764-EC3B-F09D-4029-A57E63C2F51B}"/>
              </a:ext>
            </a:extLst>
          </p:cNvPr>
          <p:cNvSpPr/>
          <p:nvPr/>
        </p:nvSpPr>
        <p:spPr>
          <a:xfrm>
            <a:off x="4771785" y="10926065"/>
            <a:ext cx="685559" cy="685559"/>
          </a:xfrm>
          <a:prstGeom prst="ellipse">
            <a:avLst/>
          </a:prstGeom>
          <a:blipFill>
            <a:blip r:embed="rId9">
              <a:extLst>
                <a:ext uri="{96DAC541-7B7A-43D3-8B79-37D633B846F1}">
                  <asvg:svgBlip xmlns:asvg="http://schemas.microsoft.com/office/drawing/2016/SVG/main" r:embed="rId1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10" name="Freeform: Shape 9">
            <a:extLst>
              <a:ext uri="{FF2B5EF4-FFF2-40B4-BE49-F238E27FC236}">
                <a16:creationId xmlns:a16="http://schemas.microsoft.com/office/drawing/2014/main" id="{94744C52-7FC6-FC17-E45E-35AEEB2BB9EE}"/>
              </a:ext>
            </a:extLst>
          </p:cNvPr>
          <p:cNvSpPr/>
          <p:nvPr/>
        </p:nvSpPr>
        <p:spPr>
          <a:xfrm>
            <a:off x="6116424" y="9821137"/>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Deliver data in a clear and transparent warehouse</a:t>
            </a:r>
          </a:p>
        </p:txBody>
      </p:sp>
      <p:sp>
        <p:nvSpPr>
          <p:cNvPr id="11" name="Oval 10" descr="Research outline">
            <a:extLst>
              <a:ext uri="{FF2B5EF4-FFF2-40B4-BE49-F238E27FC236}">
                <a16:creationId xmlns:a16="http://schemas.microsoft.com/office/drawing/2014/main" id="{92D42FC0-1398-E73D-B2D0-4DBC2F609004}"/>
              </a:ext>
            </a:extLst>
          </p:cNvPr>
          <p:cNvSpPr/>
          <p:nvPr/>
        </p:nvSpPr>
        <p:spPr>
          <a:xfrm>
            <a:off x="6696603" y="9944661"/>
            <a:ext cx="685559" cy="685559"/>
          </a:xfrm>
          <a:prstGeom prst="ellipse">
            <a:avLst/>
          </a:prstGeom>
          <a:blipFill>
            <a:blip r:embed="rId11">
              <a:extLst>
                <a:ext uri="{96DAC541-7B7A-43D3-8B79-37D633B846F1}">
                  <asvg:svgBlip xmlns:asvg="http://schemas.microsoft.com/office/drawing/2016/SVG/main" r:embed="rId12"/>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12" name="Freeform: Shape 11">
            <a:extLst>
              <a:ext uri="{FF2B5EF4-FFF2-40B4-BE49-F238E27FC236}">
                <a16:creationId xmlns:a16="http://schemas.microsoft.com/office/drawing/2014/main" id="{1DB9E55F-6DD8-CC0F-CD95-1917DBFC41F8}"/>
              </a:ext>
            </a:extLst>
          </p:cNvPr>
          <p:cNvSpPr/>
          <p:nvPr/>
        </p:nvSpPr>
        <p:spPr>
          <a:xfrm>
            <a:off x="8041242" y="8787970"/>
            <a:ext cx="1845914" cy="2058736"/>
          </a:xfrm>
          <a:custGeom>
            <a:avLst/>
            <a:gdLst>
              <a:gd name="connsiteX0" fmla="*/ 0 w 1845914"/>
              <a:gd name="connsiteY0" fmla="*/ 184591 h 2058736"/>
              <a:gd name="connsiteX1" fmla="*/ 184591 w 1845914"/>
              <a:gd name="connsiteY1" fmla="*/ 0 h 2058736"/>
              <a:gd name="connsiteX2" fmla="*/ 1661323 w 1845914"/>
              <a:gd name="connsiteY2" fmla="*/ 0 h 2058736"/>
              <a:gd name="connsiteX3" fmla="*/ 1845914 w 1845914"/>
              <a:gd name="connsiteY3" fmla="*/ 184591 h 2058736"/>
              <a:gd name="connsiteX4" fmla="*/ 1845914 w 1845914"/>
              <a:gd name="connsiteY4" fmla="*/ 1874145 h 2058736"/>
              <a:gd name="connsiteX5" fmla="*/ 1661323 w 1845914"/>
              <a:gd name="connsiteY5" fmla="*/ 2058736 h 2058736"/>
              <a:gd name="connsiteX6" fmla="*/ 184591 w 1845914"/>
              <a:gd name="connsiteY6" fmla="*/ 2058736 h 2058736"/>
              <a:gd name="connsiteX7" fmla="*/ 0 w 1845914"/>
              <a:gd name="connsiteY7" fmla="*/ 1874145 h 2058736"/>
              <a:gd name="connsiteX8" fmla="*/ 0 w 1845914"/>
              <a:gd name="connsiteY8" fmla="*/ 184591 h 205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5914" h="2058736">
                <a:moveTo>
                  <a:pt x="0" y="184591"/>
                </a:moveTo>
                <a:cubicBezTo>
                  <a:pt x="0" y="82644"/>
                  <a:pt x="82644" y="0"/>
                  <a:pt x="184591" y="0"/>
                </a:cubicBezTo>
                <a:lnTo>
                  <a:pt x="1661323" y="0"/>
                </a:lnTo>
                <a:cubicBezTo>
                  <a:pt x="1763270" y="0"/>
                  <a:pt x="1845914" y="82644"/>
                  <a:pt x="1845914" y="184591"/>
                </a:cubicBezTo>
                <a:lnTo>
                  <a:pt x="1845914" y="1874145"/>
                </a:lnTo>
                <a:cubicBezTo>
                  <a:pt x="1845914" y="1976092"/>
                  <a:pt x="1763270" y="2058736"/>
                  <a:pt x="1661323" y="2058736"/>
                </a:cubicBezTo>
                <a:lnTo>
                  <a:pt x="184591" y="2058736"/>
                </a:lnTo>
                <a:cubicBezTo>
                  <a:pt x="82644" y="2058736"/>
                  <a:pt x="0" y="1976092"/>
                  <a:pt x="0" y="1874145"/>
                </a:cubicBezTo>
                <a:lnTo>
                  <a:pt x="0" y="18459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923062" rIns="99568" bIns="511316"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Test new platforms and processes</a:t>
            </a:r>
          </a:p>
        </p:txBody>
      </p:sp>
      <p:sp>
        <p:nvSpPr>
          <p:cNvPr id="17" name="Oval 16" descr="Clipboard Mixed outline">
            <a:extLst>
              <a:ext uri="{FF2B5EF4-FFF2-40B4-BE49-F238E27FC236}">
                <a16:creationId xmlns:a16="http://schemas.microsoft.com/office/drawing/2014/main" id="{C8A40409-0145-0B96-3CC1-D4796E905879}"/>
              </a:ext>
            </a:extLst>
          </p:cNvPr>
          <p:cNvSpPr/>
          <p:nvPr/>
        </p:nvSpPr>
        <p:spPr>
          <a:xfrm>
            <a:off x="8621420" y="8911494"/>
            <a:ext cx="685559" cy="685559"/>
          </a:xfrm>
          <a:prstGeom prst="ellipse">
            <a:avLst/>
          </a:prstGeom>
          <a:blipFill>
            <a:blip r:embed="rId13">
              <a:extLst>
                <a:ext uri="{96DAC541-7B7A-43D3-8B79-37D633B846F1}">
                  <asvg:svgBlip xmlns:asvg="http://schemas.microsoft.com/office/drawing/2016/SVG/main" r:embed="rId14"/>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Tree>
    <p:extLst>
      <p:ext uri="{BB962C8B-B14F-4D97-AF65-F5344CB8AC3E}">
        <p14:creationId xmlns:p14="http://schemas.microsoft.com/office/powerpoint/2010/main" val="1723816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73E16F-E525-534C-F593-EA74CB404E7D}"/>
              </a:ext>
            </a:extLst>
          </p:cNvPr>
          <p:cNvSpPr/>
          <p:nvPr/>
        </p:nvSpPr>
        <p:spPr>
          <a:xfrm>
            <a:off x="6489180" y="2415232"/>
            <a:ext cx="3304091" cy="159636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alpha val="10000"/>
            </a:schemeClr>
          </a:solidFill>
          <a:ln>
            <a:no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dirty="0">
                <a:solidFill>
                  <a:srgbClr val="FFFFFF"/>
                </a:solidFill>
                <a:latin typeface="Frutiger Lt Std"/>
              </a:rPr>
              <a:t>New Warehouse</a:t>
            </a:r>
          </a:p>
        </p:txBody>
      </p:sp>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dirty="0"/>
              <a:t>Design Overview</a:t>
            </a:r>
            <a:endParaRPr lang="en-GB" sz="2000" dirty="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dirty="0"/>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1794273" y="1615447"/>
            <a:ext cx="7386381" cy="301057"/>
          </a:xfrm>
        </p:spPr>
        <p:txBody>
          <a:bodyPr/>
          <a:lstStyle/>
          <a:p>
            <a:r>
              <a:rPr lang="en-GB" dirty="0"/>
              <a:t>Warehouse in practice </a:t>
            </a:r>
          </a:p>
        </p:txBody>
      </p:sp>
      <p:sp>
        <p:nvSpPr>
          <p:cNvPr id="18" name="Freeform: Shape 17">
            <a:extLst>
              <a:ext uri="{FF2B5EF4-FFF2-40B4-BE49-F238E27FC236}">
                <a16:creationId xmlns:a16="http://schemas.microsoft.com/office/drawing/2014/main" id="{9DDE75B4-81EE-433E-B787-2998E67E34AB}"/>
              </a:ext>
            </a:extLst>
          </p:cNvPr>
          <p:cNvSpPr/>
          <p:nvPr/>
        </p:nvSpPr>
        <p:spPr>
          <a:xfrm>
            <a:off x="1982494" y="2415232"/>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Maxims</a:t>
            </a:r>
          </a:p>
        </p:txBody>
      </p:sp>
      <p:sp>
        <p:nvSpPr>
          <p:cNvPr id="19" name="Rectangle: Rounded Corners 18">
            <a:extLst>
              <a:ext uri="{FF2B5EF4-FFF2-40B4-BE49-F238E27FC236}">
                <a16:creationId xmlns:a16="http://schemas.microsoft.com/office/drawing/2014/main" id="{802AEC26-41C0-90F9-6D4B-CB726E02269A}"/>
              </a:ext>
            </a:extLst>
          </p:cNvPr>
          <p:cNvSpPr/>
          <p:nvPr/>
        </p:nvSpPr>
        <p:spPr>
          <a:xfrm>
            <a:off x="2034864" y="2440443"/>
            <a:ext cx="660818" cy="418975"/>
          </a:xfrm>
          <a:prstGeom prst="roundRect">
            <a:avLst>
              <a:gd name="adj" fmla="val 10000"/>
            </a:avLst>
          </a:prstGeom>
          <a:blipFill>
            <a:blip r:embed="rId4">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20" name="Freeform: Shape 19">
            <a:extLst>
              <a:ext uri="{FF2B5EF4-FFF2-40B4-BE49-F238E27FC236}">
                <a16:creationId xmlns:a16="http://schemas.microsoft.com/office/drawing/2014/main" id="{8AE4E10C-642F-255F-8C74-7CC5B6A1185E}"/>
              </a:ext>
            </a:extLst>
          </p:cNvPr>
          <p:cNvSpPr/>
          <p:nvPr/>
        </p:nvSpPr>
        <p:spPr>
          <a:xfrm>
            <a:off x="1982493" y="2977743"/>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TrakCare</a:t>
            </a:r>
          </a:p>
        </p:txBody>
      </p:sp>
      <p:sp>
        <p:nvSpPr>
          <p:cNvPr id="21" name="Rectangle: Rounded Corners 20">
            <a:extLst>
              <a:ext uri="{FF2B5EF4-FFF2-40B4-BE49-F238E27FC236}">
                <a16:creationId xmlns:a16="http://schemas.microsoft.com/office/drawing/2014/main" id="{1CDC7C27-0267-B7F9-0618-EE94965983C1}"/>
              </a:ext>
            </a:extLst>
          </p:cNvPr>
          <p:cNvSpPr/>
          <p:nvPr/>
        </p:nvSpPr>
        <p:spPr>
          <a:xfrm>
            <a:off x="2034864" y="3016535"/>
            <a:ext cx="660818" cy="418975"/>
          </a:xfrm>
          <a:prstGeom prst="roundRect">
            <a:avLst>
              <a:gd name="adj" fmla="val 10000"/>
            </a:avLst>
          </a:prstGeom>
          <a:blipFill>
            <a:blip r:embed="rId5">
              <a:extLst>
                <a:ext uri="{28A0092B-C50C-407E-A947-70E740481C1C}">
                  <a14:useLocalDpi xmlns:a14="http://schemas.microsoft.com/office/drawing/2010/main" val="0"/>
                </a:ext>
              </a:extLst>
            </a:blip>
            <a:srcRect/>
            <a:stretch>
              <a:fillRect l="-45000" r="-45000"/>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22" name="Freeform: Shape 21">
            <a:extLst>
              <a:ext uri="{FF2B5EF4-FFF2-40B4-BE49-F238E27FC236}">
                <a16:creationId xmlns:a16="http://schemas.microsoft.com/office/drawing/2014/main" id="{8E1270F8-F5B3-BE3D-A352-8E9BEDF477C6}"/>
              </a:ext>
            </a:extLst>
          </p:cNvPr>
          <p:cNvSpPr/>
          <p:nvPr/>
        </p:nvSpPr>
        <p:spPr>
          <a:xfrm>
            <a:off x="1982494" y="3540254"/>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Oceano</a:t>
            </a:r>
          </a:p>
        </p:txBody>
      </p:sp>
      <p:sp>
        <p:nvSpPr>
          <p:cNvPr id="23" name="Rectangle: Rounded Corners 22">
            <a:extLst>
              <a:ext uri="{FF2B5EF4-FFF2-40B4-BE49-F238E27FC236}">
                <a16:creationId xmlns:a16="http://schemas.microsoft.com/office/drawing/2014/main" id="{EEF12E2A-00DC-A697-4EF3-DD37265B8C9A}"/>
              </a:ext>
            </a:extLst>
          </p:cNvPr>
          <p:cNvSpPr/>
          <p:nvPr/>
        </p:nvSpPr>
        <p:spPr>
          <a:xfrm>
            <a:off x="2034864" y="3592626"/>
            <a:ext cx="660818" cy="418975"/>
          </a:xfrm>
          <a:prstGeom prst="roundRect">
            <a:avLst>
              <a:gd name="adj" fmla="val 10000"/>
            </a:avLst>
          </a:prstGeom>
          <a:blipFill>
            <a:blip r:embed="rId6">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13" name="Arrow: Right 12">
            <a:extLst>
              <a:ext uri="{FF2B5EF4-FFF2-40B4-BE49-F238E27FC236}">
                <a16:creationId xmlns:a16="http://schemas.microsoft.com/office/drawing/2014/main" id="{EA435DEE-1AE3-4F47-49A1-F08647B2F1F1}"/>
              </a:ext>
            </a:extLst>
          </p:cNvPr>
          <p:cNvSpPr/>
          <p:nvPr/>
        </p:nvSpPr>
        <p:spPr>
          <a:xfrm>
            <a:off x="6330696" y="2291315"/>
            <a:ext cx="3564312" cy="1869417"/>
          </a:xfrm>
          <a:prstGeom prst="rightArrow">
            <a:avLst/>
          </a:prstGeom>
          <a:solidFill>
            <a:schemeClr val="bg2">
              <a:lumMod val="60000"/>
              <a:lumOff val="40000"/>
            </a:schemeClr>
          </a:solidFill>
          <a:scene3d>
            <a:camera prst="orthographicFront"/>
            <a:lightRig rig="chilly" dir="t"/>
          </a:scene3d>
          <a:sp3d z="-12700" extrusionH="1700" prstMaterial="translucentPowder">
            <a:bevelT w="25400" h="6350" prst="softRound"/>
            <a:bevelB w="0" h="0" prst="convex"/>
          </a:sp3d>
        </p:spPr>
        <p:style>
          <a:lnRef idx="0">
            <a:schemeClr val="dk2">
              <a:hueOff val="0"/>
              <a:satOff val="0"/>
              <a:lumOff val="0"/>
              <a:alphaOff val="0"/>
            </a:schemeClr>
          </a:lnRef>
          <a:fillRef idx="1">
            <a:schemeClr val="dk2">
              <a:tint val="40000"/>
              <a:hueOff val="0"/>
              <a:satOff val="0"/>
              <a:lumOff val="0"/>
              <a:alphaOff val="0"/>
            </a:schemeClr>
          </a:fillRef>
          <a:effectRef idx="0">
            <a:schemeClr val="dk2">
              <a:tint val="40000"/>
              <a:hueOff val="0"/>
              <a:satOff val="0"/>
              <a:lumOff val="0"/>
              <a:alphaOff val="0"/>
            </a:schemeClr>
          </a:effectRef>
          <a:fontRef idx="minor">
            <a:schemeClr val="dk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14" name="Freeform: Shape 13">
            <a:extLst>
              <a:ext uri="{FF2B5EF4-FFF2-40B4-BE49-F238E27FC236}">
                <a16:creationId xmlns:a16="http://schemas.microsoft.com/office/drawing/2014/main" id="{0E73D117-727B-1EAB-A207-E520CB3D220D}"/>
              </a:ext>
            </a:extLst>
          </p:cNvPr>
          <p:cNvSpPr/>
          <p:nvPr/>
        </p:nvSpPr>
        <p:spPr>
          <a:xfrm>
            <a:off x="6020703" y="2852139"/>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Extraction Layer</a:t>
            </a:r>
          </a:p>
        </p:txBody>
      </p:sp>
      <p:sp>
        <p:nvSpPr>
          <p:cNvPr id="15" name="Freeform: Shape 14">
            <a:extLst>
              <a:ext uri="{FF2B5EF4-FFF2-40B4-BE49-F238E27FC236}">
                <a16:creationId xmlns:a16="http://schemas.microsoft.com/office/drawing/2014/main" id="{B46009E0-5EE0-4DC5-3681-CC84674AB0DE}"/>
              </a:ext>
            </a:extLst>
          </p:cNvPr>
          <p:cNvSpPr/>
          <p:nvPr/>
        </p:nvSpPr>
        <p:spPr>
          <a:xfrm>
            <a:off x="7437992" y="2852139"/>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a:solidFill>
                  <a:srgbClr val="FFFFFF"/>
                </a:solidFill>
                <a:latin typeface="Frutiger Lt Std"/>
              </a:rPr>
              <a:t>Business Layer</a:t>
            </a:r>
          </a:p>
        </p:txBody>
      </p:sp>
      <p:sp>
        <p:nvSpPr>
          <p:cNvPr id="16" name="Freeform: Shape 15">
            <a:extLst>
              <a:ext uri="{FF2B5EF4-FFF2-40B4-BE49-F238E27FC236}">
                <a16:creationId xmlns:a16="http://schemas.microsoft.com/office/drawing/2014/main" id="{51985D98-FAFC-AD58-B4E8-18F0F164800F}"/>
              </a:ext>
            </a:extLst>
          </p:cNvPr>
          <p:cNvSpPr/>
          <p:nvPr/>
        </p:nvSpPr>
        <p:spPr>
          <a:xfrm>
            <a:off x="8855282" y="2852139"/>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a:solidFill>
                  <a:srgbClr val="FFFFFF"/>
                </a:solidFill>
                <a:latin typeface="Frutiger Lt Std"/>
              </a:rPr>
              <a:t>Presentation Layer</a:t>
            </a:r>
          </a:p>
        </p:txBody>
      </p:sp>
      <p:grpSp>
        <p:nvGrpSpPr>
          <p:cNvPr id="17" name="Group 16">
            <a:extLst>
              <a:ext uri="{FF2B5EF4-FFF2-40B4-BE49-F238E27FC236}">
                <a16:creationId xmlns:a16="http://schemas.microsoft.com/office/drawing/2014/main" id="{194EBFE3-2D39-322A-181C-AFCF73BA8B66}"/>
              </a:ext>
            </a:extLst>
          </p:cNvPr>
          <p:cNvGrpSpPr/>
          <p:nvPr/>
        </p:nvGrpSpPr>
        <p:grpSpPr>
          <a:xfrm>
            <a:off x="13611110" y="2396760"/>
            <a:ext cx="5324892" cy="2064481"/>
            <a:chOff x="3509171" y="3313828"/>
            <a:chExt cx="5324892" cy="2064481"/>
          </a:xfrm>
        </p:grpSpPr>
        <p:sp>
          <p:nvSpPr>
            <p:cNvPr id="24" name="Oval 23">
              <a:extLst>
                <a:ext uri="{FF2B5EF4-FFF2-40B4-BE49-F238E27FC236}">
                  <a16:creationId xmlns:a16="http://schemas.microsoft.com/office/drawing/2014/main" id="{95D60FE9-C26A-5628-D19F-0D66B213730D}"/>
                </a:ext>
              </a:extLst>
            </p:cNvPr>
            <p:cNvSpPr/>
            <p:nvPr/>
          </p:nvSpPr>
          <p:spPr>
            <a:xfrm rot="16200000">
              <a:off x="2978405" y="4012628"/>
              <a:ext cx="1902271" cy="660633"/>
            </a:xfrm>
            <a:prstGeom prst="ellipse">
              <a:avLst/>
            </a:prstGeom>
          </p:spPr>
          <p:style>
            <a:lnRef idx="0">
              <a:schemeClr val="dk2">
                <a:hueOff val="0"/>
                <a:satOff val="0"/>
                <a:lumOff val="0"/>
                <a:alphaOff val="0"/>
              </a:schemeClr>
            </a:lnRef>
            <a:fillRef idx="1">
              <a:schemeClr val="dk2">
                <a:tint val="50000"/>
                <a:alpha val="40000"/>
                <a:hueOff val="0"/>
                <a:satOff val="0"/>
                <a:lumOff val="0"/>
                <a:alphaOff val="0"/>
              </a:schemeClr>
            </a:fillRef>
            <a:effectRef idx="0">
              <a:schemeClr val="dk2">
                <a:tint val="50000"/>
                <a:alpha val="4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25" name="Arrow: Down 24">
              <a:extLst>
                <a:ext uri="{FF2B5EF4-FFF2-40B4-BE49-F238E27FC236}">
                  <a16:creationId xmlns:a16="http://schemas.microsoft.com/office/drawing/2014/main" id="{CD73BE6B-85B6-233D-8C8B-4166312589AB}"/>
                </a:ext>
              </a:extLst>
            </p:cNvPr>
            <p:cNvSpPr/>
            <p:nvPr/>
          </p:nvSpPr>
          <p:spPr>
            <a:xfrm rot="16200000">
              <a:off x="5417222" y="4224974"/>
              <a:ext cx="368657" cy="235940"/>
            </a:xfrm>
            <a:prstGeom prst="downArrow">
              <a:avLst/>
            </a:prstGeom>
          </p:spPr>
          <p:style>
            <a:lnRef idx="2">
              <a:schemeClr val="lt2">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dk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26" name="Freeform: Shape 25">
              <a:extLst>
                <a:ext uri="{FF2B5EF4-FFF2-40B4-BE49-F238E27FC236}">
                  <a16:creationId xmlns:a16="http://schemas.microsoft.com/office/drawing/2014/main" id="{00580C58-FBF6-8753-4DC6-0B72E95EE7FA}"/>
                </a:ext>
              </a:extLst>
            </p:cNvPr>
            <p:cNvSpPr/>
            <p:nvPr/>
          </p:nvSpPr>
          <p:spPr>
            <a:xfrm>
              <a:off x="4927461" y="3931761"/>
              <a:ext cx="3906602" cy="863431"/>
            </a:xfrm>
            <a:custGeom>
              <a:avLst/>
              <a:gdLst>
                <a:gd name="connsiteX0" fmla="*/ 0 w 1769555"/>
                <a:gd name="connsiteY0" fmla="*/ 0 h 442388"/>
                <a:gd name="connsiteX1" fmla="*/ 1769555 w 1769555"/>
                <a:gd name="connsiteY1" fmla="*/ 0 h 442388"/>
                <a:gd name="connsiteX2" fmla="*/ 1769555 w 1769555"/>
                <a:gd name="connsiteY2" fmla="*/ 442388 h 442388"/>
                <a:gd name="connsiteX3" fmla="*/ 0 w 1769555"/>
                <a:gd name="connsiteY3" fmla="*/ 442388 h 442388"/>
                <a:gd name="connsiteX4" fmla="*/ 0 w 1769555"/>
                <a:gd name="connsiteY4" fmla="*/ 0 h 44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555" h="442388">
                  <a:moveTo>
                    <a:pt x="0" y="0"/>
                  </a:moveTo>
                  <a:lnTo>
                    <a:pt x="1769555" y="0"/>
                  </a:lnTo>
                  <a:lnTo>
                    <a:pt x="1769555" y="442388"/>
                  </a:lnTo>
                  <a:lnTo>
                    <a:pt x="0" y="442388"/>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71120" tIns="71120" rIns="71120" bIns="71120" numCol="1" spcCol="1270" anchor="ctr" anchorCtr="0">
              <a:noAutofit/>
            </a:bodyPr>
            <a:lstStyle/>
            <a:p>
              <a:pPr algn="ctr" defTabSz="444500">
                <a:lnSpc>
                  <a:spcPct val="90000"/>
                </a:lnSpc>
                <a:spcBef>
                  <a:spcPct val="0"/>
                </a:spcBef>
                <a:spcAft>
                  <a:spcPct val="35000"/>
                </a:spcAft>
              </a:pPr>
              <a:r>
                <a:rPr lang="en-GB" dirty="0">
                  <a:solidFill>
                    <a:srgbClr val="003087">
                      <a:hueOff val="0"/>
                      <a:satOff val="0"/>
                      <a:lumOff val="0"/>
                      <a:alphaOff val="0"/>
                    </a:srgbClr>
                  </a:solidFill>
                  <a:latin typeface="Frutiger Lt Std"/>
                </a:rPr>
                <a:t>Pull Net Changes to </a:t>
              </a:r>
            </a:p>
            <a:p>
              <a:pPr algn="ctr" defTabSz="444500">
                <a:lnSpc>
                  <a:spcPct val="90000"/>
                </a:lnSpc>
                <a:spcBef>
                  <a:spcPct val="0"/>
                </a:spcBef>
                <a:spcAft>
                  <a:spcPct val="35000"/>
                </a:spcAft>
              </a:pPr>
              <a:r>
                <a:rPr lang="en-GB" dirty="0">
                  <a:solidFill>
                    <a:srgbClr val="003087">
                      <a:hueOff val="0"/>
                      <a:satOff val="0"/>
                      <a:lumOff val="0"/>
                      <a:alphaOff val="0"/>
                    </a:srgbClr>
                  </a:solidFill>
                  <a:latin typeface="Frutiger Lt Std"/>
                </a:rPr>
                <a:t>the EXTRACT Layer</a:t>
              </a:r>
            </a:p>
          </p:txBody>
        </p:sp>
        <p:sp>
          <p:nvSpPr>
            <p:cNvPr id="27" name="Freeform: Shape 26">
              <a:extLst>
                <a:ext uri="{FF2B5EF4-FFF2-40B4-BE49-F238E27FC236}">
                  <a16:creationId xmlns:a16="http://schemas.microsoft.com/office/drawing/2014/main" id="{2B9446CE-9E85-5024-0434-6A038C1A1856}"/>
                </a:ext>
              </a:extLst>
            </p:cNvPr>
            <p:cNvSpPr/>
            <p:nvPr/>
          </p:nvSpPr>
          <p:spPr>
            <a:xfrm>
              <a:off x="3671377" y="3770674"/>
              <a:ext cx="1176959" cy="1185603"/>
            </a:xfrm>
            <a:custGeom>
              <a:avLst/>
              <a:gdLst>
                <a:gd name="connsiteX0" fmla="*/ 0 w 1032240"/>
                <a:gd name="connsiteY0" fmla="*/ 516120 h 1032240"/>
                <a:gd name="connsiteX1" fmla="*/ 516120 w 1032240"/>
                <a:gd name="connsiteY1" fmla="*/ 0 h 1032240"/>
                <a:gd name="connsiteX2" fmla="*/ 1032240 w 1032240"/>
                <a:gd name="connsiteY2" fmla="*/ 516120 h 1032240"/>
                <a:gd name="connsiteX3" fmla="*/ 516120 w 1032240"/>
                <a:gd name="connsiteY3" fmla="*/ 1032240 h 1032240"/>
                <a:gd name="connsiteX4" fmla="*/ 0 w 1032240"/>
                <a:gd name="connsiteY4" fmla="*/ 516120 h 1032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240" h="1032240">
                  <a:moveTo>
                    <a:pt x="0" y="516120"/>
                  </a:moveTo>
                  <a:cubicBezTo>
                    <a:pt x="0" y="231075"/>
                    <a:pt x="231075" y="0"/>
                    <a:pt x="516120" y="0"/>
                  </a:cubicBezTo>
                  <a:cubicBezTo>
                    <a:pt x="801165" y="0"/>
                    <a:pt x="1032240" y="231075"/>
                    <a:pt x="1032240" y="516120"/>
                  </a:cubicBezTo>
                  <a:cubicBezTo>
                    <a:pt x="1032240" y="801165"/>
                    <a:pt x="801165" y="1032240"/>
                    <a:pt x="516120" y="1032240"/>
                  </a:cubicBezTo>
                  <a:cubicBezTo>
                    <a:pt x="231075" y="1032240"/>
                    <a:pt x="0" y="801165"/>
                    <a:pt x="0" y="516120"/>
                  </a:cubicBez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66408" tIns="166408" rIns="166408" bIns="166408" numCol="1" spcCol="1270" anchor="ctr" anchorCtr="0">
              <a:noAutofit/>
            </a:bodyPr>
            <a:lstStyle/>
            <a:p>
              <a:pPr algn="ctr" defTabSz="533400">
                <a:lnSpc>
                  <a:spcPct val="90000"/>
                </a:lnSpc>
                <a:spcBef>
                  <a:spcPct val="0"/>
                </a:spcBef>
                <a:spcAft>
                  <a:spcPct val="35000"/>
                </a:spcAft>
              </a:pPr>
              <a:r>
                <a:rPr lang="en-GB" sz="1200" dirty="0">
                  <a:solidFill>
                    <a:srgbClr val="FFFFFF"/>
                  </a:solidFill>
                  <a:latin typeface="Frutiger Lt Std"/>
                </a:rPr>
                <a:t>Connect to source every few minutes</a:t>
              </a:r>
            </a:p>
          </p:txBody>
        </p:sp>
        <p:sp>
          <p:nvSpPr>
            <p:cNvPr id="28" name="Shape 27">
              <a:extLst>
                <a:ext uri="{FF2B5EF4-FFF2-40B4-BE49-F238E27FC236}">
                  <a16:creationId xmlns:a16="http://schemas.microsoft.com/office/drawing/2014/main" id="{F0595070-835A-5035-0D39-55CE0C088191}"/>
                </a:ext>
              </a:extLst>
            </p:cNvPr>
            <p:cNvSpPr/>
            <p:nvPr/>
          </p:nvSpPr>
          <p:spPr>
            <a:xfrm rot="16200000">
              <a:off x="3302722" y="3520277"/>
              <a:ext cx="2064481" cy="1651584"/>
            </a:xfrm>
            <a:prstGeom prst="funnel">
              <a:avLst/>
            </a:prstGeom>
            <a:solidFill>
              <a:schemeClr val="lt2">
                <a:hueOff val="0"/>
                <a:satOff val="0"/>
                <a:lumOff val="0"/>
                <a:alpha val="20000"/>
              </a:schemeClr>
            </a:solidFill>
            <a:ln>
              <a:solidFill>
                <a:schemeClr val="dk2">
                  <a:hueOff val="0"/>
                  <a:satOff val="0"/>
                  <a:lumOff val="0"/>
                  <a:alpha val="32000"/>
                </a:schemeClr>
              </a:solidFill>
            </a:ln>
          </p:spPr>
          <p:style>
            <a:lnRef idx="1">
              <a:schemeClr val="dk2">
                <a:hueOff val="0"/>
                <a:satOff val="0"/>
                <a:lumOff val="0"/>
                <a:alphaOff val="0"/>
              </a:schemeClr>
            </a:lnRef>
            <a:fillRef idx="1">
              <a:schemeClr val="lt2">
                <a:alpha val="40000"/>
                <a:hueOff val="0"/>
                <a:satOff val="0"/>
                <a:lumOff val="0"/>
                <a:alphaOff val="0"/>
              </a:schemeClr>
            </a:fillRef>
            <a:effectRef idx="0">
              <a:schemeClr val="lt2">
                <a:alpha val="40000"/>
                <a:hueOff val="0"/>
                <a:satOff val="0"/>
                <a:lumOff val="0"/>
                <a:alphaOff val="0"/>
              </a:schemeClr>
            </a:effectRef>
            <a:fontRef idx="minor">
              <a:schemeClr val="dk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grpSp>
    </p:spTree>
    <p:extLst>
      <p:ext uri="{BB962C8B-B14F-4D97-AF65-F5344CB8AC3E}">
        <p14:creationId xmlns:p14="http://schemas.microsoft.com/office/powerpoint/2010/main" val="11396547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4654110-253E-6E27-B915-561A60839638}"/>
              </a:ext>
            </a:extLst>
          </p:cNvPr>
          <p:cNvGrpSpPr/>
          <p:nvPr/>
        </p:nvGrpSpPr>
        <p:grpSpPr>
          <a:xfrm>
            <a:off x="9039447" y="5628996"/>
            <a:ext cx="162516" cy="158828"/>
            <a:chOff x="2676363" y="2560378"/>
            <a:chExt cx="4227997" cy="3665479"/>
          </a:xfrm>
        </p:grpSpPr>
        <p:sp>
          <p:nvSpPr>
            <p:cNvPr id="13" name="Freeform: Shape 12">
              <a:extLst>
                <a:ext uri="{FF2B5EF4-FFF2-40B4-BE49-F238E27FC236}">
                  <a16:creationId xmlns:a16="http://schemas.microsoft.com/office/drawing/2014/main" id="{B040FF2A-BEE5-9697-1EE8-BDFF25E393D9}"/>
                </a:ext>
              </a:extLst>
            </p:cNvPr>
            <p:cNvSpPr/>
            <p:nvPr/>
          </p:nvSpPr>
          <p:spPr>
            <a:xfrm>
              <a:off x="4502588" y="2573396"/>
              <a:ext cx="1348294" cy="1394590"/>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a:solidFill>
                    <a:srgbClr val="FFFFFF"/>
                  </a:solidFill>
                  <a:latin typeface="Frutiger Lt Std"/>
                </a:rPr>
                <a:t>Facts</a:t>
              </a:r>
            </a:p>
          </p:txBody>
        </p:sp>
        <p:sp>
          <p:nvSpPr>
            <p:cNvPr id="18" name="Freeform: Shape 17">
              <a:extLst>
                <a:ext uri="{FF2B5EF4-FFF2-40B4-BE49-F238E27FC236}">
                  <a16:creationId xmlns:a16="http://schemas.microsoft.com/office/drawing/2014/main" id="{733B64A8-46D9-C06F-0DDE-999E0ED277C0}"/>
                </a:ext>
              </a:extLst>
            </p:cNvPr>
            <p:cNvSpPr/>
            <p:nvPr/>
          </p:nvSpPr>
          <p:spPr>
            <a:xfrm>
              <a:off x="3141534" y="2560378"/>
              <a:ext cx="678861" cy="755677"/>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50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19" name="Freeform: Shape 18">
              <a:extLst>
                <a:ext uri="{FF2B5EF4-FFF2-40B4-BE49-F238E27FC236}">
                  <a16:creationId xmlns:a16="http://schemas.microsoft.com/office/drawing/2014/main" id="{E3CB4EAF-2959-0907-1719-1D5ED1C042DE}"/>
                </a:ext>
              </a:extLst>
            </p:cNvPr>
            <p:cNvSpPr/>
            <p:nvPr/>
          </p:nvSpPr>
          <p:spPr>
            <a:xfrm>
              <a:off x="3173608" y="3541945"/>
              <a:ext cx="1349721" cy="1394590"/>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dirty="0">
                  <a:solidFill>
                    <a:srgbClr val="FFFFFF"/>
                  </a:solidFill>
                  <a:latin typeface="Frutiger Lt Std"/>
                </a:rPr>
                <a:t>Dimensions</a:t>
              </a:r>
            </a:p>
          </p:txBody>
        </p:sp>
        <p:sp>
          <p:nvSpPr>
            <p:cNvPr id="20" name="Freeform: Shape 19">
              <a:extLst>
                <a:ext uri="{FF2B5EF4-FFF2-40B4-BE49-F238E27FC236}">
                  <a16:creationId xmlns:a16="http://schemas.microsoft.com/office/drawing/2014/main" id="{67F90B8A-9B8E-1807-5CE9-25A8636AFF9C}"/>
                </a:ext>
              </a:extLst>
            </p:cNvPr>
            <p:cNvSpPr/>
            <p:nvPr/>
          </p:nvSpPr>
          <p:spPr>
            <a:xfrm>
              <a:off x="6024582" y="3029302"/>
              <a:ext cx="879778" cy="1014380"/>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50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21" name="Freeform: Shape 20">
              <a:extLst>
                <a:ext uri="{FF2B5EF4-FFF2-40B4-BE49-F238E27FC236}">
                  <a16:creationId xmlns:a16="http://schemas.microsoft.com/office/drawing/2014/main" id="{996B931C-AAC8-21F8-B122-959B00418B1D}"/>
                </a:ext>
              </a:extLst>
            </p:cNvPr>
            <p:cNvSpPr/>
            <p:nvPr/>
          </p:nvSpPr>
          <p:spPr>
            <a:xfrm>
              <a:off x="5013359" y="3934214"/>
              <a:ext cx="1257309" cy="1237403"/>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a:solidFill>
                    <a:srgbClr val="FFFFFF"/>
                  </a:solidFill>
                  <a:latin typeface="Frutiger Lt Std"/>
                </a:rPr>
                <a:t>Attributes</a:t>
              </a:r>
            </a:p>
          </p:txBody>
        </p:sp>
        <p:sp>
          <p:nvSpPr>
            <p:cNvPr id="22" name="Freeform: Shape 21">
              <a:extLst>
                <a:ext uri="{FF2B5EF4-FFF2-40B4-BE49-F238E27FC236}">
                  <a16:creationId xmlns:a16="http://schemas.microsoft.com/office/drawing/2014/main" id="{AC5E626F-A63F-2F32-F34E-54D00131620C}"/>
                </a:ext>
              </a:extLst>
            </p:cNvPr>
            <p:cNvSpPr/>
            <p:nvPr/>
          </p:nvSpPr>
          <p:spPr>
            <a:xfrm>
              <a:off x="2676363" y="4840527"/>
              <a:ext cx="870054" cy="997352"/>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50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23" name="Freeform: Shape 22">
              <a:extLst>
                <a:ext uri="{FF2B5EF4-FFF2-40B4-BE49-F238E27FC236}">
                  <a16:creationId xmlns:a16="http://schemas.microsoft.com/office/drawing/2014/main" id="{D1A780B6-7D53-949C-4907-3BC0A5F6346E}"/>
                </a:ext>
              </a:extLst>
            </p:cNvPr>
            <p:cNvSpPr/>
            <p:nvPr/>
          </p:nvSpPr>
          <p:spPr>
            <a:xfrm>
              <a:off x="3820395" y="4860813"/>
              <a:ext cx="1417536" cy="1365044"/>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dirty="0">
                  <a:solidFill>
                    <a:srgbClr val="FFFFFF"/>
                  </a:solidFill>
                  <a:latin typeface="Frutiger Lt Std"/>
                </a:rPr>
                <a:t>Calculations</a:t>
              </a:r>
            </a:p>
          </p:txBody>
        </p:sp>
        <p:sp>
          <p:nvSpPr>
            <p:cNvPr id="26" name="Freeform: Shape 25">
              <a:extLst>
                <a:ext uri="{FF2B5EF4-FFF2-40B4-BE49-F238E27FC236}">
                  <a16:creationId xmlns:a16="http://schemas.microsoft.com/office/drawing/2014/main" id="{0B806D4B-DA58-C04F-8AA9-FE6CCDBBEA23}"/>
                </a:ext>
              </a:extLst>
            </p:cNvPr>
            <p:cNvSpPr/>
            <p:nvPr/>
          </p:nvSpPr>
          <p:spPr>
            <a:xfrm>
              <a:off x="5581988" y="5171617"/>
              <a:ext cx="1009077" cy="1025198"/>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50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grpSp>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dirty="0"/>
              <a:t>Design Overview</a:t>
            </a:r>
            <a:endParaRPr lang="en-GB" sz="2000" dirty="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dirty="0"/>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4621042" y="1615446"/>
            <a:ext cx="4054986" cy="256898"/>
          </a:xfrm>
        </p:spPr>
        <p:txBody>
          <a:bodyPr/>
          <a:lstStyle/>
          <a:p>
            <a:r>
              <a:rPr lang="en-GB" dirty="0"/>
              <a:t>Warehouse in practice </a:t>
            </a:r>
          </a:p>
        </p:txBody>
      </p:sp>
      <p:sp>
        <p:nvSpPr>
          <p:cNvPr id="14" name="Freeform: Shape 13">
            <a:extLst>
              <a:ext uri="{FF2B5EF4-FFF2-40B4-BE49-F238E27FC236}">
                <a16:creationId xmlns:a16="http://schemas.microsoft.com/office/drawing/2014/main" id="{0E73D117-727B-1EAB-A207-E520CB3D220D}"/>
              </a:ext>
            </a:extLst>
          </p:cNvPr>
          <p:cNvSpPr/>
          <p:nvPr/>
        </p:nvSpPr>
        <p:spPr>
          <a:xfrm>
            <a:off x="2358938" y="-1576106"/>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75000"/>
            </a:schemeClr>
          </a:solidFill>
          <a:effectLst>
            <a:glow rad="63500">
              <a:schemeClr val="accent6">
                <a:satMod val="175000"/>
                <a:alpha val="40000"/>
              </a:schemeClr>
            </a:glow>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Extraction</a:t>
            </a:r>
          </a:p>
        </p:txBody>
      </p:sp>
      <p:sp>
        <p:nvSpPr>
          <p:cNvPr id="16" name="Freeform: Shape 15">
            <a:extLst>
              <a:ext uri="{FF2B5EF4-FFF2-40B4-BE49-F238E27FC236}">
                <a16:creationId xmlns:a16="http://schemas.microsoft.com/office/drawing/2014/main" id="{51985D98-FAFC-AD58-B4E8-18F0F164800F}"/>
              </a:ext>
            </a:extLst>
          </p:cNvPr>
          <p:cNvSpPr/>
          <p:nvPr/>
        </p:nvSpPr>
        <p:spPr>
          <a:xfrm>
            <a:off x="8618956" y="1685608"/>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Presentation Layer</a:t>
            </a:r>
          </a:p>
        </p:txBody>
      </p:sp>
      <p:grpSp>
        <p:nvGrpSpPr>
          <p:cNvPr id="28" name="Group 27">
            <a:extLst>
              <a:ext uri="{FF2B5EF4-FFF2-40B4-BE49-F238E27FC236}">
                <a16:creationId xmlns:a16="http://schemas.microsoft.com/office/drawing/2014/main" id="{B4E83162-2D1D-04CB-F9D9-0C27321F50C5}"/>
              </a:ext>
            </a:extLst>
          </p:cNvPr>
          <p:cNvGrpSpPr/>
          <p:nvPr/>
        </p:nvGrpSpPr>
        <p:grpSpPr>
          <a:xfrm>
            <a:off x="5610110" y="2856366"/>
            <a:ext cx="5324892" cy="2064481"/>
            <a:chOff x="3509171" y="3313828"/>
            <a:chExt cx="5324892" cy="2064481"/>
          </a:xfrm>
        </p:grpSpPr>
        <p:sp>
          <p:nvSpPr>
            <p:cNvPr id="35" name="Oval 34">
              <a:extLst>
                <a:ext uri="{FF2B5EF4-FFF2-40B4-BE49-F238E27FC236}">
                  <a16:creationId xmlns:a16="http://schemas.microsoft.com/office/drawing/2014/main" id="{1BE92727-959B-B52C-553F-D42F2789003B}"/>
                </a:ext>
              </a:extLst>
            </p:cNvPr>
            <p:cNvSpPr/>
            <p:nvPr/>
          </p:nvSpPr>
          <p:spPr>
            <a:xfrm rot="16200000">
              <a:off x="2978405" y="4012628"/>
              <a:ext cx="1902271" cy="660633"/>
            </a:xfrm>
            <a:prstGeom prst="ellipse">
              <a:avLst/>
            </a:prstGeom>
          </p:spPr>
          <p:style>
            <a:lnRef idx="0">
              <a:schemeClr val="dk2">
                <a:hueOff val="0"/>
                <a:satOff val="0"/>
                <a:lumOff val="0"/>
                <a:alphaOff val="0"/>
              </a:schemeClr>
            </a:lnRef>
            <a:fillRef idx="1">
              <a:schemeClr val="dk2">
                <a:tint val="50000"/>
                <a:alpha val="40000"/>
                <a:hueOff val="0"/>
                <a:satOff val="0"/>
                <a:lumOff val="0"/>
                <a:alphaOff val="0"/>
              </a:schemeClr>
            </a:fillRef>
            <a:effectRef idx="0">
              <a:schemeClr val="dk2">
                <a:tint val="50000"/>
                <a:alpha val="4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36" name="Arrow: Down 35">
              <a:extLst>
                <a:ext uri="{FF2B5EF4-FFF2-40B4-BE49-F238E27FC236}">
                  <a16:creationId xmlns:a16="http://schemas.microsoft.com/office/drawing/2014/main" id="{17124A78-58B6-6EA2-429E-83B385782D4F}"/>
                </a:ext>
              </a:extLst>
            </p:cNvPr>
            <p:cNvSpPr/>
            <p:nvPr/>
          </p:nvSpPr>
          <p:spPr>
            <a:xfrm rot="16200000">
              <a:off x="5417222" y="4224974"/>
              <a:ext cx="368657" cy="235940"/>
            </a:xfrm>
            <a:prstGeom prst="downArrow">
              <a:avLst/>
            </a:prstGeom>
          </p:spPr>
          <p:style>
            <a:lnRef idx="2">
              <a:schemeClr val="lt2">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dk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37" name="Freeform: Shape 36">
              <a:extLst>
                <a:ext uri="{FF2B5EF4-FFF2-40B4-BE49-F238E27FC236}">
                  <a16:creationId xmlns:a16="http://schemas.microsoft.com/office/drawing/2014/main" id="{67BEC2DC-F2B6-5D6E-7641-BC6B3FA5F398}"/>
                </a:ext>
              </a:extLst>
            </p:cNvPr>
            <p:cNvSpPr/>
            <p:nvPr/>
          </p:nvSpPr>
          <p:spPr>
            <a:xfrm>
              <a:off x="4927461" y="3931761"/>
              <a:ext cx="3906602" cy="863431"/>
            </a:xfrm>
            <a:custGeom>
              <a:avLst/>
              <a:gdLst>
                <a:gd name="connsiteX0" fmla="*/ 0 w 1769555"/>
                <a:gd name="connsiteY0" fmla="*/ 0 h 442388"/>
                <a:gd name="connsiteX1" fmla="*/ 1769555 w 1769555"/>
                <a:gd name="connsiteY1" fmla="*/ 0 h 442388"/>
                <a:gd name="connsiteX2" fmla="*/ 1769555 w 1769555"/>
                <a:gd name="connsiteY2" fmla="*/ 442388 h 442388"/>
                <a:gd name="connsiteX3" fmla="*/ 0 w 1769555"/>
                <a:gd name="connsiteY3" fmla="*/ 442388 h 442388"/>
                <a:gd name="connsiteX4" fmla="*/ 0 w 1769555"/>
                <a:gd name="connsiteY4" fmla="*/ 0 h 44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555" h="442388">
                  <a:moveTo>
                    <a:pt x="0" y="0"/>
                  </a:moveTo>
                  <a:lnTo>
                    <a:pt x="1769555" y="0"/>
                  </a:lnTo>
                  <a:lnTo>
                    <a:pt x="1769555" y="442388"/>
                  </a:lnTo>
                  <a:lnTo>
                    <a:pt x="0" y="442388"/>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71120" tIns="71120" rIns="71120" bIns="71120" numCol="1" spcCol="1270" anchor="ctr" anchorCtr="0">
              <a:noAutofit/>
            </a:bodyPr>
            <a:lstStyle/>
            <a:p>
              <a:pPr algn="ctr" defTabSz="444500">
                <a:lnSpc>
                  <a:spcPct val="90000"/>
                </a:lnSpc>
                <a:spcBef>
                  <a:spcPct val="0"/>
                </a:spcBef>
                <a:spcAft>
                  <a:spcPct val="35000"/>
                </a:spcAft>
              </a:pPr>
              <a:r>
                <a:rPr lang="en-GB" dirty="0">
                  <a:solidFill>
                    <a:srgbClr val="003087">
                      <a:hueOff val="0"/>
                      <a:satOff val="0"/>
                      <a:lumOff val="0"/>
                      <a:alphaOff val="0"/>
                    </a:srgbClr>
                  </a:solidFill>
                  <a:latin typeface="Frutiger Lt Std"/>
                </a:rPr>
                <a:t>Pull Net Changes to </a:t>
              </a:r>
            </a:p>
            <a:p>
              <a:pPr algn="ctr" defTabSz="444500">
                <a:lnSpc>
                  <a:spcPct val="90000"/>
                </a:lnSpc>
                <a:spcBef>
                  <a:spcPct val="0"/>
                </a:spcBef>
                <a:spcAft>
                  <a:spcPct val="35000"/>
                </a:spcAft>
              </a:pPr>
              <a:r>
                <a:rPr lang="en-GB" dirty="0">
                  <a:solidFill>
                    <a:srgbClr val="003087">
                      <a:hueOff val="0"/>
                      <a:satOff val="0"/>
                      <a:lumOff val="0"/>
                      <a:alphaOff val="0"/>
                    </a:srgbClr>
                  </a:solidFill>
                  <a:latin typeface="Frutiger Lt Std"/>
                </a:rPr>
                <a:t>the EXTRACT Layer</a:t>
              </a:r>
            </a:p>
          </p:txBody>
        </p:sp>
        <p:sp>
          <p:nvSpPr>
            <p:cNvPr id="38" name="Freeform: Shape 37">
              <a:extLst>
                <a:ext uri="{FF2B5EF4-FFF2-40B4-BE49-F238E27FC236}">
                  <a16:creationId xmlns:a16="http://schemas.microsoft.com/office/drawing/2014/main" id="{D4AC89F5-BA49-C8F3-5A2F-4BE033DF2311}"/>
                </a:ext>
              </a:extLst>
            </p:cNvPr>
            <p:cNvSpPr/>
            <p:nvPr/>
          </p:nvSpPr>
          <p:spPr>
            <a:xfrm>
              <a:off x="3671377" y="3770674"/>
              <a:ext cx="1176959" cy="1185603"/>
            </a:xfrm>
            <a:custGeom>
              <a:avLst/>
              <a:gdLst>
                <a:gd name="connsiteX0" fmla="*/ 0 w 1032240"/>
                <a:gd name="connsiteY0" fmla="*/ 516120 h 1032240"/>
                <a:gd name="connsiteX1" fmla="*/ 516120 w 1032240"/>
                <a:gd name="connsiteY1" fmla="*/ 0 h 1032240"/>
                <a:gd name="connsiteX2" fmla="*/ 1032240 w 1032240"/>
                <a:gd name="connsiteY2" fmla="*/ 516120 h 1032240"/>
                <a:gd name="connsiteX3" fmla="*/ 516120 w 1032240"/>
                <a:gd name="connsiteY3" fmla="*/ 1032240 h 1032240"/>
                <a:gd name="connsiteX4" fmla="*/ 0 w 1032240"/>
                <a:gd name="connsiteY4" fmla="*/ 516120 h 1032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240" h="1032240">
                  <a:moveTo>
                    <a:pt x="0" y="516120"/>
                  </a:moveTo>
                  <a:cubicBezTo>
                    <a:pt x="0" y="231075"/>
                    <a:pt x="231075" y="0"/>
                    <a:pt x="516120" y="0"/>
                  </a:cubicBezTo>
                  <a:cubicBezTo>
                    <a:pt x="801165" y="0"/>
                    <a:pt x="1032240" y="231075"/>
                    <a:pt x="1032240" y="516120"/>
                  </a:cubicBezTo>
                  <a:cubicBezTo>
                    <a:pt x="1032240" y="801165"/>
                    <a:pt x="801165" y="1032240"/>
                    <a:pt x="516120" y="1032240"/>
                  </a:cubicBezTo>
                  <a:cubicBezTo>
                    <a:pt x="231075" y="1032240"/>
                    <a:pt x="0" y="801165"/>
                    <a:pt x="0" y="516120"/>
                  </a:cubicBez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66408" tIns="166408" rIns="166408" bIns="166408" numCol="1" spcCol="1270" anchor="ctr" anchorCtr="0">
              <a:noAutofit/>
            </a:bodyPr>
            <a:lstStyle/>
            <a:p>
              <a:pPr algn="ctr" defTabSz="533400">
                <a:lnSpc>
                  <a:spcPct val="90000"/>
                </a:lnSpc>
                <a:spcBef>
                  <a:spcPct val="0"/>
                </a:spcBef>
                <a:spcAft>
                  <a:spcPct val="35000"/>
                </a:spcAft>
              </a:pPr>
              <a:r>
                <a:rPr lang="en-GB" sz="1200" dirty="0">
                  <a:solidFill>
                    <a:srgbClr val="FFFFFF"/>
                  </a:solidFill>
                  <a:latin typeface="Frutiger Lt Std"/>
                </a:rPr>
                <a:t>Connect to source every few minutes</a:t>
              </a:r>
            </a:p>
          </p:txBody>
        </p:sp>
        <p:sp>
          <p:nvSpPr>
            <p:cNvPr id="39" name="Shape 38">
              <a:extLst>
                <a:ext uri="{FF2B5EF4-FFF2-40B4-BE49-F238E27FC236}">
                  <a16:creationId xmlns:a16="http://schemas.microsoft.com/office/drawing/2014/main" id="{E8471F7E-0BE5-864C-83AC-019D1DD4F7A3}"/>
                </a:ext>
              </a:extLst>
            </p:cNvPr>
            <p:cNvSpPr/>
            <p:nvPr/>
          </p:nvSpPr>
          <p:spPr>
            <a:xfrm rot="16200000">
              <a:off x="3302722" y="3520277"/>
              <a:ext cx="2064481" cy="1651584"/>
            </a:xfrm>
            <a:prstGeom prst="funnel">
              <a:avLst/>
            </a:prstGeom>
            <a:solidFill>
              <a:schemeClr val="lt2">
                <a:hueOff val="0"/>
                <a:satOff val="0"/>
                <a:lumOff val="0"/>
                <a:alpha val="20000"/>
              </a:schemeClr>
            </a:solidFill>
            <a:ln>
              <a:solidFill>
                <a:schemeClr val="dk2">
                  <a:hueOff val="0"/>
                  <a:satOff val="0"/>
                  <a:lumOff val="0"/>
                  <a:alpha val="32000"/>
                </a:schemeClr>
              </a:solidFill>
            </a:ln>
          </p:spPr>
          <p:style>
            <a:lnRef idx="1">
              <a:schemeClr val="dk2">
                <a:hueOff val="0"/>
                <a:satOff val="0"/>
                <a:lumOff val="0"/>
                <a:alphaOff val="0"/>
              </a:schemeClr>
            </a:lnRef>
            <a:fillRef idx="1">
              <a:schemeClr val="lt2">
                <a:alpha val="40000"/>
                <a:hueOff val="0"/>
                <a:satOff val="0"/>
                <a:lumOff val="0"/>
                <a:alphaOff val="0"/>
              </a:schemeClr>
            </a:fillRef>
            <a:effectRef idx="0">
              <a:schemeClr val="lt2">
                <a:alpha val="40000"/>
                <a:hueOff val="0"/>
                <a:satOff val="0"/>
                <a:lumOff val="0"/>
                <a:alphaOff val="0"/>
              </a:schemeClr>
            </a:effectRef>
            <a:fontRef idx="minor">
              <a:schemeClr val="dk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grpSp>
      <p:sp>
        <p:nvSpPr>
          <p:cNvPr id="40" name="Freeform: Shape 39">
            <a:extLst>
              <a:ext uri="{FF2B5EF4-FFF2-40B4-BE49-F238E27FC236}">
                <a16:creationId xmlns:a16="http://schemas.microsoft.com/office/drawing/2014/main" id="{0EA35FC5-5C92-1096-127E-0A2BDD960177}"/>
              </a:ext>
            </a:extLst>
          </p:cNvPr>
          <p:cNvSpPr/>
          <p:nvPr/>
        </p:nvSpPr>
        <p:spPr>
          <a:xfrm>
            <a:off x="2358938" y="1685608"/>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tx2">
              <a:lumMod val="60000"/>
              <a:lumOff val="40000"/>
            </a:schemeClr>
          </a:solidFill>
          <a:effectLst>
            <a:glow rad="63500">
              <a:schemeClr val="accent6">
                <a:satMod val="175000"/>
                <a:alpha val="40000"/>
              </a:schemeClr>
            </a:glow>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Extraction Layer</a:t>
            </a:r>
          </a:p>
        </p:txBody>
      </p:sp>
      <p:sp>
        <p:nvSpPr>
          <p:cNvPr id="15" name="Freeform: Shape 14">
            <a:extLst>
              <a:ext uri="{FF2B5EF4-FFF2-40B4-BE49-F238E27FC236}">
                <a16:creationId xmlns:a16="http://schemas.microsoft.com/office/drawing/2014/main" id="{B46009E0-5EE0-4DC5-3681-CC84674AB0DE}"/>
              </a:ext>
            </a:extLst>
          </p:cNvPr>
          <p:cNvSpPr/>
          <p:nvPr/>
        </p:nvSpPr>
        <p:spPr>
          <a:xfrm>
            <a:off x="5488947" y="1685608"/>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Business Layer</a:t>
            </a:r>
          </a:p>
        </p:txBody>
      </p:sp>
      <p:sp>
        <p:nvSpPr>
          <p:cNvPr id="27" name="Arrow: Striped Right 26">
            <a:extLst>
              <a:ext uri="{FF2B5EF4-FFF2-40B4-BE49-F238E27FC236}">
                <a16:creationId xmlns:a16="http://schemas.microsoft.com/office/drawing/2014/main" id="{CAE2E1CD-02CC-CFEC-7E6B-6E2BD4B6DCC4}"/>
              </a:ext>
            </a:extLst>
          </p:cNvPr>
          <p:cNvSpPr/>
          <p:nvPr/>
        </p:nvSpPr>
        <p:spPr>
          <a:xfrm>
            <a:off x="-1771643" y="3520278"/>
            <a:ext cx="625383" cy="1237403"/>
          </a:xfrm>
          <a:prstGeom prst="stripedRightArrow">
            <a:avLst/>
          </a:prstGeom>
          <a:solidFill>
            <a:schemeClr val="bg2">
              <a:lumMod val="75000"/>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Frutiger Lt Std"/>
            </a:endParaRPr>
          </a:p>
        </p:txBody>
      </p:sp>
      <p:sp>
        <p:nvSpPr>
          <p:cNvPr id="29" name="Freeform: Shape 28">
            <a:extLst>
              <a:ext uri="{FF2B5EF4-FFF2-40B4-BE49-F238E27FC236}">
                <a16:creationId xmlns:a16="http://schemas.microsoft.com/office/drawing/2014/main" id="{22FA3148-B59A-27DA-D37D-FBCF2CD0430B}"/>
              </a:ext>
            </a:extLst>
          </p:cNvPr>
          <p:cNvSpPr/>
          <p:nvPr/>
        </p:nvSpPr>
        <p:spPr>
          <a:xfrm>
            <a:off x="1884431" y="3037746"/>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Maxims</a:t>
            </a:r>
          </a:p>
        </p:txBody>
      </p:sp>
      <p:sp>
        <p:nvSpPr>
          <p:cNvPr id="30" name="Rectangle: Rounded Corners 29">
            <a:extLst>
              <a:ext uri="{FF2B5EF4-FFF2-40B4-BE49-F238E27FC236}">
                <a16:creationId xmlns:a16="http://schemas.microsoft.com/office/drawing/2014/main" id="{3F19645A-27F0-A48E-F0C9-928275D7711D}"/>
              </a:ext>
            </a:extLst>
          </p:cNvPr>
          <p:cNvSpPr/>
          <p:nvPr/>
        </p:nvSpPr>
        <p:spPr>
          <a:xfrm>
            <a:off x="1936801" y="3062957"/>
            <a:ext cx="660818" cy="418975"/>
          </a:xfrm>
          <a:prstGeom prst="roundRect">
            <a:avLst>
              <a:gd name="adj" fmla="val 10000"/>
            </a:avLst>
          </a:prstGeom>
          <a:blipFill>
            <a:blip r:embed="rId4">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31" name="Freeform: Shape 30">
            <a:extLst>
              <a:ext uri="{FF2B5EF4-FFF2-40B4-BE49-F238E27FC236}">
                <a16:creationId xmlns:a16="http://schemas.microsoft.com/office/drawing/2014/main" id="{EE043AA8-4684-EF11-FB71-B5DABCC62E16}"/>
              </a:ext>
            </a:extLst>
          </p:cNvPr>
          <p:cNvSpPr/>
          <p:nvPr/>
        </p:nvSpPr>
        <p:spPr>
          <a:xfrm>
            <a:off x="1884431" y="3600257"/>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TrakCare</a:t>
            </a:r>
          </a:p>
        </p:txBody>
      </p:sp>
      <p:sp>
        <p:nvSpPr>
          <p:cNvPr id="32" name="Rectangle: Rounded Corners 31">
            <a:extLst>
              <a:ext uri="{FF2B5EF4-FFF2-40B4-BE49-F238E27FC236}">
                <a16:creationId xmlns:a16="http://schemas.microsoft.com/office/drawing/2014/main" id="{B7FCF81D-22CF-D478-DA8F-2F044B29812A}"/>
              </a:ext>
            </a:extLst>
          </p:cNvPr>
          <p:cNvSpPr/>
          <p:nvPr/>
        </p:nvSpPr>
        <p:spPr>
          <a:xfrm>
            <a:off x="1936801" y="3639049"/>
            <a:ext cx="660818" cy="418975"/>
          </a:xfrm>
          <a:prstGeom prst="roundRect">
            <a:avLst>
              <a:gd name="adj" fmla="val 10000"/>
            </a:avLst>
          </a:prstGeom>
          <a:blipFill>
            <a:blip r:embed="rId5">
              <a:extLst>
                <a:ext uri="{28A0092B-C50C-407E-A947-70E740481C1C}">
                  <a14:useLocalDpi xmlns:a14="http://schemas.microsoft.com/office/drawing/2010/main" val="0"/>
                </a:ext>
              </a:extLst>
            </a:blip>
            <a:srcRect/>
            <a:stretch>
              <a:fillRect l="-45000" r="-45000"/>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33" name="Freeform: Shape 32">
            <a:extLst>
              <a:ext uri="{FF2B5EF4-FFF2-40B4-BE49-F238E27FC236}">
                <a16:creationId xmlns:a16="http://schemas.microsoft.com/office/drawing/2014/main" id="{0679B67A-AC79-C824-3F0A-07A8DFC29F6A}"/>
              </a:ext>
            </a:extLst>
          </p:cNvPr>
          <p:cNvSpPr/>
          <p:nvPr/>
        </p:nvSpPr>
        <p:spPr>
          <a:xfrm>
            <a:off x="1884431" y="4162768"/>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Oceano</a:t>
            </a:r>
          </a:p>
        </p:txBody>
      </p:sp>
      <p:sp>
        <p:nvSpPr>
          <p:cNvPr id="41" name="Rectangle: Rounded Corners 40">
            <a:extLst>
              <a:ext uri="{FF2B5EF4-FFF2-40B4-BE49-F238E27FC236}">
                <a16:creationId xmlns:a16="http://schemas.microsoft.com/office/drawing/2014/main" id="{90B33FD1-035E-3144-A9B2-BA88D669E68A}"/>
              </a:ext>
            </a:extLst>
          </p:cNvPr>
          <p:cNvSpPr/>
          <p:nvPr/>
        </p:nvSpPr>
        <p:spPr>
          <a:xfrm>
            <a:off x="1936801" y="4215140"/>
            <a:ext cx="660818" cy="418975"/>
          </a:xfrm>
          <a:prstGeom prst="roundRect">
            <a:avLst>
              <a:gd name="adj" fmla="val 10000"/>
            </a:avLst>
          </a:prstGeom>
          <a:blipFill>
            <a:blip r:embed="rId6">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Tree>
    <p:extLst>
      <p:ext uri="{BB962C8B-B14F-4D97-AF65-F5344CB8AC3E}">
        <p14:creationId xmlns:p14="http://schemas.microsoft.com/office/powerpoint/2010/main" val="3713038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dirty="0"/>
              <a:t>Design Overview</a:t>
            </a:r>
            <a:endParaRPr lang="en-GB" sz="2000" dirty="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dirty="0"/>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4621042" y="1615446"/>
            <a:ext cx="4054986" cy="256898"/>
          </a:xfrm>
        </p:spPr>
        <p:txBody>
          <a:bodyPr/>
          <a:lstStyle/>
          <a:p>
            <a:r>
              <a:rPr lang="en-GB" dirty="0"/>
              <a:t>Warehouse in practice </a:t>
            </a:r>
          </a:p>
        </p:txBody>
      </p:sp>
      <p:sp>
        <p:nvSpPr>
          <p:cNvPr id="14" name="Freeform: Shape 13">
            <a:extLst>
              <a:ext uri="{FF2B5EF4-FFF2-40B4-BE49-F238E27FC236}">
                <a16:creationId xmlns:a16="http://schemas.microsoft.com/office/drawing/2014/main" id="{0E73D117-727B-1EAB-A207-E520CB3D220D}"/>
              </a:ext>
            </a:extLst>
          </p:cNvPr>
          <p:cNvSpPr/>
          <p:nvPr/>
        </p:nvSpPr>
        <p:spPr>
          <a:xfrm>
            <a:off x="2398731" y="1685608"/>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Extraction Layer</a:t>
            </a:r>
          </a:p>
        </p:txBody>
      </p:sp>
      <p:sp>
        <p:nvSpPr>
          <p:cNvPr id="15" name="Freeform: Shape 14">
            <a:extLst>
              <a:ext uri="{FF2B5EF4-FFF2-40B4-BE49-F238E27FC236}">
                <a16:creationId xmlns:a16="http://schemas.microsoft.com/office/drawing/2014/main" id="{B46009E0-5EE0-4DC5-3681-CC84674AB0DE}"/>
              </a:ext>
            </a:extLst>
          </p:cNvPr>
          <p:cNvSpPr/>
          <p:nvPr/>
        </p:nvSpPr>
        <p:spPr>
          <a:xfrm>
            <a:off x="5488947" y="1685608"/>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tx2">
              <a:lumMod val="60000"/>
              <a:lumOff val="40000"/>
            </a:schemeClr>
          </a:solidFill>
          <a:effectLst>
            <a:glow rad="63500">
              <a:schemeClr val="accent6">
                <a:satMod val="175000"/>
                <a:alpha val="40000"/>
              </a:schemeClr>
            </a:glow>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a:solidFill>
                  <a:srgbClr val="FFFFFF"/>
                </a:solidFill>
                <a:latin typeface="Frutiger Lt Std"/>
              </a:rPr>
              <a:t>Business Layer</a:t>
            </a:r>
          </a:p>
        </p:txBody>
      </p:sp>
      <p:sp>
        <p:nvSpPr>
          <p:cNvPr id="16" name="Freeform: Shape 15">
            <a:extLst>
              <a:ext uri="{FF2B5EF4-FFF2-40B4-BE49-F238E27FC236}">
                <a16:creationId xmlns:a16="http://schemas.microsoft.com/office/drawing/2014/main" id="{51985D98-FAFC-AD58-B4E8-18F0F164800F}"/>
              </a:ext>
            </a:extLst>
          </p:cNvPr>
          <p:cNvSpPr/>
          <p:nvPr/>
        </p:nvSpPr>
        <p:spPr>
          <a:xfrm>
            <a:off x="8618956" y="1685608"/>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Presentation Layer</a:t>
            </a:r>
          </a:p>
        </p:txBody>
      </p:sp>
      <p:sp>
        <p:nvSpPr>
          <p:cNvPr id="13" name="Freeform: Shape 12">
            <a:extLst>
              <a:ext uri="{FF2B5EF4-FFF2-40B4-BE49-F238E27FC236}">
                <a16:creationId xmlns:a16="http://schemas.microsoft.com/office/drawing/2014/main" id="{6A63E853-14E8-70B3-C85E-974EEA96B9C6}"/>
              </a:ext>
            </a:extLst>
          </p:cNvPr>
          <p:cNvSpPr/>
          <p:nvPr/>
        </p:nvSpPr>
        <p:spPr>
          <a:xfrm>
            <a:off x="2398730" y="2776444"/>
            <a:ext cx="1349721" cy="3213701"/>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Extraction</a:t>
            </a:r>
          </a:p>
        </p:txBody>
      </p:sp>
      <p:sp>
        <p:nvSpPr>
          <p:cNvPr id="22" name="Rectangle 21">
            <a:extLst>
              <a:ext uri="{FF2B5EF4-FFF2-40B4-BE49-F238E27FC236}">
                <a16:creationId xmlns:a16="http://schemas.microsoft.com/office/drawing/2014/main" id="{2A2642B4-7E52-69CC-E083-55CAA0F5C837}"/>
              </a:ext>
            </a:extLst>
          </p:cNvPr>
          <p:cNvSpPr/>
          <p:nvPr/>
        </p:nvSpPr>
        <p:spPr>
          <a:xfrm>
            <a:off x="7080067" y="3029303"/>
            <a:ext cx="100907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27" name="Rectangle 26">
            <a:extLst>
              <a:ext uri="{FF2B5EF4-FFF2-40B4-BE49-F238E27FC236}">
                <a16:creationId xmlns:a16="http://schemas.microsoft.com/office/drawing/2014/main" id="{279177DE-A4AA-AC4C-860A-F5E7F7DE7BC6}"/>
              </a:ext>
            </a:extLst>
          </p:cNvPr>
          <p:cNvSpPr/>
          <p:nvPr/>
        </p:nvSpPr>
        <p:spPr>
          <a:xfrm>
            <a:off x="4834055" y="3796781"/>
            <a:ext cx="97652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35" name="Rectangle 34">
            <a:extLst>
              <a:ext uri="{FF2B5EF4-FFF2-40B4-BE49-F238E27FC236}">
                <a16:creationId xmlns:a16="http://schemas.microsoft.com/office/drawing/2014/main" id="{DCA88599-5D67-B733-2126-541ED25FB47C}"/>
              </a:ext>
            </a:extLst>
          </p:cNvPr>
          <p:cNvSpPr/>
          <p:nvPr/>
        </p:nvSpPr>
        <p:spPr>
          <a:xfrm>
            <a:off x="7080067" y="4564258"/>
            <a:ext cx="100907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38" name="Rectangle 37">
            <a:extLst>
              <a:ext uri="{FF2B5EF4-FFF2-40B4-BE49-F238E27FC236}">
                <a16:creationId xmlns:a16="http://schemas.microsoft.com/office/drawing/2014/main" id="{759AE7B1-DE77-D659-C1B4-77828AD207F9}"/>
              </a:ext>
            </a:extLst>
          </p:cNvPr>
          <p:cNvSpPr/>
          <p:nvPr/>
        </p:nvSpPr>
        <p:spPr>
          <a:xfrm>
            <a:off x="4834055" y="5331736"/>
            <a:ext cx="97652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grpSp>
        <p:nvGrpSpPr>
          <p:cNvPr id="40" name="Group 39">
            <a:extLst>
              <a:ext uri="{FF2B5EF4-FFF2-40B4-BE49-F238E27FC236}">
                <a16:creationId xmlns:a16="http://schemas.microsoft.com/office/drawing/2014/main" id="{93831D32-936F-D2A9-9424-1EA6F4F158A1}"/>
              </a:ext>
            </a:extLst>
          </p:cNvPr>
          <p:cNvGrpSpPr/>
          <p:nvPr/>
        </p:nvGrpSpPr>
        <p:grpSpPr>
          <a:xfrm>
            <a:off x="4200364" y="2560379"/>
            <a:ext cx="4227997" cy="3636437"/>
            <a:chOff x="2676363" y="2560378"/>
            <a:chExt cx="4227997" cy="3636437"/>
          </a:xfrm>
        </p:grpSpPr>
        <p:sp>
          <p:nvSpPr>
            <p:cNvPr id="21" name="Freeform: Shape 20">
              <a:extLst>
                <a:ext uri="{FF2B5EF4-FFF2-40B4-BE49-F238E27FC236}">
                  <a16:creationId xmlns:a16="http://schemas.microsoft.com/office/drawing/2014/main" id="{E20B649A-7A4E-FEC2-FF40-3E6FB1CD2316}"/>
                </a:ext>
              </a:extLst>
            </p:cNvPr>
            <p:cNvSpPr/>
            <p:nvPr/>
          </p:nvSpPr>
          <p:spPr>
            <a:xfrm>
              <a:off x="3220527" y="3554173"/>
              <a:ext cx="1348294" cy="1394590"/>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a:solidFill>
                    <a:srgbClr val="FFFFFF"/>
                  </a:solidFill>
                  <a:latin typeface="Frutiger Lt Std"/>
                </a:rPr>
                <a:t>Facts</a:t>
              </a:r>
            </a:p>
          </p:txBody>
        </p:sp>
        <p:sp>
          <p:nvSpPr>
            <p:cNvPr id="23" name="Freeform: Shape 22">
              <a:extLst>
                <a:ext uri="{FF2B5EF4-FFF2-40B4-BE49-F238E27FC236}">
                  <a16:creationId xmlns:a16="http://schemas.microsoft.com/office/drawing/2014/main" id="{73F08D65-4D7B-ACD2-E7C0-88CC407454E8}"/>
                </a:ext>
              </a:extLst>
            </p:cNvPr>
            <p:cNvSpPr/>
            <p:nvPr/>
          </p:nvSpPr>
          <p:spPr>
            <a:xfrm>
              <a:off x="3141534" y="2560378"/>
              <a:ext cx="678861" cy="755677"/>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50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26" name="Freeform: Shape 25">
              <a:extLst>
                <a:ext uri="{FF2B5EF4-FFF2-40B4-BE49-F238E27FC236}">
                  <a16:creationId xmlns:a16="http://schemas.microsoft.com/office/drawing/2014/main" id="{1518C228-98EE-A77C-6E5A-20C8C4B82E07}"/>
                </a:ext>
              </a:extLst>
            </p:cNvPr>
            <p:cNvSpPr/>
            <p:nvPr/>
          </p:nvSpPr>
          <p:spPr>
            <a:xfrm>
              <a:off x="4438124" y="2603264"/>
              <a:ext cx="1349721" cy="1394590"/>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a:solidFill>
                    <a:srgbClr val="FFFFFF"/>
                  </a:solidFill>
                  <a:latin typeface="Frutiger Lt Std"/>
                </a:rPr>
                <a:t>Dimensions</a:t>
              </a:r>
            </a:p>
          </p:txBody>
        </p:sp>
        <p:sp>
          <p:nvSpPr>
            <p:cNvPr id="28" name="Freeform: Shape 27">
              <a:extLst>
                <a:ext uri="{FF2B5EF4-FFF2-40B4-BE49-F238E27FC236}">
                  <a16:creationId xmlns:a16="http://schemas.microsoft.com/office/drawing/2014/main" id="{9B7BECF3-DC1B-B54D-FDA4-5759F5F0E828}"/>
                </a:ext>
              </a:extLst>
            </p:cNvPr>
            <p:cNvSpPr/>
            <p:nvPr/>
          </p:nvSpPr>
          <p:spPr>
            <a:xfrm>
              <a:off x="6024582" y="3029302"/>
              <a:ext cx="879778" cy="1014380"/>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50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34" name="Freeform: Shape 33">
              <a:extLst>
                <a:ext uri="{FF2B5EF4-FFF2-40B4-BE49-F238E27FC236}">
                  <a16:creationId xmlns:a16="http://schemas.microsoft.com/office/drawing/2014/main" id="{FE808C74-0DF5-9092-D355-1DF7780D2830}"/>
                </a:ext>
              </a:extLst>
            </p:cNvPr>
            <p:cNvSpPr/>
            <p:nvPr/>
          </p:nvSpPr>
          <p:spPr>
            <a:xfrm>
              <a:off x="3898937" y="4874935"/>
              <a:ext cx="1257309" cy="1237403"/>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rgbClr val="006747"/>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a:solidFill>
                    <a:srgbClr val="FFFFFF"/>
                  </a:solidFill>
                  <a:latin typeface="Frutiger Lt Std"/>
                </a:rPr>
                <a:t>Attributes</a:t>
              </a:r>
            </a:p>
          </p:txBody>
        </p:sp>
        <p:sp>
          <p:nvSpPr>
            <p:cNvPr id="36" name="Freeform: Shape 35">
              <a:extLst>
                <a:ext uri="{FF2B5EF4-FFF2-40B4-BE49-F238E27FC236}">
                  <a16:creationId xmlns:a16="http://schemas.microsoft.com/office/drawing/2014/main" id="{91877E39-199C-0996-8063-9507E596C066}"/>
                </a:ext>
              </a:extLst>
            </p:cNvPr>
            <p:cNvSpPr/>
            <p:nvPr/>
          </p:nvSpPr>
          <p:spPr>
            <a:xfrm>
              <a:off x="2676363" y="4840527"/>
              <a:ext cx="870054" cy="997352"/>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50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37" name="Freeform: Shape 36">
              <a:extLst>
                <a:ext uri="{FF2B5EF4-FFF2-40B4-BE49-F238E27FC236}">
                  <a16:creationId xmlns:a16="http://schemas.microsoft.com/office/drawing/2014/main" id="{92F5BBB7-62AD-6D41-A911-429D1315FBAE}"/>
                </a:ext>
              </a:extLst>
            </p:cNvPr>
            <p:cNvSpPr/>
            <p:nvPr/>
          </p:nvSpPr>
          <p:spPr>
            <a:xfrm>
              <a:off x="5018842" y="3871544"/>
              <a:ext cx="1417536" cy="1365044"/>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rgbClr val="006747"/>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dirty="0">
                  <a:solidFill>
                    <a:srgbClr val="FFFFFF"/>
                  </a:solidFill>
                  <a:latin typeface="Frutiger Lt Std"/>
                </a:rPr>
                <a:t>Calculations</a:t>
              </a:r>
            </a:p>
          </p:txBody>
        </p:sp>
        <p:sp>
          <p:nvSpPr>
            <p:cNvPr id="39" name="Freeform: Shape 38">
              <a:extLst>
                <a:ext uri="{FF2B5EF4-FFF2-40B4-BE49-F238E27FC236}">
                  <a16:creationId xmlns:a16="http://schemas.microsoft.com/office/drawing/2014/main" id="{E35F1AFC-88B9-CD5A-1CF8-815392C6DBD7}"/>
                </a:ext>
              </a:extLst>
            </p:cNvPr>
            <p:cNvSpPr/>
            <p:nvPr/>
          </p:nvSpPr>
          <p:spPr>
            <a:xfrm>
              <a:off x="5581988" y="5171617"/>
              <a:ext cx="1009077" cy="1025198"/>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50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grpSp>
      <p:sp>
        <p:nvSpPr>
          <p:cNvPr id="41" name="Arrow: Striped Right 40">
            <a:extLst>
              <a:ext uri="{FF2B5EF4-FFF2-40B4-BE49-F238E27FC236}">
                <a16:creationId xmlns:a16="http://schemas.microsoft.com/office/drawing/2014/main" id="{E00B69B6-75E6-83FF-CB7D-98AC00393ED3}"/>
              </a:ext>
            </a:extLst>
          </p:cNvPr>
          <p:cNvSpPr/>
          <p:nvPr/>
        </p:nvSpPr>
        <p:spPr>
          <a:xfrm>
            <a:off x="3859902" y="3536076"/>
            <a:ext cx="625383" cy="1237403"/>
          </a:xfrm>
          <a:prstGeom prst="stripedRight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Frutiger Lt Std"/>
            </a:endParaRPr>
          </a:p>
        </p:txBody>
      </p:sp>
      <p:sp>
        <p:nvSpPr>
          <p:cNvPr id="51" name="Freeform: Shape 50">
            <a:extLst>
              <a:ext uri="{FF2B5EF4-FFF2-40B4-BE49-F238E27FC236}">
                <a16:creationId xmlns:a16="http://schemas.microsoft.com/office/drawing/2014/main" id="{63CFCE0F-7F0D-F3BB-1313-0E9019715297}"/>
              </a:ext>
            </a:extLst>
          </p:cNvPr>
          <p:cNvSpPr/>
          <p:nvPr/>
        </p:nvSpPr>
        <p:spPr>
          <a:xfrm>
            <a:off x="1634145" y="8841506"/>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Maxims</a:t>
            </a:r>
          </a:p>
        </p:txBody>
      </p:sp>
      <p:sp>
        <p:nvSpPr>
          <p:cNvPr id="52" name="Rectangle: Rounded Corners 51">
            <a:extLst>
              <a:ext uri="{FF2B5EF4-FFF2-40B4-BE49-F238E27FC236}">
                <a16:creationId xmlns:a16="http://schemas.microsoft.com/office/drawing/2014/main" id="{53A1BC61-3D1A-9DA3-BB60-CB28C3C72346}"/>
              </a:ext>
            </a:extLst>
          </p:cNvPr>
          <p:cNvSpPr/>
          <p:nvPr/>
        </p:nvSpPr>
        <p:spPr>
          <a:xfrm>
            <a:off x="1634144" y="8893877"/>
            <a:ext cx="660818" cy="418975"/>
          </a:xfrm>
          <a:prstGeom prst="roundRect">
            <a:avLst>
              <a:gd name="adj" fmla="val 10000"/>
            </a:avLst>
          </a:prstGeom>
          <a:blipFill>
            <a:blip r:embed="rId4">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53" name="Freeform: Shape 52">
            <a:extLst>
              <a:ext uri="{FF2B5EF4-FFF2-40B4-BE49-F238E27FC236}">
                <a16:creationId xmlns:a16="http://schemas.microsoft.com/office/drawing/2014/main" id="{B5BE77F1-96CB-D234-FAB1-B389CC9296AD}"/>
              </a:ext>
            </a:extLst>
          </p:cNvPr>
          <p:cNvSpPr/>
          <p:nvPr/>
        </p:nvSpPr>
        <p:spPr>
          <a:xfrm>
            <a:off x="1700874" y="11171291"/>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TrakCare</a:t>
            </a:r>
          </a:p>
        </p:txBody>
      </p:sp>
      <p:sp>
        <p:nvSpPr>
          <p:cNvPr id="54" name="Rectangle: Rounded Corners 53">
            <a:extLst>
              <a:ext uri="{FF2B5EF4-FFF2-40B4-BE49-F238E27FC236}">
                <a16:creationId xmlns:a16="http://schemas.microsoft.com/office/drawing/2014/main" id="{195A3BE0-C92F-E1BE-3823-4E47FEE03AE2}"/>
              </a:ext>
            </a:extLst>
          </p:cNvPr>
          <p:cNvSpPr/>
          <p:nvPr/>
        </p:nvSpPr>
        <p:spPr>
          <a:xfrm>
            <a:off x="1810098" y="11233379"/>
            <a:ext cx="660818" cy="418975"/>
          </a:xfrm>
          <a:prstGeom prst="roundRect">
            <a:avLst>
              <a:gd name="adj" fmla="val 10000"/>
            </a:avLst>
          </a:prstGeom>
          <a:blipFill>
            <a:blip r:embed="rId5">
              <a:extLst>
                <a:ext uri="{28A0092B-C50C-407E-A947-70E740481C1C}">
                  <a14:useLocalDpi xmlns:a14="http://schemas.microsoft.com/office/drawing/2010/main" val="0"/>
                </a:ext>
              </a:extLst>
            </a:blip>
            <a:srcRect/>
            <a:stretch>
              <a:fillRect l="-45000" r="-45000"/>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sp>
        <p:nvSpPr>
          <p:cNvPr id="55" name="Freeform: Shape 54">
            <a:extLst>
              <a:ext uri="{FF2B5EF4-FFF2-40B4-BE49-F238E27FC236}">
                <a16:creationId xmlns:a16="http://schemas.microsoft.com/office/drawing/2014/main" id="{84B7D767-A329-5DC4-1003-FAB1D5372F16}"/>
              </a:ext>
            </a:extLst>
          </p:cNvPr>
          <p:cNvSpPr/>
          <p:nvPr/>
        </p:nvSpPr>
        <p:spPr>
          <a:xfrm>
            <a:off x="1757728" y="12912204"/>
            <a:ext cx="3304091" cy="523719"/>
          </a:xfrm>
          <a:custGeom>
            <a:avLst/>
            <a:gdLst>
              <a:gd name="connsiteX0" fmla="*/ 0 w 3304091"/>
              <a:gd name="connsiteY0" fmla="*/ 52372 h 523719"/>
              <a:gd name="connsiteX1" fmla="*/ 52372 w 3304091"/>
              <a:gd name="connsiteY1" fmla="*/ 0 h 523719"/>
              <a:gd name="connsiteX2" fmla="*/ 3251719 w 3304091"/>
              <a:gd name="connsiteY2" fmla="*/ 0 h 523719"/>
              <a:gd name="connsiteX3" fmla="*/ 3304091 w 3304091"/>
              <a:gd name="connsiteY3" fmla="*/ 52372 h 523719"/>
              <a:gd name="connsiteX4" fmla="*/ 3304091 w 3304091"/>
              <a:gd name="connsiteY4" fmla="*/ 471347 h 523719"/>
              <a:gd name="connsiteX5" fmla="*/ 3251719 w 3304091"/>
              <a:gd name="connsiteY5" fmla="*/ 523719 h 523719"/>
              <a:gd name="connsiteX6" fmla="*/ 52372 w 3304091"/>
              <a:gd name="connsiteY6" fmla="*/ 523719 h 523719"/>
              <a:gd name="connsiteX7" fmla="*/ 0 w 3304091"/>
              <a:gd name="connsiteY7" fmla="*/ 471347 h 523719"/>
              <a:gd name="connsiteX8" fmla="*/ 0 w 3304091"/>
              <a:gd name="connsiteY8" fmla="*/ 52372 h 52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4091" h="523719">
                <a:moveTo>
                  <a:pt x="0" y="52372"/>
                </a:moveTo>
                <a:cubicBezTo>
                  <a:pt x="0" y="23448"/>
                  <a:pt x="23448" y="0"/>
                  <a:pt x="52372" y="0"/>
                </a:cubicBezTo>
                <a:lnTo>
                  <a:pt x="3251719" y="0"/>
                </a:lnTo>
                <a:cubicBezTo>
                  <a:pt x="3280643" y="0"/>
                  <a:pt x="3304091" y="23448"/>
                  <a:pt x="3304091" y="52372"/>
                </a:cubicBezTo>
                <a:lnTo>
                  <a:pt x="3304091" y="471347"/>
                </a:lnTo>
                <a:cubicBezTo>
                  <a:pt x="3304091" y="500271"/>
                  <a:pt x="3280643" y="523719"/>
                  <a:pt x="3251719" y="523719"/>
                </a:cubicBezTo>
                <a:lnTo>
                  <a:pt x="52372" y="523719"/>
                </a:lnTo>
                <a:cubicBezTo>
                  <a:pt x="23448" y="523719"/>
                  <a:pt x="0" y="500271"/>
                  <a:pt x="0" y="471347"/>
                </a:cubicBezTo>
                <a:lnTo>
                  <a:pt x="0" y="52372"/>
                </a:ln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04630" tIns="91440" rIns="91441" bIns="91440" numCol="1" spcCol="1270" anchor="ctr" anchorCtr="0">
            <a:noAutofit/>
          </a:bodyPr>
          <a:lstStyle/>
          <a:p>
            <a:pPr defTabSz="1066800">
              <a:lnSpc>
                <a:spcPct val="90000"/>
              </a:lnSpc>
              <a:spcBef>
                <a:spcPct val="0"/>
              </a:spcBef>
              <a:spcAft>
                <a:spcPct val="35000"/>
              </a:spcAft>
            </a:pPr>
            <a:r>
              <a:rPr lang="en-GB" sz="2400">
                <a:solidFill>
                  <a:srgbClr val="FFFFFF"/>
                </a:solidFill>
                <a:latin typeface="Frutiger Lt Std"/>
              </a:rPr>
              <a:t>Oceano</a:t>
            </a:r>
          </a:p>
        </p:txBody>
      </p:sp>
      <p:sp>
        <p:nvSpPr>
          <p:cNvPr id="56" name="Rectangle: Rounded Corners 55">
            <a:extLst>
              <a:ext uri="{FF2B5EF4-FFF2-40B4-BE49-F238E27FC236}">
                <a16:creationId xmlns:a16="http://schemas.microsoft.com/office/drawing/2014/main" id="{5577F2E5-7183-153C-3541-D6FDCD898432}"/>
              </a:ext>
            </a:extLst>
          </p:cNvPr>
          <p:cNvSpPr/>
          <p:nvPr/>
        </p:nvSpPr>
        <p:spPr>
          <a:xfrm>
            <a:off x="1810098" y="12912204"/>
            <a:ext cx="660818" cy="418975"/>
          </a:xfrm>
          <a:prstGeom prst="roundRect">
            <a:avLst>
              <a:gd name="adj" fmla="val 10000"/>
            </a:avLst>
          </a:prstGeom>
          <a:blipFill>
            <a:blip r:embed="rId6">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en-GB">
              <a:solidFill>
                <a:srgbClr val="41B6E6">
                  <a:hueOff val="0"/>
                  <a:satOff val="0"/>
                  <a:lumOff val="0"/>
                  <a:alphaOff val="0"/>
                </a:srgbClr>
              </a:solidFill>
              <a:latin typeface="Frutiger Lt Std"/>
            </a:endParaRPr>
          </a:p>
        </p:txBody>
      </p:sp>
      <p:grpSp>
        <p:nvGrpSpPr>
          <p:cNvPr id="57" name="Group 56">
            <a:extLst>
              <a:ext uri="{FF2B5EF4-FFF2-40B4-BE49-F238E27FC236}">
                <a16:creationId xmlns:a16="http://schemas.microsoft.com/office/drawing/2014/main" id="{EE19857D-4E3C-0015-F1DF-95983E8E0672}"/>
              </a:ext>
            </a:extLst>
          </p:cNvPr>
          <p:cNvGrpSpPr/>
          <p:nvPr/>
        </p:nvGrpSpPr>
        <p:grpSpPr>
          <a:xfrm>
            <a:off x="14030210" y="2839597"/>
            <a:ext cx="5324892" cy="2064481"/>
            <a:chOff x="3509171" y="3313828"/>
            <a:chExt cx="5324892" cy="2064481"/>
          </a:xfrm>
        </p:grpSpPr>
        <p:sp>
          <p:nvSpPr>
            <p:cNvPr id="58" name="Oval 57">
              <a:extLst>
                <a:ext uri="{FF2B5EF4-FFF2-40B4-BE49-F238E27FC236}">
                  <a16:creationId xmlns:a16="http://schemas.microsoft.com/office/drawing/2014/main" id="{D2BE4C8F-D3A0-E352-66AC-4D9C45AE3D62}"/>
                </a:ext>
              </a:extLst>
            </p:cNvPr>
            <p:cNvSpPr/>
            <p:nvPr/>
          </p:nvSpPr>
          <p:spPr>
            <a:xfrm rot="16200000">
              <a:off x="2978405" y="4012628"/>
              <a:ext cx="1902271" cy="660633"/>
            </a:xfrm>
            <a:prstGeom prst="ellipse">
              <a:avLst/>
            </a:prstGeom>
          </p:spPr>
          <p:style>
            <a:lnRef idx="0">
              <a:schemeClr val="dk2">
                <a:hueOff val="0"/>
                <a:satOff val="0"/>
                <a:lumOff val="0"/>
                <a:alphaOff val="0"/>
              </a:schemeClr>
            </a:lnRef>
            <a:fillRef idx="1">
              <a:schemeClr val="dk2">
                <a:tint val="50000"/>
                <a:alpha val="40000"/>
                <a:hueOff val="0"/>
                <a:satOff val="0"/>
                <a:lumOff val="0"/>
                <a:alphaOff val="0"/>
              </a:schemeClr>
            </a:fillRef>
            <a:effectRef idx="0">
              <a:schemeClr val="dk2">
                <a:tint val="50000"/>
                <a:alpha val="4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sp>
          <p:nvSpPr>
            <p:cNvPr id="59" name="Arrow: Down 58">
              <a:extLst>
                <a:ext uri="{FF2B5EF4-FFF2-40B4-BE49-F238E27FC236}">
                  <a16:creationId xmlns:a16="http://schemas.microsoft.com/office/drawing/2014/main" id="{24D27266-26A9-1C1C-B6BE-93E9249FB926}"/>
                </a:ext>
              </a:extLst>
            </p:cNvPr>
            <p:cNvSpPr/>
            <p:nvPr/>
          </p:nvSpPr>
          <p:spPr>
            <a:xfrm rot="16200000">
              <a:off x="5417222" y="4224974"/>
              <a:ext cx="368657" cy="235940"/>
            </a:xfrm>
            <a:prstGeom prst="downArrow">
              <a:avLst/>
            </a:prstGeom>
          </p:spPr>
          <p:style>
            <a:lnRef idx="2">
              <a:schemeClr val="lt2">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dk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60" name="Freeform: Shape 59">
              <a:extLst>
                <a:ext uri="{FF2B5EF4-FFF2-40B4-BE49-F238E27FC236}">
                  <a16:creationId xmlns:a16="http://schemas.microsoft.com/office/drawing/2014/main" id="{3D68F05F-A5D7-C62E-4686-F090404D28CF}"/>
                </a:ext>
              </a:extLst>
            </p:cNvPr>
            <p:cNvSpPr/>
            <p:nvPr/>
          </p:nvSpPr>
          <p:spPr>
            <a:xfrm>
              <a:off x="4927461" y="3931761"/>
              <a:ext cx="3906602" cy="863431"/>
            </a:xfrm>
            <a:custGeom>
              <a:avLst/>
              <a:gdLst>
                <a:gd name="connsiteX0" fmla="*/ 0 w 1769555"/>
                <a:gd name="connsiteY0" fmla="*/ 0 h 442388"/>
                <a:gd name="connsiteX1" fmla="*/ 1769555 w 1769555"/>
                <a:gd name="connsiteY1" fmla="*/ 0 h 442388"/>
                <a:gd name="connsiteX2" fmla="*/ 1769555 w 1769555"/>
                <a:gd name="connsiteY2" fmla="*/ 442388 h 442388"/>
                <a:gd name="connsiteX3" fmla="*/ 0 w 1769555"/>
                <a:gd name="connsiteY3" fmla="*/ 442388 h 442388"/>
                <a:gd name="connsiteX4" fmla="*/ 0 w 1769555"/>
                <a:gd name="connsiteY4" fmla="*/ 0 h 44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555" h="442388">
                  <a:moveTo>
                    <a:pt x="0" y="0"/>
                  </a:moveTo>
                  <a:lnTo>
                    <a:pt x="1769555" y="0"/>
                  </a:lnTo>
                  <a:lnTo>
                    <a:pt x="1769555" y="442388"/>
                  </a:lnTo>
                  <a:lnTo>
                    <a:pt x="0" y="442388"/>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71120" tIns="71120" rIns="71120" bIns="71120" numCol="1" spcCol="1270" anchor="ctr" anchorCtr="0">
              <a:noAutofit/>
            </a:bodyPr>
            <a:lstStyle/>
            <a:p>
              <a:pPr algn="ctr" defTabSz="444500">
                <a:lnSpc>
                  <a:spcPct val="90000"/>
                </a:lnSpc>
                <a:spcBef>
                  <a:spcPct val="0"/>
                </a:spcBef>
                <a:spcAft>
                  <a:spcPct val="35000"/>
                </a:spcAft>
              </a:pPr>
              <a:r>
                <a:rPr lang="en-GB" dirty="0">
                  <a:solidFill>
                    <a:srgbClr val="003087">
                      <a:hueOff val="0"/>
                      <a:satOff val="0"/>
                      <a:lumOff val="0"/>
                      <a:alphaOff val="0"/>
                    </a:srgbClr>
                  </a:solidFill>
                  <a:latin typeface="Frutiger Lt Std"/>
                </a:rPr>
                <a:t>Pull Net Changes to </a:t>
              </a:r>
            </a:p>
            <a:p>
              <a:pPr algn="ctr" defTabSz="444500">
                <a:lnSpc>
                  <a:spcPct val="90000"/>
                </a:lnSpc>
                <a:spcBef>
                  <a:spcPct val="0"/>
                </a:spcBef>
                <a:spcAft>
                  <a:spcPct val="35000"/>
                </a:spcAft>
              </a:pPr>
              <a:r>
                <a:rPr lang="en-GB" dirty="0">
                  <a:solidFill>
                    <a:srgbClr val="003087">
                      <a:hueOff val="0"/>
                      <a:satOff val="0"/>
                      <a:lumOff val="0"/>
                      <a:alphaOff val="0"/>
                    </a:srgbClr>
                  </a:solidFill>
                  <a:latin typeface="Frutiger Lt Std"/>
                </a:rPr>
                <a:t>the EXTRACT Layer</a:t>
              </a:r>
            </a:p>
          </p:txBody>
        </p:sp>
        <p:sp>
          <p:nvSpPr>
            <p:cNvPr id="61" name="Freeform: Shape 60">
              <a:extLst>
                <a:ext uri="{FF2B5EF4-FFF2-40B4-BE49-F238E27FC236}">
                  <a16:creationId xmlns:a16="http://schemas.microsoft.com/office/drawing/2014/main" id="{1D84C61D-C171-0FC5-1ADE-9C82984031BB}"/>
                </a:ext>
              </a:extLst>
            </p:cNvPr>
            <p:cNvSpPr/>
            <p:nvPr/>
          </p:nvSpPr>
          <p:spPr>
            <a:xfrm>
              <a:off x="3671377" y="3770674"/>
              <a:ext cx="1176959" cy="1185603"/>
            </a:xfrm>
            <a:custGeom>
              <a:avLst/>
              <a:gdLst>
                <a:gd name="connsiteX0" fmla="*/ 0 w 1032240"/>
                <a:gd name="connsiteY0" fmla="*/ 516120 h 1032240"/>
                <a:gd name="connsiteX1" fmla="*/ 516120 w 1032240"/>
                <a:gd name="connsiteY1" fmla="*/ 0 h 1032240"/>
                <a:gd name="connsiteX2" fmla="*/ 1032240 w 1032240"/>
                <a:gd name="connsiteY2" fmla="*/ 516120 h 1032240"/>
                <a:gd name="connsiteX3" fmla="*/ 516120 w 1032240"/>
                <a:gd name="connsiteY3" fmla="*/ 1032240 h 1032240"/>
                <a:gd name="connsiteX4" fmla="*/ 0 w 1032240"/>
                <a:gd name="connsiteY4" fmla="*/ 516120 h 1032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240" h="1032240">
                  <a:moveTo>
                    <a:pt x="0" y="516120"/>
                  </a:moveTo>
                  <a:cubicBezTo>
                    <a:pt x="0" y="231075"/>
                    <a:pt x="231075" y="0"/>
                    <a:pt x="516120" y="0"/>
                  </a:cubicBezTo>
                  <a:cubicBezTo>
                    <a:pt x="801165" y="0"/>
                    <a:pt x="1032240" y="231075"/>
                    <a:pt x="1032240" y="516120"/>
                  </a:cubicBezTo>
                  <a:cubicBezTo>
                    <a:pt x="1032240" y="801165"/>
                    <a:pt x="801165" y="1032240"/>
                    <a:pt x="516120" y="1032240"/>
                  </a:cubicBezTo>
                  <a:cubicBezTo>
                    <a:pt x="231075" y="1032240"/>
                    <a:pt x="0" y="801165"/>
                    <a:pt x="0" y="516120"/>
                  </a:cubicBezTo>
                  <a:close/>
                </a:path>
              </a:pathLst>
            </a:custGeom>
            <a:solidFill>
              <a:schemeClr val="bg2">
                <a:lumMod val="75000"/>
              </a:scheme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66408" tIns="166408" rIns="166408" bIns="166408" numCol="1" spcCol="1270" anchor="ctr" anchorCtr="0">
              <a:noAutofit/>
            </a:bodyPr>
            <a:lstStyle/>
            <a:p>
              <a:pPr algn="ctr" defTabSz="533400">
                <a:lnSpc>
                  <a:spcPct val="90000"/>
                </a:lnSpc>
                <a:spcBef>
                  <a:spcPct val="0"/>
                </a:spcBef>
                <a:spcAft>
                  <a:spcPct val="35000"/>
                </a:spcAft>
              </a:pPr>
              <a:r>
                <a:rPr lang="en-GB" sz="1200" dirty="0">
                  <a:solidFill>
                    <a:srgbClr val="FFFFFF"/>
                  </a:solidFill>
                  <a:latin typeface="Frutiger Lt Std"/>
                </a:rPr>
                <a:t>Connect to source every few minutes</a:t>
              </a:r>
            </a:p>
          </p:txBody>
        </p:sp>
        <p:sp>
          <p:nvSpPr>
            <p:cNvPr id="62" name="Shape 61">
              <a:extLst>
                <a:ext uri="{FF2B5EF4-FFF2-40B4-BE49-F238E27FC236}">
                  <a16:creationId xmlns:a16="http://schemas.microsoft.com/office/drawing/2014/main" id="{0C1484D5-DDB6-F578-2E05-C4467E3FE312}"/>
                </a:ext>
              </a:extLst>
            </p:cNvPr>
            <p:cNvSpPr/>
            <p:nvPr/>
          </p:nvSpPr>
          <p:spPr>
            <a:xfrm rot="16200000">
              <a:off x="3302722" y="3520277"/>
              <a:ext cx="2064481" cy="1651584"/>
            </a:xfrm>
            <a:prstGeom prst="funnel">
              <a:avLst/>
            </a:prstGeom>
            <a:solidFill>
              <a:schemeClr val="lt2">
                <a:hueOff val="0"/>
                <a:satOff val="0"/>
                <a:lumOff val="0"/>
                <a:alpha val="20000"/>
              </a:schemeClr>
            </a:solidFill>
            <a:ln>
              <a:solidFill>
                <a:schemeClr val="dk2">
                  <a:hueOff val="0"/>
                  <a:satOff val="0"/>
                  <a:lumOff val="0"/>
                  <a:alpha val="32000"/>
                </a:schemeClr>
              </a:solidFill>
            </a:ln>
          </p:spPr>
          <p:style>
            <a:lnRef idx="1">
              <a:schemeClr val="dk2">
                <a:hueOff val="0"/>
                <a:satOff val="0"/>
                <a:lumOff val="0"/>
                <a:alphaOff val="0"/>
              </a:schemeClr>
            </a:lnRef>
            <a:fillRef idx="1">
              <a:schemeClr val="lt2">
                <a:alpha val="40000"/>
                <a:hueOff val="0"/>
                <a:satOff val="0"/>
                <a:lumOff val="0"/>
                <a:alphaOff val="0"/>
              </a:schemeClr>
            </a:fillRef>
            <a:effectRef idx="0">
              <a:schemeClr val="lt2">
                <a:alpha val="40000"/>
                <a:hueOff val="0"/>
                <a:satOff val="0"/>
                <a:lumOff val="0"/>
                <a:alphaOff val="0"/>
              </a:schemeClr>
            </a:effectRef>
            <a:fontRef idx="minor">
              <a:schemeClr val="dk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grpSp>
    </p:spTree>
    <p:extLst>
      <p:ext uri="{BB962C8B-B14F-4D97-AF65-F5344CB8AC3E}">
        <p14:creationId xmlns:p14="http://schemas.microsoft.com/office/powerpoint/2010/main" val="3610423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3449" y="5463279"/>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dirty="0"/>
              <a:t>Design Overview</a:t>
            </a:r>
            <a:endParaRPr lang="en-GB" sz="2000" dirty="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dirty="0"/>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4621042" y="1615446"/>
            <a:ext cx="4054986" cy="256898"/>
          </a:xfrm>
        </p:spPr>
        <p:txBody>
          <a:bodyPr/>
          <a:lstStyle/>
          <a:p>
            <a:r>
              <a:rPr lang="en-GB" dirty="0"/>
              <a:t>Warehouse in practice </a:t>
            </a:r>
          </a:p>
        </p:txBody>
      </p:sp>
      <p:sp>
        <p:nvSpPr>
          <p:cNvPr id="14" name="Freeform: Shape 13">
            <a:extLst>
              <a:ext uri="{FF2B5EF4-FFF2-40B4-BE49-F238E27FC236}">
                <a16:creationId xmlns:a16="http://schemas.microsoft.com/office/drawing/2014/main" id="{0E73D117-727B-1EAB-A207-E520CB3D220D}"/>
              </a:ext>
            </a:extLst>
          </p:cNvPr>
          <p:cNvSpPr/>
          <p:nvPr/>
        </p:nvSpPr>
        <p:spPr>
          <a:xfrm>
            <a:off x="2047322" y="120089"/>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Extraction Layer</a:t>
            </a:r>
          </a:p>
        </p:txBody>
      </p:sp>
      <p:sp>
        <p:nvSpPr>
          <p:cNvPr id="15" name="Freeform: Shape 14">
            <a:extLst>
              <a:ext uri="{FF2B5EF4-FFF2-40B4-BE49-F238E27FC236}">
                <a16:creationId xmlns:a16="http://schemas.microsoft.com/office/drawing/2014/main" id="{B46009E0-5EE0-4DC5-3681-CC84674AB0DE}"/>
              </a:ext>
            </a:extLst>
          </p:cNvPr>
          <p:cNvSpPr/>
          <p:nvPr/>
        </p:nvSpPr>
        <p:spPr>
          <a:xfrm>
            <a:off x="4690970" y="145960"/>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tx2">
              <a:lumMod val="60000"/>
              <a:lumOff val="40000"/>
            </a:schemeClr>
          </a:solidFill>
          <a:effectLst>
            <a:glow rad="63500">
              <a:schemeClr val="accent6">
                <a:satMod val="175000"/>
                <a:alpha val="40000"/>
              </a:schemeClr>
            </a:glow>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a:solidFill>
                  <a:srgbClr val="FFFFFF"/>
                </a:solidFill>
                <a:latin typeface="Frutiger Lt Std"/>
              </a:rPr>
              <a:t>Business Layer</a:t>
            </a:r>
          </a:p>
        </p:txBody>
      </p:sp>
      <p:sp>
        <p:nvSpPr>
          <p:cNvPr id="16" name="Freeform: Shape 15">
            <a:extLst>
              <a:ext uri="{FF2B5EF4-FFF2-40B4-BE49-F238E27FC236}">
                <a16:creationId xmlns:a16="http://schemas.microsoft.com/office/drawing/2014/main" id="{51985D98-FAFC-AD58-B4E8-18F0F164800F}"/>
              </a:ext>
            </a:extLst>
          </p:cNvPr>
          <p:cNvSpPr/>
          <p:nvPr/>
        </p:nvSpPr>
        <p:spPr>
          <a:xfrm>
            <a:off x="6909744" y="166626"/>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Presentation Layer</a:t>
            </a:r>
          </a:p>
        </p:txBody>
      </p:sp>
      <p:sp>
        <p:nvSpPr>
          <p:cNvPr id="13" name="Freeform: Shape 12">
            <a:extLst>
              <a:ext uri="{FF2B5EF4-FFF2-40B4-BE49-F238E27FC236}">
                <a16:creationId xmlns:a16="http://schemas.microsoft.com/office/drawing/2014/main" id="{6A63E853-14E8-70B3-C85E-974EEA96B9C6}"/>
              </a:ext>
            </a:extLst>
          </p:cNvPr>
          <p:cNvSpPr/>
          <p:nvPr/>
        </p:nvSpPr>
        <p:spPr>
          <a:xfrm>
            <a:off x="-3087671" y="2644618"/>
            <a:ext cx="1349721" cy="3213701"/>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Extraction</a:t>
            </a:r>
          </a:p>
        </p:txBody>
      </p:sp>
      <p:sp>
        <p:nvSpPr>
          <p:cNvPr id="22" name="Rectangle 21">
            <a:extLst>
              <a:ext uri="{FF2B5EF4-FFF2-40B4-BE49-F238E27FC236}">
                <a16:creationId xmlns:a16="http://schemas.microsoft.com/office/drawing/2014/main" id="{2A2642B4-7E52-69CC-E083-55CAA0F5C837}"/>
              </a:ext>
            </a:extLst>
          </p:cNvPr>
          <p:cNvSpPr/>
          <p:nvPr/>
        </p:nvSpPr>
        <p:spPr>
          <a:xfrm>
            <a:off x="7080067" y="3029303"/>
            <a:ext cx="100907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27" name="Rectangle 26">
            <a:extLst>
              <a:ext uri="{FF2B5EF4-FFF2-40B4-BE49-F238E27FC236}">
                <a16:creationId xmlns:a16="http://schemas.microsoft.com/office/drawing/2014/main" id="{279177DE-A4AA-AC4C-860A-F5E7F7DE7BC6}"/>
              </a:ext>
            </a:extLst>
          </p:cNvPr>
          <p:cNvSpPr/>
          <p:nvPr/>
        </p:nvSpPr>
        <p:spPr>
          <a:xfrm>
            <a:off x="4834055" y="3796781"/>
            <a:ext cx="97652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35" name="Rectangle 34">
            <a:extLst>
              <a:ext uri="{FF2B5EF4-FFF2-40B4-BE49-F238E27FC236}">
                <a16:creationId xmlns:a16="http://schemas.microsoft.com/office/drawing/2014/main" id="{DCA88599-5D67-B733-2126-541ED25FB47C}"/>
              </a:ext>
            </a:extLst>
          </p:cNvPr>
          <p:cNvSpPr/>
          <p:nvPr/>
        </p:nvSpPr>
        <p:spPr>
          <a:xfrm>
            <a:off x="7080067" y="4564258"/>
            <a:ext cx="100907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38" name="Rectangle 37">
            <a:extLst>
              <a:ext uri="{FF2B5EF4-FFF2-40B4-BE49-F238E27FC236}">
                <a16:creationId xmlns:a16="http://schemas.microsoft.com/office/drawing/2014/main" id="{759AE7B1-DE77-D659-C1B4-77828AD207F9}"/>
              </a:ext>
            </a:extLst>
          </p:cNvPr>
          <p:cNvSpPr/>
          <p:nvPr/>
        </p:nvSpPr>
        <p:spPr>
          <a:xfrm>
            <a:off x="4834055" y="5331736"/>
            <a:ext cx="97652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grpSp>
        <p:nvGrpSpPr>
          <p:cNvPr id="40" name="Group 39">
            <a:extLst>
              <a:ext uri="{FF2B5EF4-FFF2-40B4-BE49-F238E27FC236}">
                <a16:creationId xmlns:a16="http://schemas.microsoft.com/office/drawing/2014/main" id="{93831D32-936F-D2A9-9424-1EA6F4F158A1}"/>
              </a:ext>
            </a:extLst>
          </p:cNvPr>
          <p:cNvGrpSpPr/>
          <p:nvPr/>
        </p:nvGrpSpPr>
        <p:grpSpPr>
          <a:xfrm>
            <a:off x="2002817" y="1529126"/>
            <a:ext cx="7404777" cy="3955980"/>
            <a:chOff x="2715390" y="2390495"/>
            <a:chExt cx="7422380" cy="3314910"/>
          </a:xfrm>
        </p:grpSpPr>
        <p:sp>
          <p:nvSpPr>
            <p:cNvPr id="21" name="Freeform: Shape 20">
              <a:extLst>
                <a:ext uri="{FF2B5EF4-FFF2-40B4-BE49-F238E27FC236}">
                  <a16:creationId xmlns:a16="http://schemas.microsoft.com/office/drawing/2014/main" id="{E20B649A-7A4E-FEC2-FF40-3E6FB1CD2316}"/>
                </a:ext>
              </a:extLst>
            </p:cNvPr>
            <p:cNvSpPr/>
            <p:nvPr/>
          </p:nvSpPr>
          <p:spPr>
            <a:xfrm>
              <a:off x="2715390" y="2462826"/>
              <a:ext cx="1348294" cy="1394590"/>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a:solidFill>
                    <a:srgbClr val="FFFFFF"/>
                  </a:solidFill>
                  <a:latin typeface="Frutiger Lt Std"/>
                </a:rPr>
                <a:t>Facts</a:t>
              </a:r>
            </a:p>
          </p:txBody>
        </p:sp>
        <p:sp>
          <p:nvSpPr>
            <p:cNvPr id="23" name="Freeform: Shape 22">
              <a:extLst>
                <a:ext uri="{FF2B5EF4-FFF2-40B4-BE49-F238E27FC236}">
                  <a16:creationId xmlns:a16="http://schemas.microsoft.com/office/drawing/2014/main" id="{73F08D65-4D7B-ACD2-E7C0-88CC407454E8}"/>
                </a:ext>
              </a:extLst>
            </p:cNvPr>
            <p:cNvSpPr/>
            <p:nvPr/>
          </p:nvSpPr>
          <p:spPr>
            <a:xfrm>
              <a:off x="8965678" y="4488110"/>
              <a:ext cx="678861" cy="755677"/>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0"/>
              </a:schemeClr>
            </a:solidFill>
            <a:ln>
              <a:solidFill>
                <a:schemeClr val="lt2">
                  <a:hueOff val="0"/>
                  <a:satOff val="0"/>
                  <a:lumOff val="0"/>
                  <a:alpha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26" name="Freeform: Shape 25">
              <a:extLst>
                <a:ext uri="{FF2B5EF4-FFF2-40B4-BE49-F238E27FC236}">
                  <a16:creationId xmlns:a16="http://schemas.microsoft.com/office/drawing/2014/main" id="{1518C228-98EE-A77C-6E5A-20C8C4B82E07}"/>
                </a:ext>
              </a:extLst>
            </p:cNvPr>
            <p:cNvSpPr/>
            <p:nvPr/>
          </p:nvSpPr>
          <p:spPr>
            <a:xfrm>
              <a:off x="4810455" y="2411844"/>
              <a:ext cx="1349721" cy="1445573"/>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a:solidFill>
                    <a:srgbClr val="FFFFFF"/>
                  </a:solidFill>
                  <a:latin typeface="Frutiger Lt Std"/>
                </a:rPr>
                <a:t>Dimensions</a:t>
              </a:r>
            </a:p>
          </p:txBody>
        </p:sp>
        <p:sp>
          <p:nvSpPr>
            <p:cNvPr id="28" name="Freeform: Shape 27">
              <a:extLst>
                <a:ext uri="{FF2B5EF4-FFF2-40B4-BE49-F238E27FC236}">
                  <a16:creationId xmlns:a16="http://schemas.microsoft.com/office/drawing/2014/main" id="{9B7BECF3-DC1B-B54D-FDA4-5759F5F0E828}"/>
                </a:ext>
              </a:extLst>
            </p:cNvPr>
            <p:cNvSpPr/>
            <p:nvPr/>
          </p:nvSpPr>
          <p:spPr>
            <a:xfrm>
              <a:off x="4989710" y="4379405"/>
              <a:ext cx="879778" cy="1014380"/>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0"/>
              </a:schemeClr>
            </a:solidFill>
            <a:ln>
              <a:solidFill>
                <a:schemeClr val="lt2">
                  <a:hueOff val="0"/>
                  <a:satOff val="0"/>
                  <a:lumOff val="0"/>
                  <a:alpha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34" name="Freeform: Shape 33">
              <a:extLst>
                <a:ext uri="{FF2B5EF4-FFF2-40B4-BE49-F238E27FC236}">
                  <a16:creationId xmlns:a16="http://schemas.microsoft.com/office/drawing/2014/main" id="{FE808C74-0DF5-9092-D355-1DF7780D2830}"/>
                </a:ext>
              </a:extLst>
            </p:cNvPr>
            <p:cNvSpPr/>
            <p:nvPr/>
          </p:nvSpPr>
          <p:spPr>
            <a:xfrm>
              <a:off x="6719768" y="2412769"/>
              <a:ext cx="1417536" cy="1456392"/>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rgbClr val="006747"/>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a:solidFill>
                    <a:srgbClr val="FFFFFF"/>
                  </a:solidFill>
                  <a:latin typeface="Frutiger Lt Std"/>
                </a:rPr>
                <a:t>Attributes</a:t>
              </a:r>
            </a:p>
          </p:txBody>
        </p:sp>
        <p:sp>
          <p:nvSpPr>
            <p:cNvPr id="36" name="Freeform: Shape 35">
              <a:extLst>
                <a:ext uri="{FF2B5EF4-FFF2-40B4-BE49-F238E27FC236}">
                  <a16:creationId xmlns:a16="http://schemas.microsoft.com/office/drawing/2014/main" id="{91877E39-199C-0996-8063-9507E596C066}"/>
                </a:ext>
              </a:extLst>
            </p:cNvPr>
            <p:cNvSpPr/>
            <p:nvPr/>
          </p:nvSpPr>
          <p:spPr>
            <a:xfrm>
              <a:off x="2770513" y="4113244"/>
              <a:ext cx="1412593" cy="1592161"/>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0"/>
              </a:schemeClr>
            </a:solidFill>
            <a:ln>
              <a:solidFill>
                <a:schemeClr val="lt2">
                  <a:hueOff val="0"/>
                  <a:satOff val="0"/>
                  <a:lumOff val="0"/>
                  <a:alpha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37" name="Freeform: Shape 36">
              <a:extLst>
                <a:ext uri="{FF2B5EF4-FFF2-40B4-BE49-F238E27FC236}">
                  <a16:creationId xmlns:a16="http://schemas.microsoft.com/office/drawing/2014/main" id="{92F5BBB7-62AD-6D41-A911-429D1315FBAE}"/>
                </a:ext>
              </a:extLst>
            </p:cNvPr>
            <p:cNvSpPr/>
            <p:nvPr/>
          </p:nvSpPr>
          <p:spPr>
            <a:xfrm>
              <a:off x="8720234" y="2390495"/>
              <a:ext cx="1417536" cy="1456392"/>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rgbClr val="006747"/>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dirty="0">
                  <a:solidFill>
                    <a:srgbClr val="FFFFFF"/>
                  </a:solidFill>
                  <a:latin typeface="Frutiger Lt Std"/>
                </a:rPr>
                <a:t>Calculations</a:t>
              </a:r>
            </a:p>
          </p:txBody>
        </p:sp>
        <p:sp>
          <p:nvSpPr>
            <p:cNvPr id="39" name="Freeform: Shape 38">
              <a:extLst>
                <a:ext uri="{FF2B5EF4-FFF2-40B4-BE49-F238E27FC236}">
                  <a16:creationId xmlns:a16="http://schemas.microsoft.com/office/drawing/2014/main" id="{E35F1AFC-88B9-CD5A-1CF8-815392C6DBD7}"/>
                </a:ext>
              </a:extLst>
            </p:cNvPr>
            <p:cNvSpPr/>
            <p:nvPr/>
          </p:nvSpPr>
          <p:spPr>
            <a:xfrm>
              <a:off x="6886979" y="4317426"/>
              <a:ext cx="1009077" cy="1025198"/>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0"/>
              </a:schemeClr>
            </a:solidFill>
            <a:ln>
              <a:solidFill>
                <a:schemeClr val="lt2">
                  <a:hueOff val="0"/>
                  <a:satOff val="0"/>
                  <a:lumOff val="0"/>
                  <a:alpha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grpSp>
      <p:sp>
        <p:nvSpPr>
          <p:cNvPr id="41" name="Arrow: Striped Right 40">
            <a:extLst>
              <a:ext uri="{FF2B5EF4-FFF2-40B4-BE49-F238E27FC236}">
                <a16:creationId xmlns:a16="http://schemas.microsoft.com/office/drawing/2014/main" id="{E00B69B6-75E6-83FF-CB7D-98AC00393ED3}"/>
              </a:ext>
            </a:extLst>
          </p:cNvPr>
          <p:cNvSpPr/>
          <p:nvPr/>
        </p:nvSpPr>
        <p:spPr>
          <a:xfrm>
            <a:off x="-1245391" y="3449336"/>
            <a:ext cx="625383" cy="1237403"/>
          </a:xfrm>
          <a:prstGeom prst="stripedRight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Frutiger Lt Std"/>
            </a:endParaRPr>
          </a:p>
        </p:txBody>
      </p:sp>
      <p:sp>
        <p:nvSpPr>
          <p:cNvPr id="19" name="Freeform: Shape 18">
            <a:extLst>
              <a:ext uri="{FF2B5EF4-FFF2-40B4-BE49-F238E27FC236}">
                <a16:creationId xmlns:a16="http://schemas.microsoft.com/office/drawing/2014/main" id="{36DEA471-90F5-71D7-7D7B-3BB6DE22FF7C}"/>
              </a:ext>
            </a:extLst>
          </p:cNvPr>
          <p:cNvSpPr/>
          <p:nvPr/>
        </p:nvSpPr>
        <p:spPr>
          <a:xfrm>
            <a:off x="1926228" y="3585037"/>
            <a:ext cx="1498273" cy="2361108"/>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Attendance</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Diagnoses</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Tracking</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a:t>
            </a:r>
          </a:p>
        </p:txBody>
      </p:sp>
      <p:sp>
        <p:nvSpPr>
          <p:cNvPr id="20" name="Freeform: Shape 19">
            <a:extLst>
              <a:ext uri="{FF2B5EF4-FFF2-40B4-BE49-F238E27FC236}">
                <a16:creationId xmlns:a16="http://schemas.microsoft.com/office/drawing/2014/main" id="{5BD4DFBE-2A72-B502-2F95-08E50247A816}"/>
              </a:ext>
            </a:extLst>
          </p:cNvPr>
          <p:cNvSpPr/>
          <p:nvPr/>
        </p:nvSpPr>
        <p:spPr>
          <a:xfrm>
            <a:off x="3977649" y="3578265"/>
            <a:ext cx="1498273" cy="2361108"/>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Care Provider</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Area</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Injury intent</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a:t>
            </a:r>
          </a:p>
        </p:txBody>
      </p:sp>
      <p:sp>
        <p:nvSpPr>
          <p:cNvPr id="42" name="Freeform: Shape 41">
            <a:extLst>
              <a:ext uri="{FF2B5EF4-FFF2-40B4-BE49-F238E27FC236}">
                <a16:creationId xmlns:a16="http://schemas.microsoft.com/office/drawing/2014/main" id="{31F79537-9DE7-08E8-9B66-9D8B77E0F441}"/>
              </a:ext>
            </a:extLst>
          </p:cNvPr>
          <p:cNvSpPr/>
          <p:nvPr/>
        </p:nvSpPr>
        <p:spPr>
          <a:xfrm>
            <a:off x="5913599" y="3578265"/>
            <a:ext cx="1498273" cy="2361108"/>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Defined value on dimension</a:t>
            </a:r>
          </a:p>
          <a:p>
            <a:pPr marL="285750" indent="-285750" defTabSz="755650">
              <a:lnSpc>
                <a:spcPct val="90000"/>
              </a:lnSpc>
              <a:spcBef>
                <a:spcPct val="0"/>
              </a:spcBef>
              <a:spcAft>
                <a:spcPct val="35000"/>
              </a:spcAft>
              <a:buFont typeface="Arial" panose="020B0604020202020204" pitchFamily="34" charset="0"/>
              <a:buChar char="•"/>
            </a:pPr>
            <a:r>
              <a:rPr lang="en-GB" sz="1400" dirty="0" err="1">
                <a:solidFill>
                  <a:srgbClr val="FFFFFF"/>
                </a:solidFill>
                <a:latin typeface="Frutiger Lt Std"/>
              </a:rPr>
              <a:t>Eg</a:t>
            </a:r>
            <a:r>
              <a:rPr lang="en-GB" sz="1400" dirty="0">
                <a:solidFill>
                  <a:srgbClr val="FFFFFF"/>
                </a:solidFill>
                <a:latin typeface="Frutiger Lt Std"/>
              </a:rPr>
              <a:t> Business name</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Resus area flag</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a:t>
            </a:r>
          </a:p>
          <a:p>
            <a:pPr algn="ctr" defTabSz="755650">
              <a:lnSpc>
                <a:spcPct val="90000"/>
              </a:lnSpc>
              <a:spcBef>
                <a:spcPct val="0"/>
              </a:spcBef>
              <a:spcAft>
                <a:spcPct val="35000"/>
              </a:spcAft>
            </a:pPr>
            <a:endParaRPr lang="en-GB" sz="1700" dirty="0">
              <a:solidFill>
                <a:srgbClr val="FFFFFF"/>
              </a:solidFill>
              <a:latin typeface="Frutiger Lt Std"/>
            </a:endParaRPr>
          </a:p>
        </p:txBody>
      </p:sp>
      <p:sp>
        <p:nvSpPr>
          <p:cNvPr id="43" name="Freeform: Shape 42">
            <a:extLst>
              <a:ext uri="{FF2B5EF4-FFF2-40B4-BE49-F238E27FC236}">
                <a16:creationId xmlns:a16="http://schemas.microsoft.com/office/drawing/2014/main" id="{34CF3F8F-3E80-92F0-20B0-7E0AE9464F77}"/>
              </a:ext>
            </a:extLst>
          </p:cNvPr>
          <p:cNvSpPr/>
          <p:nvPr/>
        </p:nvSpPr>
        <p:spPr>
          <a:xfrm>
            <a:off x="7750687" y="3596344"/>
            <a:ext cx="1907422" cy="2361108"/>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Time in dept</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Previous Attendance Count</a:t>
            </a:r>
          </a:p>
          <a:p>
            <a:pPr algn="ctr" defTabSz="755650">
              <a:lnSpc>
                <a:spcPct val="90000"/>
              </a:lnSpc>
              <a:spcBef>
                <a:spcPct val="0"/>
              </a:spcBef>
              <a:spcAft>
                <a:spcPct val="35000"/>
              </a:spcAft>
            </a:pPr>
            <a:endParaRPr lang="en-GB" sz="1700" dirty="0">
              <a:solidFill>
                <a:srgbClr val="FFFFFF"/>
              </a:solidFill>
              <a:latin typeface="Frutiger Lt Std"/>
            </a:endParaRPr>
          </a:p>
        </p:txBody>
      </p:sp>
      <p:sp>
        <p:nvSpPr>
          <p:cNvPr id="44" name="Freeform: Shape 43">
            <a:extLst>
              <a:ext uri="{FF2B5EF4-FFF2-40B4-BE49-F238E27FC236}">
                <a16:creationId xmlns:a16="http://schemas.microsoft.com/office/drawing/2014/main" id="{55738D5F-3644-3ADF-719C-01AB2F65128E}"/>
              </a:ext>
            </a:extLst>
          </p:cNvPr>
          <p:cNvSpPr/>
          <p:nvPr/>
        </p:nvSpPr>
        <p:spPr>
          <a:xfrm>
            <a:off x="-5548995" y="2644617"/>
            <a:ext cx="1787680" cy="3213701"/>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Facts</a:t>
            </a:r>
          </a:p>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Dimensions</a:t>
            </a:r>
          </a:p>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Attributes</a:t>
            </a:r>
          </a:p>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Calculations</a:t>
            </a:r>
          </a:p>
        </p:txBody>
      </p:sp>
      <p:sp>
        <p:nvSpPr>
          <p:cNvPr id="45" name="Arrow: Striped Right 44">
            <a:extLst>
              <a:ext uri="{FF2B5EF4-FFF2-40B4-BE49-F238E27FC236}">
                <a16:creationId xmlns:a16="http://schemas.microsoft.com/office/drawing/2014/main" id="{8B729C1C-04E3-E32F-C6AC-900B4334BCF7}"/>
              </a:ext>
            </a:extLst>
          </p:cNvPr>
          <p:cNvSpPr/>
          <p:nvPr/>
        </p:nvSpPr>
        <p:spPr>
          <a:xfrm>
            <a:off x="-6855653" y="3449335"/>
            <a:ext cx="625383" cy="1237403"/>
          </a:xfrm>
          <a:prstGeom prst="stripedRight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Frutiger Lt Std"/>
            </a:endParaRPr>
          </a:p>
        </p:txBody>
      </p:sp>
      <p:grpSp>
        <p:nvGrpSpPr>
          <p:cNvPr id="49" name="Group 48">
            <a:extLst>
              <a:ext uri="{FF2B5EF4-FFF2-40B4-BE49-F238E27FC236}">
                <a16:creationId xmlns:a16="http://schemas.microsoft.com/office/drawing/2014/main" id="{5B7572D3-85BB-8FAA-258A-EF065EFB33E5}"/>
              </a:ext>
            </a:extLst>
          </p:cNvPr>
          <p:cNvGrpSpPr/>
          <p:nvPr/>
        </p:nvGrpSpPr>
        <p:grpSpPr>
          <a:xfrm>
            <a:off x="-9385516" y="2563588"/>
            <a:ext cx="2111727" cy="3213701"/>
            <a:chOff x="6593567" y="2732444"/>
            <a:chExt cx="2111727" cy="3213701"/>
          </a:xfrm>
        </p:grpSpPr>
        <p:sp>
          <p:nvSpPr>
            <p:cNvPr id="50" name="Freeform: Shape 49">
              <a:extLst>
                <a:ext uri="{FF2B5EF4-FFF2-40B4-BE49-F238E27FC236}">
                  <a16:creationId xmlns:a16="http://schemas.microsoft.com/office/drawing/2014/main" id="{F280C232-1C0E-0A83-EF1A-3F6DF29D9A71}"/>
                </a:ext>
              </a:extLst>
            </p:cNvPr>
            <p:cNvSpPr/>
            <p:nvPr/>
          </p:nvSpPr>
          <p:spPr>
            <a:xfrm>
              <a:off x="6593567" y="2732444"/>
              <a:ext cx="2111727" cy="3213701"/>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Views</a:t>
              </a:r>
            </a:p>
            <a:p>
              <a:pPr marL="742950" lvl="1"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Attendance</a:t>
              </a:r>
            </a:p>
            <a:p>
              <a:pPr marL="742950" lvl="1"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Tracking</a:t>
              </a:r>
            </a:p>
            <a:p>
              <a:pPr marL="742950" lvl="1"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Anything….</a:t>
              </a:r>
            </a:p>
          </p:txBody>
        </p:sp>
        <p:pic>
          <p:nvPicPr>
            <p:cNvPr id="51" name="Graphic 50" descr="Binoculars outline">
              <a:extLst>
                <a:ext uri="{FF2B5EF4-FFF2-40B4-BE49-F238E27FC236}">
                  <a16:creationId xmlns:a16="http://schemas.microsoft.com/office/drawing/2014/main" id="{7ABD64DE-41F6-DB7D-D3F9-CC9B293FD1C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45780" y="2816826"/>
              <a:ext cx="807300" cy="807300"/>
            </a:xfrm>
            <a:prstGeom prst="rect">
              <a:avLst/>
            </a:prstGeom>
            <a:effectLst>
              <a:glow rad="63500">
                <a:schemeClr val="tx1">
                  <a:lumMod val="20000"/>
                  <a:lumOff val="80000"/>
                  <a:alpha val="40000"/>
                </a:schemeClr>
              </a:glow>
            </a:effectLst>
          </p:spPr>
        </p:pic>
      </p:grpSp>
    </p:spTree>
    <p:extLst>
      <p:ext uri="{BB962C8B-B14F-4D97-AF65-F5344CB8AC3E}">
        <p14:creationId xmlns:p14="http://schemas.microsoft.com/office/powerpoint/2010/main" val="1103099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3449" y="5463279"/>
            <a:ext cx="2291564" cy="2374692"/>
          </a:xfrm>
          <a:prstGeom prst="rect">
            <a:avLst/>
          </a:prstGeom>
        </p:spPr>
      </p:pic>
      <p:grpSp>
        <p:nvGrpSpPr>
          <p:cNvPr id="57" name="Group 56">
            <a:extLst>
              <a:ext uri="{FF2B5EF4-FFF2-40B4-BE49-F238E27FC236}">
                <a16:creationId xmlns:a16="http://schemas.microsoft.com/office/drawing/2014/main" id="{42637779-13A4-E5AA-9DD8-3E5B48649A37}"/>
              </a:ext>
            </a:extLst>
          </p:cNvPr>
          <p:cNvGrpSpPr/>
          <p:nvPr/>
        </p:nvGrpSpPr>
        <p:grpSpPr>
          <a:xfrm>
            <a:off x="6786103" y="4556888"/>
            <a:ext cx="2889705" cy="1610427"/>
            <a:chOff x="3180595" y="3317918"/>
            <a:chExt cx="3714933" cy="1694609"/>
          </a:xfrm>
        </p:grpSpPr>
        <p:sp>
          <p:nvSpPr>
            <p:cNvPr id="58" name="Rectangle 57">
              <a:extLst>
                <a:ext uri="{FF2B5EF4-FFF2-40B4-BE49-F238E27FC236}">
                  <a16:creationId xmlns:a16="http://schemas.microsoft.com/office/drawing/2014/main" id="{CBB43A30-5EA7-0408-01E9-73CA9F621A9F}"/>
                </a:ext>
              </a:extLst>
            </p:cNvPr>
            <p:cNvSpPr/>
            <p:nvPr/>
          </p:nvSpPr>
          <p:spPr>
            <a:xfrm>
              <a:off x="3310054" y="3796780"/>
              <a:ext cx="97652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sz="1600">
                <a:solidFill>
                  <a:srgbClr val="003087">
                    <a:hueOff val="0"/>
                    <a:satOff val="0"/>
                    <a:lumOff val="0"/>
                    <a:alphaOff val="0"/>
                  </a:srgbClr>
                </a:solidFill>
                <a:latin typeface="Frutiger Lt Std"/>
              </a:endParaRPr>
            </a:p>
          </p:txBody>
        </p:sp>
        <p:sp>
          <p:nvSpPr>
            <p:cNvPr id="59" name="Freeform: Shape 58">
              <a:extLst>
                <a:ext uri="{FF2B5EF4-FFF2-40B4-BE49-F238E27FC236}">
                  <a16:creationId xmlns:a16="http://schemas.microsoft.com/office/drawing/2014/main" id="{035899F3-C92C-7439-4C24-34A34E0C3883}"/>
                </a:ext>
              </a:extLst>
            </p:cNvPr>
            <p:cNvSpPr/>
            <p:nvPr/>
          </p:nvSpPr>
          <p:spPr>
            <a:xfrm>
              <a:off x="3180595" y="3317918"/>
              <a:ext cx="3714933" cy="547200"/>
            </a:xfrm>
            <a:custGeom>
              <a:avLst/>
              <a:gdLst>
                <a:gd name="connsiteX0" fmla="*/ 0 w 1950383"/>
                <a:gd name="connsiteY0" fmla="*/ 0 h 547200"/>
                <a:gd name="connsiteX1" fmla="*/ 1950383 w 1950383"/>
                <a:gd name="connsiteY1" fmla="*/ 0 h 547200"/>
                <a:gd name="connsiteX2" fmla="*/ 1950383 w 1950383"/>
                <a:gd name="connsiteY2" fmla="*/ 547200 h 547200"/>
                <a:gd name="connsiteX3" fmla="*/ 0 w 1950383"/>
                <a:gd name="connsiteY3" fmla="*/ 547200 h 547200"/>
                <a:gd name="connsiteX4" fmla="*/ 0 w 1950383"/>
                <a:gd name="connsiteY4" fmla="*/ 0 h 54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0383" h="547200">
                  <a:moveTo>
                    <a:pt x="0" y="0"/>
                  </a:moveTo>
                  <a:lnTo>
                    <a:pt x="1950383" y="0"/>
                  </a:lnTo>
                  <a:lnTo>
                    <a:pt x="1950383" y="547200"/>
                  </a:lnTo>
                  <a:lnTo>
                    <a:pt x="0" y="547200"/>
                  </a:lnTo>
                  <a:lnTo>
                    <a:pt x="0" y="0"/>
                  </a:lnTo>
                  <a:close/>
                </a:path>
              </a:pathLst>
            </a:custGeom>
            <a:solidFill>
              <a:schemeClr val="dk2">
                <a:hueOff val="0"/>
                <a:satOff val="0"/>
                <a:lumOff val="0"/>
                <a:alpha val="90000"/>
              </a:schemeClr>
            </a:solidFill>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35128" tIns="77216" rIns="135128" bIns="77216" numCol="1" spcCol="1270" anchor="ctr" anchorCtr="0">
              <a:noAutofit/>
            </a:bodyPr>
            <a:lstStyle/>
            <a:p>
              <a:pPr algn="ctr" defTabSz="844550">
                <a:lnSpc>
                  <a:spcPct val="90000"/>
                </a:lnSpc>
                <a:spcBef>
                  <a:spcPct val="0"/>
                </a:spcBef>
                <a:spcAft>
                  <a:spcPct val="35000"/>
                </a:spcAft>
              </a:pPr>
              <a:r>
                <a:rPr lang="en-GB" sz="1600" dirty="0" err="1">
                  <a:solidFill>
                    <a:srgbClr val="FFFFFF"/>
                  </a:solidFill>
                  <a:latin typeface="Frutiger Lt Std"/>
                </a:rPr>
                <a:t>dim.acuity_ba</a:t>
              </a:r>
              <a:endParaRPr lang="en-GB" sz="1600" dirty="0">
                <a:solidFill>
                  <a:srgbClr val="FFFFFF"/>
                </a:solidFill>
                <a:latin typeface="Frutiger Lt Std"/>
              </a:endParaRPr>
            </a:p>
          </p:txBody>
        </p:sp>
        <p:sp>
          <p:nvSpPr>
            <p:cNvPr id="60" name="Freeform: Shape 59">
              <a:extLst>
                <a:ext uri="{FF2B5EF4-FFF2-40B4-BE49-F238E27FC236}">
                  <a16:creationId xmlns:a16="http://schemas.microsoft.com/office/drawing/2014/main" id="{6EC724A0-8F4F-C549-AB0C-7D66F7D70411}"/>
                </a:ext>
              </a:extLst>
            </p:cNvPr>
            <p:cNvSpPr/>
            <p:nvPr/>
          </p:nvSpPr>
          <p:spPr>
            <a:xfrm>
              <a:off x="3180595" y="3865118"/>
              <a:ext cx="3714933" cy="1147409"/>
            </a:xfrm>
            <a:custGeom>
              <a:avLst/>
              <a:gdLst>
                <a:gd name="connsiteX0" fmla="*/ 0 w 1950383"/>
                <a:gd name="connsiteY0" fmla="*/ 0 h 1147409"/>
                <a:gd name="connsiteX1" fmla="*/ 1950383 w 1950383"/>
                <a:gd name="connsiteY1" fmla="*/ 0 h 1147409"/>
                <a:gd name="connsiteX2" fmla="*/ 1950383 w 1950383"/>
                <a:gd name="connsiteY2" fmla="*/ 1147409 h 1147409"/>
                <a:gd name="connsiteX3" fmla="*/ 0 w 1950383"/>
                <a:gd name="connsiteY3" fmla="*/ 1147409 h 1147409"/>
                <a:gd name="connsiteX4" fmla="*/ 0 w 1950383"/>
                <a:gd name="connsiteY4" fmla="*/ 0 h 1147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0383" h="1147409">
                  <a:moveTo>
                    <a:pt x="0" y="0"/>
                  </a:moveTo>
                  <a:lnTo>
                    <a:pt x="1950383" y="0"/>
                  </a:lnTo>
                  <a:lnTo>
                    <a:pt x="1950383" y="1147409"/>
                  </a:lnTo>
                  <a:lnTo>
                    <a:pt x="0" y="1147409"/>
                  </a:lnTo>
                  <a:lnTo>
                    <a:pt x="0" y="0"/>
                  </a:lnTo>
                  <a:close/>
                </a:path>
              </a:pathLst>
            </a:custGeom>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1346" tIns="101346" rIns="135128" bIns="152019" numCol="1" spcCol="1270" anchor="t" anchorCtr="0">
              <a:noAutofit/>
            </a:bodyPr>
            <a:lstStyle/>
            <a:p>
              <a:pPr marL="171450" lvl="1" indent="-171450" defTabSz="844550">
                <a:lnSpc>
                  <a:spcPct val="90000"/>
                </a:lnSpc>
                <a:spcBef>
                  <a:spcPct val="0"/>
                </a:spcBef>
                <a:spcAft>
                  <a:spcPct val="15000"/>
                </a:spcAft>
                <a:buFontTx/>
                <a:buChar char="•"/>
              </a:pPr>
              <a:r>
                <a:rPr lang="en-GB" sz="1600" dirty="0" err="1">
                  <a:solidFill>
                    <a:srgbClr val="003087">
                      <a:hueOff val="0"/>
                      <a:satOff val="0"/>
                      <a:lumOff val="0"/>
                      <a:alphaOff val="0"/>
                    </a:srgbClr>
                  </a:solidFill>
                  <a:latin typeface="Frutiger Lt Std"/>
                </a:rPr>
                <a:t>acuity_ba_id</a:t>
              </a:r>
              <a:endParaRPr lang="en-GB" sz="1600" dirty="0">
                <a:solidFill>
                  <a:srgbClr val="003087">
                    <a:hueOff val="0"/>
                    <a:satOff val="0"/>
                    <a:lumOff val="0"/>
                    <a:alphaOff val="0"/>
                  </a:srgbClr>
                </a:solidFill>
                <a:latin typeface="Frutiger Lt Std"/>
              </a:endParaRPr>
            </a:p>
            <a:p>
              <a:pPr marL="171450" lvl="1" indent="-171450" defTabSz="844550">
                <a:lnSpc>
                  <a:spcPct val="90000"/>
                </a:lnSpc>
                <a:spcBef>
                  <a:spcPct val="0"/>
                </a:spcBef>
                <a:spcAft>
                  <a:spcPct val="15000"/>
                </a:spcAft>
                <a:buFontTx/>
                <a:buChar char="•"/>
              </a:pPr>
              <a:r>
                <a:rPr lang="en-GB" sz="1600" dirty="0" err="1">
                  <a:solidFill>
                    <a:srgbClr val="003087">
                      <a:hueOff val="0"/>
                      <a:satOff val="0"/>
                      <a:lumOff val="0"/>
                      <a:alphaOff val="0"/>
                    </a:srgbClr>
                  </a:solidFill>
                  <a:highlight>
                    <a:srgbClr val="FFFF00"/>
                  </a:highlight>
                  <a:latin typeface="Frutiger Lt Std"/>
                </a:rPr>
                <a:t>acuity_id</a:t>
              </a:r>
              <a:endParaRPr lang="en-GB" sz="1600" dirty="0">
                <a:solidFill>
                  <a:srgbClr val="003087">
                    <a:hueOff val="0"/>
                    <a:satOff val="0"/>
                    <a:lumOff val="0"/>
                    <a:alphaOff val="0"/>
                  </a:srgbClr>
                </a:solidFill>
                <a:highlight>
                  <a:srgbClr val="FFFF00"/>
                </a:highlight>
                <a:latin typeface="Frutiger Lt Std"/>
              </a:endParaRPr>
            </a:p>
            <a:p>
              <a:pPr marL="171450" lvl="1" indent="-171450" defTabSz="844550">
                <a:lnSpc>
                  <a:spcPct val="90000"/>
                </a:lnSpc>
                <a:spcBef>
                  <a:spcPct val="0"/>
                </a:spcBef>
                <a:spcAft>
                  <a:spcPct val="15000"/>
                </a:spcAft>
                <a:buFontTx/>
                <a:buChar char="•"/>
              </a:pPr>
              <a:r>
                <a:rPr lang="en-GB" sz="1600" dirty="0">
                  <a:solidFill>
                    <a:srgbClr val="003087">
                      <a:hueOff val="0"/>
                      <a:satOff val="0"/>
                      <a:lumOff val="0"/>
                      <a:alphaOff val="0"/>
                    </a:srgbClr>
                  </a:solidFill>
                  <a:latin typeface="Frutiger Lt Std"/>
                </a:rPr>
                <a:t>a001_acuity_business_name</a:t>
              </a:r>
            </a:p>
            <a:p>
              <a:pPr marL="171450" lvl="1" indent="-171450" defTabSz="844550">
                <a:lnSpc>
                  <a:spcPct val="90000"/>
                </a:lnSpc>
                <a:spcBef>
                  <a:spcPct val="0"/>
                </a:spcBef>
                <a:spcAft>
                  <a:spcPct val="15000"/>
                </a:spcAft>
                <a:buFontTx/>
                <a:buChar char="•"/>
              </a:pPr>
              <a:r>
                <a:rPr lang="en-GB" sz="1600" dirty="0">
                  <a:solidFill>
                    <a:srgbClr val="003087">
                      <a:hueOff val="0"/>
                      <a:satOff val="0"/>
                      <a:lumOff val="0"/>
                      <a:alphaOff val="0"/>
                    </a:srgbClr>
                  </a:solidFill>
                  <a:latin typeface="Frutiger Lt Std"/>
                </a:rPr>
                <a:t>a036_is_resus</a:t>
              </a:r>
            </a:p>
          </p:txBody>
        </p:sp>
      </p:grpSp>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dirty="0"/>
              <a:t>Design Overview</a:t>
            </a:r>
            <a:endParaRPr lang="en-GB" sz="2000" dirty="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dirty="0"/>
              <a:t>Neil Hayes-Webster</a:t>
            </a:r>
          </a:p>
        </p:txBody>
      </p:sp>
      <p:sp>
        <p:nvSpPr>
          <p:cNvPr id="7" name="Content Placeholder 4">
            <a:extLst>
              <a:ext uri="{FF2B5EF4-FFF2-40B4-BE49-F238E27FC236}">
                <a16:creationId xmlns:a16="http://schemas.microsoft.com/office/drawing/2014/main" id="{DB5226D5-A6C6-4F7B-8530-58ADF28FCF5C}"/>
              </a:ext>
            </a:extLst>
          </p:cNvPr>
          <p:cNvSpPr>
            <a:spLocks noGrp="1"/>
          </p:cNvSpPr>
          <p:nvPr>
            <p:ph sz="quarter" idx="12"/>
          </p:nvPr>
        </p:nvSpPr>
        <p:spPr>
          <a:xfrm>
            <a:off x="-4621042" y="1615446"/>
            <a:ext cx="4054986" cy="256898"/>
          </a:xfrm>
        </p:spPr>
        <p:txBody>
          <a:bodyPr/>
          <a:lstStyle/>
          <a:p>
            <a:r>
              <a:rPr lang="en-GB" dirty="0"/>
              <a:t>Warehouse in practice </a:t>
            </a:r>
          </a:p>
        </p:txBody>
      </p:sp>
      <p:sp>
        <p:nvSpPr>
          <p:cNvPr id="14" name="Freeform: Shape 13">
            <a:extLst>
              <a:ext uri="{FF2B5EF4-FFF2-40B4-BE49-F238E27FC236}">
                <a16:creationId xmlns:a16="http://schemas.microsoft.com/office/drawing/2014/main" id="{0E73D117-727B-1EAB-A207-E520CB3D220D}"/>
              </a:ext>
            </a:extLst>
          </p:cNvPr>
          <p:cNvSpPr/>
          <p:nvPr/>
        </p:nvSpPr>
        <p:spPr>
          <a:xfrm>
            <a:off x="2047322" y="120089"/>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Extraction Layer</a:t>
            </a:r>
          </a:p>
        </p:txBody>
      </p:sp>
      <p:sp>
        <p:nvSpPr>
          <p:cNvPr id="15" name="Freeform: Shape 14">
            <a:extLst>
              <a:ext uri="{FF2B5EF4-FFF2-40B4-BE49-F238E27FC236}">
                <a16:creationId xmlns:a16="http://schemas.microsoft.com/office/drawing/2014/main" id="{B46009E0-5EE0-4DC5-3681-CC84674AB0DE}"/>
              </a:ext>
            </a:extLst>
          </p:cNvPr>
          <p:cNvSpPr/>
          <p:nvPr/>
        </p:nvSpPr>
        <p:spPr>
          <a:xfrm>
            <a:off x="4690970" y="145960"/>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tx2">
              <a:lumMod val="60000"/>
              <a:lumOff val="40000"/>
            </a:schemeClr>
          </a:solidFill>
          <a:effectLst>
            <a:glow rad="63500">
              <a:schemeClr val="accent6">
                <a:satMod val="175000"/>
                <a:alpha val="40000"/>
              </a:schemeClr>
            </a:glow>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Business Layer</a:t>
            </a:r>
          </a:p>
        </p:txBody>
      </p:sp>
      <p:sp>
        <p:nvSpPr>
          <p:cNvPr id="16" name="Freeform: Shape 15">
            <a:extLst>
              <a:ext uri="{FF2B5EF4-FFF2-40B4-BE49-F238E27FC236}">
                <a16:creationId xmlns:a16="http://schemas.microsoft.com/office/drawing/2014/main" id="{51985D98-FAFC-AD58-B4E8-18F0F164800F}"/>
              </a:ext>
            </a:extLst>
          </p:cNvPr>
          <p:cNvSpPr/>
          <p:nvPr/>
        </p:nvSpPr>
        <p:spPr>
          <a:xfrm>
            <a:off x="6909744" y="166626"/>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Presentation Layer</a:t>
            </a:r>
          </a:p>
        </p:txBody>
      </p:sp>
      <p:sp>
        <p:nvSpPr>
          <p:cNvPr id="13" name="Freeform: Shape 12">
            <a:extLst>
              <a:ext uri="{FF2B5EF4-FFF2-40B4-BE49-F238E27FC236}">
                <a16:creationId xmlns:a16="http://schemas.microsoft.com/office/drawing/2014/main" id="{6A63E853-14E8-70B3-C85E-974EEA96B9C6}"/>
              </a:ext>
            </a:extLst>
          </p:cNvPr>
          <p:cNvSpPr/>
          <p:nvPr/>
        </p:nvSpPr>
        <p:spPr>
          <a:xfrm>
            <a:off x="-3087671" y="2644618"/>
            <a:ext cx="1349721" cy="3213701"/>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Extraction</a:t>
            </a:r>
          </a:p>
        </p:txBody>
      </p:sp>
      <p:sp>
        <p:nvSpPr>
          <p:cNvPr id="22" name="Rectangle 21">
            <a:extLst>
              <a:ext uri="{FF2B5EF4-FFF2-40B4-BE49-F238E27FC236}">
                <a16:creationId xmlns:a16="http://schemas.microsoft.com/office/drawing/2014/main" id="{2A2642B4-7E52-69CC-E083-55CAA0F5C837}"/>
              </a:ext>
            </a:extLst>
          </p:cNvPr>
          <p:cNvSpPr/>
          <p:nvPr/>
        </p:nvSpPr>
        <p:spPr>
          <a:xfrm>
            <a:off x="7080067" y="3029303"/>
            <a:ext cx="100907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38" name="Rectangle 37">
            <a:extLst>
              <a:ext uri="{FF2B5EF4-FFF2-40B4-BE49-F238E27FC236}">
                <a16:creationId xmlns:a16="http://schemas.microsoft.com/office/drawing/2014/main" id="{759AE7B1-DE77-D659-C1B4-77828AD207F9}"/>
              </a:ext>
            </a:extLst>
          </p:cNvPr>
          <p:cNvSpPr/>
          <p:nvPr/>
        </p:nvSpPr>
        <p:spPr>
          <a:xfrm>
            <a:off x="-3761315" y="8031138"/>
            <a:ext cx="97652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grpSp>
        <p:nvGrpSpPr>
          <p:cNvPr id="40" name="Group 39">
            <a:extLst>
              <a:ext uri="{FF2B5EF4-FFF2-40B4-BE49-F238E27FC236}">
                <a16:creationId xmlns:a16="http://schemas.microsoft.com/office/drawing/2014/main" id="{93831D32-936F-D2A9-9424-1EA6F4F158A1}"/>
              </a:ext>
            </a:extLst>
          </p:cNvPr>
          <p:cNvGrpSpPr/>
          <p:nvPr/>
        </p:nvGrpSpPr>
        <p:grpSpPr>
          <a:xfrm>
            <a:off x="2145434" y="1482194"/>
            <a:ext cx="7342627" cy="3900715"/>
            <a:chOff x="2715390" y="2436804"/>
            <a:chExt cx="7360082" cy="3268601"/>
          </a:xfrm>
        </p:grpSpPr>
        <p:sp>
          <p:nvSpPr>
            <p:cNvPr id="21" name="Freeform: Shape 20">
              <a:extLst>
                <a:ext uri="{FF2B5EF4-FFF2-40B4-BE49-F238E27FC236}">
                  <a16:creationId xmlns:a16="http://schemas.microsoft.com/office/drawing/2014/main" id="{E20B649A-7A4E-FEC2-FF40-3E6FB1CD2316}"/>
                </a:ext>
              </a:extLst>
            </p:cNvPr>
            <p:cNvSpPr/>
            <p:nvPr/>
          </p:nvSpPr>
          <p:spPr>
            <a:xfrm>
              <a:off x="2715390" y="2462827"/>
              <a:ext cx="1348294" cy="1235781"/>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dirty="0">
                  <a:solidFill>
                    <a:srgbClr val="FFFFFF"/>
                  </a:solidFill>
                  <a:latin typeface="Frutiger Lt Std"/>
                </a:rPr>
                <a:t>Facts</a:t>
              </a:r>
            </a:p>
          </p:txBody>
        </p:sp>
        <p:sp>
          <p:nvSpPr>
            <p:cNvPr id="23" name="Freeform: Shape 22">
              <a:extLst>
                <a:ext uri="{FF2B5EF4-FFF2-40B4-BE49-F238E27FC236}">
                  <a16:creationId xmlns:a16="http://schemas.microsoft.com/office/drawing/2014/main" id="{73F08D65-4D7B-ACD2-E7C0-88CC407454E8}"/>
                </a:ext>
              </a:extLst>
            </p:cNvPr>
            <p:cNvSpPr/>
            <p:nvPr/>
          </p:nvSpPr>
          <p:spPr>
            <a:xfrm>
              <a:off x="8965678" y="4488110"/>
              <a:ext cx="678861" cy="755677"/>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0"/>
              </a:schemeClr>
            </a:solidFill>
            <a:ln>
              <a:solidFill>
                <a:schemeClr val="lt2">
                  <a:hueOff val="0"/>
                  <a:satOff val="0"/>
                  <a:lumOff val="0"/>
                  <a:alpha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26" name="Freeform: Shape 25">
              <a:extLst>
                <a:ext uri="{FF2B5EF4-FFF2-40B4-BE49-F238E27FC236}">
                  <a16:creationId xmlns:a16="http://schemas.microsoft.com/office/drawing/2014/main" id="{1518C228-98EE-A77C-6E5A-20C8C4B82E07}"/>
                </a:ext>
              </a:extLst>
            </p:cNvPr>
            <p:cNvSpPr/>
            <p:nvPr/>
          </p:nvSpPr>
          <p:spPr>
            <a:xfrm>
              <a:off x="5790243" y="2436804"/>
              <a:ext cx="1467211" cy="1285691"/>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a:solidFill>
                    <a:srgbClr val="FFFFFF"/>
                  </a:solidFill>
                  <a:latin typeface="Frutiger Lt Std"/>
                </a:rPr>
                <a:t>Dimensions</a:t>
              </a:r>
            </a:p>
          </p:txBody>
        </p:sp>
        <p:sp>
          <p:nvSpPr>
            <p:cNvPr id="28" name="Freeform: Shape 27">
              <a:extLst>
                <a:ext uri="{FF2B5EF4-FFF2-40B4-BE49-F238E27FC236}">
                  <a16:creationId xmlns:a16="http://schemas.microsoft.com/office/drawing/2014/main" id="{9B7BECF3-DC1B-B54D-FDA4-5759F5F0E828}"/>
                </a:ext>
              </a:extLst>
            </p:cNvPr>
            <p:cNvSpPr/>
            <p:nvPr/>
          </p:nvSpPr>
          <p:spPr>
            <a:xfrm>
              <a:off x="4989710" y="4379405"/>
              <a:ext cx="879778" cy="1014380"/>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0"/>
              </a:schemeClr>
            </a:solidFill>
            <a:ln>
              <a:solidFill>
                <a:schemeClr val="lt2">
                  <a:hueOff val="0"/>
                  <a:satOff val="0"/>
                  <a:lumOff val="0"/>
                  <a:alpha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34" name="Freeform: Shape 33">
              <a:extLst>
                <a:ext uri="{FF2B5EF4-FFF2-40B4-BE49-F238E27FC236}">
                  <a16:creationId xmlns:a16="http://schemas.microsoft.com/office/drawing/2014/main" id="{FE808C74-0DF5-9092-D355-1DF7780D2830}"/>
                </a:ext>
              </a:extLst>
            </p:cNvPr>
            <p:cNvSpPr/>
            <p:nvPr/>
          </p:nvSpPr>
          <p:spPr>
            <a:xfrm>
              <a:off x="7951979" y="2718642"/>
              <a:ext cx="1418088" cy="1071214"/>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rgbClr val="006747">
                <a:alpha val="50000"/>
              </a:srgb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a:solidFill>
                    <a:srgbClr val="FFFFFF"/>
                  </a:solidFill>
                  <a:latin typeface="Frutiger Lt Std"/>
                </a:rPr>
                <a:t>Attributes</a:t>
              </a:r>
            </a:p>
          </p:txBody>
        </p:sp>
        <p:sp>
          <p:nvSpPr>
            <p:cNvPr id="36" name="Freeform: Shape 35">
              <a:extLst>
                <a:ext uri="{FF2B5EF4-FFF2-40B4-BE49-F238E27FC236}">
                  <a16:creationId xmlns:a16="http://schemas.microsoft.com/office/drawing/2014/main" id="{91877E39-199C-0996-8063-9507E596C066}"/>
                </a:ext>
              </a:extLst>
            </p:cNvPr>
            <p:cNvSpPr/>
            <p:nvPr/>
          </p:nvSpPr>
          <p:spPr>
            <a:xfrm>
              <a:off x="2770513" y="4113244"/>
              <a:ext cx="1412593" cy="1592161"/>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0"/>
              </a:schemeClr>
            </a:solidFill>
            <a:ln>
              <a:solidFill>
                <a:schemeClr val="lt2">
                  <a:hueOff val="0"/>
                  <a:satOff val="0"/>
                  <a:lumOff val="0"/>
                  <a:alpha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dirty="0">
                <a:solidFill>
                  <a:srgbClr val="FFFFFF"/>
                </a:solidFill>
                <a:latin typeface="Frutiger Lt Std"/>
              </a:endParaRPr>
            </a:p>
          </p:txBody>
        </p:sp>
        <p:sp>
          <p:nvSpPr>
            <p:cNvPr id="37" name="Freeform: Shape 36">
              <a:extLst>
                <a:ext uri="{FF2B5EF4-FFF2-40B4-BE49-F238E27FC236}">
                  <a16:creationId xmlns:a16="http://schemas.microsoft.com/office/drawing/2014/main" id="{92F5BBB7-62AD-6D41-A911-429D1315FBAE}"/>
                </a:ext>
              </a:extLst>
            </p:cNvPr>
            <p:cNvSpPr/>
            <p:nvPr/>
          </p:nvSpPr>
          <p:spPr>
            <a:xfrm>
              <a:off x="8657384" y="3575319"/>
              <a:ext cx="1418088" cy="1075849"/>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rgbClr val="006747">
                <a:alpha val="50000"/>
              </a:srgbClr>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dirty="0">
                  <a:solidFill>
                    <a:srgbClr val="FFFFFF"/>
                  </a:solidFill>
                  <a:latin typeface="Frutiger Lt Std"/>
                </a:rPr>
                <a:t>Calculations</a:t>
              </a:r>
            </a:p>
          </p:txBody>
        </p:sp>
        <p:sp>
          <p:nvSpPr>
            <p:cNvPr id="39" name="Freeform: Shape 38">
              <a:extLst>
                <a:ext uri="{FF2B5EF4-FFF2-40B4-BE49-F238E27FC236}">
                  <a16:creationId xmlns:a16="http://schemas.microsoft.com/office/drawing/2014/main" id="{E35F1AFC-88B9-CD5A-1CF8-815392C6DBD7}"/>
                </a:ext>
              </a:extLst>
            </p:cNvPr>
            <p:cNvSpPr/>
            <p:nvPr/>
          </p:nvSpPr>
          <p:spPr>
            <a:xfrm>
              <a:off x="6886979" y="4317426"/>
              <a:ext cx="1009077" cy="1025198"/>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0"/>
              </a:schemeClr>
            </a:solidFill>
            <a:ln>
              <a:solidFill>
                <a:schemeClr val="lt2">
                  <a:hueOff val="0"/>
                  <a:satOff val="0"/>
                  <a:lumOff val="0"/>
                  <a:alpha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grpSp>
      <p:sp>
        <p:nvSpPr>
          <p:cNvPr id="41" name="Arrow: Striped Right 40">
            <a:extLst>
              <a:ext uri="{FF2B5EF4-FFF2-40B4-BE49-F238E27FC236}">
                <a16:creationId xmlns:a16="http://schemas.microsoft.com/office/drawing/2014/main" id="{E00B69B6-75E6-83FF-CB7D-98AC00393ED3}"/>
              </a:ext>
            </a:extLst>
          </p:cNvPr>
          <p:cNvSpPr/>
          <p:nvPr/>
        </p:nvSpPr>
        <p:spPr>
          <a:xfrm>
            <a:off x="-1245391" y="3449336"/>
            <a:ext cx="625383" cy="1237403"/>
          </a:xfrm>
          <a:prstGeom prst="stripedRight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Frutiger Lt Std"/>
            </a:endParaRPr>
          </a:p>
        </p:txBody>
      </p:sp>
      <p:sp>
        <p:nvSpPr>
          <p:cNvPr id="19" name="Freeform: Shape 18">
            <a:extLst>
              <a:ext uri="{FF2B5EF4-FFF2-40B4-BE49-F238E27FC236}">
                <a16:creationId xmlns:a16="http://schemas.microsoft.com/office/drawing/2014/main" id="{36DEA471-90F5-71D7-7D7B-3BB6DE22FF7C}"/>
              </a:ext>
            </a:extLst>
          </p:cNvPr>
          <p:cNvSpPr/>
          <p:nvPr/>
        </p:nvSpPr>
        <p:spPr>
          <a:xfrm>
            <a:off x="1931263" y="11023860"/>
            <a:ext cx="1498273" cy="2361108"/>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Attendance</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Diagnoses</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Tracking</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a:t>
            </a:r>
          </a:p>
        </p:txBody>
      </p:sp>
      <p:sp>
        <p:nvSpPr>
          <p:cNvPr id="20" name="Freeform: Shape 19">
            <a:extLst>
              <a:ext uri="{FF2B5EF4-FFF2-40B4-BE49-F238E27FC236}">
                <a16:creationId xmlns:a16="http://schemas.microsoft.com/office/drawing/2014/main" id="{5BD4DFBE-2A72-B502-2F95-08E50247A816}"/>
              </a:ext>
            </a:extLst>
          </p:cNvPr>
          <p:cNvSpPr/>
          <p:nvPr/>
        </p:nvSpPr>
        <p:spPr>
          <a:xfrm>
            <a:off x="3772032" y="10012330"/>
            <a:ext cx="1498273" cy="2361108"/>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Care Provider</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Area</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Injury intent</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a:t>
            </a:r>
          </a:p>
        </p:txBody>
      </p:sp>
      <p:sp>
        <p:nvSpPr>
          <p:cNvPr id="43" name="Freeform: Shape 42">
            <a:extLst>
              <a:ext uri="{FF2B5EF4-FFF2-40B4-BE49-F238E27FC236}">
                <a16:creationId xmlns:a16="http://schemas.microsoft.com/office/drawing/2014/main" id="{34CF3F8F-3E80-92F0-20B0-7E0AE9464F77}"/>
              </a:ext>
            </a:extLst>
          </p:cNvPr>
          <p:cNvSpPr/>
          <p:nvPr/>
        </p:nvSpPr>
        <p:spPr>
          <a:xfrm>
            <a:off x="7687089" y="7729518"/>
            <a:ext cx="1907422" cy="2361108"/>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Time in dept</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Previous Attendance Count</a:t>
            </a:r>
          </a:p>
          <a:p>
            <a:pPr algn="ctr" defTabSz="755650">
              <a:lnSpc>
                <a:spcPct val="90000"/>
              </a:lnSpc>
              <a:spcBef>
                <a:spcPct val="0"/>
              </a:spcBef>
              <a:spcAft>
                <a:spcPct val="35000"/>
              </a:spcAft>
            </a:pPr>
            <a:endParaRPr lang="en-GB" sz="1700" dirty="0">
              <a:solidFill>
                <a:srgbClr val="FFFFFF"/>
              </a:solidFill>
              <a:latin typeface="Frutiger Lt Std"/>
            </a:endParaRPr>
          </a:p>
        </p:txBody>
      </p:sp>
      <p:sp>
        <p:nvSpPr>
          <p:cNvPr id="44" name="Freeform: Shape 43">
            <a:extLst>
              <a:ext uri="{FF2B5EF4-FFF2-40B4-BE49-F238E27FC236}">
                <a16:creationId xmlns:a16="http://schemas.microsoft.com/office/drawing/2014/main" id="{55738D5F-3644-3ADF-719C-01AB2F65128E}"/>
              </a:ext>
            </a:extLst>
          </p:cNvPr>
          <p:cNvSpPr/>
          <p:nvPr/>
        </p:nvSpPr>
        <p:spPr>
          <a:xfrm>
            <a:off x="-5548995" y="2644617"/>
            <a:ext cx="1787680" cy="3213701"/>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Facts</a:t>
            </a:r>
          </a:p>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Dimensions</a:t>
            </a:r>
          </a:p>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Attributes</a:t>
            </a:r>
          </a:p>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Calculations</a:t>
            </a:r>
          </a:p>
        </p:txBody>
      </p:sp>
      <p:sp>
        <p:nvSpPr>
          <p:cNvPr id="45" name="Arrow: Striped Right 44">
            <a:extLst>
              <a:ext uri="{FF2B5EF4-FFF2-40B4-BE49-F238E27FC236}">
                <a16:creationId xmlns:a16="http://schemas.microsoft.com/office/drawing/2014/main" id="{8B729C1C-04E3-E32F-C6AC-900B4334BCF7}"/>
              </a:ext>
            </a:extLst>
          </p:cNvPr>
          <p:cNvSpPr/>
          <p:nvPr/>
        </p:nvSpPr>
        <p:spPr>
          <a:xfrm>
            <a:off x="-6855653" y="3449335"/>
            <a:ext cx="625383" cy="1237403"/>
          </a:xfrm>
          <a:prstGeom prst="stripedRight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Frutiger Lt Std"/>
            </a:endParaRPr>
          </a:p>
        </p:txBody>
      </p:sp>
      <p:grpSp>
        <p:nvGrpSpPr>
          <p:cNvPr id="49" name="Group 48">
            <a:extLst>
              <a:ext uri="{FF2B5EF4-FFF2-40B4-BE49-F238E27FC236}">
                <a16:creationId xmlns:a16="http://schemas.microsoft.com/office/drawing/2014/main" id="{5B7572D3-85BB-8FAA-258A-EF065EFB33E5}"/>
              </a:ext>
            </a:extLst>
          </p:cNvPr>
          <p:cNvGrpSpPr/>
          <p:nvPr/>
        </p:nvGrpSpPr>
        <p:grpSpPr>
          <a:xfrm>
            <a:off x="-9534765" y="2515984"/>
            <a:ext cx="2111727" cy="3213701"/>
            <a:chOff x="6593567" y="2732444"/>
            <a:chExt cx="2111727" cy="3213701"/>
          </a:xfrm>
        </p:grpSpPr>
        <p:sp>
          <p:nvSpPr>
            <p:cNvPr id="50" name="Freeform: Shape 49">
              <a:extLst>
                <a:ext uri="{FF2B5EF4-FFF2-40B4-BE49-F238E27FC236}">
                  <a16:creationId xmlns:a16="http://schemas.microsoft.com/office/drawing/2014/main" id="{F280C232-1C0E-0A83-EF1A-3F6DF29D9A71}"/>
                </a:ext>
              </a:extLst>
            </p:cNvPr>
            <p:cNvSpPr/>
            <p:nvPr/>
          </p:nvSpPr>
          <p:spPr>
            <a:xfrm>
              <a:off x="6593567" y="2732444"/>
              <a:ext cx="2111727" cy="3213701"/>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Views</a:t>
              </a:r>
            </a:p>
            <a:p>
              <a:pPr marL="742950" lvl="1"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Attendance</a:t>
              </a:r>
            </a:p>
            <a:p>
              <a:pPr marL="742950" lvl="1"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Tracking</a:t>
              </a:r>
            </a:p>
            <a:p>
              <a:pPr marL="742950" lvl="1"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Anything….</a:t>
              </a:r>
            </a:p>
          </p:txBody>
        </p:sp>
        <p:pic>
          <p:nvPicPr>
            <p:cNvPr id="51" name="Graphic 50" descr="Binoculars outline">
              <a:extLst>
                <a:ext uri="{FF2B5EF4-FFF2-40B4-BE49-F238E27FC236}">
                  <a16:creationId xmlns:a16="http://schemas.microsoft.com/office/drawing/2014/main" id="{7ABD64DE-41F6-DB7D-D3F9-CC9B293FD1C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45780" y="2816826"/>
              <a:ext cx="807300" cy="807300"/>
            </a:xfrm>
            <a:prstGeom prst="rect">
              <a:avLst/>
            </a:prstGeom>
            <a:effectLst>
              <a:glow rad="63500">
                <a:schemeClr val="tx1">
                  <a:lumMod val="20000"/>
                  <a:lumOff val="80000"/>
                  <a:alpha val="40000"/>
                </a:schemeClr>
              </a:glow>
            </a:effectLst>
          </p:spPr>
        </p:pic>
      </p:grpSp>
      <p:sp>
        <p:nvSpPr>
          <p:cNvPr id="52" name="Freeform: Shape 51">
            <a:extLst>
              <a:ext uri="{FF2B5EF4-FFF2-40B4-BE49-F238E27FC236}">
                <a16:creationId xmlns:a16="http://schemas.microsoft.com/office/drawing/2014/main" id="{DB05A794-9724-FB59-B3A4-9D71B407C7D9}"/>
              </a:ext>
            </a:extLst>
          </p:cNvPr>
          <p:cNvSpPr/>
          <p:nvPr/>
        </p:nvSpPr>
        <p:spPr>
          <a:xfrm>
            <a:off x="1820949" y="3575634"/>
            <a:ext cx="1950383" cy="547200"/>
          </a:xfrm>
          <a:custGeom>
            <a:avLst/>
            <a:gdLst>
              <a:gd name="connsiteX0" fmla="*/ 0 w 1950383"/>
              <a:gd name="connsiteY0" fmla="*/ 0 h 547200"/>
              <a:gd name="connsiteX1" fmla="*/ 1950383 w 1950383"/>
              <a:gd name="connsiteY1" fmla="*/ 0 h 547200"/>
              <a:gd name="connsiteX2" fmla="*/ 1950383 w 1950383"/>
              <a:gd name="connsiteY2" fmla="*/ 547200 h 547200"/>
              <a:gd name="connsiteX3" fmla="*/ 0 w 1950383"/>
              <a:gd name="connsiteY3" fmla="*/ 547200 h 547200"/>
              <a:gd name="connsiteX4" fmla="*/ 0 w 1950383"/>
              <a:gd name="connsiteY4" fmla="*/ 0 h 54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0383" h="547200">
                <a:moveTo>
                  <a:pt x="0" y="0"/>
                </a:moveTo>
                <a:lnTo>
                  <a:pt x="1950383" y="0"/>
                </a:lnTo>
                <a:lnTo>
                  <a:pt x="1950383" y="547200"/>
                </a:lnTo>
                <a:lnTo>
                  <a:pt x="0" y="547200"/>
                </a:lnTo>
                <a:lnTo>
                  <a:pt x="0" y="0"/>
                </a:lnTo>
                <a:close/>
              </a:path>
            </a:pathLst>
          </a:custGeom>
          <a:solidFill>
            <a:schemeClr val="dk2">
              <a:hueOff val="0"/>
              <a:satOff val="0"/>
              <a:lumOff val="0"/>
              <a:alpha val="90000"/>
            </a:schemeClr>
          </a:solidFill>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35128" tIns="77216" rIns="135128" bIns="77216" numCol="1" spcCol="1270" anchor="ctr" anchorCtr="0">
            <a:noAutofit/>
          </a:bodyPr>
          <a:lstStyle/>
          <a:p>
            <a:pPr algn="ctr" defTabSz="844550">
              <a:lnSpc>
                <a:spcPct val="90000"/>
              </a:lnSpc>
              <a:spcBef>
                <a:spcPct val="0"/>
              </a:spcBef>
              <a:spcAft>
                <a:spcPct val="35000"/>
              </a:spcAft>
            </a:pPr>
            <a:r>
              <a:rPr lang="en-GB" sz="1900" dirty="0" err="1">
                <a:solidFill>
                  <a:srgbClr val="FFFFFF"/>
                </a:solidFill>
                <a:latin typeface="Frutiger Lt Std"/>
              </a:rPr>
              <a:t>fact.attendance</a:t>
            </a:r>
            <a:endParaRPr lang="en-GB" sz="1900" dirty="0">
              <a:solidFill>
                <a:srgbClr val="FFFFFF"/>
              </a:solidFill>
              <a:latin typeface="Frutiger Lt Std"/>
            </a:endParaRPr>
          </a:p>
        </p:txBody>
      </p:sp>
      <p:sp>
        <p:nvSpPr>
          <p:cNvPr id="53" name="Freeform: Shape 52">
            <a:extLst>
              <a:ext uri="{FF2B5EF4-FFF2-40B4-BE49-F238E27FC236}">
                <a16:creationId xmlns:a16="http://schemas.microsoft.com/office/drawing/2014/main" id="{363ED038-97C5-6D63-DC0A-D942EA423905}"/>
              </a:ext>
            </a:extLst>
          </p:cNvPr>
          <p:cNvSpPr/>
          <p:nvPr/>
        </p:nvSpPr>
        <p:spPr>
          <a:xfrm>
            <a:off x="1820949" y="4122835"/>
            <a:ext cx="1950383" cy="1147409"/>
          </a:xfrm>
          <a:custGeom>
            <a:avLst/>
            <a:gdLst>
              <a:gd name="connsiteX0" fmla="*/ 0 w 1950383"/>
              <a:gd name="connsiteY0" fmla="*/ 0 h 1147409"/>
              <a:gd name="connsiteX1" fmla="*/ 1950383 w 1950383"/>
              <a:gd name="connsiteY1" fmla="*/ 0 h 1147409"/>
              <a:gd name="connsiteX2" fmla="*/ 1950383 w 1950383"/>
              <a:gd name="connsiteY2" fmla="*/ 1147409 h 1147409"/>
              <a:gd name="connsiteX3" fmla="*/ 0 w 1950383"/>
              <a:gd name="connsiteY3" fmla="*/ 1147409 h 1147409"/>
              <a:gd name="connsiteX4" fmla="*/ 0 w 1950383"/>
              <a:gd name="connsiteY4" fmla="*/ 0 h 1147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0383" h="1147409">
                <a:moveTo>
                  <a:pt x="0" y="0"/>
                </a:moveTo>
                <a:lnTo>
                  <a:pt x="1950383" y="0"/>
                </a:lnTo>
                <a:lnTo>
                  <a:pt x="1950383" y="1147409"/>
                </a:lnTo>
                <a:lnTo>
                  <a:pt x="0" y="1147409"/>
                </a:lnTo>
                <a:lnTo>
                  <a:pt x="0" y="0"/>
                </a:lnTo>
                <a:close/>
              </a:path>
            </a:pathLst>
          </a:custGeom>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1346" tIns="101346" rIns="135128" bIns="152019" numCol="1" spcCol="1270" anchor="t" anchorCtr="0">
            <a:noAutofit/>
          </a:bodyPr>
          <a:lstStyle/>
          <a:p>
            <a:pPr marL="171450" lvl="1" indent="-171450" defTabSz="844550">
              <a:lnSpc>
                <a:spcPct val="90000"/>
              </a:lnSpc>
              <a:spcBef>
                <a:spcPct val="0"/>
              </a:spcBef>
              <a:spcAft>
                <a:spcPct val="15000"/>
              </a:spcAft>
              <a:buFontTx/>
              <a:buChar char="•"/>
            </a:pPr>
            <a:r>
              <a:rPr lang="en-GB" sz="1900" dirty="0" err="1">
                <a:solidFill>
                  <a:srgbClr val="003087">
                    <a:hueOff val="0"/>
                    <a:satOff val="0"/>
                    <a:lumOff val="0"/>
                    <a:alphaOff val="0"/>
                  </a:srgbClr>
                </a:solidFill>
                <a:latin typeface="Frutiger Lt Std"/>
              </a:rPr>
              <a:t>attendance_id</a:t>
            </a:r>
            <a:endParaRPr lang="en-GB" sz="1900" dirty="0">
              <a:solidFill>
                <a:srgbClr val="003087">
                  <a:hueOff val="0"/>
                  <a:satOff val="0"/>
                  <a:lumOff val="0"/>
                  <a:alphaOff val="0"/>
                </a:srgbClr>
              </a:solidFill>
              <a:latin typeface="Frutiger Lt Std"/>
            </a:endParaRPr>
          </a:p>
          <a:p>
            <a:pPr marL="171450" lvl="1" indent="-171450" defTabSz="844550">
              <a:lnSpc>
                <a:spcPct val="90000"/>
              </a:lnSpc>
              <a:spcBef>
                <a:spcPct val="0"/>
              </a:spcBef>
              <a:spcAft>
                <a:spcPct val="15000"/>
              </a:spcAft>
              <a:buFontTx/>
              <a:buChar char="•"/>
            </a:pPr>
            <a:r>
              <a:rPr lang="en-GB" sz="1900" dirty="0" err="1">
                <a:solidFill>
                  <a:srgbClr val="003087">
                    <a:hueOff val="0"/>
                    <a:satOff val="0"/>
                    <a:lumOff val="0"/>
                    <a:alphaOff val="0"/>
                  </a:srgbClr>
                </a:solidFill>
                <a:latin typeface="Frutiger Lt Std"/>
              </a:rPr>
              <a:t>arrival_dt</a:t>
            </a:r>
            <a:endParaRPr lang="en-GB" sz="1900" dirty="0">
              <a:solidFill>
                <a:srgbClr val="003087">
                  <a:hueOff val="0"/>
                  <a:satOff val="0"/>
                  <a:lumOff val="0"/>
                  <a:alphaOff val="0"/>
                </a:srgbClr>
              </a:solidFill>
              <a:latin typeface="Frutiger Lt Std"/>
            </a:endParaRPr>
          </a:p>
          <a:p>
            <a:pPr marL="171450" lvl="1" indent="-171450" defTabSz="844550">
              <a:lnSpc>
                <a:spcPct val="90000"/>
              </a:lnSpc>
              <a:spcBef>
                <a:spcPct val="0"/>
              </a:spcBef>
              <a:spcAft>
                <a:spcPct val="15000"/>
              </a:spcAft>
              <a:buFontTx/>
              <a:buChar char="•"/>
            </a:pPr>
            <a:r>
              <a:rPr lang="en-GB" sz="1900" dirty="0" err="1">
                <a:solidFill>
                  <a:srgbClr val="003087">
                    <a:hueOff val="0"/>
                    <a:satOff val="0"/>
                    <a:lumOff val="0"/>
                    <a:alphaOff val="0"/>
                  </a:srgbClr>
                </a:solidFill>
                <a:highlight>
                  <a:srgbClr val="FFFF00"/>
                </a:highlight>
                <a:latin typeface="Frutiger Lt Std"/>
              </a:rPr>
              <a:t>acuity_id</a:t>
            </a:r>
            <a:endParaRPr lang="en-GB" sz="1900" dirty="0">
              <a:solidFill>
                <a:srgbClr val="003087">
                  <a:hueOff val="0"/>
                  <a:satOff val="0"/>
                  <a:lumOff val="0"/>
                  <a:alphaOff val="0"/>
                </a:srgbClr>
              </a:solidFill>
              <a:highlight>
                <a:srgbClr val="FFFF00"/>
              </a:highlight>
              <a:latin typeface="Frutiger Lt Std"/>
            </a:endParaRPr>
          </a:p>
        </p:txBody>
      </p:sp>
      <p:grpSp>
        <p:nvGrpSpPr>
          <p:cNvPr id="56" name="Group 55">
            <a:extLst>
              <a:ext uri="{FF2B5EF4-FFF2-40B4-BE49-F238E27FC236}">
                <a16:creationId xmlns:a16="http://schemas.microsoft.com/office/drawing/2014/main" id="{B3E7C108-C132-318B-0D3D-C6243BA5D96C}"/>
              </a:ext>
            </a:extLst>
          </p:cNvPr>
          <p:cNvGrpSpPr/>
          <p:nvPr/>
        </p:nvGrpSpPr>
        <p:grpSpPr>
          <a:xfrm>
            <a:off x="4550621" y="3251875"/>
            <a:ext cx="2878801" cy="1664290"/>
            <a:chOff x="3180595" y="3317918"/>
            <a:chExt cx="3714933" cy="1694609"/>
          </a:xfrm>
        </p:grpSpPr>
        <p:sp>
          <p:nvSpPr>
            <p:cNvPr id="27" name="Rectangle 26">
              <a:extLst>
                <a:ext uri="{FF2B5EF4-FFF2-40B4-BE49-F238E27FC236}">
                  <a16:creationId xmlns:a16="http://schemas.microsoft.com/office/drawing/2014/main" id="{279177DE-A4AA-AC4C-860A-F5E7F7DE7BC6}"/>
                </a:ext>
              </a:extLst>
            </p:cNvPr>
            <p:cNvSpPr/>
            <p:nvPr/>
          </p:nvSpPr>
          <p:spPr>
            <a:xfrm>
              <a:off x="3310054" y="3796780"/>
              <a:ext cx="97652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sz="1600">
                <a:solidFill>
                  <a:srgbClr val="003087">
                    <a:hueOff val="0"/>
                    <a:satOff val="0"/>
                    <a:lumOff val="0"/>
                    <a:alphaOff val="0"/>
                  </a:srgbClr>
                </a:solidFill>
                <a:latin typeface="Frutiger Lt Std"/>
              </a:endParaRPr>
            </a:p>
          </p:txBody>
        </p:sp>
        <p:sp>
          <p:nvSpPr>
            <p:cNvPr id="54" name="Freeform: Shape 53">
              <a:extLst>
                <a:ext uri="{FF2B5EF4-FFF2-40B4-BE49-F238E27FC236}">
                  <a16:creationId xmlns:a16="http://schemas.microsoft.com/office/drawing/2014/main" id="{F50B03FC-27D3-FF5E-5F26-4A52652DAC21}"/>
                </a:ext>
              </a:extLst>
            </p:cNvPr>
            <p:cNvSpPr/>
            <p:nvPr/>
          </p:nvSpPr>
          <p:spPr>
            <a:xfrm>
              <a:off x="3180595" y="3317918"/>
              <a:ext cx="3714933" cy="547200"/>
            </a:xfrm>
            <a:custGeom>
              <a:avLst/>
              <a:gdLst>
                <a:gd name="connsiteX0" fmla="*/ 0 w 1950383"/>
                <a:gd name="connsiteY0" fmla="*/ 0 h 547200"/>
                <a:gd name="connsiteX1" fmla="*/ 1950383 w 1950383"/>
                <a:gd name="connsiteY1" fmla="*/ 0 h 547200"/>
                <a:gd name="connsiteX2" fmla="*/ 1950383 w 1950383"/>
                <a:gd name="connsiteY2" fmla="*/ 547200 h 547200"/>
                <a:gd name="connsiteX3" fmla="*/ 0 w 1950383"/>
                <a:gd name="connsiteY3" fmla="*/ 547200 h 547200"/>
                <a:gd name="connsiteX4" fmla="*/ 0 w 1950383"/>
                <a:gd name="connsiteY4" fmla="*/ 0 h 54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0383" h="547200">
                  <a:moveTo>
                    <a:pt x="0" y="0"/>
                  </a:moveTo>
                  <a:lnTo>
                    <a:pt x="1950383" y="0"/>
                  </a:lnTo>
                  <a:lnTo>
                    <a:pt x="1950383" y="547200"/>
                  </a:lnTo>
                  <a:lnTo>
                    <a:pt x="0" y="547200"/>
                  </a:lnTo>
                  <a:lnTo>
                    <a:pt x="0" y="0"/>
                  </a:lnTo>
                  <a:close/>
                </a:path>
              </a:pathLst>
            </a:custGeom>
            <a:solidFill>
              <a:schemeClr val="dk2">
                <a:hueOff val="0"/>
                <a:satOff val="0"/>
                <a:lumOff val="0"/>
                <a:alpha val="90000"/>
              </a:schemeClr>
            </a:solidFill>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35128" tIns="77216" rIns="135128" bIns="77216" numCol="1" spcCol="1270" anchor="ctr" anchorCtr="0">
              <a:noAutofit/>
            </a:bodyPr>
            <a:lstStyle/>
            <a:p>
              <a:pPr algn="ctr" defTabSz="844550">
                <a:lnSpc>
                  <a:spcPct val="90000"/>
                </a:lnSpc>
                <a:spcBef>
                  <a:spcPct val="0"/>
                </a:spcBef>
                <a:spcAft>
                  <a:spcPct val="35000"/>
                </a:spcAft>
              </a:pPr>
              <a:r>
                <a:rPr lang="en-GB" sz="1600" dirty="0" err="1">
                  <a:solidFill>
                    <a:srgbClr val="FFFFFF"/>
                  </a:solidFill>
                  <a:latin typeface="Frutiger Lt Std"/>
                </a:rPr>
                <a:t>dim.acuity_src</a:t>
              </a:r>
              <a:endParaRPr lang="en-GB" sz="1600" dirty="0">
                <a:solidFill>
                  <a:srgbClr val="FFFFFF"/>
                </a:solidFill>
                <a:latin typeface="Frutiger Lt Std"/>
              </a:endParaRPr>
            </a:p>
          </p:txBody>
        </p:sp>
        <p:sp>
          <p:nvSpPr>
            <p:cNvPr id="55" name="Freeform: Shape 54">
              <a:extLst>
                <a:ext uri="{FF2B5EF4-FFF2-40B4-BE49-F238E27FC236}">
                  <a16:creationId xmlns:a16="http://schemas.microsoft.com/office/drawing/2014/main" id="{FCE7C87C-6844-52FD-60A6-B2AFB9C65BFC}"/>
                </a:ext>
              </a:extLst>
            </p:cNvPr>
            <p:cNvSpPr/>
            <p:nvPr/>
          </p:nvSpPr>
          <p:spPr>
            <a:xfrm>
              <a:off x="3180595" y="3865118"/>
              <a:ext cx="3714933" cy="1147409"/>
            </a:xfrm>
            <a:custGeom>
              <a:avLst/>
              <a:gdLst>
                <a:gd name="connsiteX0" fmla="*/ 0 w 1950383"/>
                <a:gd name="connsiteY0" fmla="*/ 0 h 1147409"/>
                <a:gd name="connsiteX1" fmla="*/ 1950383 w 1950383"/>
                <a:gd name="connsiteY1" fmla="*/ 0 h 1147409"/>
                <a:gd name="connsiteX2" fmla="*/ 1950383 w 1950383"/>
                <a:gd name="connsiteY2" fmla="*/ 1147409 h 1147409"/>
                <a:gd name="connsiteX3" fmla="*/ 0 w 1950383"/>
                <a:gd name="connsiteY3" fmla="*/ 1147409 h 1147409"/>
                <a:gd name="connsiteX4" fmla="*/ 0 w 1950383"/>
                <a:gd name="connsiteY4" fmla="*/ 0 h 1147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0383" h="1147409">
                  <a:moveTo>
                    <a:pt x="0" y="0"/>
                  </a:moveTo>
                  <a:lnTo>
                    <a:pt x="1950383" y="0"/>
                  </a:lnTo>
                  <a:lnTo>
                    <a:pt x="1950383" y="1147409"/>
                  </a:lnTo>
                  <a:lnTo>
                    <a:pt x="0" y="1147409"/>
                  </a:lnTo>
                  <a:lnTo>
                    <a:pt x="0" y="0"/>
                  </a:lnTo>
                  <a:close/>
                </a:path>
              </a:pathLst>
            </a:custGeom>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1346" tIns="101346" rIns="135128" bIns="152019" numCol="1" spcCol="1270" anchor="t" anchorCtr="0">
              <a:noAutofit/>
            </a:bodyPr>
            <a:lstStyle/>
            <a:p>
              <a:pPr marL="171450" lvl="1" indent="-171450" defTabSz="844550">
                <a:lnSpc>
                  <a:spcPct val="90000"/>
                </a:lnSpc>
                <a:spcBef>
                  <a:spcPct val="0"/>
                </a:spcBef>
                <a:spcAft>
                  <a:spcPct val="15000"/>
                </a:spcAft>
                <a:buFontTx/>
                <a:buChar char="•"/>
              </a:pPr>
              <a:r>
                <a:rPr lang="en-GB" sz="1600" dirty="0" err="1">
                  <a:solidFill>
                    <a:srgbClr val="003087">
                      <a:hueOff val="0"/>
                      <a:satOff val="0"/>
                      <a:lumOff val="0"/>
                      <a:alphaOff val="0"/>
                    </a:srgbClr>
                  </a:solidFill>
                  <a:highlight>
                    <a:srgbClr val="FFFF00"/>
                  </a:highlight>
                  <a:latin typeface="Frutiger Lt Std"/>
                </a:rPr>
                <a:t>acuity_id</a:t>
              </a:r>
              <a:endParaRPr lang="en-GB" sz="1600" dirty="0">
                <a:solidFill>
                  <a:srgbClr val="003087">
                    <a:hueOff val="0"/>
                    <a:satOff val="0"/>
                    <a:lumOff val="0"/>
                    <a:alphaOff val="0"/>
                  </a:srgbClr>
                </a:solidFill>
                <a:highlight>
                  <a:srgbClr val="FFFF00"/>
                </a:highlight>
                <a:latin typeface="Frutiger Lt Std"/>
              </a:endParaRPr>
            </a:p>
            <a:p>
              <a:pPr marL="171450" lvl="1" indent="-171450" defTabSz="844550">
                <a:lnSpc>
                  <a:spcPct val="90000"/>
                </a:lnSpc>
                <a:spcBef>
                  <a:spcPct val="0"/>
                </a:spcBef>
                <a:spcAft>
                  <a:spcPct val="15000"/>
                </a:spcAft>
                <a:buFontTx/>
                <a:buChar char="•"/>
              </a:pPr>
              <a:r>
                <a:rPr lang="en-GB" sz="1600" dirty="0" err="1">
                  <a:solidFill>
                    <a:srgbClr val="003087">
                      <a:hueOff val="0"/>
                      <a:satOff val="0"/>
                      <a:lumOff val="0"/>
                      <a:alphaOff val="0"/>
                    </a:srgbClr>
                  </a:solidFill>
                  <a:latin typeface="Frutiger Lt Std"/>
                </a:rPr>
                <a:t>acuity_system_business_key</a:t>
              </a:r>
              <a:endParaRPr lang="en-GB" sz="1600" dirty="0">
                <a:solidFill>
                  <a:srgbClr val="003087">
                    <a:hueOff val="0"/>
                    <a:satOff val="0"/>
                    <a:lumOff val="0"/>
                    <a:alphaOff val="0"/>
                  </a:srgbClr>
                </a:solidFill>
                <a:latin typeface="Frutiger Lt Std"/>
              </a:endParaRPr>
            </a:p>
            <a:p>
              <a:pPr marL="171450" lvl="1" indent="-171450" defTabSz="844550">
                <a:lnSpc>
                  <a:spcPct val="90000"/>
                </a:lnSpc>
                <a:spcBef>
                  <a:spcPct val="0"/>
                </a:spcBef>
                <a:spcAft>
                  <a:spcPct val="15000"/>
                </a:spcAft>
                <a:buFontTx/>
                <a:buChar char="•"/>
              </a:pPr>
              <a:r>
                <a:rPr lang="en-GB" sz="1600" dirty="0">
                  <a:solidFill>
                    <a:srgbClr val="003087">
                      <a:hueOff val="0"/>
                      <a:satOff val="0"/>
                      <a:lumOff val="0"/>
                      <a:alphaOff val="0"/>
                    </a:srgbClr>
                  </a:solidFill>
                  <a:latin typeface="Frutiger Lt Std"/>
                </a:rPr>
                <a:t>acuity</a:t>
              </a:r>
            </a:p>
            <a:p>
              <a:pPr marL="171450" lvl="1" indent="-171450" defTabSz="844550">
                <a:lnSpc>
                  <a:spcPct val="90000"/>
                </a:lnSpc>
                <a:spcBef>
                  <a:spcPct val="0"/>
                </a:spcBef>
                <a:spcAft>
                  <a:spcPct val="15000"/>
                </a:spcAft>
                <a:buFontTx/>
                <a:buChar char="•"/>
              </a:pPr>
              <a:r>
                <a:rPr lang="en-GB" sz="1600" dirty="0" err="1">
                  <a:solidFill>
                    <a:srgbClr val="003087">
                      <a:hueOff val="0"/>
                      <a:satOff val="0"/>
                      <a:lumOff val="0"/>
                      <a:alphaOff val="0"/>
                    </a:srgbClr>
                  </a:solidFill>
                  <a:latin typeface="Frutiger Lt Std"/>
                </a:rPr>
                <a:t>system_id</a:t>
              </a:r>
              <a:endParaRPr lang="en-GB" sz="1600" dirty="0">
                <a:solidFill>
                  <a:srgbClr val="003087">
                    <a:hueOff val="0"/>
                    <a:satOff val="0"/>
                    <a:lumOff val="0"/>
                    <a:alphaOff val="0"/>
                  </a:srgbClr>
                </a:solidFill>
                <a:latin typeface="Frutiger Lt Std"/>
              </a:endParaRPr>
            </a:p>
          </p:txBody>
        </p:sp>
      </p:grpSp>
      <p:sp>
        <p:nvSpPr>
          <p:cNvPr id="3" name="Freeform: Shape 2">
            <a:extLst>
              <a:ext uri="{FF2B5EF4-FFF2-40B4-BE49-F238E27FC236}">
                <a16:creationId xmlns:a16="http://schemas.microsoft.com/office/drawing/2014/main" id="{DD8DF723-A373-3756-9A25-917292089BFD}"/>
              </a:ext>
            </a:extLst>
          </p:cNvPr>
          <p:cNvSpPr/>
          <p:nvPr/>
        </p:nvSpPr>
        <p:spPr>
          <a:xfrm>
            <a:off x="5856370" y="8831776"/>
            <a:ext cx="1498273" cy="2361108"/>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Defined value on dimension</a:t>
            </a:r>
          </a:p>
          <a:p>
            <a:pPr marL="285750" indent="-285750" defTabSz="755650">
              <a:lnSpc>
                <a:spcPct val="90000"/>
              </a:lnSpc>
              <a:spcBef>
                <a:spcPct val="0"/>
              </a:spcBef>
              <a:spcAft>
                <a:spcPct val="35000"/>
              </a:spcAft>
              <a:buFont typeface="Arial" panose="020B0604020202020204" pitchFamily="34" charset="0"/>
              <a:buChar char="•"/>
            </a:pPr>
            <a:r>
              <a:rPr lang="en-GB" sz="1400" dirty="0" err="1">
                <a:solidFill>
                  <a:srgbClr val="FFFFFF"/>
                </a:solidFill>
                <a:latin typeface="Frutiger Lt Std"/>
              </a:rPr>
              <a:t>Eg</a:t>
            </a:r>
            <a:r>
              <a:rPr lang="en-GB" sz="1400" dirty="0">
                <a:solidFill>
                  <a:srgbClr val="FFFFFF"/>
                </a:solidFill>
                <a:latin typeface="Frutiger Lt Std"/>
              </a:rPr>
              <a:t> Business name</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Resus area flag</a:t>
            </a:r>
          </a:p>
          <a:p>
            <a:pPr marL="285750" indent="-285750" defTabSz="755650">
              <a:lnSpc>
                <a:spcPct val="90000"/>
              </a:lnSpc>
              <a:spcBef>
                <a:spcPct val="0"/>
              </a:spcBef>
              <a:spcAft>
                <a:spcPct val="35000"/>
              </a:spcAft>
              <a:buFont typeface="Arial" panose="020B0604020202020204" pitchFamily="34" charset="0"/>
              <a:buChar char="•"/>
            </a:pPr>
            <a:r>
              <a:rPr lang="en-GB" sz="1400" dirty="0">
                <a:solidFill>
                  <a:srgbClr val="FFFFFF"/>
                </a:solidFill>
                <a:latin typeface="Frutiger Lt Std"/>
              </a:rPr>
              <a:t>…</a:t>
            </a:r>
          </a:p>
          <a:p>
            <a:pPr algn="ctr" defTabSz="755650">
              <a:lnSpc>
                <a:spcPct val="90000"/>
              </a:lnSpc>
              <a:spcBef>
                <a:spcPct val="0"/>
              </a:spcBef>
              <a:spcAft>
                <a:spcPct val="35000"/>
              </a:spcAft>
            </a:pPr>
            <a:endParaRPr lang="en-GB" sz="1700" dirty="0">
              <a:solidFill>
                <a:srgbClr val="FFFFFF"/>
              </a:solidFill>
              <a:latin typeface="Frutiger Lt Std"/>
            </a:endParaRPr>
          </a:p>
        </p:txBody>
      </p:sp>
    </p:spTree>
    <p:extLst>
      <p:ext uri="{BB962C8B-B14F-4D97-AF65-F5344CB8AC3E}">
        <p14:creationId xmlns:p14="http://schemas.microsoft.com/office/powerpoint/2010/main" val="13287875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43FB6164-6DD3-2BC0-6C38-5656F7DE40CB}"/>
              </a:ext>
            </a:extLst>
          </p:cNvPr>
          <p:cNvSpPr/>
          <p:nvPr/>
        </p:nvSpPr>
        <p:spPr>
          <a:xfrm>
            <a:off x="5263962" y="2776444"/>
            <a:ext cx="1787680" cy="3213701"/>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Facts</a:t>
            </a:r>
          </a:p>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Dimensions</a:t>
            </a:r>
          </a:p>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Attributes</a:t>
            </a:r>
          </a:p>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Calculations</a:t>
            </a:r>
          </a:p>
        </p:txBody>
      </p:sp>
      <p:pic>
        <p:nvPicPr>
          <p:cNvPr id="6" name="Picture 5" descr="A group of birds flying&#10;&#10;Description automatically generated">
            <a:extLst>
              <a:ext uri="{FF2B5EF4-FFF2-40B4-BE49-F238E27FC236}">
                <a16:creationId xmlns:a16="http://schemas.microsoft.com/office/drawing/2014/main" id="{2953E65B-18B6-3886-1DE1-74A236D5C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4669" y="6015363"/>
            <a:ext cx="2291564" cy="2374692"/>
          </a:xfrm>
          <a:prstGeom prst="rect">
            <a:avLst/>
          </a:prstGeom>
        </p:spPr>
      </p:pic>
      <p:sp>
        <p:nvSpPr>
          <p:cNvPr id="4" name="Title 3">
            <a:extLst>
              <a:ext uri="{FF2B5EF4-FFF2-40B4-BE49-F238E27FC236}">
                <a16:creationId xmlns:a16="http://schemas.microsoft.com/office/drawing/2014/main" id="{9657502F-6D36-4B6F-53AB-162DD0FE2E22}"/>
              </a:ext>
            </a:extLst>
          </p:cNvPr>
          <p:cNvSpPr>
            <a:spLocks noGrp="1"/>
          </p:cNvSpPr>
          <p:nvPr>
            <p:ph type="title"/>
          </p:nvPr>
        </p:nvSpPr>
        <p:spPr>
          <a:xfrm>
            <a:off x="1749819" y="867856"/>
            <a:ext cx="7478257" cy="673837"/>
          </a:xfrm>
        </p:spPr>
        <p:txBody>
          <a:bodyPr/>
          <a:lstStyle/>
          <a:p>
            <a:r>
              <a:rPr lang="en-GB" dirty="0"/>
              <a:t>Design Overview</a:t>
            </a:r>
            <a:endParaRPr lang="en-GB" sz="2000" dirty="0"/>
          </a:p>
        </p:txBody>
      </p:sp>
      <p:sp>
        <p:nvSpPr>
          <p:cNvPr id="5" name="Text Placeholder 3">
            <a:extLst>
              <a:ext uri="{FF2B5EF4-FFF2-40B4-BE49-F238E27FC236}">
                <a16:creationId xmlns:a16="http://schemas.microsoft.com/office/drawing/2014/main" id="{2411D4B7-C7B7-9BC1-0FAC-21E6EA64B004}"/>
              </a:ext>
            </a:extLst>
          </p:cNvPr>
          <p:cNvSpPr>
            <a:spLocks noGrp="1"/>
          </p:cNvSpPr>
          <p:nvPr>
            <p:ph type="body" sz="quarter" idx="13"/>
          </p:nvPr>
        </p:nvSpPr>
        <p:spPr>
          <a:xfrm>
            <a:off x="5610110" y="6235519"/>
            <a:ext cx="2928176" cy="452056"/>
          </a:xfrm>
        </p:spPr>
        <p:txBody>
          <a:bodyPr/>
          <a:lstStyle/>
          <a:p>
            <a:r>
              <a:rPr lang="en-GB" dirty="0"/>
              <a:t>Neil Hayes-Webster</a:t>
            </a:r>
          </a:p>
        </p:txBody>
      </p:sp>
      <p:sp>
        <p:nvSpPr>
          <p:cNvPr id="14" name="Freeform: Shape 13">
            <a:extLst>
              <a:ext uri="{FF2B5EF4-FFF2-40B4-BE49-F238E27FC236}">
                <a16:creationId xmlns:a16="http://schemas.microsoft.com/office/drawing/2014/main" id="{0E73D117-727B-1EAB-A207-E520CB3D220D}"/>
              </a:ext>
            </a:extLst>
          </p:cNvPr>
          <p:cNvSpPr/>
          <p:nvPr/>
        </p:nvSpPr>
        <p:spPr>
          <a:xfrm>
            <a:off x="2398731" y="1685608"/>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Extraction Layer</a:t>
            </a:r>
          </a:p>
        </p:txBody>
      </p:sp>
      <p:sp>
        <p:nvSpPr>
          <p:cNvPr id="15" name="Freeform: Shape 14">
            <a:extLst>
              <a:ext uri="{FF2B5EF4-FFF2-40B4-BE49-F238E27FC236}">
                <a16:creationId xmlns:a16="http://schemas.microsoft.com/office/drawing/2014/main" id="{B46009E0-5EE0-4DC5-3681-CC84674AB0DE}"/>
              </a:ext>
            </a:extLst>
          </p:cNvPr>
          <p:cNvSpPr/>
          <p:nvPr/>
        </p:nvSpPr>
        <p:spPr>
          <a:xfrm>
            <a:off x="5488947" y="1685608"/>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Business Layer</a:t>
            </a:r>
          </a:p>
        </p:txBody>
      </p:sp>
      <p:sp>
        <p:nvSpPr>
          <p:cNvPr id="16" name="Freeform: Shape 15">
            <a:extLst>
              <a:ext uri="{FF2B5EF4-FFF2-40B4-BE49-F238E27FC236}">
                <a16:creationId xmlns:a16="http://schemas.microsoft.com/office/drawing/2014/main" id="{51985D98-FAFC-AD58-B4E8-18F0F164800F}"/>
              </a:ext>
            </a:extLst>
          </p:cNvPr>
          <p:cNvSpPr/>
          <p:nvPr/>
        </p:nvSpPr>
        <p:spPr>
          <a:xfrm>
            <a:off x="8498570" y="1685608"/>
            <a:ext cx="1349721" cy="747766"/>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tx2">
              <a:lumMod val="60000"/>
              <a:lumOff val="40000"/>
            </a:schemeClr>
          </a:solidFill>
          <a:effectLst>
            <a:glow rad="63500">
              <a:schemeClr val="accent6">
                <a:satMod val="175000"/>
                <a:alpha val="40000"/>
              </a:schemeClr>
            </a:glow>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Presentation Layer</a:t>
            </a:r>
          </a:p>
        </p:txBody>
      </p:sp>
      <p:sp>
        <p:nvSpPr>
          <p:cNvPr id="13" name="Freeform: Shape 12">
            <a:extLst>
              <a:ext uri="{FF2B5EF4-FFF2-40B4-BE49-F238E27FC236}">
                <a16:creationId xmlns:a16="http://schemas.microsoft.com/office/drawing/2014/main" id="{6A63E853-14E8-70B3-C85E-974EEA96B9C6}"/>
              </a:ext>
            </a:extLst>
          </p:cNvPr>
          <p:cNvSpPr/>
          <p:nvPr/>
        </p:nvSpPr>
        <p:spPr>
          <a:xfrm>
            <a:off x="2398730" y="2776444"/>
            <a:ext cx="1349721" cy="3213701"/>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algn="ctr" defTabSz="755650">
              <a:lnSpc>
                <a:spcPct val="90000"/>
              </a:lnSpc>
              <a:spcBef>
                <a:spcPct val="0"/>
              </a:spcBef>
              <a:spcAft>
                <a:spcPct val="35000"/>
              </a:spcAft>
            </a:pPr>
            <a:r>
              <a:rPr lang="en-GB" sz="1700" dirty="0">
                <a:solidFill>
                  <a:srgbClr val="FFFFFF"/>
                </a:solidFill>
                <a:latin typeface="Frutiger Lt Std"/>
              </a:rPr>
              <a:t>Extraction</a:t>
            </a:r>
          </a:p>
        </p:txBody>
      </p:sp>
      <p:sp>
        <p:nvSpPr>
          <p:cNvPr id="22" name="Rectangle 21">
            <a:extLst>
              <a:ext uri="{FF2B5EF4-FFF2-40B4-BE49-F238E27FC236}">
                <a16:creationId xmlns:a16="http://schemas.microsoft.com/office/drawing/2014/main" id="{2A2642B4-7E52-69CC-E083-55CAA0F5C837}"/>
              </a:ext>
            </a:extLst>
          </p:cNvPr>
          <p:cNvSpPr/>
          <p:nvPr/>
        </p:nvSpPr>
        <p:spPr>
          <a:xfrm>
            <a:off x="7080067" y="3029303"/>
            <a:ext cx="100907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27" name="Rectangle 26">
            <a:extLst>
              <a:ext uri="{FF2B5EF4-FFF2-40B4-BE49-F238E27FC236}">
                <a16:creationId xmlns:a16="http://schemas.microsoft.com/office/drawing/2014/main" id="{279177DE-A4AA-AC4C-860A-F5E7F7DE7BC6}"/>
              </a:ext>
            </a:extLst>
          </p:cNvPr>
          <p:cNvSpPr/>
          <p:nvPr/>
        </p:nvSpPr>
        <p:spPr>
          <a:xfrm>
            <a:off x="4834055" y="3796781"/>
            <a:ext cx="97652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35" name="Rectangle 34">
            <a:extLst>
              <a:ext uri="{FF2B5EF4-FFF2-40B4-BE49-F238E27FC236}">
                <a16:creationId xmlns:a16="http://schemas.microsoft.com/office/drawing/2014/main" id="{DCA88599-5D67-B733-2126-541ED25FB47C}"/>
              </a:ext>
            </a:extLst>
          </p:cNvPr>
          <p:cNvSpPr/>
          <p:nvPr/>
        </p:nvSpPr>
        <p:spPr>
          <a:xfrm>
            <a:off x="7080067" y="4564258"/>
            <a:ext cx="100907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sp>
        <p:nvSpPr>
          <p:cNvPr id="38" name="Rectangle 37">
            <a:extLst>
              <a:ext uri="{FF2B5EF4-FFF2-40B4-BE49-F238E27FC236}">
                <a16:creationId xmlns:a16="http://schemas.microsoft.com/office/drawing/2014/main" id="{759AE7B1-DE77-D659-C1B4-77828AD207F9}"/>
              </a:ext>
            </a:extLst>
          </p:cNvPr>
          <p:cNvSpPr/>
          <p:nvPr/>
        </p:nvSpPr>
        <p:spPr>
          <a:xfrm>
            <a:off x="4834055" y="5331736"/>
            <a:ext cx="976527" cy="542515"/>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solidFill>
                <a:srgbClr val="003087">
                  <a:hueOff val="0"/>
                  <a:satOff val="0"/>
                  <a:lumOff val="0"/>
                  <a:alphaOff val="0"/>
                </a:srgbClr>
              </a:solidFill>
              <a:latin typeface="Frutiger Lt Std"/>
            </a:endParaRPr>
          </a:p>
        </p:txBody>
      </p:sp>
      <p:grpSp>
        <p:nvGrpSpPr>
          <p:cNvPr id="40" name="Group 39">
            <a:extLst>
              <a:ext uri="{FF2B5EF4-FFF2-40B4-BE49-F238E27FC236}">
                <a16:creationId xmlns:a16="http://schemas.microsoft.com/office/drawing/2014/main" id="{93831D32-936F-D2A9-9424-1EA6F4F158A1}"/>
              </a:ext>
            </a:extLst>
          </p:cNvPr>
          <p:cNvGrpSpPr/>
          <p:nvPr/>
        </p:nvGrpSpPr>
        <p:grpSpPr>
          <a:xfrm>
            <a:off x="12279193" y="7280716"/>
            <a:ext cx="1567423" cy="771903"/>
            <a:chOff x="2676363" y="2560378"/>
            <a:chExt cx="4227997" cy="3636437"/>
          </a:xfrm>
        </p:grpSpPr>
        <p:sp>
          <p:nvSpPr>
            <p:cNvPr id="21" name="Freeform: Shape 20">
              <a:extLst>
                <a:ext uri="{FF2B5EF4-FFF2-40B4-BE49-F238E27FC236}">
                  <a16:creationId xmlns:a16="http://schemas.microsoft.com/office/drawing/2014/main" id="{E20B649A-7A4E-FEC2-FF40-3E6FB1CD2316}"/>
                </a:ext>
              </a:extLst>
            </p:cNvPr>
            <p:cNvSpPr/>
            <p:nvPr/>
          </p:nvSpPr>
          <p:spPr>
            <a:xfrm>
              <a:off x="3220527" y="3554173"/>
              <a:ext cx="1348294" cy="1394590"/>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ln>
              <a:solidFill>
                <a:schemeClr val="lt2">
                  <a:hueOff val="0"/>
                  <a:satOff val="0"/>
                  <a:lumOff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a:solidFill>
                    <a:srgbClr val="FFFFFF"/>
                  </a:solidFill>
                  <a:latin typeface="Frutiger Lt Std"/>
                </a:rPr>
                <a:t>Facts</a:t>
              </a:r>
            </a:p>
          </p:txBody>
        </p:sp>
        <p:sp>
          <p:nvSpPr>
            <p:cNvPr id="23" name="Freeform: Shape 22">
              <a:extLst>
                <a:ext uri="{FF2B5EF4-FFF2-40B4-BE49-F238E27FC236}">
                  <a16:creationId xmlns:a16="http://schemas.microsoft.com/office/drawing/2014/main" id="{73F08D65-4D7B-ACD2-E7C0-88CC407454E8}"/>
                </a:ext>
              </a:extLst>
            </p:cNvPr>
            <p:cNvSpPr/>
            <p:nvPr/>
          </p:nvSpPr>
          <p:spPr>
            <a:xfrm>
              <a:off x="3141534" y="2560378"/>
              <a:ext cx="678861" cy="755677"/>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50000"/>
              </a:schemeClr>
            </a:solidFill>
            <a:ln>
              <a:solidFill>
                <a:schemeClr val="lt2">
                  <a:hueOff val="0"/>
                  <a:satOff val="0"/>
                  <a:lumOff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26" name="Freeform: Shape 25">
              <a:extLst>
                <a:ext uri="{FF2B5EF4-FFF2-40B4-BE49-F238E27FC236}">
                  <a16:creationId xmlns:a16="http://schemas.microsoft.com/office/drawing/2014/main" id="{1518C228-98EE-A77C-6E5A-20C8C4B82E07}"/>
                </a:ext>
              </a:extLst>
            </p:cNvPr>
            <p:cNvSpPr/>
            <p:nvPr/>
          </p:nvSpPr>
          <p:spPr>
            <a:xfrm>
              <a:off x="4438124" y="2603264"/>
              <a:ext cx="1349721" cy="1394590"/>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ln>
              <a:solidFill>
                <a:schemeClr val="lt2">
                  <a:hueOff val="0"/>
                  <a:satOff val="0"/>
                  <a:lumOff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a:solidFill>
                    <a:srgbClr val="FFFFFF"/>
                  </a:solidFill>
                  <a:latin typeface="Frutiger Lt Std"/>
                </a:rPr>
                <a:t>Dimensions</a:t>
              </a:r>
            </a:p>
          </p:txBody>
        </p:sp>
        <p:sp>
          <p:nvSpPr>
            <p:cNvPr id="28" name="Freeform: Shape 27">
              <a:extLst>
                <a:ext uri="{FF2B5EF4-FFF2-40B4-BE49-F238E27FC236}">
                  <a16:creationId xmlns:a16="http://schemas.microsoft.com/office/drawing/2014/main" id="{9B7BECF3-DC1B-B54D-FDA4-5759F5F0E828}"/>
                </a:ext>
              </a:extLst>
            </p:cNvPr>
            <p:cNvSpPr/>
            <p:nvPr/>
          </p:nvSpPr>
          <p:spPr>
            <a:xfrm>
              <a:off x="6024582" y="3029302"/>
              <a:ext cx="879778" cy="1014380"/>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50000"/>
              </a:schemeClr>
            </a:solidFill>
            <a:ln>
              <a:solidFill>
                <a:schemeClr val="lt2">
                  <a:hueOff val="0"/>
                  <a:satOff val="0"/>
                  <a:lumOff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34" name="Freeform: Shape 33">
              <a:extLst>
                <a:ext uri="{FF2B5EF4-FFF2-40B4-BE49-F238E27FC236}">
                  <a16:creationId xmlns:a16="http://schemas.microsoft.com/office/drawing/2014/main" id="{FE808C74-0DF5-9092-D355-1DF7780D2830}"/>
                </a:ext>
              </a:extLst>
            </p:cNvPr>
            <p:cNvSpPr/>
            <p:nvPr/>
          </p:nvSpPr>
          <p:spPr>
            <a:xfrm>
              <a:off x="3898937" y="4874935"/>
              <a:ext cx="1257309" cy="1237403"/>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rgbClr val="006747"/>
            </a:solidFill>
            <a:ln>
              <a:solidFill>
                <a:schemeClr val="lt2">
                  <a:hueOff val="0"/>
                  <a:satOff val="0"/>
                  <a:lumOff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a:solidFill>
                    <a:srgbClr val="FFFFFF"/>
                  </a:solidFill>
                  <a:latin typeface="Frutiger Lt Std"/>
                </a:rPr>
                <a:t>Attributes</a:t>
              </a:r>
            </a:p>
          </p:txBody>
        </p:sp>
        <p:sp>
          <p:nvSpPr>
            <p:cNvPr id="36" name="Freeform: Shape 35">
              <a:extLst>
                <a:ext uri="{FF2B5EF4-FFF2-40B4-BE49-F238E27FC236}">
                  <a16:creationId xmlns:a16="http://schemas.microsoft.com/office/drawing/2014/main" id="{91877E39-199C-0996-8063-9507E596C066}"/>
                </a:ext>
              </a:extLst>
            </p:cNvPr>
            <p:cNvSpPr/>
            <p:nvPr/>
          </p:nvSpPr>
          <p:spPr>
            <a:xfrm>
              <a:off x="2676363" y="4840527"/>
              <a:ext cx="870054" cy="997352"/>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50000"/>
              </a:schemeClr>
            </a:solidFill>
            <a:ln>
              <a:solidFill>
                <a:schemeClr val="lt2">
                  <a:hueOff val="0"/>
                  <a:satOff val="0"/>
                  <a:lumOff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sp>
          <p:nvSpPr>
            <p:cNvPr id="37" name="Freeform: Shape 36">
              <a:extLst>
                <a:ext uri="{FF2B5EF4-FFF2-40B4-BE49-F238E27FC236}">
                  <a16:creationId xmlns:a16="http://schemas.microsoft.com/office/drawing/2014/main" id="{92F5BBB7-62AD-6D41-A911-429D1315FBAE}"/>
                </a:ext>
              </a:extLst>
            </p:cNvPr>
            <p:cNvSpPr/>
            <p:nvPr/>
          </p:nvSpPr>
          <p:spPr>
            <a:xfrm>
              <a:off x="5018842" y="3871544"/>
              <a:ext cx="1417536" cy="1365044"/>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rgbClr val="006747"/>
            </a:solidFill>
            <a:ln>
              <a:solidFill>
                <a:schemeClr val="lt2">
                  <a:hueOff val="0"/>
                  <a:satOff val="0"/>
                  <a:lumOff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3546" tIns="201864" rIns="183547" bIns="201863" numCol="1" spcCol="1270" anchor="ctr" anchorCtr="0">
              <a:noAutofit/>
            </a:bodyPr>
            <a:lstStyle/>
            <a:p>
              <a:pPr algn="ctr" defTabSz="711200">
                <a:lnSpc>
                  <a:spcPct val="90000"/>
                </a:lnSpc>
                <a:spcBef>
                  <a:spcPct val="0"/>
                </a:spcBef>
                <a:spcAft>
                  <a:spcPct val="35000"/>
                </a:spcAft>
              </a:pPr>
              <a:r>
                <a:rPr lang="en-GB" sz="1600" dirty="0">
                  <a:solidFill>
                    <a:srgbClr val="FFFFFF"/>
                  </a:solidFill>
                  <a:latin typeface="Frutiger Lt Std"/>
                </a:rPr>
                <a:t>Calculations</a:t>
              </a:r>
            </a:p>
          </p:txBody>
        </p:sp>
        <p:sp>
          <p:nvSpPr>
            <p:cNvPr id="39" name="Freeform: Shape 38">
              <a:extLst>
                <a:ext uri="{FF2B5EF4-FFF2-40B4-BE49-F238E27FC236}">
                  <a16:creationId xmlns:a16="http://schemas.microsoft.com/office/drawing/2014/main" id="{E35F1AFC-88B9-CD5A-1CF8-815392C6DBD7}"/>
                </a:ext>
              </a:extLst>
            </p:cNvPr>
            <p:cNvSpPr/>
            <p:nvPr/>
          </p:nvSpPr>
          <p:spPr>
            <a:xfrm>
              <a:off x="5581988" y="5171617"/>
              <a:ext cx="1009077" cy="1025198"/>
            </a:xfrm>
            <a:custGeom>
              <a:avLst/>
              <a:gdLst>
                <a:gd name="connsiteX0" fmla="*/ 0 w 904191"/>
                <a:gd name="connsiteY0" fmla="*/ 393323 h 786646"/>
                <a:gd name="connsiteX1" fmla="*/ 196662 w 904191"/>
                <a:gd name="connsiteY1" fmla="*/ 0 h 786646"/>
                <a:gd name="connsiteX2" fmla="*/ 707530 w 904191"/>
                <a:gd name="connsiteY2" fmla="*/ 0 h 786646"/>
                <a:gd name="connsiteX3" fmla="*/ 904191 w 904191"/>
                <a:gd name="connsiteY3" fmla="*/ 393323 h 786646"/>
                <a:gd name="connsiteX4" fmla="*/ 707530 w 904191"/>
                <a:gd name="connsiteY4" fmla="*/ 786646 h 786646"/>
                <a:gd name="connsiteX5" fmla="*/ 196662 w 904191"/>
                <a:gd name="connsiteY5" fmla="*/ 786646 h 786646"/>
                <a:gd name="connsiteX6" fmla="*/ 0 w 904191"/>
                <a:gd name="connsiteY6" fmla="*/ 393323 h 7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191" h="786646">
                  <a:moveTo>
                    <a:pt x="452095" y="0"/>
                  </a:moveTo>
                  <a:lnTo>
                    <a:pt x="904190" y="171096"/>
                  </a:lnTo>
                  <a:lnTo>
                    <a:pt x="904190" y="615551"/>
                  </a:lnTo>
                  <a:lnTo>
                    <a:pt x="452096" y="786646"/>
                  </a:lnTo>
                  <a:lnTo>
                    <a:pt x="1" y="615551"/>
                  </a:lnTo>
                  <a:lnTo>
                    <a:pt x="1" y="171096"/>
                  </a:lnTo>
                  <a:lnTo>
                    <a:pt x="452095" y="0"/>
                  </a:lnTo>
                  <a:close/>
                </a:path>
              </a:pathLst>
            </a:custGeom>
            <a:solidFill>
              <a:schemeClr val="dk2">
                <a:hueOff val="0"/>
                <a:satOff val="0"/>
                <a:lumOff val="0"/>
                <a:alpha val="50000"/>
              </a:schemeClr>
            </a:solidFill>
            <a:ln>
              <a:solidFill>
                <a:schemeClr val="lt2">
                  <a:hueOff val="0"/>
                  <a:satOff val="0"/>
                  <a:lumOff val="0"/>
                </a:schemeClr>
              </a:solidFill>
            </a:ln>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22586" tIns="140904" rIns="122587" bIns="140903" numCol="1" spcCol="1270" anchor="ctr" anchorCtr="0">
              <a:noAutofit/>
            </a:bodyPr>
            <a:lstStyle/>
            <a:p>
              <a:pPr algn="ctr" defTabSz="711200">
                <a:lnSpc>
                  <a:spcPct val="90000"/>
                </a:lnSpc>
                <a:spcBef>
                  <a:spcPct val="0"/>
                </a:spcBef>
                <a:spcAft>
                  <a:spcPct val="35000"/>
                </a:spcAft>
              </a:pPr>
              <a:endParaRPr lang="en-GB" sz="1600">
                <a:solidFill>
                  <a:srgbClr val="FFFFFF"/>
                </a:solidFill>
                <a:latin typeface="Frutiger Lt Std"/>
              </a:endParaRPr>
            </a:p>
          </p:txBody>
        </p:sp>
      </p:grpSp>
      <p:sp>
        <p:nvSpPr>
          <p:cNvPr id="41" name="Arrow: Striped Right 40">
            <a:extLst>
              <a:ext uri="{FF2B5EF4-FFF2-40B4-BE49-F238E27FC236}">
                <a16:creationId xmlns:a16="http://schemas.microsoft.com/office/drawing/2014/main" id="{E00B69B6-75E6-83FF-CB7D-98AC00393ED3}"/>
              </a:ext>
            </a:extLst>
          </p:cNvPr>
          <p:cNvSpPr/>
          <p:nvPr/>
        </p:nvSpPr>
        <p:spPr>
          <a:xfrm>
            <a:off x="4294929" y="3544441"/>
            <a:ext cx="625383" cy="1237403"/>
          </a:xfrm>
          <a:prstGeom prst="stripedRight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Frutiger Lt Std"/>
            </a:endParaRPr>
          </a:p>
        </p:txBody>
      </p:sp>
      <p:sp>
        <p:nvSpPr>
          <p:cNvPr id="42" name="Arrow: Striped Right 41">
            <a:extLst>
              <a:ext uri="{FF2B5EF4-FFF2-40B4-BE49-F238E27FC236}">
                <a16:creationId xmlns:a16="http://schemas.microsoft.com/office/drawing/2014/main" id="{30EBF27B-272F-CE14-38B7-F0BAF81BB1D5}"/>
              </a:ext>
            </a:extLst>
          </p:cNvPr>
          <p:cNvSpPr/>
          <p:nvPr/>
        </p:nvSpPr>
        <p:spPr>
          <a:xfrm>
            <a:off x="7407302" y="3517490"/>
            <a:ext cx="625383" cy="1237403"/>
          </a:xfrm>
          <a:prstGeom prst="stripedRight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Frutiger Lt Std"/>
            </a:endParaRPr>
          </a:p>
        </p:txBody>
      </p:sp>
      <p:grpSp>
        <p:nvGrpSpPr>
          <p:cNvPr id="46" name="Group 45">
            <a:extLst>
              <a:ext uri="{FF2B5EF4-FFF2-40B4-BE49-F238E27FC236}">
                <a16:creationId xmlns:a16="http://schemas.microsoft.com/office/drawing/2014/main" id="{C49E0856-4DEC-B00B-5F16-F772B12F1139}"/>
              </a:ext>
            </a:extLst>
          </p:cNvPr>
          <p:cNvGrpSpPr/>
          <p:nvPr/>
        </p:nvGrpSpPr>
        <p:grpSpPr>
          <a:xfrm>
            <a:off x="8117568" y="2732445"/>
            <a:ext cx="2111727" cy="3213701"/>
            <a:chOff x="6593567" y="2732444"/>
            <a:chExt cx="2111727" cy="3213701"/>
          </a:xfrm>
          <a:effectLst>
            <a:glow rad="63500">
              <a:schemeClr val="accent6">
                <a:satMod val="175000"/>
                <a:alpha val="40000"/>
              </a:schemeClr>
            </a:glow>
          </a:effectLst>
        </p:grpSpPr>
        <p:sp>
          <p:nvSpPr>
            <p:cNvPr id="43" name="Freeform: Shape 42">
              <a:extLst>
                <a:ext uri="{FF2B5EF4-FFF2-40B4-BE49-F238E27FC236}">
                  <a16:creationId xmlns:a16="http://schemas.microsoft.com/office/drawing/2014/main" id="{23E12FCC-F286-2104-E4BB-07254FF797DE}"/>
                </a:ext>
              </a:extLst>
            </p:cNvPr>
            <p:cNvSpPr/>
            <p:nvPr/>
          </p:nvSpPr>
          <p:spPr>
            <a:xfrm>
              <a:off x="6593567" y="2732444"/>
              <a:ext cx="2111727" cy="3213701"/>
            </a:xfrm>
            <a:custGeom>
              <a:avLst/>
              <a:gdLst>
                <a:gd name="connsiteX0" fmla="*/ 0 w 1349721"/>
                <a:gd name="connsiteY0" fmla="*/ 124630 h 747766"/>
                <a:gd name="connsiteX1" fmla="*/ 124630 w 1349721"/>
                <a:gd name="connsiteY1" fmla="*/ 0 h 747766"/>
                <a:gd name="connsiteX2" fmla="*/ 1225091 w 1349721"/>
                <a:gd name="connsiteY2" fmla="*/ 0 h 747766"/>
                <a:gd name="connsiteX3" fmla="*/ 1349721 w 1349721"/>
                <a:gd name="connsiteY3" fmla="*/ 124630 h 747766"/>
                <a:gd name="connsiteX4" fmla="*/ 1349721 w 1349721"/>
                <a:gd name="connsiteY4" fmla="*/ 623136 h 747766"/>
                <a:gd name="connsiteX5" fmla="*/ 1225091 w 1349721"/>
                <a:gd name="connsiteY5" fmla="*/ 747766 h 747766"/>
                <a:gd name="connsiteX6" fmla="*/ 124630 w 1349721"/>
                <a:gd name="connsiteY6" fmla="*/ 747766 h 747766"/>
                <a:gd name="connsiteX7" fmla="*/ 0 w 1349721"/>
                <a:gd name="connsiteY7" fmla="*/ 623136 h 747766"/>
                <a:gd name="connsiteX8" fmla="*/ 0 w 1349721"/>
                <a:gd name="connsiteY8" fmla="*/ 124630 h 74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721" h="747766">
                  <a:moveTo>
                    <a:pt x="0" y="124630"/>
                  </a:moveTo>
                  <a:cubicBezTo>
                    <a:pt x="0" y="55799"/>
                    <a:pt x="55799" y="0"/>
                    <a:pt x="124630" y="0"/>
                  </a:cubicBezTo>
                  <a:lnTo>
                    <a:pt x="1225091" y="0"/>
                  </a:lnTo>
                  <a:cubicBezTo>
                    <a:pt x="1293922" y="0"/>
                    <a:pt x="1349721" y="55799"/>
                    <a:pt x="1349721" y="124630"/>
                  </a:cubicBezTo>
                  <a:lnTo>
                    <a:pt x="1349721" y="623136"/>
                  </a:lnTo>
                  <a:cubicBezTo>
                    <a:pt x="1349721" y="691967"/>
                    <a:pt x="1293922" y="747766"/>
                    <a:pt x="1225091" y="747766"/>
                  </a:cubicBezTo>
                  <a:lnTo>
                    <a:pt x="124630" y="747766"/>
                  </a:lnTo>
                  <a:cubicBezTo>
                    <a:pt x="55799" y="747766"/>
                    <a:pt x="0" y="691967"/>
                    <a:pt x="0" y="623136"/>
                  </a:cubicBezTo>
                  <a:lnTo>
                    <a:pt x="0" y="124630"/>
                  </a:lnTo>
                  <a:close/>
                </a:path>
              </a:pathLst>
            </a:custGeom>
            <a:solidFill>
              <a:schemeClr val="bg2">
                <a:lumMod val="50000"/>
              </a:schemeClr>
            </a:solidFill>
            <a:effectLst/>
            <a:scene3d>
              <a:camera prst="orthographicFront"/>
              <a:lightRig rig="chilly" dir="t"/>
            </a:scene3d>
            <a:sp3d prstMaterial="translucentPowder">
              <a:bevelT w="127000" h="25400" prst="softRound"/>
            </a:sp3d>
          </p:spPr>
          <p:style>
            <a:lnRef idx="0">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01273" tIns="101273" rIns="101273" bIns="101273" numCol="1" spcCol="1270" anchor="ctr" anchorCtr="0">
              <a:noAutofit/>
            </a:bodyPr>
            <a:lstStyle/>
            <a:p>
              <a:pPr marL="285750"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Views</a:t>
              </a:r>
            </a:p>
            <a:p>
              <a:pPr marL="742950" lvl="1"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Attendance</a:t>
              </a:r>
            </a:p>
            <a:p>
              <a:pPr marL="742950" lvl="1"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Tracking</a:t>
              </a:r>
            </a:p>
            <a:p>
              <a:pPr marL="742950" lvl="1" indent="-285750" defTabSz="755650">
                <a:lnSpc>
                  <a:spcPct val="90000"/>
                </a:lnSpc>
                <a:spcBef>
                  <a:spcPct val="0"/>
                </a:spcBef>
                <a:spcAft>
                  <a:spcPct val="35000"/>
                </a:spcAft>
                <a:buFont typeface="Arial" panose="020B0604020202020204" pitchFamily="34" charset="0"/>
                <a:buChar char="•"/>
              </a:pPr>
              <a:r>
                <a:rPr lang="en-GB" sz="1700" dirty="0">
                  <a:solidFill>
                    <a:srgbClr val="FFFFFF"/>
                  </a:solidFill>
                  <a:latin typeface="Frutiger Lt Std"/>
                </a:rPr>
                <a:t>Anything….</a:t>
              </a:r>
            </a:p>
          </p:txBody>
        </p:sp>
        <p:pic>
          <p:nvPicPr>
            <p:cNvPr id="45" name="Graphic 44" descr="Binoculars outline">
              <a:extLst>
                <a:ext uri="{FF2B5EF4-FFF2-40B4-BE49-F238E27FC236}">
                  <a16:creationId xmlns:a16="http://schemas.microsoft.com/office/drawing/2014/main" id="{49BA9E53-BB93-7ECA-C1EB-D78B764DD39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45780" y="2816826"/>
              <a:ext cx="807300" cy="807300"/>
            </a:xfrm>
            <a:prstGeom prst="rect">
              <a:avLst/>
            </a:prstGeom>
            <a:effectLst>
              <a:glow rad="63500">
                <a:schemeClr val="tx1">
                  <a:lumMod val="20000"/>
                  <a:lumOff val="80000"/>
                  <a:alpha val="40000"/>
                </a:schemeClr>
              </a:glow>
            </a:effectLst>
          </p:spPr>
        </p:pic>
      </p:grpSp>
      <p:grpSp>
        <p:nvGrpSpPr>
          <p:cNvPr id="2" name="Group 1">
            <a:extLst>
              <a:ext uri="{FF2B5EF4-FFF2-40B4-BE49-F238E27FC236}">
                <a16:creationId xmlns:a16="http://schemas.microsoft.com/office/drawing/2014/main" id="{3F828607-1044-A5F3-91A8-ADAF76C3DA7C}"/>
              </a:ext>
            </a:extLst>
          </p:cNvPr>
          <p:cNvGrpSpPr/>
          <p:nvPr/>
        </p:nvGrpSpPr>
        <p:grpSpPr>
          <a:xfrm>
            <a:off x="13260636" y="2922096"/>
            <a:ext cx="1990606" cy="2680897"/>
            <a:chOff x="567918" y="2380916"/>
            <a:chExt cx="1990606" cy="2680897"/>
          </a:xfrm>
        </p:grpSpPr>
        <p:sp>
          <p:nvSpPr>
            <p:cNvPr id="3" name="Freeform: Shape 2">
              <a:extLst>
                <a:ext uri="{FF2B5EF4-FFF2-40B4-BE49-F238E27FC236}">
                  <a16:creationId xmlns:a16="http://schemas.microsoft.com/office/drawing/2014/main" id="{D6D89146-61A2-967B-7957-69264BEA92AB}"/>
                </a:ext>
              </a:extLst>
            </p:cNvPr>
            <p:cNvSpPr/>
            <p:nvPr/>
          </p:nvSpPr>
          <p:spPr>
            <a:xfrm>
              <a:off x="567918"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t" anchorCtr="1">
              <a:noAutofit/>
            </a:bodyPr>
            <a:lstStyle/>
            <a:p>
              <a:pPr defTabSz="622300">
                <a:lnSpc>
                  <a:spcPct val="90000"/>
                </a:lnSpc>
                <a:spcBef>
                  <a:spcPct val="0"/>
                </a:spcBef>
                <a:spcAft>
                  <a:spcPct val="35000"/>
                </a:spcAft>
              </a:pPr>
              <a:r>
                <a:rPr lang="en-GB" sz="1400" dirty="0">
                  <a:solidFill>
                    <a:srgbClr val="FFFFFF"/>
                  </a:solidFill>
                  <a:latin typeface="Frutiger Lt Std"/>
                </a:rPr>
                <a:t>Challenged Silo thinking</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Community</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Mental Health</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Acute Yeovil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Acute Taunton</a:t>
              </a:r>
            </a:p>
          </p:txBody>
        </p:sp>
        <p:sp>
          <p:nvSpPr>
            <p:cNvPr id="7" name="Oval 6" descr="Silo outline">
              <a:extLst>
                <a:ext uri="{FF2B5EF4-FFF2-40B4-BE49-F238E27FC236}">
                  <a16:creationId xmlns:a16="http://schemas.microsoft.com/office/drawing/2014/main" id="{170A230E-C6C0-0BB0-FEF3-8D4984D236D4}"/>
                </a:ext>
              </a:extLst>
            </p:cNvPr>
            <p:cNvSpPr/>
            <p:nvPr/>
          </p:nvSpPr>
          <p:spPr>
            <a:xfrm>
              <a:off x="1116851" y="2541769"/>
              <a:ext cx="892738" cy="892738"/>
            </a:xfrm>
            <a:prstGeom prst="ellipse">
              <a:avLst/>
            </a:prstGeom>
            <a:blipFill>
              <a:blip r:embed="rId6">
                <a:extLst>
                  <a:ext uri="{96DAC541-7B7A-43D3-8B79-37D633B846F1}">
                    <asvg:svgBlip xmlns:asvg="http://schemas.microsoft.com/office/drawing/2016/SVG/main" r:embed="rId7"/>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8" name="Group 7">
            <a:extLst>
              <a:ext uri="{FF2B5EF4-FFF2-40B4-BE49-F238E27FC236}">
                <a16:creationId xmlns:a16="http://schemas.microsoft.com/office/drawing/2014/main" id="{2EE5D1AC-DC4A-58E4-F3CB-83686BFD0989}"/>
              </a:ext>
            </a:extLst>
          </p:cNvPr>
          <p:cNvGrpSpPr/>
          <p:nvPr/>
        </p:nvGrpSpPr>
        <p:grpSpPr>
          <a:xfrm>
            <a:off x="16305193" y="2038177"/>
            <a:ext cx="1990606" cy="2680897"/>
            <a:chOff x="2618242" y="2380916"/>
            <a:chExt cx="1990606" cy="2680897"/>
          </a:xfrm>
        </p:grpSpPr>
        <p:sp>
          <p:nvSpPr>
            <p:cNvPr id="9" name="Freeform: Shape 8">
              <a:extLst>
                <a:ext uri="{FF2B5EF4-FFF2-40B4-BE49-F238E27FC236}">
                  <a16:creationId xmlns:a16="http://schemas.microsoft.com/office/drawing/2014/main" id="{D59876D4-A5CC-C42C-D70A-979DEBF674EC}"/>
                </a:ext>
              </a:extLst>
            </p:cNvPr>
            <p:cNvSpPr/>
            <p:nvPr/>
          </p:nvSpPr>
          <p:spPr>
            <a:xfrm>
              <a:off x="2618242"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Improved access to datasets</a:t>
              </a:r>
              <a:endParaRPr lang="en-GB" sz="1100" dirty="0">
                <a:solidFill>
                  <a:srgbClr val="FFFFFF"/>
                </a:solidFill>
                <a:latin typeface="Frutiger Lt Std"/>
              </a:endParaRPr>
            </a:p>
            <a:p>
              <a:pPr algn="ctr" defTabSz="622300">
                <a:lnSpc>
                  <a:spcPct val="90000"/>
                </a:lnSpc>
                <a:spcBef>
                  <a:spcPct val="0"/>
                </a:spcBef>
                <a:spcAft>
                  <a:spcPct val="35000"/>
                </a:spcAft>
              </a:pPr>
              <a:endParaRPr lang="en-GB" sz="1400" dirty="0">
                <a:solidFill>
                  <a:srgbClr val="FFFFFF"/>
                </a:solidFill>
                <a:latin typeface="Frutiger Lt Std"/>
              </a:endParaRPr>
            </a:p>
          </p:txBody>
        </p:sp>
        <p:sp>
          <p:nvSpPr>
            <p:cNvPr id="10" name="Oval 9" descr="Race Car outline">
              <a:extLst>
                <a:ext uri="{FF2B5EF4-FFF2-40B4-BE49-F238E27FC236}">
                  <a16:creationId xmlns:a16="http://schemas.microsoft.com/office/drawing/2014/main" id="{90EF54A0-65CF-7B16-CC81-4E4980769580}"/>
                </a:ext>
              </a:extLst>
            </p:cNvPr>
            <p:cNvSpPr/>
            <p:nvPr/>
          </p:nvSpPr>
          <p:spPr>
            <a:xfrm>
              <a:off x="3167176" y="2541769"/>
              <a:ext cx="892738" cy="892738"/>
            </a:xfrm>
            <a:prstGeom prst="ellipse">
              <a:avLst/>
            </a:prstGeom>
            <a:blipFill>
              <a:blip r:embed="rId8">
                <a:extLst>
                  <a:ext uri="{96DAC541-7B7A-43D3-8B79-37D633B846F1}">
                    <asvg:svgBlip xmlns:asvg="http://schemas.microsoft.com/office/drawing/2016/SVG/main" r:embed="rId9"/>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11" name="Group 10">
            <a:extLst>
              <a:ext uri="{FF2B5EF4-FFF2-40B4-BE49-F238E27FC236}">
                <a16:creationId xmlns:a16="http://schemas.microsoft.com/office/drawing/2014/main" id="{A5A2AECB-4A13-E41D-2EFA-AEF6771D917B}"/>
              </a:ext>
            </a:extLst>
          </p:cNvPr>
          <p:cNvGrpSpPr/>
          <p:nvPr/>
        </p:nvGrpSpPr>
        <p:grpSpPr>
          <a:xfrm>
            <a:off x="19884716" y="1460930"/>
            <a:ext cx="1990606" cy="2680897"/>
            <a:chOff x="4668567" y="2380916"/>
            <a:chExt cx="1990606" cy="2680897"/>
          </a:xfrm>
        </p:grpSpPr>
        <p:sp>
          <p:nvSpPr>
            <p:cNvPr id="12" name="Freeform: Shape 11">
              <a:extLst>
                <a:ext uri="{FF2B5EF4-FFF2-40B4-BE49-F238E27FC236}">
                  <a16:creationId xmlns:a16="http://schemas.microsoft.com/office/drawing/2014/main" id="{B20051E7-E2CE-4EBE-DD82-FEE0B2107D02}"/>
                </a:ext>
              </a:extLst>
            </p:cNvPr>
            <p:cNvSpPr/>
            <p:nvPr/>
          </p:nvSpPr>
          <p:spPr>
            <a:xfrm>
              <a:off x="4668567"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t" anchorCtr="1">
              <a:noAutofit/>
            </a:bodyPr>
            <a:lstStyle/>
            <a:p>
              <a:pPr algn="ctr" defTabSz="622300">
                <a:lnSpc>
                  <a:spcPct val="90000"/>
                </a:lnSpc>
                <a:spcBef>
                  <a:spcPct val="0"/>
                </a:spcBef>
                <a:spcAft>
                  <a:spcPct val="35000"/>
                </a:spcAft>
              </a:pPr>
              <a:r>
                <a:rPr lang="en-GB" sz="1400" dirty="0">
                  <a:solidFill>
                    <a:srgbClr val="FFFFFF"/>
                  </a:solidFill>
                  <a:latin typeface="Frutiger Lt Std"/>
                </a:rPr>
                <a:t>Introduced new working concepts</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GITHUB</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Version Control</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Peer Review</a:t>
              </a:r>
            </a:p>
          </p:txBody>
        </p:sp>
        <p:sp>
          <p:nvSpPr>
            <p:cNvPr id="17" name="Oval 16" descr="Flask outline">
              <a:extLst>
                <a:ext uri="{FF2B5EF4-FFF2-40B4-BE49-F238E27FC236}">
                  <a16:creationId xmlns:a16="http://schemas.microsoft.com/office/drawing/2014/main" id="{E0752428-82C5-042D-FD88-D35F386DE72C}"/>
                </a:ext>
              </a:extLst>
            </p:cNvPr>
            <p:cNvSpPr/>
            <p:nvPr/>
          </p:nvSpPr>
          <p:spPr>
            <a:xfrm>
              <a:off x="5217500" y="2541769"/>
              <a:ext cx="892738" cy="892738"/>
            </a:xfrm>
            <a:prstGeom prst="ellipse">
              <a:avLst/>
            </a:prstGeom>
            <a:blipFill>
              <a:blip r:embed="rId10">
                <a:extLst>
                  <a:ext uri="{96DAC541-7B7A-43D3-8B79-37D633B846F1}">
                    <asvg:svgBlip xmlns:asvg="http://schemas.microsoft.com/office/drawing/2016/SVG/main" r:embed="rId11"/>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18" name="Group 17">
            <a:extLst>
              <a:ext uri="{FF2B5EF4-FFF2-40B4-BE49-F238E27FC236}">
                <a16:creationId xmlns:a16="http://schemas.microsoft.com/office/drawing/2014/main" id="{9B33E4F1-8F06-B08E-A0DB-F1C1BF47CBCA}"/>
              </a:ext>
            </a:extLst>
          </p:cNvPr>
          <p:cNvGrpSpPr/>
          <p:nvPr/>
        </p:nvGrpSpPr>
        <p:grpSpPr>
          <a:xfrm>
            <a:off x="23187907" y="619663"/>
            <a:ext cx="1990606" cy="2680897"/>
            <a:chOff x="6718891" y="2380916"/>
            <a:chExt cx="1990606" cy="2680897"/>
          </a:xfrm>
        </p:grpSpPr>
        <p:sp>
          <p:nvSpPr>
            <p:cNvPr id="19" name="Freeform: Shape 18">
              <a:extLst>
                <a:ext uri="{FF2B5EF4-FFF2-40B4-BE49-F238E27FC236}">
                  <a16:creationId xmlns:a16="http://schemas.microsoft.com/office/drawing/2014/main" id="{7623051B-AD3D-A583-850D-526B286EEE35}"/>
                </a:ext>
              </a:extLst>
            </p:cNvPr>
            <p:cNvSpPr/>
            <p:nvPr/>
          </p:nvSpPr>
          <p:spPr>
            <a:xfrm>
              <a:off x="6718891"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bg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Created a reusable template for the future.</a:t>
              </a:r>
            </a:p>
          </p:txBody>
        </p:sp>
        <p:sp>
          <p:nvSpPr>
            <p:cNvPr id="24" name="Oval 23" descr="Architecture outline">
              <a:extLst>
                <a:ext uri="{FF2B5EF4-FFF2-40B4-BE49-F238E27FC236}">
                  <a16:creationId xmlns:a16="http://schemas.microsoft.com/office/drawing/2014/main" id="{877B8AA8-4EEA-9C82-7F7E-A2ADD1D80961}"/>
                </a:ext>
              </a:extLst>
            </p:cNvPr>
            <p:cNvSpPr/>
            <p:nvPr/>
          </p:nvSpPr>
          <p:spPr>
            <a:xfrm>
              <a:off x="7267825" y="2541769"/>
              <a:ext cx="892738" cy="892738"/>
            </a:xfrm>
            <a:prstGeom prst="ellipse">
              <a:avLst/>
            </a:prstGeom>
            <a:blipFill>
              <a:blip r:embed="rId12">
                <a:extLst>
                  <a:ext uri="{96DAC541-7B7A-43D3-8B79-37D633B846F1}">
                    <asvg:svgBlip xmlns:asvg="http://schemas.microsoft.com/office/drawing/2016/SVG/main" r:embed="rId13"/>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spTree>
    <p:extLst>
      <p:ext uri="{BB962C8B-B14F-4D97-AF65-F5344CB8AC3E}">
        <p14:creationId xmlns:p14="http://schemas.microsoft.com/office/powerpoint/2010/main" val="3765614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44007-3311-60C2-7A38-FC1CF04BEA22}"/>
            </a:ext>
          </a:extLst>
        </p:cNvPr>
        <p:cNvGrpSpPr/>
        <p:nvPr/>
      </p:nvGrpSpPr>
      <p:grpSpPr>
        <a:xfrm>
          <a:off x="0" y="0"/>
          <a:ext cx="0" cy="0"/>
          <a:chOff x="0" y="0"/>
          <a:chExt cx="0" cy="0"/>
        </a:xfrm>
      </p:grpSpPr>
      <p:graphicFrame>
        <p:nvGraphicFramePr>
          <p:cNvPr id="28" name="Object 27">
            <a:extLst>
              <a:ext uri="{FF2B5EF4-FFF2-40B4-BE49-F238E27FC236}">
                <a16:creationId xmlns:a16="http://schemas.microsoft.com/office/drawing/2014/main" id="{AD410C87-94F7-4E16-7AC7-3E9A20FADC61}"/>
              </a:ext>
            </a:extLst>
          </p:cNvPr>
          <p:cNvGraphicFramePr>
            <a:graphicFrameLocks noChangeAspect="1"/>
          </p:cNvGraphicFramePr>
          <p:nvPr/>
        </p:nvGraphicFramePr>
        <p:xfrm>
          <a:off x="3946475" y="1494917"/>
          <a:ext cx="4199897" cy="4579259"/>
        </p:xfrm>
        <a:graphic>
          <a:graphicData uri="http://schemas.openxmlformats.org/presentationml/2006/ole">
            <mc:AlternateContent xmlns:mc="http://schemas.openxmlformats.org/markup-compatibility/2006">
              <mc:Choice xmlns:v="urn:schemas-microsoft-com:vml" Requires="v">
                <p:oleObj name="Acrobat Document" r:id="rId2" imgW="11439231" imgH="10286759" progId="AcroExch.Document.DC">
                  <p:embed/>
                </p:oleObj>
              </mc:Choice>
              <mc:Fallback>
                <p:oleObj name="Acrobat Document" r:id="rId2" imgW="11439231" imgH="10286759" progId="AcroExch.Document.DC">
                  <p:embed/>
                  <p:pic>
                    <p:nvPicPr>
                      <p:cNvPr id="28" name="Object 27">
                        <a:extLst>
                          <a:ext uri="{FF2B5EF4-FFF2-40B4-BE49-F238E27FC236}">
                            <a16:creationId xmlns:a16="http://schemas.microsoft.com/office/drawing/2014/main" id="{AD410C87-94F7-4E16-7AC7-3E9A20FADC61}"/>
                          </a:ext>
                        </a:extLst>
                      </p:cNvPr>
                      <p:cNvPicPr/>
                      <p:nvPr/>
                    </p:nvPicPr>
                    <p:blipFill>
                      <a:blip r:embed="rId3">
                        <a:alphaModFix amt="25000"/>
                      </a:blip>
                      <a:stretch>
                        <a:fillRect/>
                      </a:stretch>
                    </p:blipFill>
                    <p:spPr>
                      <a:xfrm>
                        <a:off x="3946475" y="1494917"/>
                        <a:ext cx="4199897" cy="4579259"/>
                      </a:xfrm>
                      <a:prstGeom prst="rect">
                        <a:avLst/>
                      </a:prstGeom>
                    </p:spPr>
                  </p:pic>
                </p:oleObj>
              </mc:Fallback>
            </mc:AlternateContent>
          </a:graphicData>
        </a:graphic>
      </p:graphicFrame>
      <p:pic>
        <p:nvPicPr>
          <p:cNvPr id="8" name="Picture 7" descr="A group of birds flying&#10;&#10;Description automatically generated">
            <a:extLst>
              <a:ext uri="{FF2B5EF4-FFF2-40B4-BE49-F238E27FC236}">
                <a16:creationId xmlns:a16="http://schemas.microsoft.com/office/drawing/2014/main" id="{DD7E7F23-64B9-927F-70BF-16F871CDE8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6436" y="4483308"/>
            <a:ext cx="2291564" cy="2374692"/>
          </a:xfrm>
          <a:prstGeom prst="rect">
            <a:avLst/>
          </a:prstGeom>
        </p:spPr>
      </p:pic>
      <p:sp>
        <p:nvSpPr>
          <p:cNvPr id="2" name="Title 1">
            <a:extLst>
              <a:ext uri="{FF2B5EF4-FFF2-40B4-BE49-F238E27FC236}">
                <a16:creationId xmlns:a16="http://schemas.microsoft.com/office/drawing/2014/main" id="{09C09C63-BA03-E7DA-6119-287D3E4EDC45}"/>
              </a:ext>
            </a:extLst>
          </p:cNvPr>
          <p:cNvSpPr>
            <a:spLocks noGrp="1"/>
          </p:cNvSpPr>
          <p:nvPr>
            <p:ph type="title"/>
          </p:nvPr>
        </p:nvSpPr>
        <p:spPr>
          <a:xfrm>
            <a:off x="1787494" y="954133"/>
            <a:ext cx="7208117" cy="485993"/>
          </a:xfrm>
        </p:spPr>
        <p:txBody>
          <a:bodyPr/>
          <a:lstStyle/>
          <a:p>
            <a:r>
              <a:rPr lang="en-GB" dirty="0"/>
              <a:t>Data Engineering</a:t>
            </a:r>
          </a:p>
        </p:txBody>
      </p:sp>
      <p:sp>
        <p:nvSpPr>
          <p:cNvPr id="3" name="Date Placeholder 2">
            <a:extLst>
              <a:ext uri="{FF2B5EF4-FFF2-40B4-BE49-F238E27FC236}">
                <a16:creationId xmlns:a16="http://schemas.microsoft.com/office/drawing/2014/main" id="{C6511287-CCE3-4E0E-46A2-52C8BE460F87}"/>
              </a:ext>
            </a:extLst>
          </p:cNvPr>
          <p:cNvSpPr>
            <a:spLocks noGrp="1"/>
          </p:cNvSpPr>
          <p:nvPr>
            <p:ph type="dt" sz="half" idx="10"/>
          </p:nvPr>
        </p:nvSpPr>
        <p:spPr/>
        <p:txBody>
          <a:bodyPr/>
          <a:lstStyle/>
          <a:p>
            <a:fld id="{29A3D60C-94B3-3F48-A969-9F54AC766E98}" type="datetime1">
              <a:rPr lang="en-GB"/>
              <a:pPr/>
              <a:t>11/07/2025</a:t>
            </a:fld>
            <a:endParaRPr lang="en-GB" dirty="0"/>
          </a:p>
        </p:txBody>
      </p:sp>
      <p:sp>
        <p:nvSpPr>
          <p:cNvPr id="4" name="Text Placeholder 3">
            <a:extLst>
              <a:ext uri="{FF2B5EF4-FFF2-40B4-BE49-F238E27FC236}">
                <a16:creationId xmlns:a16="http://schemas.microsoft.com/office/drawing/2014/main" id="{88B66A27-C1C7-A7BB-9E61-7FE2660E4199}"/>
              </a:ext>
            </a:extLst>
          </p:cNvPr>
          <p:cNvSpPr>
            <a:spLocks noGrp="1"/>
          </p:cNvSpPr>
          <p:nvPr>
            <p:ph type="body" sz="quarter" idx="13"/>
          </p:nvPr>
        </p:nvSpPr>
        <p:spPr/>
        <p:txBody>
          <a:bodyPr/>
          <a:lstStyle/>
          <a:p>
            <a:r>
              <a:rPr lang="en-GB" dirty="0"/>
              <a:t>Neil Hayes-Webster</a:t>
            </a:r>
          </a:p>
        </p:txBody>
      </p:sp>
      <p:sp>
        <p:nvSpPr>
          <p:cNvPr id="5" name="Content Placeholder 4">
            <a:extLst>
              <a:ext uri="{FF2B5EF4-FFF2-40B4-BE49-F238E27FC236}">
                <a16:creationId xmlns:a16="http://schemas.microsoft.com/office/drawing/2014/main" id="{A0604CF5-3628-5083-EEAF-275EC8C40E4B}"/>
              </a:ext>
            </a:extLst>
          </p:cNvPr>
          <p:cNvSpPr>
            <a:spLocks noGrp="1"/>
          </p:cNvSpPr>
          <p:nvPr>
            <p:ph sz="quarter" idx="12"/>
          </p:nvPr>
        </p:nvSpPr>
        <p:spPr>
          <a:xfrm>
            <a:off x="1291771" y="1615447"/>
            <a:ext cx="8917100" cy="343982"/>
          </a:xfrm>
        </p:spPr>
        <p:txBody>
          <a:bodyPr/>
          <a:lstStyle/>
          <a:p>
            <a:r>
              <a:rPr lang="en-GB" dirty="0"/>
              <a:t>Successes</a:t>
            </a:r>
          </a:p>
        </p:txBody>
      </p:sp>
      <p:grpSp>
        <p:nvGrpSpPr>
          <p:cNvPr id="20" name="Group 19">
            <a:extLst>
              <a:ext uri="{FF2B5EF4-FFF2-40B4-BE49-F238E27FC236}">
                <a16:creationId xmlns:a16="http://schemas.microsoft.com/office/drawing/2014/main" id="{E36D5AC3-3F98-5A94-2591-8206E7E5458E}"/>
              </a:ext>
            </a:extLst>
          </p:cNvPr>
          <p:cNvGrpSpPr/>
          <p:nvPr/>
        </p:nvGrpSpPr>
        <p:grpSpPr>
          <a:xfrm>
            <a:off x="2091918" y="2380917"/>
            <a:ext cx="1990606" cy="2680897"/>
            <a:chOff x="567918" y="2380916"/>
            <a:chExt cx="1990606" cy="2680897"/>
          </a:xfrm>
        </p:grpSpPr>
        <p:sp>
          <p:nvSpPr>
            <p:cNvPr id="11" name="Freeform: Shape 10">
              <a:extLst>
                <a:ext uri="{FF2B5EF4-FFF2-40B4-BE49-F238E27FC236}">
                  <a16:creationId xmlns:a16="http://schemas.microsoft.com/office/drawing/2014/main" id="{D05359DB-421B-EE85-57BC-85E7F01BED65}"/>
                </a:ext>
              </a:extLst>
            </p:cNvPr>
            <p:cNvSpPr/>
            <p:nvPr/>
          </p:nvSpPr>
          <p:spPr>
            <a:xfrm>
              <a:off x="567918"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t" anchorCtr="1">
              <a:noAutofit/>
            </a:bodyPr>
            <a:lstStyle/>
            <a:p>
              <a:pPr defTabSz="622300">
                <a:lnSpc>
                  <a:spcPct val="90000"/>
                </a:lnSpc>
                <a:spcBef>
                  <a:spcPct val="0"/>
                </a:spcBef>
                <a:spcAft>
                  <a:spcPct val="35000"/>
                </a:spcAft>
              </a:pPr>
              <a:r>
                <a:rPr lang="en-GB" sz="1400" dirty="0">
                  <a:solidFill>
                    <a:srgbClr val="FFFFFF"/>
                  </a:solidFill>
                  <a:latin typeface="Frutiger Lt Std"/>
                </a:rPr>
                <a:t>Challenged Silo thinking</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Community</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Mental Health</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Acute Yeovil </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Acute Taunton</a:t>
              </a:r>
            </a:p>
          </p:txBody>
        </p:sp>
        <p:sp>
          <p:nvSpPr>
            <p:cNvPr id="12" name="Oval 11" descr="Silo outline">
              <a:extLst>
                <a:ext uri="{FF2B5EF4-FFF2-40B4-BE49-F238E27FC236}">
                  <a16:creationId xmlns:a16="http://schemas.microsoft.com/office/drawing/2014/main" id="{71CF0FE4-4A77-B2EE-E69B-F25E60117285}"/>
                </a:ext>
              </a:extLst>
            </p:cNvPr>
            <p:cNvSpPr/>
            <p:nvPr/>
          </p:nvSpPr>
          <p:spPr>
            <a:xfrm>
              <a:off x="1116851" y="2541769"/>
              <a:ext cx="892738" cy="892738"/>
            </a:xfrm>
            <a:prstGeom prst="ellipse">
              <a:avLst/>
            </a:prstGeom>
            <a:blipFill>
              <a:blip r:embed="rId5">
                <a:extLst>
                  <a:ext uri="{96DAC541-7B7A-43D3-8B79-37D633B846F1}">
                    <asvg:svgBlip xmlns:asvg="http://schemas.microsoft.com/office/drawing/2016/SVG/main" r:embed="rId6"/>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21" name="Group 20">
            <a:extLst>
              <a:ext uri="{FF2B5EF4-FFF2-40B4-BE49-F238E27FC236}">
                <a16:creationId xmlns:a16="http://schemas.microsoft.com/office/drawing/2014/main" id="{8E2DE495-A3EA-2E5F-417A-B55F3D709BD8}"/>
              </a:ext>
            </a:extLst>
          </p:cNvPr>
          <p:cNvGrpSpPr/>
          <p:nvPr/>
        </p:nvGrpSpPr>
        <p:grpSpPr>
          <a:xfrm>
            <a:off x="4142242" y="2380917"/>
            <a:ext cx="1990606" cy="2680897"/>
            <a:chOff x="2618242" y="2380916"/>
            <a:chExt cx="1990606" cy="2680897"/>
          </a:xfrm>
        </p:grpSpPr>
        <p:sp>
          <p:nvSpPr>
            <p:cNvPr id="13" name="Freeform: Shape 12">
              <a:extLst>
                <a:ext uri="{FF2B5EF4-FFF2-40B4-BE49-F238E27FC236}">
                  <a16:creationId xmlns:a16="http://schemas.microsoft.com/office/drawing/2014/main" id="{710568B4-2FA4-54E3-CC89-133F82E3BAFB}"/>
                </a:ext>
              </a:extLst>
            </p:cNvPr>
            <p:cNvSpPr/>
            <p:nvPr/>
          </p:nvSpPr>
          <p:spPr>
            <a:xfrm>
              <a:off x="2618242"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Improved access to datasets</a:t>
              </a:r>
              <a:endParaRPr lang="en-GB" sz="1100" dirty="0">
                <a:solidFill>
                  <a:srgbClr val="FFFFFF"/>
                </a:solidFill>
                <a:latin typeface="Frutiger Lt Std"/>
              </a:endParaRPr>
            </a:p>
            <a:p>
              <a:pPr algn="ctr" defTabSz="622300">
                <a:lnSpc>
                  <a:spcPct val="90000"/>
                </a:lnSpc>
                <a:spcBef>
                  <a:spcPct val="0"/>
                </a:spcBef>
                <a:spcAft>
                  <a:spcPct val="35000"/>
                </a:spcAft>
              </a:pPr>
              <a:endParaRPr lang="en-GB" sz="1400" dirty="0">
                <a:solidFill>
                  <a:srgbClr val="FFFFFF"/>
                </a:solidFill>
                <a:latin typeface="Frutiger Lt Std"/>
              </a:endParaRPr>
            </a:p>
          </p:txBody>
        </p:sp>
        <p:sp>
          <p:nvSpPr>
            <p:cNvPr id="14" name="Oval 13" descr="Race Car outline">
              <a:extLst>
                <a:ext uri="{FF2B5EF4-FFF2-40B4-BE49-F238E27FC236}">
                  <a16:creationId xmlns:a16="http://schemas.microsoft.com/office/drawing/2014/main" id="{429AC6B3-31F0-F193-EDB9-30A4A8903ECC}"/>
                </a:ext>
              </a:extLst>
            </p:cNvPr>
            <p:cNvSpPr/>
            <p:nvPr/>
          </p:nvSpPr>
          <p:spPr>
            <a:xfrm>
              <a:off x="3167176" y="2541769"/>
              <a:ext cx="892738" cy="892738"/>
            </a:xfrm>
            <a:prstGeom prst="ellipse">
              <a:avLst/>
            </a:prstGeom>
            <a:blipFill>
              <a:blip r:embed="rId7">
                <a:extLst>
                  <a:ext uri="{96DAC541-7B7A-43D3-8B79-37D633B846F1}">
                    <asvg:svgBlip xmlns:asvg="http://schemas.microsoft.com/office/drawing/2016/SVG/main" r:embed="rId8"/>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22" name="Group 21">
            <a:extLst>
              <a:ext uri="{FF2B5EF4-FFF2-40B4-BE49-F238E27FC236}">
                <a16:creationId xmlns:a16="http://schemas.microsoft.com/office/drawing/2014/main" id="{DE2E517E-A54A-E102-45B6-D5793B1181A8}"/>
              </a:ext>
            </a:extLst>
          </p:cNvPr>
          <p:cNvGrpSpPr/>
          <p:nvPr/>
        </p:nvGrpSpPr>
        <p:grpSpPr>
          <a:xfrm>
            <a:off x="6192567" y="2380917"/>
            <a:ext cx="1990606" cy="2680897"/>
            <a:chOff x="4668567" y="2380916"/>
            <a:chExt cx="1990606" cy="2680897"/>
          </a:xfrm>
        </p:grpSpPr>
        <p:sp>
          <p:nvSpPr>
            <p:cNvPr id="15" name="Freeform: Shape 14">
              <a:extLst>
                <a:ext uri="{FF2B5EF4-FFF2-40B4-BE49-F238E27FC236}">
                  <a16:creationId xmlns:a16="http://schemas.microsoft.com/office/drawing/2014/main" id="{E74575B0-6DC2-ED8B-6A73-7F60C0BC982A}"/>
                </a:ext>
              </a:extLst>
            </p:cNvPr>
            <p:cNvSpPr/>
            <p:nvPr/>
          </p:nvSpPr>
          <p:spPr>
            <a:xfrm>
              <a:off x="4668567"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t" anchorCtr="1">
              <a:noAutofit/>
            </a:bodyPr>
            <a:lstStyle/>
            <a:p>
              <a:pPr algn="ctr" defTabSz="622300">
                <a:lnSpc>
                  <a:spcPct val="90000"/>
                </a:lnSpc>
                <a:spcBef>
                  <a:spcPct val="0"/>
                </a:spcBef>
                <a:spcAft>
                  <a:spcPct val="35000"/>
                </a:spcAft>
              </a:pPr>
              <a:r>
                <a:rPr lang="en-GB" sz="1400" dirty="0">
                  <a:solidFill>
                    <a:srgbClr val="FFFFFF"/>
                  </a:solidFill>
                  <a:latin typeface="Frutiger Lt Std"/>
                </a:rPr>
                <a:t>Introduced new working concepts</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GITHUB</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Version Control</a:t>
              </a:r>
            </a:p>
            <a:p>
              <a:pPr marL="57150" lvl="1" indent="-57150" defTabSz="488950">
                <a:lnSpc>
                  <a:spcPct val="90000"/>
                </a:lnSpc>
                <a:spcBef>
                  <a:spcPct val="0"/>
                </a:spcBef>
                <a:spcAft>
                  <a:spcPct val="15000"/>
                </a:spcAft>
                <a:buFontTx/>
                <a:buChar char="•"/>
              </a:pPr>
              <a:r>
                <a:rPr lang="en-GB" sz="1100" dirty="0">
                  <a:solidFill>
                    <a:srgbClr val="FFFFFF"/>
                  </a:solidFill>
                  <a:latin typeface="Frutiger Lt Std"/>
                </a:rPr>
                <a:t> Peer Review</a:t>
              </a:r>
            </a:p>
          </p:txBody>
        </p:sp>
        <p:sp>
          <p:nvSpPr>
            <p:cNvPr id="16" name="Oval 15" descr="Flask outline">
              <a:extLst>
                <a:ext uri="{FF2B5EF4-FFF2-40B4-BE49-F238E27FC236}">
                  <a16:creationId xmlns:a16="http://schemas.microsoft.com/office/drawing/2014/main" id="{2196816B-4441-F9D5-26BF-8DA60C9DF33C}"/>
                </a:ext>
              </a:extLst>
            </p:cNvPr>
            <p:cNvSpPr/>
            <p:nvPr/>
          </p:nvSpPr>
          <p:spPr>
            <a:xfrm>
              <a:off x="5217500" y="2541769"/>
              <a:ext cx="892738" cy="892738"/>
            </a:xfrm>
            <a:prstGeom prst="ellipse">
              <a:avLst/>
            </a:prstGeom>
            <a:blipFill>
              <a:blip r:embed="rId9">
                <a:extLst>
                  <a:ext uri="{96DAC541-7B7A-43D3-8B79-37D633B846F1}">
                    <asvg:svgBlip xmlns:asvg="http://schemas.microsoft.com/office/drawing/2016/SVG/main" r:embed="rId1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grpSp>
        <p:nvGrpSpPr>
          <p:cNvPr id="23" name="Group 22">
            <a:extLst>
              <a:ext uri="{FF2B5EF4-FFF2-40B4-BE49-F238E27FC236}">
                <a16:creationId xmlns:a16="http://schemas.microsoft.com/office/drawing/2014/main" id="{D0E4D87D-8BE2-5390-18B7-235DF3BCC7FC}"/>
              </a:ext>
            </a:extLst>
          </p:cNvPr>
          <p:cNvGrpSpPr/>
          <p:nvPr/>
        </p:nvGrpSpPr>
        <p:grpSpPr>
          <a:xfrm>
            <a:off x="8242891" y="2380917"/>
            <a:ext cx="1990606" cy="2680897"/>
            <a:chOff x="6718891" y="2380916"/>
            <a:chExt cx="1990606" cy="2680897"/>
          </a:xfrm>
        </p:grpSpPr>
        <p:sp>
          <p:nvSpPr>
            <p:cNvPr id="17" name="Freeform: Shape 16">
              <a:extLst>
                <a:ext uri="{FF2B5EF4-FFF2-40B4-BE49-F238E27FC236}">
                  <a16:creationId xmlns:a16="http://schemas.microsoft.com/office/drawing/2014/main" id="{B75772C6-F461-FFE5-252C-FCB08BE0DE5C}"/>
                </a:ext>
              </a:extLst>
            </p:cNvPr>
            <p:cNvSpPr/>
            <p:nvPr/>
          </p:nvSpPr>
          <p:spPr>
            <a:xfrm>
              <a:off x="6718891" y="2380916"/>
              <a:ext cx="1990606" cy="2680897"/>
            </a:xfrm>
            <a:custGeom>
              <a:avLst/>
              <a:gdLst>
                <a:gd name="connsiteX0" fmla="*/ 0 w 1990606"/>
                <a:gd name="connsiteY0" fmla="*/ 199061 h 2680897"/>
                <a:gd name="connsiteX1" fmla="*/ 199061 w 1990606"/>
                <a:gd name="connsiteY1" fmla="*/ 0 h 2680897"/>
                <a:gd name="connsiteX2" fmla="*/ 1791545 w 1990606"/>
                <a:gd name="connsiteY2" fmla="*/ 0 h 2680897"/>
                <a:gd name="connsiteX3" fmla="*/ 1990606 w 1990606"/>
                <a:gd name="connsiteY3" fmla="*/ 199061 h 2680897"/>
                <a:gd name="connsiteX4" fmla="*/ 1990606 w 1990606"/>
                <a:gd name="connsiteY4" fmla="*/ 2481836 h 2680897"/>
                <a:gd name="connsiteX5" fmla="*/ 1791545 w 1990606"/>
                <a:gd name="connsiteY5" fmla="*/ 2680897 h 2680897"/>
                <a:gd name="connsiteX6" fmla="*/ 199061 w 1990606"/>
                <a:gd name="connsiteY6" fmla="*/ 2680897 h 2680897"/>
                <a:gd name="connsiteX7" fmla="*/ 0 w 1990606"/>
                <a:gd name="connsiteY7" fmla="*/ 2481836 h 2680897"/>
                <a:gd name="connsiteX8" fmla="*/ 0 w 1990606"/>
                <a:gd name="connsiteY8" fmla="*/ 199061 h 268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0606" h="2680897">
                  <a:moveTo>
                    <a:pt x="0" y="199061"/>
                  </a:moveTo>
                  <a:cubicBezTo>
                    <a:pt x="0" y="89123"/>
                    <a:pt x="89123" y="0"/>
                    <a:pt x="199061" y="0"/>
                  </a:cubicBezTo>
                  <a:lnTo>
                    <a:pt x="1791545" y="0"/>
                  </a:lnTo>
                  <a:cubicBezTo>
                    <a:pt x="1901483" y="0"/>
                    <a:pt x="1990606" y="89123"/>
                    <a:pt x="1990606" y="199061"/>
                  </a:cubicBezTo>
                  <a:lnTo>
                    <a:pt x="1990606" y="2481836"/>
                  </a:lnTo>
                  <a:cubicBezTo>
                    <a:pt x="1990606" y="2591774"/>
                    <a:pt x="1901483" y="2680897"/>
                    <a:pt x="1791545" y="2680897"/>
                  </a:cubicBezTo>
                  <a:lnTo>
                    <a:pt x="199061" y="2680897"/>
                  </a:lnTo>
                  <a:cubicBezTo>
                    <a:pt x="89123" y="2680897"/>
                    <a:pt x="0" y="2591774"/>
                    <a:pt x="0" y="2481836"/>
                  </a:cubicBezTo>
                  <a:lnTo>
                    <a:pt x="0" y="199061"/>
                  </a:ln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9568" tIns="1171926" rIns="99568" bIns="635749" numCol="1" spcCol="1270" anchor="ctr" anchorCtr="0">
              <a:noAutofit/>
            </a:bodyPr>
            <a:lstStyle/>
            <a:p>
              <a:pPr algn="ctr" defTabSz="622300">
                <a:lnSpc>
                  <a:spcPct val="90000"/>
                </a:lnSpc>
                <a:spcBef>
                  <a:spcPct val="0"/>
                </a:spcBef>
                <a:spcAft>
                  <a:spcPct val="35000"/>
                </a:spcAft>
              </a:pPr>
              <a:r>
                <a:rPr lang="en-GB" sz="1400" dirty="0">
                  <a:solidFill>
                    <a:srgbClr val="FFFFFF"/>
                  </a:solidFill>
                  <a:latin typeface="Frutiger Lt Std"/>
                </a:rPr>
                <a:t>Created a reusable template for the future.</a:t>
              </a:r>
            </a:p>
          </p:txBody>
        </p:sp>
        <p:sp>
          <p:nvSpPr>
            <p:cNvPr id="18" name="Oval 17" descr="Architecture outline">
              <a:extLst>
                <a:ext uri="{FF2B5EF4-FFF2-40B4-BE49-F238E27FC236}">
                  <a16:creationId xmlns:a16="http://schemas.microsoft.com/office/drawing/2014/main" id="{21AA5485-8A36-427D-C195-98C77F47307D}"/>
                </a:ext>
              </a:extLst>
            </p:cNvPr>
            <p:cNvSpPr/>
            <p:nvPr/>
          </p:nvSpPr>
          <p:spPr>
            <a:xfrm>
              <a:off x="7267825" y="2541769"/>
              <a:ext cx="892738" cy="892738"/>
            </a:xfrm>
            <a:prstGeom prst="ellipse">
              <a:avLst/>
            </a:prstGeom>
            <a:blipFill>
              <a:blip r:embed="rId11">
                <a:extLst>
                  <a:ext uri="{96DAC541-7B7A-43D3-8B79-37D633B846F1}">
                    <asvg:svgBlip xmlns:asvg="http://schemas.microsoft.com/office/drawing/2016/SVG/main" r:embed="rId12"/>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a:solidFill>
                  <a:srgbClr val="FFFFFF">
                    <a:hueOff val="0"/>
                    <a:satOff val="0"/>
                    <a:lumOff val="0"/>
                    <a:alphaOff val="0"/>
                  </a:srgbClr>
                </a:solidFill>
                <a:latin typeface="Frutiger Lt Std"/>
              </a:endParaRPr>
            </a:p>
          </p:txBody>
        </p:sp>
      </p:grpSp>
      <p:sp>
        <p:nvSpPr>
          <p:cNvPr id="7" name="Slide Number Placeholder 6">
            <a:extLst>
              <a:ext uri="{FF2B5EF4-FFF2-40B4-BE49-F238E27FC236}">
                <a16:creationId xmlns:a16="http://schemas.microsoft.com/office/drawing/2014/main" id="{A7C16AFC-A680-160E-65E5-BB93136C7D1D}"/>
              </a:ext>
            </a:extLst>
          </p:cNvPr>
          <p:cNvSpPr>
            <a:spLocks noGrp="1"/>
          </p:cNvSpPr>
          <p:nvPr>
            <p:ph type="sldNum" sz="quarter" idx="4"/>
          </p:nvPr>
        </p:nvSpPr>
        <p:spPr/>
        <p:txBody>
          <a:bodyPr/>
          <a:lstStyle/>
          <a:p>
            <a:fld id="{48C91D3C-AA5C-7440-8489-158FBC20DC87}" type="slidenum">
              <a:rPr lang="en-US"/>
              <a:pPr/>
              <a:t>37</a:t>
            </a:fld>
            <a:endParaRPr lang="en-US" dirty="0"/>
          </a:p>
        </p:txBody>
      </p:sp>
    </p:spTree>
    <p:extLst>
      <p:ext uri="{BB962C8B-B14F-4D97-AF65-F5344CB8AC3E}">
        <p14:creationId xmlns:p14="http://schemas.microsoft.com/office/powerpoint/2010/main" val="2684952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FC9FD-9411-F996-1943-64264CE89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74812-A7F0-688F-99EF-D825A3063977}"/>
              </a:ext>
            </a:extLst>
          </p:cNvPr>
          <p:cNvSpPr>
            <a:spLocks noGrp="1"/>
          </p:cNvSpPr>
          <p:nvPr>
            <p:ph type="title"/>
          </p:nvPr>
        </p:nvSpPr>
        <p:spPr>
          <a:xfrm>
            <a:off x="5283442" y="2656917"/>
            <a:ext cx="4503411" cy="605305"/>
          </a:xfrm>
        </p:spPr>
        <p:txBody>
          <a:bodyPr/>
          <a:lstStyle/>
          <a:p>
            <a:r>
              <a:rPr lang="en-GB" dirty="0"/>
              <a:t>SFT Case Study</a:t>
            </a:r>
          </a:p>
        </p:txBody>
      </p:sp>
      <p:sp>
        <p:nvSpPr>
          <p:cNvPr id="3" name="Text Placeholder 2">
            <a:extLst>
              <a:ext uri="{FF2B5EF4-FFF2-40B4-BE49-F238E27FC236}">
                <a16:creationId xmlns:a16="http://schemas.microsoft.com/office/drawing/2014/main" id="{95B4B7AD-660E-3CAA-6AFA-94E4F4803DCE}"/>
              </a:ext>
            </a:extLst>
          </p:cNvPr>
          <p:cNvSpPr>
            <a:spLocks noGrp="1"/>
          </p:cNvSpPr>
          <p:nvPr>
            <p:ph type="body" sz="quarter" idx="10"/>
          </p:nvPr>
        </p:nvSpPr>
        <p:spPr>
          <a:xfrm>
            <a:off x="6659462" y="5231109"/>
            <a:ext cx="3258271" cy="287515"/>
          </a:xfrm>
        </p:spPr>
        <p:txBody>
          <a:bodyPr/>
          <a:lstStyle/>
          <a:p>
            <a:r>
              <a:rPr lang="en-GB" dirty="0"/>
              <a:t>Neil Hayes-Webster</a:t>
            </a:r>
          </a:p>
        </p:txBody>
      </p:sp>
      <p:sp>
        <p:nvSpPr>
          <p:cNvPr id="5" name="Title 1">
            <a:extLst>
              <a:ext uri="{FF2B5EF4-FFF2-40B4-BE49-F238E27FC236}">
                <a16:creationId xmlns:a16="http://schemas.microsoft.com/office/drawing/2014/main" id="{3A4B7171-BA01-6EAE-612A-BFCE4DF78666}"/>
              </a:ext>
            </a:extLst>
          </p:cNvPr>
          <p:cNvSpPr txBox="1">
            <a:spLocks/>
          </p:cNvSpPr>
          <p:nvPr/>
        </p:nvSpPr>
        <p:spPr>
          <a:xfrm>
            <a:off x="5805518" y="4295624"/>
            <a:ext cx="3981334" cy="485993"/>
          </a:xfrm>
          <a:prstGeom prst="rect">
            <a:avLst/>
          </a:prstGeom>
        </p:spPr>
        <p:txBody>
          <a:bodyPr lIns="0"/>
          <a:lstStyle>
            <a:lvl1pPr algn="l" defTabSz="914400" rtl="0" eaLnBrk="1" latinLnBrk="0" hangingPunct="1">
              <a:lnSpc>
                <a:spcPct val="90000"/>
              </a:lnSpc>
              <a:spcBef>
                <a:spcPct val="0"/>
              </a:spcBef>
              <a:buNone/>
              <a:defRPr sz="4000" kern="1200">
                <a:solidFill>
                  <a:srgbClr val="005EB8"/>
                </a:solidFill>
                <a:latin typeface="Arial" panose="020B0604020202020204" pitchFamily="34" charset="0"/>
                <a:ea typeface="+mj-ea"/>
                <a:cs typeface="Arial" panose="020B0604020202020204" pitchFamily="34" charset="0"/>
              </a:defRPr>
            </a:lvl1pPr>
          </a:lstStyle>
          <a:p>
            <a:r>
              <a:rPr lang="en-GB" sz="2400" dirty="0"/>
              <a:t>Data Insight and Intelligence</a:t>
            </a:r>
          </a:p>
        </p:txBody>
      </p:sp>
      <p:sp>
        <p:nvSpPr>
          <p:cNvPr id="4" name="Title 1">
            <a:extLst>
              <a:ext uri="{FF2B5EF4-FFF2-40B4-BE49-F238E27FC236}">
                <a16:creationId xmlns:a16="http://schemas.microsoft.com/office/drawing/2014/main" id="{317144CA-3AA4-381F-F6A0-6CF192709062}"/>
              </a:ext>
            </a:extLst>
          </p:cNvPr>
          <p:cNvSpPr txBox="1">
            <a:spLocks/>
          </p:cNvSpPr>
          <p:nvPr/>
        </p:nvSpPr>
        <p:spPr>
          <a:xfrm>
            <a:off x="5805518" y="3535926"/>
            <a:ext cx="3981334" cy="485993"/>
          </a:xfrm>
          <a:prstGeom prst="rect">
            <a:avLst/>
          </a:prstGeom>
        </p:spPr>
        <p:txBody>
          <a:bodyPr lIns="0"/>
          <a:lstStyle>
            <a:lvl1pPr algn="l" defTabSz="914400" rtl="0" eaLnBrk="1" latinLnBrk="0" hangingPunct="1">
              <a:lnSpc>
                <a:spcPct val="90000"/>
              </a:lnSpc>
              <a:spcBef>
                <a:spcPct val="0"/>
              </a:spcBef>
              <a:buNone/>
              <a:defRPr sz="4000" kern="1200">
                <a:solidFill>
                  <a:srgbClr val="005EB8"/>
                </a:solidFill>
                <a:latin typeface="Arial" panose="020B0604020202020204" pitchFamily="34" charset="0"/>
                <a:ea typeface="+mj-ea"/>
                <a:cs typeface="Arial" panose="020B0604020202020204" pitchFamily="34" charset="0"/>
              </a:defRPr>
            </a:lvl1pPr>
          </a:lstStyle>
          <a:p>
            <a:r>
              <a:rPr lang="en-GB" sz="2400" dirty="0"/>
              <a:t>Design Overview</a:t>
            </a:r>
          </a:p>
        </p:txBody>
      </p:sp>
    </p:spTree>
    <p:extLst>
      <p:ext uri="{BB962C8B-B14F-4D97-AF65-F5344CB8AC3E}">
        <p14:creationId xmlns:p14="http://schemas.microsoft.com/office/powerpoint/2010/main" val="1986620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7D505F-651C-6902-E79B-DC904FD30FCF}"/>
              </a:ext>
            </a:extLst>
          </p:cNvPr>
          <p:cNvSpPr>
            <a:spLocks noGrp="1"/>
          </p:cNvSpPr>
          <p:nvPr>
            <p:ph idx="4294967295"/>
          </p:nvPr>
        </p:nvSpPr>
        <p:spPr>
          <a:xfrm>
            <a:off x="1489907" y="559217"/>
            <a:ext cx="4360498" cy="1011179"/>
          </a:xfrm>
        </p:spPr>
        <p:txBody>
          <a:bodyPr/>
          <a:lstStyle/>
          <a:p>
            <a:r>
              <a:rPr lang="en-GB" sz="2000" dirty="0"/>
              <a:t>Which pillars may be missing ?</a:t>
            </a:r>
          </a:p>
          <a:p>
            <a:r>
              <a:rPr lang="en-GB" sz="2000" dirty="0"/>
              <a:t>Any Priorities regarding pillars ?</a:t>
            </a:r>
          </a:p>
          <a:p>
            <a:endParaRPr lang="en-GB" dirty="0"/>
          </a:p>
          <a:p>
            <a:endParaRPr lang="en-GB" dirty="0"/>
          </a:p>
        </p:txBody>
      </p:sp>
      <p:grpSp>
        <p:nvGrpSpPr>
          <p:cNvPr id="4" name="Group 3">
            <a:extLst>
              <a:ext uri="{FF2B5EF4-FFF2-40B4-BE49-F238E27FC236}">
                <a16:creationId xmlns:a16="http://schemas.microsoft.com/office/drawing/2014/main" id="{89D5D5DD-E8FA-1D87-A6DF-70B3102B9309}"/>
              </a:ext>
            </a:extLst>
          </p:cNvPr>
          <p:cNvGrpSpPr/>
          <p:nvPr/>
        </p:nvGrpSpPr>
        <p:grpSpPr>
          <a:xfrm>
            <a:off x="0" y="-786"/>
            <a:ext cx="2851517" cy="6868014"/>
            <a:chOff x="0" y="-786"/>
            <a:chExt cx="2851517" cy="6868014"/>
          </a:xfrm>
        </p:grpSpPr>
        <p:grpSp>
          <p:nvGrpSpPr>
            <p:cNvPr id="5" name="Group 4">
              <a:extLst>
                <a:ext uri="{FF2B5EF4-FFF2-40B4-BE49-F238E27FC236}">
                  <a16:creationId xmlns:a16="http://schemas.microsoft.com/office/drawing/2014/main" id="{8B7DEA84-4492-3EA5-7597-56707394FE29}"/>
                </a:ext>
              </a:extLst>
            </p:cNvPr>
            <p:cNvGrpSpPr/>
            <p:nvPr/>
          </p:nvGrpSpPr>
          <p:grpSpPr>
            <a:xfrm>
              <a:off x="1" y="228600"/>
              <a:ext cx="2851516" cy="6638628"/>
              <a:chOff x="2487613" y="285750"/>
              <a:chExt cx="2428875" cy="5654676"/>
            </a:xfrm>
          </p:grpSpPr>
          <p:sp>
            <p:nvSpPr>
              <p:cNvPr id="20" name="Freeform 11">
                <a:extLst>
                  <a:ext uri="{FF2B5EF4-FFF2-40B4-BE49-F238E27FC236}">
                    <a16:creationId xmlns:a16="http://schemas.microsoft.com/office/drawing/2014/main" id="{C6550AE4-68C1-6D5C-394D-1F768E978B08}"/>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21" name="Freeform 12">
                <a:extLst>
                  <a:ext uri="{FF2B5EF4-FFF2-40B4-BE49-F238E27FC236}">
                    <a16:creationId xmlns:a16="http://schemas.microsoft.com/office/drawing/2014/main" id="{C1F3B57B-F8F7-9249-8B6E-10FF6DBDC39F}"/>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22" name="Freeform 13">
                <a:extLst>
                  <a:ext uri="{FF2B5EF4-FFF2-40B4-BE49-F238E27FC236}">
                    <a16:creationId xmlns:a16="http://schemas.microsoft.com/office/drawing/2014/main" id="{E3D21216-5409-F9A6-D210-CA1B67E93E3A}"/>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23" name="Freeform 14">
                <a:extLst>
                  <a:ext uri="{FF2B5EF4-FFF2-40B4-BE49-F238E27FC236}">
                    <a16:creationId xmlns:a16="http://schemas.microsoft.com/office/drawing/2014/main" id="{768B8434-3C36-97CF-BD3D-45ECAD7723BE}"/>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24" name="Freeform 15">
                <a:extLst>
                  <a:ext uri="{FF2B5EF4-FFF2-40B4-BE49-F238E27FC236}">
                    <a16:creationId xmlns:a16="http://schemas.microsoft.com/office/drawing/2014/main" id="{7366F8F4-BCAB-A698-AC91-BFAE56ED1C55}"/>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25" name="Freeform 16">
                <a:extLst>
                  <a:ext uri="{FF2B5EF4-FFF2-40B4-BE49-F238E27FC236}">
                    <a16:creationId xmlns:a16="http://schemas.microsoft.com/office/drawing/2014/main" id="{2A521321-9FDA-8381-EA93-5F61427A7C0F}"/>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26" name="Freeform 17">
                <a:extLst>
                  <a:ext uri="{FF2B5EF4-FFF2-40B4-BE49-F238E27FC236}">
                    <a16:creationId xmlns:a16="http://schemas.microsoft.com/office/drawing/2014/main" id="{DE947C0B-BFEE-F43D-C01D-06BDB002B11E}"/>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27" name="Freeform 18">
                <a:extLst>
                  <a:ext uri="{FF2B5EF4-FFF2-40B4-BE49-F238E27FC236}">
                    <a16:creationId xmlns:a16="http://schemas.microsoft.com/office/drawing/2014/main" id="{F57CBD43-E3E5-CC80-F241-80A0194F4542}"/>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28" name="Freeform 19">
                <a:extLst>
                  <a:ext uri="{FF2B5EF4-FFF2-40B4-BE49-F238E27FC236}">
                    <a16:creationId xmlns:a16="http://schemas.microsoft.com/office/drawing/2014/main" id="{66F64EE1-8481-52D6-8906-960614E9B763}"/>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29" name="Freeform 20">
                <a:extLst>
                  <a:ext uri="{FF2B5EF4-FFF2-40B4-BE49-F238E27FC236}">
                    <a16:creationId xmlns:a16="http://schemas.microsoft.com/office/drawing/2014/main" id="{DB680309-6596-D73A-85BD-045FFEC67E80}"/>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30" name="Freeform 21">
                <a:extLst>
                  <a:ext uri="{FF2B5EF4-FFF2-40B4-BE49-F238E27FC236}">
                    <a16:creationId xmlns:a16="http://schemas.microsoft.com/office/drawing/2014/main" id="{4D87A6AF-D06D-BBA3-956A-B18AD15FFC9E}"/>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31" name="Freeform 22">
                <a:extLst>
                  <a:ext uri="{FF2B5EF4-FFF2-40B4-BE49-F238E27FC236}">
                    <a16:creationId xmlns:a16="http://schemas.microsoft.com/office/drawing/2014/main" id="{6F57AE8D-3AF6-7271-EEC1-2F5865F73FBD}"/>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6" name="Group 5">
              <a:extLst>
                <a:ext uri="{FF2B5EF4-FFF2-40B4-BE49-F238E27FC236}">
                  <a16:creationId xmlns:a16="http://schemas.microsoft.com/office/drawing/2014/main" id="{C13EC3AE-0287-E1EE-0101-6F3B4CBA22D0}"/>
                </a:ext>
              </a:extLst>
            </p:cNvPr>
            <p:cNvGrpSpPr/>
            <p:nvPr/>
          </p:nvGrpSpPr>
          <p:grpSpPr>
            <a:xfrm>
              <a:off x="27221" y="-786"/>
              <a:ext cx="2356674" cy="6854039"/>
              <a:chOff x="6627813" y="194833"/>
              <a:chExt cx="1952625" cy="5678918"/>
            </a:xfrm>
          </p:grpSpPr>
          <p:sp>
            <p:nvSpPr>
              <p:cNvPr id="8" name="Freeform 27">
                <a:extLst>
                  <a:ext uri="{FF2B5EF4-FFF2-40B4-BE49-F238E27FC236}">
                    <a16:creationId xmlns:a16="http://schemas.microsoft.com/office/drawing/2014/main" id="{FC5CC3A7-AE3C-12EF-F63D-1AF2F52082E9}"/>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9" name="Freeform 28">
                <a:extLst>
                  <a:ext uri="{FF2B5EF4-FFF2-40B4-BE49-F238E27FC236}">
                    <a16:creationId xmlns:a16="http://schemas.microsoft.com/office/drawing/2014/main" id="{68A5DEF4-A27D-542B-6C26-70C9DD720340}"/>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10" name="Freeform 29">
                <a:extLst>
                  <a:ext uri="{FF2B5EF4-FFF2-40B4-BE49-F238E27FC236}">
                    <a16:creationId xmlns:a16="http://schemas.microsoft.com/office/drawing/2014/main" id="{B63FF008-C2CF-F2BB-17C5-136DBC2C7656}"/>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11" name="Freeform 30">
                <a:extLst>
                  <a:ext uri="{FF2B5EF4-FFF2-40B4-BE49-F238E27FC236}">
                    <a16:creationId xmlns:a16="http://schemas.microsoft.com/office/drawing/2014/main" id="{9D6F07CF-F91C-A8A9-E8B8-3740DD65494D}"/>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12" name="Freeform 31">
                <a:extLst>
                  <a:ext uri="{FF2B5EF4-FFF2-40B4-BE49-F238E27FC236}">
                    <a16:creationId xmlns:a16="http://schemas.microsoft.com/office/drawing/2014/main" id="{BAC8F647-F8D6-DABC-81F6-2E91C8DDA2A0}"/>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13" name="Freeform 32">
                <a:extLst>
                  <a:ext uri="{FF2B5EF4-FFF2-40B4-BE49-F238E27FC236}">
                    <a16:creationId xmlns:a16="http://schemas.microsoft.com/office/drawing/2014/main" id="{EEA18B84-0608-A15C-4751-AD9A3F044F87}"/>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14" name="Freeform 33">
                <a:extLst>
                  <a:ext uri="{FF2B5EF4-FFF2-40B4-BE49-F238E27FC236}">
                    <a16:creationId xmlns:a16="http://schemas.microsoft.com/office/drawing/2014/main" id="{F3E58BCB-B2BF-063A-3A5D-901B33FC727D}"/>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15" name="Freeform 34">
                <a:extLst>
                  <a:ext uri="{FF2B5EF4-FFF2-40B4-BE49-F238E27FC236}">
                    <a16:creationId xmlns:a16="http://schemas.microsoft.com/office/drawing/2014/main" id="{3B29CD91-7C22-1692-4D70-DCAAD815A9BA}"/>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16" name="Freeform 35">
                <a:extLst>
                  <a:ext uri="{FF2B5EF4-FFF2-40B4-BE49-F238E27FC236}">
                    <a16:creationId xmlns:a16="http://schemas.microsoft.com/office/drawing/2014/main" id="{95DE5439-F45A-72BA-28F4-D01C320DC56D}"/>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17" name="Freeform 36">
                <a:extLst>
                  <a:ext uri="{FF2B5EF4-FFF2-40B4-BE49-F238E27FC236}">
                    <a16:creationId xmlns:a16="http://schemas.microsoft.com/office/drawing/2014/main" id="{FC9F7898-A09C-56CF-BDF4-34F26F827CA2}"/>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18" name="Freeform 37">
                <a:extLst>
                  <a:ext uri="{FF2B5EF4-FFF2-40B4-BE49-F238E27FC236}">
                    <a16:creationId xmlns:a16="http://schemas.microsoft.com/office/drawing/2014/main" id="{E16FE52B-5376-02B0-2562-33DB0F234988}"/>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19" name="Freeform 38">
                <a:extLst>
                  <a:ext uri="{FF2B5EF4-FFF2-40B4-BE49-F238E27FC236}">
                    <a16:creationId xmlns:a16="http://schemas.microsoft.com/office/drawing/2014/main" id="{5B54E61C-ADDC-4A8E-1D9E-B53C175FE224}"/>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7" name="Rectangle 6">
              <a:extLst>
                <a:ext uri="{FF2B5EF4-FFF2-40B4-BE49-F238E27FC236}">
                  <a16:creationId xmlns:a16="http://schemas.microsoft.com/office/drawing/2014/main" id="{9553D6F9-DF92-28F9-9193-21F377DA9DC0}"/>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grpSp>
        <p:nvGrpSpPr>
          <p:cNvPr id="49" name="Group 48">
            <a:extLst>
              <a:ext uri="{FF2B5EF4-FFF2-40B4-BE49-F238E27FC236}">
                <a16:creationId xmlns:a16="http://schemas.microsoft.com/office/drawing/2014/main" id="{6EC65E8B-E8A4-8677-53E4-53C62B221168}"/>
              </a:ext>
            </a:extLst>
          </p:cNvPr>
          <p:cNvGrpSpPr/>
          <p:nvPr/>
        </p:nvGrpSpPr>
        <p:grpSpPr>
          <a:xfrm>
            <a:off x="2676282" y="730587"/>
            <a:ext cx="7966605" cy="6204427"/>
            <a:chOff x="2984576" y="1214258"/>
            <a:chExt cx="7966605" cy="6204427"/>
          </a:xfrm>
        </p:grpSpPr>
        <p:pic>
          <p:nvPicPr>
            <p:cNvPr id="33" name="Picture 32" descr="A white stone structure with a triangular top">
              <a:extLst>
                <a:ext uri="{FF2B5EF4-FFF2-40B4-BE49-F238E27FC236}">
                  <a16:creationId xmlns:a16="http://schemas.microsoft.com/office/drawing/2014/main" id="{CE9B7BC9-17F7-470E-E102-992103B280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4576" y="1214258"/>
              <a:ext cx="7966605" cy="6204427"/>
            </a:xfrm>
            <a:prstGeom prst="rect">
              <a:avLst/>
            </a:prstGeom>
          </p:spPr>
        </p:pic>
        <p:pic>
          <p:nvPicPr>
            <p:cNvPr id="42" name="Picture 41" descr="A white pillar with a letter v&#10;&#10;AI-generated content may be incorrect.">
              <a:extLst>
                <a:ext uri="{FF2B5EF4-FFF2-40B4-BE49-F238E27FC236}">
                  <a16:creationId xmlns:a16="http://schemas.microsoft.com/office/drawing/2014/main" id="{9F504F81-2731-13FF-2D82-8D0158F03D0E}"/>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108093" y="3645372"/>
              <a:ext cx="576000" cy="1998370"/>
            </a:xfrm>
            <a:prstGeom prst="rect">
              <a:avLst/>
            </a:prstGeom>
          </p:spPr>
        </p:pic>
        <p:pic>
          <p:nvPicPr>
            <p:cNvPr id="43" name="Picture 42" descr="A white pillar with a letter e&#10;&#10;AI-generated content may be incorrect.">
              <a:extLst>
                <a:ext uri="{FF2B5EF4-FFF2-40B4-BE49-F238E27FC236}">
                  <a16:creationId xmlns:a16="http://schemas.microsoft.com/office/drawing/2014/main" id="{0753654D-19CF-5525-FBDA-118514CAEE3C}"/>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989396" y="3645375"/>
              <a:ext cx="576000" cy="1998367"/>
            </a:xfrm>
            <a:prstGeom prst="rect">
              <a:avLst/>
            </a:prstGeom>
          </p:spPr>
        </p:pic>
        <p:pic>
          <p:nvPicPr>
            <p:cNvPr id="44" name="Picture 43" descr="A white pillar with a letter c&#10;&#10;AI-generated content may be incorrect.">
              <a:extLst>
                <a:ext uri="{FF2B5EF4-FFF2-40B4-BE49-F238E27FC236}">
                  <a16:creationId xmlns:a16="http://schemas.microsoft.com/office/drawing/2014/main" id="{CF2BADF4-3905-4F3A-8E9D-A991DA725B19}"/>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5870699" y="3645375"/>
              <a:ext cx="576000" cy="1998367"/>
            </a:xfrm>
            <a:prstGeom prst="rect">
              <a:avLst/>
            </a:prstGeom>
          </p:spPr>
        </p:pic>
        <p:pic>
          <p:nvPicPr>
            <p:cNvPr id="45" name="Picture 44" descr="A white pillar with a letter&#10;&#10;AI-generated content may be incorrect.">
              <a:extLst>
                <a:ext uri="{FF2B5EF4-FFF2-40B4-BE49-F238E27FC236}">
                  <a16:creationId xmlns:a16="http://schemas.microsoft.com/office/drawing/2014/main" id="{D3FEE387-0AA6-8995-F89E-22FE5C9F512C}"/>
                </a:ext>
              </a:extLst>
            </p:cNvPr>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6752002" y="3645375"/>
              <a:ext cx="576000" cy="1998367"/>
            </a:xfrm>
            <a:prstGeom prst="rect">
              <a:avLst/>
            </a:prstGeom>
          </p:spPr>
        </p:pic>
        <p:pic>
          <p:nvPicPr>
            <p:cNvPr id="46" name="Picture 45" descr="A white pillar with a letter o&#10;&#10;AI-generated content may be incorrect.">
              <a:extLst>
                <a:ext uri="{FF2B5EF4-FFF2-40B4-BE49-F238E27FC236}">
                  <a16:creationId xmlns:a16="http://schemas.microsoft.com/office/drawing/2014/main" id="{220CD867-2A5B-DC4B-CB0D-EE6625FE9D98}"/>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7633305" y="3663742"/>
              <a:ext cx="570706" cy="1980000"/>
            </a:xfrm>
            <a:prstGeom prst="rect">
              <a:avLst/>
            </a:prstGeom>
          </p:spPr>
        </p:pic>
        <p:pic>
          <p:nvPicPr>
            <p:cNvPr id="47" name="Picture 46" descr="A white pillar with a letter&#10;&#10;AI-generated content may be incorrect.">
              <a:extLst>
                <a:ext uri="{FF2B5EF4-FFF2-40B4-BE49-F238E27FC236}">
                  <a16:creationId xmlns:a16="http://schemas.microsoft.com/office/drawing/2014/main" id="{EFD9B956-77E6-220A-8AD8-3048B0F1F813}"/>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8509314" y="3663742"/>
              <a:ext cx="570706" cy="1980000"/>
            </a:xfrm>
            <a:prstGeom prst="rect">
              <a:avLst/>
            </a:prstGeom>
          </p:spPr>
        </p:pic>
        <p:pic>
          <p:nvPicPr>
            <p:cNvPr id="48" name="Picture 47" descr="A white pillar with a letter on it&#10;&#10;AI-generated content may be incorrect.">
              <a:extLst>
                <a:ext uri="{FF2B5EF4-FFF2-40B4-BE49-F238E27FC236}">
                  <a16:creationId xmlns:a16="http://schemas.microsoft.com/office/drawing/2014/main" id="{405A0AF9-DF88-691E-E5C2-A687F3F050D4}"/>
                </a:ext>
              </a:extLst>
            </p:cNvPr>
            <p:cNvPicPr>
              <a:picLocks noChangeAspect="1"/>
            </p:cNvPicPr>
            <p:nvPr/>
          </p:nvPicPr>
          <p:blipFill>
            <a:blip r:embed="rId9" cstate="screen">
              <a:extLst>
                <a:ext uri="{28A0092B-C50C-407E-A947-70E740481C1C}">
                  <a14:useLocalDpi xmlns:a14="http://schemas.microsoft.com/office/drawing/2010/main" val="0"/>
                </a:ext>
              </a:extLst>
            </a:blip>
            <a:stretch>
              <a:fillRect/>
            </a:stretch>
          </p:blipFill>
          <p:spPr>
            <a:xfrm>
              <a:off x="9385320" y="3663742"/>
              <a:ext cx="570706" cy="1980000"/>
            </a:xfrm>
            <a:prstGeom prst="rect">
              <a:avLst/>
            </a:prstGeom>
          </p:spPr>
        </p:pic>
      </p:grpSp>
      <p:sp>
        <p:nvSpPr>
          <p:cNvPr id="50" name="Freeform 11">
            <a:extLst>
              <a:ext uri="{FF2B5EF4-FFF2-40B4-BE49-F238E27FC236}">
                <a16:creationId xmlns:a16="http://schemas.microsoft.com/office/drawing/2014/main" id="{68BCB1CB-ABE0-1052-B0E1-983C43E79EB7}"/>
              </a:ext>
            </a:extLst>
          </p:cNvPr>
          <p:cNvSpPr/>
          <p:nvPr/>
        </p:nvSpPr>
        <p:spPr bwMode="auto">
          <a:xfrm flipV="1">
            <a:off x="0" y="730587"/>
            <a:ext cx="1245794" cy="446460"/>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Tree>
    <p:extLst>
      <p:ext uri="{BB962C8B-B14F-4D97-AF65-F5344CB8AC3E}">
        <p14:creationId xmlns:p14="http://schemas.microsoft.com/office/powerpoint/2010/main" val="8922298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a:extLst>
              <a:ext uri="{FF2B5EF4-FFF2-40B4-BE49-F238E27FC236}">
                <a16:creationId xmlns:a16="http://schemas.microsoft.com/office/drawing/2014/main" id="{4FEBFAD2-D6FE-293A-E881-D3C9C40A97F8}"/>
              </a:ext>
            </a:extLst>
          </p:cNvPr>
          <p:cNvGrpSpPr/>
          <p:nvPr/>
        </p:nvGrpSpPr>
        <p:grpSpPr>
          <a:xfrm>
            <a:off x="495729" y="4819129"/>
            <a:ext cx="1841424" cy="1837435"/>
            <a:chOff x="2984576" y="1214258"/>
            <a:chExt cx="7966605" cy="6204427"/>
          </a:xfrm>
        </p:grpSpPr>
        <p:pic>
          <p:nvPicPr>
            <p:cNvPr id="60" name="Picture 59" descr="A white stone structure with a triangular top">
              <a:extLst>
                <a:ext uri="{FF2B5EF4-FFF2-40B4-BE49-F238E27FC236}">
                  <a16:creationId xmlns:a16="http://schemas.microsoft.com/office/drawing/2014/main" id="{0F7FA261-DB46-F848-B82E-32244C1C1461}"/>
                </a:ext>
              </a:extLst>
            </p:cNvPr>
            <p:cNvPicPr>
              <a:picLocks noChangeAspect="1"/>
            </p:cNvPicPr>
            <p:nvPr/>
          </p:nvPicPr>
          <p:blipFill>
            <a:blip r:embed="rId3" cstate="screen">
              <a:alphaModFix amt="50000"/>
              <a:extLst>
                <a:ext uri="{28A0092B-C50C-407E-A947-70E740481C1C}">
                  <a14:useLocalDpi xmlns:a14="http://schemas.microsoft.com/office/drawing/2010/main" val="0"/>
                </a:ext>
              </a:extLst>
            </a:blip>
            <a:stretch>
              <a:fillRect/>
            </a:stretch>
          </p:blipFill>
          <p:spPr>
            <a:xfrm>
              <a:off x="2984576" y="1214258"/>
              <a:ext cx="7966605" cy="6204427"/>
            </a:xfrm>
            <a:prstGeom prst="rect">
              <a:avLst/>
            </a:prstGeom>
          </p:spPr>
        </p:pic>
        <p:pic>
          <p:nvPicPr>
            <p:cNvPr id="61" name="Picture 60" descr="A white pillar with a letter v&#10;&#10;AI-generated content may be incorrect.">
              <a:extLst>
                <a:ext uri="{FF2B5EF4-FFF2-40B4-BE49-F238E27FC236}">
                  <a16:creationId xmlns:a16="http://schemas.microsoft.com/office/drawing/2014/main" id="{255DE945-B473-5AF3-CE12-BF3A5C7704ED}"/>
                </a:ext>
              </a:extLst>
            </p:cNvPr>
            <p:cNvPicPr>
              <a:picLocks noChangeAspect="1"/>
            </p:cNvPicPr>
            <p:nvPr/>
          </p:nvPicPr>
          <p:blipFill>
            <a:blip r:embed="rId4" cstate="screen">
              <a:alphaModFix amt="50000"/>
              <a:extLst>
                <a:ext uri="{28A0092B-C50C-407E-A947-70E740481C1C}">
                  <a14:useLocalDpi xmlns:a14="http://schemas.microsoft.com/office/drawing/2010/main" val="0"/>
                </a:ext>
              </a:extLst>
            </a:blip>
            <a:stretch>
              <a:fillRect/>
            </a:stretch>
          </p:blipFill>
          <p:spPr>
            <a:xfrm>
              <a:off x="4108093" y="3645372"/>
              <a:ext cx="576000" cy="1998370"/>
            </a:xfrm>
            <a:prstGeom prst="rect">
              <a:avLst/>
            </a:prstGeom>
          </p:spPr>
        </p:pic>
        <p:pic>
          <p:nvPicPr>
            <p:cNvPr id="62" name="Picture 61" descr="A white pillar with a letter e&#10;&#10;AI-generated content may be incorrect.">
              <a:extLst>
                <a:ext uri="{FF2B5EF4-FFF2-40B4-BE49-F238E27FC236}">
                  <a16:creationId xmlns:a16="http://schemas.microsoft.com/office/drawing/2014/main" id="{BD491E29-8DDD-80A4-492A-EA82020106E4}"/>
                </a:ext>
              </a:extLst>
            </p:cNvPr>
            <p:cNvPicPr>
              <a:picLocks noChangeAspect="1"/>
            </p:cNvPicPr>
            <p:nvPr/>
          </p:nvPicPr>
          <p:blipFill>
            <a:blip r:embed="rId5" cstate="screen">
              <a:alphaModFix amt="50000"/>
              <a:extLst>
                <a:ext uri="{28A0092B-C50C-407E-A947-70E740481C1C}">
                  <a14:useLocalDpi xmlns:a14="http://schemas.microsoft.com/office/drawing/2010/main" val="0"/>
                </a:ext>
              </a:extLst>
            </a:blip>
            <a:stretch>
              <a:fillRect/>
            </a:stretch>
          </p:blipFill>
          <p:spPr>
            <a:xfrm>
              <a:off x="4989396" y="3645375"/>
              <a:ext cx="576000" cy="1998367"/>
            </a:xfrm>
            <a:prstGeom prst="rect">
              <a:avLst/>
            </a:prstGeom>
          </p:spPr>
        </p:pic>
        <p:pic>
          <p:nvPicPr>
            <p:cNvPr id="63" name="Picture 62" descr="A white pillar with a letter c&#10;&#10;AI-generated content may be incorrect.">
              <a:extLst>
                <a:ext uri="{FF2B5EF4-FFF2-40B4-BE49-F238E27FC236}">
                  <a16:creationId xmlns:a16="http://schemas.microsoft.com/office/drawing/2014/main" id="{8EF6DA39-BA8F-5213-F782-CD4B96D0E364}"/>
                </a:ext>
              </a:extLst>
            </p:cNvPr>
            <p:cNvPicPr>
              <a:picLocks noChangeAspect="1"/>
            </p:cNvPicPr>
            <p:nvPr/>
          </p:nvPicPr>
          <p:blipFill>
            <a:blip r:embed="rId6" cstate="screen">
              <a:alphaModFix amt="50000"/>
              <a:extLst>
                <a:ext uri="{28A0092B-C50C-407E-A947-70E740481C1C}">
                  <a14:useLocalDpi xmlns:a14="http://schemas.microsoft.com/office/drawing/2010/main" val="0"/>
                </a:ext>
              </a:extLst>
            </a:blip>
            <a:stretch>
              <a:fillRect/>
            </a:stretch>
          </p:blipFill>
          <p:spPr>
            <a:xfrm>
              <a:off x="5870699" y="3645375"/>
              <a:ext cx="576000" cy="1998367"/>
            </a:xfrm>
            <a:prstGeom prst="rect">
              <a:avLst/>
            </a:prstGeom>
          </p:spPr>
        </p:pic>
        <p:pic>
          <p:nvPicPr>
            <p:cNvPr id="64" name="Picture 63" descr="A white pillar with a letter&#10;&#10;AI-generated content may be incorrect.">
              <a:extLst>
                <a:ext uri="{FF2B5EF4-FFF2-40B4-BE49-F238E27FC236}">
                  <a16:creationId xmlns:a16="http://schemas.microsoft.com/office/drawing/2014/main" id="{25253AF6-16DF-333B-5093-FD2874CB16BE}"/>
                </a:ext>
              </a:extLst>
            </p:cNvPr>
            <p:cNvPicPr>
              <a:picLocks noChangeAspect="1"/>
            </p:cNvPicPr>
            <p:nvPr/>
          </p:nvPicPr>
          <p:blipFill>
            <a:blip r:embed="rId7" cstate="screen">
              <a:alphaModFix amt="50000"/>
              <a:extLst>
                <a:ext uri="{28A0092B-C50C-407E-A947-70E740481C1C}">
                  <a14:useLocalDpi xmlns:a14="http://schemas.microsoft.com/office/drawing/2010/main" val="0"/>
                </a:ext>
              </a:extLst>
            </a:blip>
            <a:stretch>
              <a:fillRect/>
            </a:stretch>
          </p:blipFill>
          <p:spPr>
            <a:xfrm>
              <a:off x="6752002" y="3645375"/>
              <a:ext cx="576000" cy="1998367"/>
            </a:xfrm>
            <a:prstGeom prst="rect">
              <a:avLst/>
            </a:prstGeom>
          </p:spPr>
        </p:pic>
        <p:pic>
          <p:nvPicPr>
            <p:cNvPr id="65" name="Picture 64" descr="A white pillar with a letter o&#10;&#10;AI-generated content may be incorrect.">
              <a:extLst>
                <a:ext uri="{FF2B5EF4-FFF2-40B4-BE49-F238E27FC236}">
                  <a16:creationId xmlns:a16="http://schemas.microsoft.com/office/drawing/2014/main" id="{397AB915-7CF3-6F49-C04F-9A3073128F89}"/>
                </a:ext>
              </a:extLst>
            </p:cNvPr>
            <p:cNvPicPr>
              <a:picLocks noChangeAspect="1"/>
            </p:cNvPicPr>
            <p:nvPr/>
          </p:nvPicPr>
          <p:blipFill>
            <a:blip r:embed="rId8" cstate="screen">
              <a:alphaModFix amt="50000"/>
              <a:extLst>
                <a:ext uri="{28A0092B-C50C-407E-A947-70E740481C1C}">
                  <a14:useLocalDpi xmlns:a14="http://schemas.microsoft.com/office/drawing/2010/main" val="0"/>
                </a:ext>
              </a:extLst>
            </a:blip>
            <a:stretch>
              <a:fillRect/>
            </a:stretch>
          </p:blipFill>
          <p:spPr>
            <a:xfrm>
              <a:off x="7633305" y="3663742"/>
              <a:ext cx="570706" cy="1980000"/>
            </a:xfrm>
            <a:prstGeom prst="rect">
              <a:avLst/>
            </a:prstGeom>
          </p:spPr>
        </p:pic>
        <p:pic>
          <p:nvPicPr>
            <p:cNvPr id="66" name="Picture 65" descr="A white pillar with a letter&#10;&#10;AI-generated content may be incorrect.">
              <a:extLst>
                <a:ext uri="{FF2B5EF4-FFF2-40B4-BE49-F238E27FC236}">
                  <a16:creationId xmlns:a16="http://schemas.microsoft.com/office/drawing/2014/main" id="{70C55C7C-EC2D-3EF9-D696-82527A600FE3}"/>
                </a:ext>
              </a:extLst>
            </p:cNvPr>
            <p:cNvPicPr>
              <a:picLocks noChangeAspect="1"/>
            </p:cNvPicPr>
            <p:nvPr/>
          </p:nvPicPr>
          <p:blipFill>
            <a:blip r:embed="rId9" cstate="screen">
              <a:alphaModFix amt="50000"/>
              <a:extLst>
                <a:ext uri="{28A0092B-C50C-407E-A947-70E740481C1C}">
                  <a14:useLocalDpi xmlns:a14="http://schemas.microsoft.com/office/drawing/2010/main" val="0"/>
                </a:ext>
              </a:extLst>
            </a:blip>
            <a:stretch>
              <a:fillRect/>
            </a:stretch>
          </p:blipFill>
          <p:spPr>
            <a:xfrm>
              <a:off x="8509314" y="3663742"/>
              <a:ext cx="570706" cy="1980000"/>
            </a:xfrm>
            <a:prstGeom prst="rect">
              <a:avLst/>
            </a:prstGeom>
          </p:spPr>
        </p:pic>
        <p:pic>
          <p:nvPicPr>
            <p:cNvPr id="67" name="Picture 66" descr="A white pillar with a letter on it&#10;&#10;AI-generated content may be incorrect.">
              <a:extLst>
                <a:ext uri="{FF2B5EF4-FFF2-40B4-BE49-F238E27FC236}">
                  <a16:creationId xmlns:a16="http://schemas.microsoft.com/office/drawing/2014/main" id="{95333A8F-BAE0-2B38-E97B-786EE5525C78}"/>
                </a:ext>
              </a:extLst>
            </p:cNvPr>
            <p:cNvPicPr>
              <a:picLocks noChangeAspect="1"/>
            </p:cNvPicPr>
            <p:nvPr/>
          </p:nvPicPr>
          <p:blipFill>
            <a:blip r:embed="rId10" cstate="screen">
              <a:alphaModFix amt="50000"/>
              <a:extLst>
                <a:ext uri="{28A0092B-C50C-407E-A947-70E740481C1C}">
                  <a14:useLocalDpi xmlns:a14="http://schemas.microsoft.com/office/drawing/2010/main" val="0"/>
                </a:ext>
              </a:extLst>
            </a:blip>
            <a:stretch>
              <a:fillRect/>
            </a:stretch>
          </p:blipFill>
          <p:spPr>
            <a:xfrm>
              <a:off x="9385320" y="3663742"/>
              <a:ext cx="570706" cy="1980000"/>
            </a:xfrm>
            <a:prstGeom prst="rect">
              <a:avLst/>
            </a:prstGeom>
          </p:spPr>
        </p:pic>
      </p:grpSp>
      <p:sp>
        <p:nvSpPr>
          <p:cNvPr id="2" name="Title 1">
            <a:extLst>
              <a:ext uri="{FF2B5EF4-FFF2-40B4-BE49-F238E27FC236}">
                <a16:creationId xmlns:a16="http://schemas.microsoft.com/office/drawing/2014/main" id="{92032684-C3D9-CB74-6575-75E8DBFA3888}"/>
              </a:ext>
            </a:extLst>
          </p:cNvPr>
          <p:cNvSpPr>
            <a:spLocks noGrp="1"/>
          </p:cNvSpPr>
          <p:nvPr>
            <p:ph type="title" idx="4294967295"/>
          </p:nvPr>
        </p:nvSpPr>
        <p:spPr>
          <a:xfrm>
            <a:off x="4830566" y="569549"/>
            <a:ext cx="4322763" cy="768536"/>
          </a:xfrm>
        </p:spPr>
        <p:txBody>
          <a:bodyPr>
            <a:normAutofit fontScale="90000"/>
          </a:bodyPr>
          <a:lstStyle/>
          <a:p>
            <a:r>
              <a:rPr lang="en-US" sz="4800" dirty="0">
                <a:solidFill>
                  <a:schemeClr val="accent3">
                    <a:lumMod val="75000"/>
                  </a:schemeClr>
                </a:solidFill>
                <a:latin typeface="Castellar" panose="020A0402060406010301" pitchFamily="18" charset="0"/>
              </a:rPr>
              <a:t>V E C T O R S</a:t>
            </a:r>
            <a:endParaRPr lang="en-GB" sz="4800" dirty="0">
              <a:solidFill>
                <a:schemeClr val="accent3">
                  <a:lumMod val="75000"/>
                </a:schemeClr>
              </a:solidFill>
              <a:latin typeface="Castellar" panose="020A0402060406010301" pitchFamily="18" charset="0"/>
            </a:endParaRPr>
          </a:p>
        </p:txBody>
      </p:sp>
      <p:grpSp>
        <p:nvGrpSpPr>
          <p:cNvPr id="4" name="Group 3">
            <a:extLst>
              <a:ext uri="{FF2B5EF4-FFF2-40B4-BE49-F238E27FC236}">
                <a16:creationId xmlns:a16="http://schemas.microsoft.com/office/drawing/2014/main" id="{876538FC-0498-311F-8B7C-7DF35304F440}"/>
              </a:ext>
            </a:extLst>
          </p:cNvPr>
          <p:cNvGrpSpPr/>
          <p:nvPr/>
        </p:nvGrpSpPr>
        <p:grpSpPr>
          <a:xfrm>
            <a:off x="0" y="-786"/>
            <a:ext cx="2851517" cy="6868014"/>
            <a:chOff x="0" y="-786"/>
            <a:chExt cx="2851517" cy="6868014"/>
          </a:xfrm>
        </p:grpSpPr>
        <p:grpSp>
          <p:nvGrpSpPr>
            <p:cNvPr id="5" name="Group 4">
              <a:extLst>
                <a:ext uri="{FF2B5EF4-FFF2-40B4-BE49-F238E27FC236}">
                  <a16:creationId xmlns:a16="http://schemas.microsoft.com/office/drawing/2014/main" id="{B5BC803A-4770-C29E-C846-8E171BF0D9B0}"/>
                </a:ext>
              </a:extLst>
            </p:cNvPr>
            <p:cNvGrpSpPr/>
            <p:nvPr/>
          </p:nvGrpSpPr>
          <p:grpSpPr>
            <a:xfrm>
              <a:off x="1" y="228600"/>
              <a:ext cx="2851516" cy="6638628"/>
              <a:chOff x="2487613" y="285750"/>
              <a:chExt cx="2428875" cy="5654676"/>
            </a:xfrm>
          </p:grpSpPr>
          <p:sp>
            <p:nvSpPr>
              <p:cNvPr id="20" name="Freeform 11">
                <a:extLst>
                  <a:ext uri="{FF2B5EF4-FFF2-40B4-BE49-F238E27FC236}">
                    <a16:creationId xmlns:a16="http://schemas.microsoft.com/office/drawing/2014/main" id="{E047F606-296C-1522-0B07-93926DA0AE16}"/>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21" name="Freeform 12">
                <a:extLst>
                  <a:ext uri="{FF2B5EF4-FFF2-40B4-BE49-F238E27FC236}">
                    <a16:creationId xmlns:a16="http://schemas.microsoft.com/office/drawing/2014/main" id="{F882DCBA-58BB-06B2-8EE8-35963674823A}"/>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22" name="Freeform 13">
                <a:extLst>
                  <a:ext uri="{FF2B5EF4-FFF2-40B4-BE49-F238E27FC236}">
                    <a16:creationId xmlns:a16="http://schemas.microsoft.com/office/drawing/2014/main" id="{4842765C-E09B-CDE4-633E-1CBAD1AA4991}"/>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23" name="Freeform 14">
                <a:extLst>
                  <a:ext uri="{FF2B5EF4-FFF2-40B4-BE49-F238E27FC236}">
                    <a16:creationId xmlns:a16="http://schemas.microsoft.com/office/drawing/2014/main" id="{76DF9A67-C8D0-AF91-0812-CC8A398116B3}"/>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24" name="Freeform 15">
                <a:extLst>
                  <a:ext uri="{FF2B5EF4-FFF2-40B4-BE49-F238E27FC236}">
                    <a16:creationId xmlns:a16="http://schemas.microsoft.com/office/drawing/2014/main" id="{EC5A7D77-0FBF-C593-6D59-AF58030528CC}"/>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25" name="Freeform 16">
                <a:extLst>
                  <a:ext uri="{FF2B5EF4-FFF2-40B4-BE49-F238E27FC236}">
                    <a16:creationId xmlns:a16="http://schemas.microsoft.com/office/drawing/2014/main" id="{C50B94E1-9228-A914-A2B6-84B597D6E9F0}"/>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26" name="Freeform 17">
                <a:extLst>
                  <a:ext uri="{FF2B5EF4-FFF2-40B4-BE49-F238E27FC236}">
                    <a16:creationId xmlns:a16="http://schemas.microsoft.com/office/drawing/2014/main" id="{288C4FE6-1108-CFAA-0532-74DB9F21D535}"/>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27" name="Freeform 18">
                <a:extLst>
                  <a:ext uri="{FF2B5EF4-FFF2-40B4-BE49-F238E27FC236}">
                    <a16:creationId xmlns:a16="http://schemas.microsoft.com/office/drawing/2014/main" id="{1ADB3CD3-B53C-4D46-2D7E-BBE38ADF72EF}"/>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28" name="Freeform 19">
                <a:extLst>
                  <a:ext uri="{FF2B5EF4-FFF2-40B4-BE49-F238E27FC236}">
                    <a16:creationId xmlns:a16="http://schemas.microsoft.com/office/drawing/2014/main" id="{BB545310-5D5E-CD66-789B-08E9BCECFC7D}"/>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29" name="Freeform 20">
                <a:extLst>
                  <a:ext uri="{FF2B5EF4-FFF2-40B4-BE49-F238E27FC236}">
                    <a16:creationId xmlns:a16="http://schemas.microsoft.com/office/drawing/2014/main" id="{3A1FC110-EC48-CAFD-59C3-51622721A32D}"/>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30" name="Freeform 21">
                <a:extLst>
                  <a:ext uri="{FF2B5EF4-FFF2-40B4-BE49-F238E27FC236}">
                    <a16:creationId xmlns:a16="http://schemas.microsoft.com/office/drawing/2014/main" id="{EA8BE631-BDA7-918A-7617-5949ABFAA848}"/>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31" name="Freeform 22">
                <a:extLst>
                  <a:ext uri="{FF2B5EF4-FFF2-40B4-BE49-F238E27FC236}">
                    <a16:creationId xmlns:a16="http://schemas.microsoft.com/office/drawing/2014/main" id="{D227DE4F-793B-A0BE-691E-5A9C38073AA1}"/>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6" name="Group 5">
              <a:extLst>
                <a:ext uri="{FF2B5EF4-FFF2-40B4-BE49-F238E27FC236}">
                  <a16:creationId xmlns:a16="http://schemas.microsoft.com/office/drawing/2014/main" id="{9CB7CEBD-5464-6EBE-C8C4-5D15CD6FBFDF}"/>
                </a:ext>
              </a:extLst>
            </p:cNvPr>
            <p:cNvGrpSpPr/>
            <p:nvPr/>
          </p:nvGrpSpPr>
          <p:grpSpPr>
            <a:xfrm>
              <a:off x="27221" y="-786"/>
              <a:ext cx="2356674" cy="6854039"/>
              <a:chOff x="6627813" y="194833"/>
              <a:chExt cx="1952625" cy="5678918"/>
            </a:xfrm>
          </p:grpSpPr>
          <p:sp>
            <p:nvSpPr>
              <p:cNvPr id="8" name="Freeform 27">
                <a:extLst>
                  <a:ext uri="{FF2B5EF4-FFF2-40B4-BE49-F238E27FC236}">
                    <a16:creationId xmlns:a16="http://schemas.microsoft.com/office/drawing/2014/main" id="{0CCCBDF5-6C78-2BBD-E789-24A367CA69BE}"/>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9" name="Freeform 28">
                <a:extLst>
                  <a:ext uri="{FF2B5EF4-FFF2-40B4-BE49-F238E27FC236}">
                    <a16:creationId xmlns:a16="http://schemas.microsoft.com/office/drawing/2014/main" id="{8B54452A-4C19-2AA6-1E72-CE8C374096F1}"/>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10" name="Freeform 29">
                <a:extLst>
                  <a:ext uri="{FF2B5EF4-FFF2-40B4-BE49-F238E27FC236}">
                    <a16:creationId xmlns:a16="http://schemas.microsoft.com/office/drawing/2014/main" id="{6AD71FD3-629E-599B-7CB3-7928097F6BF8}"/>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11" name="Freeform 30">
                <a:extLst>
                  <a:ext uri="{FF2B5EF4-FFF2-40B4-BE49-F238E27FC236}">
                    <a16:creationId xmlns:a16="http://schemas.microsoft.com/office/drawing/2014/main" id="{744118DE-5FAB-02F1-7D57-EE09060A76ED}"/>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12" name="Freeform 31">
                <a:extLst>
                  <a:ext uri="{FF2B5EF4-FFF2-40B4-BE49-F238E27FC236}">
                    <a16:creationId xmlns:a16="http://schemas.microsoft.com/office/drawing/2014/main" id="{1FE6367E-27C9-7CD4-E173-88F220551E7E}"/>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13" name="Freeform 32">
                <a:extLst>
                  <a:ext uri="{FF2B5EF4-FFF2-40B4-BE49-F238E27FC236}">
                    <a16:creationId xmlns:a16="http://schemas.microsoft.com/office/drawing/2014/main" id="{D5D2220D-037F-050B-8C22-B8DCA9296BC5}"/>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14" name="Freeform 33">
                <a:extLst>
                  <a:ext uri="{FF2B5EF4-FFF2-40B4-BE49-F238E27FC236}">
                    <a16:creationId xmlns:a16="http://schemas.microsoft.com/office/drawing/2014/main" id="{063F0AC7-3D40-1AF6-08D8-A9CFF69280D3}"/>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15" name="Freeform 34">
                <a:extLst>
                  <a:ext uri="{FF2B5EF4-FFF2-40B4-BE49-F238E27FC236}">
                    <a16:creationId xmlns:a16="http://schemas.microsoft.com/office/drawing/2014/main" id="{CD04DD8D-FFC8-959B-5F4F-EDD9519EDFB7}"/>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16" name="Freeform 35">
                <a:extLst>
                  <a:ext uri="{FF2B5EF4-FFF2-40B4-BE49-F238E27FC236}">
                    <a16:creationId xmlns:a16="http://schemas.microsoft.com/office/drawing/2014/main" id="{CDB977EB-81B2-C0EA-70A7-D317DE6B3C1F}"/>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17" name="Freeform 36">
                <a:extLst>
                  <a:ext uri="{FF2B5EF4-FFF2-40B4-BE49-F238E27FC236}">
                    <a16:creationId xmlns:a16="http://schemas.microsoft.com/office/drawing/2014/main" id="{F9F598A3-E95A-948A-7036-BFD1BCA0449C}"/>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18" name="Freeform 37">
                <a:extLst>
                  <a:ext uri="{FF2B5EF4-FFF2-40B4-BE49-F238E27FC236}">
                    <a16:creationId xmlns:a16="http://schemas.microsoft.com/office/drawing/2014/main" id="{4CCEC2CF-F820-669F-E63B-F6F66FD11A91}"/>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19" name="Freeform 38">
                <a:extLst>
                  <a:ext uri="{FF2B5EF4-FFF2-40B4-BE49-F238E27FC236}">
                    <a16:creationId xmlns:a16="http://schemas.microsoft.com/office/drawing/2014/main" id="{7CAFD2E4-D5B3-17CD-8ADC-F17140F8E867}"/>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7" name="Rectangle 6">
              <a:extLst>
                <a:ext uri="{FF2B5EF4-FFF2-40B4-BE49-F238E27FC236}">
                  <a16:creationId xmlns:a16="http://schemas.microsoft.com/office/drawing/2014/main" id="{E13D8DC4-DAFE-C8B5-6CFD-A3A113A36F70}"/>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68" name="Freeform 11">
            <a:extLst>
              <a:ext uri="{FF2B5EF4-FFF2-40B4-BE49-F238E27FC236}">
                <a16:creationId xmlns:a16="http://schemas.microsoft.com/office/drawing/2014/main" id="{5196DB2A-BA50-52D0-EABC-F2C03E15F00E}"/>
              </a:ext>
            </a:extLst>
          </p:cNvPr>
          <p:cNvSpPr/>
          <p:nvPr/>
        </p:nvSpPr>
        <p:spPr bwMode="auto">
          <a:xfrm flipV="1">
            <a:off x="0" y="730587"/>
            <a:ext cx="1245794" cy="446460"/>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sp>
        <p:nvSpPr>
          <p:cNvPr id="32" name="Rectangle: Rounded Corners 31">
            <a:extLst>
              <a:ext uri="{FF2B5EF4-FFF2-40B4-BE49-F238E27FC236}">
                <a16:creationId xmlns:a16="http://schemas.microsoft.com/office/drawing/2014/main" id="{A8D6618E-8929-0701-D29F-24C37FFFC9DD}"/>
              </a:ext>
            </a:extLst>
          </p:cNvPr>
          <p:cNvSpPr/>
          <p:nvPr/>
        </p:nvSpPr>
        <p:spPr>
          <a:xfrm>
            <a:off x="3475636" y="1692564"/>
            <a:ext cx="7032625" cy="4121033"/>
          </a:xfrm>
          <a:prstGeom prst="roundRect">
            <a:avLst/>
          </a:prstGeom>
          <a:ln w="12700"/>
          <a:scene3d>
            <a:camera prst="orthographicFront"/>
            <a:lightRig rig="threePt" dir="t"/>
          </a:scene3d>
          <a:sp3d>
            <a:bevelT w="114300" prst="hardEdge"/>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latin typeface="Imprint MT Shadow" panose="04020605060303030202" pitchFamily="82" charset="0"/>
              </a:rPr>
              <a:t>Enables a consistent approach to </a:t>
            </a:r>
          </a:p>
          <a:p>
            <a:pPr algn="ctr"/>
            <a:endParaRPr lang="en-US" sz="2800" dirty="0">
              <a:latin typeface="Imprint MT Shadow" panose="04020605060303030202" pitchFamily="82" charset="0"/>
            </a:endParaRPr>
          </a:p>
          <a:p>
            <a:pPr algn="ctr"/>
            <a:r>
              <a:rPr lang="en-US" sz="2800" dirty="0">
                <a:latin typeface="Imprint MT Shadow" panose="04020605060303030202" pitchFamily="82" charset="0"/>
              </a:rPr>
              <a:t>building resilient, future-proof </a:t>
            </a:r>
          </a:p>
          <a:p>
            <a:pPr algn="ctr"/>
            <a:endParaRPr lang="en-US" sz="2800" dirty="0">
              <a:latin typeface="Imprint MT Shadow" panose="04020605060303030202" pitchFamily="82" charset="0"/>
            </a:endParaRPr>
          </a:p>
          <a:p>
            <a:pPr algn="ctr"/>
            <a:r>
              <a:rPr lang="en-US" sz="2800" dirty="0">
                <a:latin typeface="Imprint MT Shadow" panose="04020605060303030202" pitchFamily="82" charset="0"/>
              </a:rPr>
              <a:t>data platforms that adapt to change.</a:t>
            </a:r>
            <a:endParaRPr lang="en-GB" sz="2800" dirty="0">
              <a:latin typeface="Imprint MT Shadow" panose="04020605060303030202" pitchFamily="82" charset="0"/>
            </a:endParaRPr>
          </a:p>
          <a:p>
            <a:pPr algn="ctr"/>
            <a:endParaRPr lang="en-GB" dirty="0"/>
          </a:p>
        </p:txBody>
      </p:sp>
    </p:spTree>
    <p:extLst>
      <p:ext uri="{BB962C8B-B14F-4D97-AF65-F5344CB8AC3E}">
        <p14:creationId xmlns:p14="http://schemas.microsoft.com/office/powerpoint/2010/main" val="2199932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2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E2A89-9109-50A5-6447-B72EF9E0CEA9}"/>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B6C341D9-BEB4-6E07-3D80-B1FE9023EDD6}"/>
              </a:ext>
            </a:extLst>
          </p:cNvPr>
          <p:cNvGrpSpPr/>
          <p:nvPr/>
        </p:nvGrpSpPr>
        <p:grpSpPr>
          <a:xfrm>
            <a:off x="0" y="-786"/>
            <a:ext cx="2851517" cy="6868014"/>
            <a:chOff x="0" y="-786"/>
            <a:chExt cx="2851517" cy="6868014"/>
          </a:xfrm>
        </p:grpSpPr>
        <p:grpSp>
          <p:nvGrpSpPr>
            <p:cNvPr id="6" name="Group 5">
              <a:extLst>
                <a:ext uri="{FF2B5EF4-FFF2-40B4-BE49-F238E27FC236}">
                  <a16:creationId xmlns:a16="http://schemas.microsoft.com/office/drawing/2014/main" id="{7AAC8DA4-5B4E-649C-3359-8D10DA15C7A6}"/>
                </a:ext>
              </a:extLst>
            </p:cNvPr>
            <p:cNvGrpSpPr/>
            <p:nvPr/>
          </p:nvGrpSpPr>
          <p:grpSpPr>
            <a:xfrm>
              <a:off x="1" y="228600"/>
              <a:ext cx="2851516" cy="6638628"/>
              <a:chOff x="2487613" y="285750"/>
              <a:chExt cx="2428875" cy="5654676"/>
            </a:xfrm>
          </p:grpSpPr>
          <p:sp>
            <p:nvSpPr>
              <p:cNvPr id="21" name="Freeform 11">
                <a:extLst>
                  <a:ext uri="{FF2B5EF4-FFF2-40B4-BE49-F238E27FC236}">
                    <a16:creationId xmlns:a16="http://schemas.microsoft.com/office/drawing/2014/main" id="{6FE89DB5-E935-64F4-D4C8-8B1EA25882C9}"/>
                  </a:ext>
                </a:extLst>
              </p:cNvPr>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22" name="Freeform 12">
                <a:extLst>
                  <a:ext uri="{FF2B5EF4-FFF2-40B4-BE49-F238E27FC236}">
                    <a16:creationId xmlns:a16="http://schemas.microsoft.com/office/drawing/2014/main" id="{0F6CAD4C-B0F8-5FAF-90BA-1FA1217931EF}"/>
                  </a:ext>
                </a:extLst>
              </p:cNvPr>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23" name="Freeform 13">
                <a:extLst>
                  <a:ext uri="{FF2B5EF4-FFF2-40B4-BE49-F238E27FC236}">
                    <a16:creationId xmlns:a16="http://schemas.microsoft.com/office/drawing/2014/main" id="{D8D09AB0-4E55-E2EB-9021-FEA1B1FDB8AD}"/>
                  </a:ext>
                </a:extLst>
              </p:cNvPr>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24" name="Freeform 14">
                <a:extLst>
                  <a:ext uri="{FF2B5EF4-FFF2-40B4-BE49-F238E27FC236}">
                    <a16:creationId xmlns:a16="http://schemas.microsoft.com/office/drawing/2014/main" id="{0E719420-23DF-64FE-5812-3881F3D0CDB3}"/>
                  </a:ext>
                </a:extLst>
              </p:cNvPr>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25" name="Freeform 15">
                <a:extLst>
                  <a:ext uri="{FF2B5EF4-FFF2-40B4-BE49-F238E27FC236}">
                    <a16:creationId xmlns:a16="http://schemas.microsoft.com/office/drawing/2014/main" id="{942A53B9-40F0-618B-E0FC-A71ECC518D7A}"/>
                  </a:ext>
                </a:extLst>
              </p:cNvPr>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26" name="Freeform 16">
                <a:extLst>
                  <a:ext uri="{FF2B5EF4-FFF2-40B4-BE49-F238E27FC236}">
                    <a16:creationId xmlns:a16="http://schemas.microsoft.com/office/drawing/2014/main" id="{38EC5041-E537-A7C0-A548-B5704F91FAA2}"/>
                  </a:ext>
                </a:extLst>
              </p:cNvPr>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27" name="Freeform 17">
                <a:extLst>
                  <a:ext uri="{FF2B5EF4-FFF2-40B4-BE49-F238E27FC236}">
                    <a16:creationId xmlns:a16="http://schemas.microsoft.com/office/drawing/2014/main" id="{C274757E-8592-DDA7-FD3A-DD76E81634FF}"/>
                  </a:ext>
                </a:extLst>
              </p:cNvPr>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28" name="Freeform 18">
                <a:extLst>
                  <a:ext uri="{FF2B5EF4-FFF2-40B4-BE49-F238E27FC236}">
                    <a16:creationId xmlns:a16="http://schemas.microsoft.com/office/drawing/2014/main" id="{F9126C22-D699-44C0-BCF5-2C560E4EDB01}"/>
                  </a:ext>
                </a:extLst>
              </p:cNvPr>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29" name="Freeform 19">
                <a:extLst>
                  <a:ext uri="{FF2B5EF4-FFF2-40B4-BE49-F238E27FC236}">
                    <a16:creationId xmlns:a16="http://schemas.microsoft.com/office/drawing/2014/main" id="{92E53E5A-A62F-6FA5-1FEA-805F7D195418}"/>
                  </a:ext>
                </a:extLst>
              </p:cNvPr>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30" name="Freeform 20">
                <a:extLst>
                  <a:ext uri="{FF2B5EF4-FFF2-40B4-BE49-F238E27FC236}">
                    <a16:creationId xmlns:a16="http://schemas.microsoft.com/office/drawing/2014/main" id="{0311BFD0-2733-3C04-220A-DAACF104E9F2}"/>
                  </a:ext>
                </a:extLst>
              </p:cNvPr>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31" name="Freeform 21">
                <a:extLst>
                  <a:ext uri="{FF2B5EF4-FFF2-40B4-BE49-F238E27FC236}">
                    <a16:creationId xmlns:a16="http://schemas.microsoft.com/office/drawing/2014/main" id="{3F3F632D-5370-D38D-715C-077572EE2810}"/>
                  </a:ext>
                </a:extLst>
              </p:cNvPr>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32" name="Freeform 22">
                <a:extLst>
                  <a:ext uri="{FF2B5EF4-FFF2-40B4-BE49-F238E27FC236}">
                    <a16:creationId xmlns:a16="http://schemas.microsoft.com/office/drawing/2014/main" id="{B245ACA0-18FB-9C53-4970-D5BD54BA1931}"/>
                  </a:ext>
                </a:extLst>
              </p:cNvPr>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7" name="Group 6">
              <a:extLst>
                <a:ext uri="{FF2B5EF4-FFF2-40B4-BE49-F238E27FC236}">
                  <a16:creationId xmlns:a16="http://schemas.microsoft.com/office/drawing/2014/main" id="{400007A6-8800-496F-8C2A-5961C3269BED}"/>
                </a:ext>
              </a:extLst>
            </p:cNvPr>
            <p:cNvGrpSpPr/>
            <p:nvPr/>
          </p:nvGrpSpPr>
          <p:grpSpPr>
            <a:xfrm>
              <a:off x="27221" y="-786"/>
              <a:ext cx="2356674" cy="6854039"/>
              <a:chOff x="6627813" y="194833"/>
              <a:chExt cx="1952625" cy="5678918"/>
            </a:xfrm>
          </p:grpSpPr>
          <p:sp>
            <p:nvSpPr>
              <p:cNvPr id="9" name="Freeform 27">
                <a:extLst>
                  <a:ext uri="{FF2B5EF4-FFF2-40B4-BE49-F238E27FC236}">
                    <a16:creationId xmlns:a16="http://schemas.microsoft.com/office/drawing/2014/main" id="{B6BD3845-8787-6303-C3D1-20AAB48050C9}"/>
                  </a:ext>
                </a:extLst>
              </p:cNvPr>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10" name="Freeform 28">
                <a:extLst>
                  <a:ext uri="{FF2B5EF4-FFF2-40B4-BE49-F238E27FC236}">
                    <a16:creationId xmlns:a16="http://schemas.microsoft.com/office/drawing/2014/main" id="{E1925927-BF79-BB2B-FF26-28166084A6C2}"/>
                  </a:ext>
                </a:extLst>
              </p:cNvPr>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11" name="Freeform 29">
                <a:extLst>
                  <a:ext uri="{FF2B5EF4-FFF2-40B4-BE49-F238E27FC236}">
                    <a16:creationId xmlns:a16="http://schemas.microsoft.com/office/drawing/2014/main" id="{278A1E54-F0BC-BD23-69BD-317A24559BD5}"/>
                  </a:ext>
                </a:extLst>
              </p:cNvPr>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12" name="Freeform 30">
                <a:extLst>
                  <a:ext uri="{FF2B5EF4-FFF2-40B4-BE49-F238E27FC236}">
                    <a16:creationId xmlns:a16="http://schemas.microsoft.com/office/drawing/2014/main" id="{39B2CCE8-2445-401C-6F1F-5C3DA673875F}"/>
                  </a:ext>
                </a:extLst>
              </p:cNvPr>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13" name="Freeform 31">
                <a:extLst>
                  <a:ext uri="{FF2B5EF4-FFF2-40B4-BE49-F238E27FC236}">
                    <a16:creationId xmlns:a16="http://schemas.microsoft.com/office/drawing/2014/main" id="{1D333F37-7CE2-FDCE-FA82-F168887C6CB2}"/>
                  </a:ext>
                </a:extLst>
              </p:cNvPr>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14" name="Freeform 32">
                <a:extLst>
                  <a:ext uri="{FF2B5EF4-FFF2-40B4-BE49-F238E27FC236}">
                    <a16:creationId xmlns:a16="http://schemas.microsoft.com/office/drawing/2014/main" id="{55347CBB-9E74-5727-8958-8C1C0F7594C4}"/>
                  </a:ext>
                </a:extLst>
              </p:cNvPr>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15" name="Freeform 33">
                <a:extLst>
                  <a:ext uri="{FF2B5EF4-FFF2-40B4-BE49-F238E27FC236}">
                    <a16:creationId xmlns:a16="http://schemas.microsoft.com/office/drawing/2014/main" id="{8CA64978-EE66-1FDF-EB63-2B9B22E246CB}"/>
                  </a:ext>
                </a:extLst>
              </p:cNvPr>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16" name="Freeform 34">
                <a:extLst>
                  <a:ext uri="{FF2B5EF4-FFF2-40B4-BE49-F238E27FC236}">
                    <a16:creationId xmlns:a16="http://schemas.microsoft.com/office/drawing/2014/main" id="{3C91FE84-572B-8E87-1BD2-FD676BF547A6}"/>
                  </a:ext>
                </a:extLst>
              </p:cNvPr>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17" name="Freeform 35">
                <a:extLst>
                  <a:ext uri="{FF2B5EF4-FFF2-40B4-BE49-F238E27FC236}">
                    <a16:creationId xmlns:a16="http://schemas.microsoft.com/office/drawing/2014/main" id="{7713687E-4FDE-1656-3E9F-A8DAE0533380}"/>
                  </a:ext>
                </a:extLst>
              </p:cNvPr>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18" name="Freeform 36">
                <a:extLst>
                  <a:ext uri="{FF2B5EF4-FFF2-40B4-BE49-F238E27FC236}">
                    <a16:creationId xmlns:a16="http://schemas.microsoft.com/office/drawing/2014/main" id="{0D9C64C7-19D0-B126-3EB3-026081EEE39A}"/>
                  </a:ext>
                </a:extLst>
              </p:cNvPr>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19" name="Freeform 37">
                <a:extLst>
                  <a:ext uri="{FF2B5EF4-FFF2-40B4-BE49-F238E27FC236}">
                    <a16:creationId xmlns:a16="http://schemas.microsoft.com/office/drawing/2014/main" id="{771A6200-A21C-8FE7-A1C4-48AE9D333198}"/>
                  </a:ext>
                </a:extLst>
              </p:cNvPr>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20" name="Freeform 38">
                <a:extLst>
                  <a:ext uri="{FF2B5EF4-FFF2-40B4-BE49-F238E27FC236}">
                    <a16:creationId xmlns:a16="http://schemas.microsoft.com/office/drawing/2014/main" id="{A7DCC0B4-82D4-7534-91B3-8BCABB21FB1D}"/>
                  </a:ext>
                </a:extLst>
              </p:cNvPr>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8" name="Rectangle 7">
              <a:extLst>
                <a:ext uri="{FF2B5EF4-FFF2-40B4-BE49-F238E27FC236}">
                  <a16:creationId xmlns:a16="http://schemas.microsoft.com/office/drawing/2014/main" id="{52C2C4AC-9D22-399E-F1EE-74FDD8A9AF61}"/>
                </a:ext>
              </a:extLst>
            </p:cNvPr>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3C6AD40B-3269-1010-430B-FA298BBB1EB7}"/>
              </a:ext>
            </a:extLst>
          </p:cNvPr>
          <p:cNvSpPr>
            <a:spLocks noGrp="1"/>
          </p:cNvSpPr>
          <p:nvPr>
            <p:ph type="title" idx="4294967295"/>
          </p:nvPr>
        </p:nvSpPr>
        <p:spPr>
          <a:xfrm>
            <a:off x="3154517" y="5731705"/>
            <a:ext cx="7062268" cy="496200"/>
          </a:xfrm>
        </p:spPr>
        <p:txBody>
          <a:bodyPr>
            <a:noAutofit/>
          </a:bodyPr>
          <a:lstStyle/>
          <a:p>
            <a:r>
              <a:rPr lang="en-GB" sz="2800" dirty="0">
                <a:solidFill>
                  <a:srgbClr val="4D4D4D"/>
                </a:solidFill>
                <a:effectLst/>
                <a:latin typeface="Helvetica" panose="020B0604020202020204" pitchFamily="34" charset="0"/>
                <a:ea typeface="Aptos" panose="020B0004020202020204" pitchFamily="34" charset="0"/>
                <a:cs typeface="Open Sans" panose="020B0606030504020204" pitchFamily="34" charset="0"/>
              </a:rPr>
              <a:t>Managing successful digital initiatives </a:t>
            </a:r>
            <a:br>
              <a:rPr lang="en-GB" sz="2800" dirty="0">
                <a:solidFill>
                  <a:srgbClr val="4D4D4D"/>
                </a:solidFill>
                <a:effectLst/>
                <a:latin typeface="Helvetica" panose="020B0604020202020204" pitchFamily="34" charset="0"/>
                <a:ea typeface="Aptos" panose="020B0004020202020204" pitchFamily="34" charset="0"/>
                <a:cs typeface="Open Sans" panose="020B0606030504020204" pitchFamily="34" charset="0"/>
              </a:rPr>
            </a:br>
            <a:endParaRPr lang="en-GB" sz="2800" dirty="0"/>
          </a:p>
        </p:txBody>
      </p:sp>
      <p:sp>
        <p:nvSpPr>
          <p:cNvPr id="3" name="Content Placeholder 2">
            <a:extLst>
              <a:ext uri="{FF2B5EF4-FFF2-40B4-BE49-F238E27FC236}">
                <a16:creationId xmlns:a16="http://schemas.microsoft.com/office/drawing/2014/main" id="{7DDC57E3-8DC0-8F04-23E7-03A69F2E97F0}"/>
              </a:ext>
            </a:extLst>
          </p:cNvPr>
          <p:cNvSpPr>
            <a:spLocks noGrp="1"/>
          </p:cNvSpPr>
          <p:nvPr>
            <p:ph idx="4294967295"/>
          </p:nvPr>
        </p:nvSpPr>
        <p:spPr>
          <a:xfrm>
            <a:off x="3367382" y="2307772"/>
            <a:ext cx="4184216" cy="1468573"/>
          </a:xfrm>
        </p:spPr>
        <p:txBody>
          <a:bodyPr>
            <a:normAutofit/>
          </a:bodyPr>
          <a:lstStyle/>
          <a:p>
            <a:pPr marL="0" indent="0">
              <a:buNone/>
            </a:pPr>
            <a:r>
              <a:rPr lang="en-GB" b="1" dirty="0"/>
              <a:t>Ilia Ryzhkov</a:t>
            </a:r>
          </a:p>
          <a:p>
            <a:pPr marL="0" indent="0">
              <a:buNone/>
            </a:pPr>
            <a:r>
              <a:rPr lang="en-GB" sz="1600" b="1" dirty="0"/>
              <a:t>	</a:t>
            </a:r>
            <a:r>
              <a:rPr lang="en-GB" sz="1600" dirty="0">
                <a:hlinkClick r:id="rId3"/>
              </a:rPr>
              <a:t>ilia.ryzhkov@dbax.co.uk</a:t>
            </a:r>
            <a:r>
              <a:rPr lang="en-GB" sz="1600" b="1" dirty="0"/>
              <a:t> </a:t>
            </a:r>
          </a:p>
          <a:p>
            <a:pPr marL="0" indent="0">
              <a:buNone/>
            </a:pPr>
            <a:r>
              <a:rPr lang="en-GB" sz="1600" dirty="0"/>
              <a:t>	GITHUB:</a:t>
            </a:r>
            <a:r>
              <a:rPr lang="en-GB" sz="1600" b="1" dirty="0"/>
              <a:t> </a:t>
            </a:r>
            <a:r>
              <a:rPr lang="en-GB" sz="1600" dirty="0" err="1">
                <a:hlinkClick r:id="rId4"/>
              </a:rPr>
              <a:t>IliaRyzhkovPR</a:t>
            </a:r>
            <a:endParaRPr lang="en-GB" sz="1600" dirty="0"/>
          </a:p>
        </p:txBody>
      </p:sp>
      <p:sp>
        <p:nvSpPr>
          <p:cNvPr id="4" name="Freeform 11">
            <a:extLst>
              <a:ext uri="{FF2B5EF4-FFF2-40B4-BE49-F238E27FC236}">
                <a16:creationId xmlns:a16="http://schemas.microsoft.com/office/drawing/2014/main" id="{BB3803EB-394A-F674-D4B3-70C4DCD39FC7}"/>
              </a:ext>
            </a:extLst>
          </p:cNvPr>
          <p:cNvSpPr/>
          <p:nvPr/>
        </p:nvSpPr>
        <p:spPr bwMode="auto">
          <a:xfrm flipV="1">
            <a:off x="0" y="730587"/>
            <a:ext cx="1452340" cy="446460"/>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GB"/>
          </a:p>
        </p:txBody>
      </p:sp>
      <p:pic>
        <p:nvPicPr>
          <p:cNvPr id="34" name="Picture 33" descr="A computer with a cloud and arrow">
            <a:extLst>
              <a:ext uri="{FF2B5EF4-FFF2-40B4-BE49-F238E27FC236}">
                <a16:creationId xmlns:a16="http://schemas.microsoft.com/office/drawing/2014/main" id="{01D4C891-A489-3972-48C3-51D7C2C2050F}"/>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7090616" y="2354754"/>
            <a:ext cx="1267436" cy="996534"/>
          </a:xfrm>
          <a:prstGeom prst="rect">
            <a:avLst/>
          </a:prstGeom>
        </p:spPr>
      </p:pic>
      <p:pic>
        <p:nvPicPr>
          <p:cNvPr id="36" name="Picture 35" descr="A blue and white logo&#10;&#10;AI-generated content may be incorrect.">
            <a:extLst>
              <a:ext uri="{FF2B5EF4-FFF2-40B4-BE49-F238E27FC236}">
                <a16:creationId xmlns:a16="http://schemas.microsoft.com/office/drawing/2014/main" id="{D590A2AE-4C14-24EB-6198-B00B289C43BD}"/>
              </a:ext>
            </a:extLst>
          </p:cNvPr>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8259617" y="4221515"/>
            <a:ext cx="1209874" cy="597614"/>
          </a:xfrm>
          <a:prstGeom prst="rect">
            <a:avLst/>
          </a:prstGeom>
        </p:spPr>
      </p:pic>
      <p:sp>
        <p:nvSpPr>
          <p:cNvPr id="37" name="Content Placeholder 2">
            <a:extLst>
              <a:ext uri="{FF2B5EF4-FFF2-40B4-BE49-F238E27FC236}">
                <a16:creationId xmlns:a16="http://schemas.microsoft.com/office/drawing/2014/main" id="{984DD132-6766-CD06-C27E-2FF1DBF4B2D6}"/>
              </a:ext>
            </a:extLst>
          </p:cNvPr>
          <p:cNvSpPr txBox="1">
            <a:spLocks/>
          </p:cNvSpPr>
          <p:nvPr/>
        </p:nvSpPr>
        <p:spPr>
          <a:xfrm>
            <a:off x="3367382" y="3991761"/>
            <a:ext cx="4892235" cy="125487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b="1" dirty="0"/>
              <a:t>Neil Hayes-Webster </a:t>
            </a:r>
          </a:p>
          <a:p>
            <a:pPr marL="457200" lvl="1" indent="0">
              <a:buNone/>
            </a:pPr>
            <a:r>
              <a:rPr lang="en-GB" dirty="0">
                <a:hlinkClick r:id="rId7"/>
              </a:rPr>
              <a:t>Neil.Hayes-Webster@SomersetFT.NHS.UK</a:t>
            </a:r>
            <a:endParaRPr lang="en-GB" dirty="0"/>
          </a:p>
          <a:p>
            <a:pPr marL="457200" lvl="1" indent="0">
              <a:buNone/>
            </a:pPr>
            <a:r>
              <a:rPr lang="en-GB" dirty="0"/>
              <a:t>GITHUB: </a:t>
            </a:r>
            <a:r>
              <a:rPr lang="en-GB" dirty="0" err="1">
                <a:hlinkClick r:id="rId8"/>
              </a:rPr>
              <a:t>NeilHW</a:t>
            </a:r>
            <a:r>
              <a:rPr lang="en-GB" dirty="0">
                <a:hlinkClick r:id="rId8"/>
              </a:rPr>
              <a:t>-NHS (</a:t>
            </a:r>
            <a:r>
              <a:rPr lang="en-GB" dirty="0" err="1">
                <a:hlinkClick r:id="rId8"/>
              </a:rPr>
              <a:t>NeilHW</a:t>
            </a:r>
            <a:r>
              <a:rPr lang="en-GB" dirty="0">
                <a:hlinkClick r:id="rId8"/>
              </a:rPr>
              <a:t>-SFT)</a:t>
            </a:r>
            <a:endParaRPr lang="en-GB" dirty="0"/>
          </a:p>
        </p:txBody>
      </p:sp>
      <p:pic>
        <p:nvPicPr>
          <p:cNvPr id="35" name="Picture 34" descr="A qr code with a white background&#10;&#10;AI-generated content may be incorrect.">
            <a:extLst>
              <a:ext uri="{FF2B5EF4-FFF2-40B4-BE49-F238E27FC236}">
                <a16:creationId xmlns:a16="http://schemas.microsoft.com/office/drawing/2014/main" id="{21693EEB-E17A-7441-E4B3-E1A75C23CCB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417801" y="1414687"/>
            <a:ext cx="1800476" cy="1810003"/>
          </a:xfrm>
          <a:prstGeom prst="rect">
            <a:avLst/>
          </a:prstGeom>
        </p:spPr>
      </p:pic>
      <p:grpSp>
        <p:nvGrpSpPr>
          <p:cNvPr id="46" name="Group 45">
            <a:extLst>
              <a:ext uri="{FF2B5EF4-FFF2-40B4-BE49-F238E27FC236}">
                <a16:creationId xmlns:a16="http://schemas.microsoft.com/office/drawing/2014/main" id="{023E6B1F-DC68-E3DF-8026-7FAB5DC245DD}"/>
              </a:ext>
            </a:extLst>
          </p:cNvPr>
          <p:cNvGrpSpPr/>
          <p:nvPr/>
        </p:nvGrpSpPr>
        <p:grpSpPr>
          <a:xfrm>
            <a:off x="495729" y="4819129"/>
            <a:ext cx="1841424" cy="1837435"/>
            <a:chOff x="2984576" y="1214258"/>
            <a:chExt cx="7966605" cy="6204427"/>
          </a:xfrm>
        </p:grpSpPr>
        <p:pic>
          <p:nvPicPr>
            <p:cNvPr id="47" name="Picture 46" descr="A white stone structure with a triangular top">
              <a:extLst>
                <a:ext uri="{FF2B5EF4-FFF2-40B4-BE49-F238E27FC236}">
                  <a16:creationId xmlns:a16="http://schemas.microsoft.com/office/drawing/2014/main" id="{0525C1AF-F62D-362E-B4F3-293E3AFAF745}"/>
                </a:ext>
              </a:extLst>
            </p:cNvPr>
            <p:cNvPicPr>
              <a:picLocks noChangeAspect="1"/>
            </p:cNvPicPr>
            <p:nvPr/>
          </p:nvPicPr>
          <p:blipFill>
            <a:blip r:embed="rId10" cstate="screen">
              <a:alphaModFix/>
              <a:extLst>
                <a:ext uri="{28A0092B-C50C-407E-A947-70E740481C1C}">
                  <a14:useLocalDpi xmlns:a14="http://schemas.microsoft.com/office/drawing/2010/main" val="0"/>
                </a:ext>
              </a:extLst>
            </a:blip>
            <a:stretch>
              <a:fillRect/>
            </a:stretch>
          </p:blipFill>
          <p:spPr>
            <a:xfrm>
              <a:off x="2984576" y="1214258"/>
              <a:ext cx="7966605" cy="6204427"/>
            </a:xfrm>
            <a:prstGeom prst="rect">
              <a:avLst/>
            </a:prstGeom>
          </p:spPr>
        </p:pic>
        <p:pic>
          <p:nvPicPr>
            <p:cNvPr id="48" name="Picture 47" descr="A white pillar with a letter v&#10;&#10;AI-generated content may be incorrect.">
              <a:extLst>
                <a:ext uri="{FF2B5EF4-FFF2-40B4-BE49-F238E27FC236}">
                  <a16:creationId xmlns:a16="http://schemas.microsoft.com/office/drawing/2014/main" id="{1D4F9224-9FEB-6F8D-5184-C0F4D17C71A5}"/>
                </a:ext>
              </a:extLst>
            </p:cNvPr>
            <p:cNvPicPr>
              <a:picLocks noChangeAspect="1"/>
            </p:cNvPicPr>
            <p:nvPr/>
          </p:nvPicPr>
          <p:blipFill>
            <a:blip r:embed="rId11" cstate="screen">
              <a:alphaModFix/>
              <a:extLst>
                <a:ext uri="{28A0092B-C50C-407E-A947-70E740481C1C}">
                  <a14:useLocalDpi xmlns:a14="http://schemas.microsoft.com/office/drawing/2010/main" val="0"/>
                </a:ext>
              </a:extLst>
            </a:blip>
            <a:stretch>
              <a:fillRect/>
            </a:stretch>
          </p:blipFill>
          <p:spPr>
            <a:xfrm>
              <a:off x="4108093" y="3645372"/>
              <a:ext cx="576000" cy="1998370"/>
            </a:xfrm>
            <a:prstGeom prst="rect">
              <a:avLst/>
            </a:prstGeom>
          </p:spPr>
        </p:pic>
        <p:pic>
          <p:nvPicPr>
            <p:cNvPr id="49" name="Picture 48" descr="A white pillar with a letter e&#10;&#10;AI-generated content may be incorrect.">
              <a:extLst>
                <a:ext uri="{FF2B5EF4-FFF2-40B4-BE49-F238E27FC236}">
                  <a16:creationId xmlns:a16="http://schemas.microsoft.com/office/drawing/2014/main" id="{147174E5-4535-C462-51C6-CCB8BA46F1D4}"/>
                </a:ext>
              </a:extLst>
            </p:cNvPr>
            <p:cNvPicPr>
              <a:picLocks noChangeAspect="1"/>
            </p:cNvPicPr>
            <p:nvPr/>
          </p:nvPicPr>
          <p:blipFill>
            <a:blip r:embed="rId12" cstate="screen">
              <a:alphaModFix/>
              <a:extLst>
                <a:ext uri="{28A0092B-C50C-407E-A947-70E740481C1C}">
                  <a14:useLocalDpi xmlns:a14="http://schemas.microsoft.com/office/drawing/2010/main" val="0"/>
                </a:ext>
              </a:extLst>
            </a:blip>
            <a:stretch>
              <a:fillRect/>
            </a:stretch>
          </p:blipFill>
          <p:spPr>
            <a:xfrm>
              <a:off x="4989396" y="3645375"/>
              <a:ext cx="576000" cy="1998367"/>
            </a:xfrm>
            <a:prstGeom prst="rect">
              <a:avLst/>
            </a:prstGeom>
          </p:spPr>
        </p:pic>
        <p:pic>
          <p:nvPicPr>
            <p:cNvPr id="50" name="Picture 49" descr="A white pillar with a letter c&#10;&#10;AI-generated content may be incorrect.">
              <a:extLst>
                <a:ext uri="{FF2B5EF4-FFF2-40B4-BE49-F238E27FC236}">
                  <a16:creationId xmlns:a16="http://schemas.microsoft.com/office/drawing/2014/main" id="{4D6C3242-86B3-BF6A-ED14-6DE3CE89069A}"/>
                </a:ext>
              </a:extLst>
            </p:cNvPr>
            <p:cNvPicPr>
              <a:picLocks noChangeAspect="1"/>
            </p:cNvPicPr>
            <p:nvPr/>
          </p:nvPicPr>
          <p:blipFill>
            <a:blip r:embed="rId13" cstate="screen">
              <a:alphaModFix/>
              <a:extLst>
                <a:ext uri="{28A0092B-C50C-407E-A947-70E740481C1C}">
                  <a14:useLocalDpi xmlns:a14="http://schemas.microsoft.com/office/drawing/2010/main" val="0"/>
                </a:ext>
              </a:extLst>
            </a:blip>
            <a:stretch>
              <a:fillRect/>
            </a:stretch>
          </p:blipFill>
          <p:spPr>
            <a:xfrm>
              <a:off x="5870699" y="3645375"/>
              <a:ext cx="576000" cy="1998367"/>
            </a:xfrm>
            <a:prstGeom prst="rect">
              <a:avLst/>
            </a:prstGeom>
          </p:spPr>
        </p:pic>
        <p:pic>
          <p:nvPicPr>
            <p:cNvPr id="51" name="Picture 50" descr="A white pillar with a letter&#10;&#10;AI-generated content may be incorrect.">
              <a:extLst>
                <a:ext uri="{FF2B5EF4-FFF2-40B4-BE49-F238E27FC236}">
                  <a16:creationId xmlns:a16="http://schemas.microsoft.com/office/drawing/2014/main" id="{E9B10FFF-52AF-3687-AF30-96D0355AB519}"/>
                </a:ext>
              </a:extLst>
            </p:cNvPr>
            <p:cNvPicPr>
              <a:picLocks noChangeAspect="1"/>
            </p:cNvPicPr>
            <p:nvPr/>
          </p:nvPicPr>
          <p:blipFill>
            <a:blip r:embed="rId14" cstate="screen">
              <a:alphaModFix/>
              <a:extLst>
                <a:ext uri="{28A0092B-C50C-407E-A947-70E740481C1C}">
                  <a14:useLocalDpi xmlns:a14="http://schemas.microsoft.com/office/drawing/2010/main" val="0"/>
                </a:ext>
              </a:extLst>
            </a:blip>
            <a:stretch>
              <a:fillRect/>
            </a:stretch>
          </p:blipFill>
          <p:spPr>
            <a:xfrm>
              <a:off x="6752002" y="3645375"/>
              <a:ext cx="576000" cy="1998367"/>
            </a:xfrm>
            <a:prstGeom prst="rect">
              <a:avLst/>
            </a:prstGeom>
          </p:spPr>
        </p:pic>
        <p:pic>
          <p:nvPicPr>
            <p:cNvPr id="52" name="Picture 51" descr="A white pillar with a letter o&#10;&#10;AI-generated content may be incorrect.">
              <a:extLst>
                <a:ext uri="{FF2B5EF4-FFF2-40B4-BE49-F238E27FC236}">
                  <a16:creationId xmlns:a16="http://schemas.microsoft.com/office/drawing/2014/main" id="{70D53A86-C572-F84E-F02A-EFC4F5EC673C}"/>
                </a:ext>
              </a:extLst>
            </p:cNvPr>
            <p:cNvPicPr>
              <a:picLocks noChangeAspect="1"/>
            </p:cNvPicPr>
            <p:nvPr/>
          </p:nvPicPr>
          <p:blipFill>
            <a:blip r:embed="rId15" cstate="screen">
              <a:alphaModFix/>
              <a:extLst>
                <a:ext uri="{28A0092B-C50C-407E-A947-70E740481C1C}">
                  <a14:useLocalDpi xmlns:a14="http://schemas.microsoft.com/office/drawing/2010/main" val="0"/>
                </a:ext>
              </a:extLst>
            </a:blip>
            <a:stretch>
              <a:fillRect/>
            </a:stretch>
          </p:blipFill>
          <p:spPr>
            <a:xfrm>
              <a:off x="7633305" y="3663742"/>
              <a:ext cx="570706" cy="1980000"/>
            </a:xfrm>
            <a:prstGeom prst="rect">
              <a:avLst/>
            </a:prstGeom>
          </p:spPr>
        </p:pic>
        <p:pic>
          <p:nvPicPr>
            <p:cNvPr id="53" name="Picture 52" descr="A white pillar with a letter&#10;&#10;AI-generated content may be incorrect.">
              <a:extLst>
                <a:ext uri="{FF2B5EF4-FFF2-40B4-BE49-F238E27FC236}">
                  <a16:creationId xmlns:a16="http://schemas.microsoft.com/office/drawing/2014/main" id="{FF99FDF8-09C7-4D68-14F4-AE966746A49B}"/>
                </a:ext>
              </a:extLst>
            </p:cNvPr>
            <p:cNvPicPr>
              <a:picLocks noChangeAspect="1"/>
            </p:cNvPicPr>
            <p:nvPr/>
          </p:nvPicPr>
          <p:blipFill>
            <a:blip r:embed="rId16" cstate="screen">
              <a:alphaModFix/>
              <a:extLst>
                <a:ext uri="{28A0092B-C50C-407E-A947-70E740481C1C}">
                  <a14:useLocalDpi xmlns:a14="http://schemas.microsoft.com/office/drawing/2010/main" val="0"/>
                </a:ext>
              </a:extLst>
            </a:blip>
            <a:stretch>
              <a:fillRect/>
            </a:stretch>
          </p:blipFill>
          <p:spPr>
            <a:xfrm>
              <a:off x="8509314" y="3663742"/>
              <a:ext cx="570706" cy="1980000"/>
            </a:xfrm>
            <a:prstGeom prst="rect">
              <a:avLst/>
            </a:prstGeom>
          </p:spPr>
        </p:pic>
        <p:pic>
          <p:nvPicPr>
            <p:cNvPr id="54" name="Picture 53" descr="A white pillar with a letter on it&#10;&#10;AI-generated content may be incorrect.">
              <a:extLst>
                <a:ext uri="{FF2B5EF4-FFF2-40B4-BE49-F238E27FC236}">
                  <a16:creationId xmlns:a16="http://schemas.microsoft.com/office/drawing/2014/main" id="{3E0EB88D-C0B9-7989-713E-62DAB6B3FBDA}"/>
                </a:ext>
              </a:extLst>
            </p:cNvPr>
            <p:cNvPicPr>
              <a:picLocks noChangeAspect="1"/>
            </p:cNvPicPr>
            <p:nvPr/>
          </p:nvPicPr>
          <p:blipFill>
            <a:blip r:embed="rId17" cstate="screen">
              <a:alphaModFix/>
              <a:extLst>
                <a:ext uri="{28A0092B-C50C-407E-A947-70E740481C1C}">
                  <a14:useLocalDpi xmlns:a14="http://schemas.microsoft.com/office/drawing/2010/main" val="0"/>
                </a:ext>
              </a:extLst>
            </a:blip>
            <a:stretch>
              <a:fillRect/>
            </a:stretch>
          </p:blipFill>
          <p:spPr>
            <a:xfrm>
              <a:off x="9385320" y="3663742"/>
              <a:ext cx="570706" cy="1980000"/>
            </a:xfrm>
            <a:prstGeom prst="rect">
              <a:avLst/>
            </a:prstGeom>
          </p:spPr>
        </p:pic>
      </p:grpSp>
      <p:sp>
        <p:nvSpPr>
          <p:cNvPr id="55" name="Title 1">
            <a:extLst>
              <a:ext uri="{FF2B5EF4-FFF2-40B4-BE49-F238E27FC236}">
                <a16:creationId xmlns:a16="http://schemas.microsoft.com/office/drawing/2014/main" id="{61B58A6B-C16D-15B2-85DB-DC7718A826A7}"/>
              </a:ext>
            </a:extLst>
          </p:cNvPr>
          <p:cNvSpPr txBox="1">
            <a:spLocks/>
          </p:cNvSpPr>
          <p:nvPr/>
        </p:nvSpPr>
        <p:spPr>
          <a:xfrm>
            <a:off x="3728958" y="611128"/>
            <a:ext cx="4892235" cy="109061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800" dirty="0">
                <a:solidFill>
                  <a:schemeClr val="accent3">
                    <a:lumMod val="75000"/>
                  </a:schemeClr>
                </a:solidFill>
                <a:latin typeface="Castellar" panose="020A0402060406010301" pitchFamily="18" charset="0"/>
              </a:rPr>
              <a:t>V E C T O R S</a:t>
            </a:r>
            <a:endParaRPr lang="en-GB" sz="4800" dirty="0">
              <a:solidFill>
                <a:schemeClr val="accent3">
                  <a:lumMod val="75000"/>
                </a:schemeClr>
              </a:solidFill>
              <a:latin typeface="Castellar" panose="020A0402060406010301" pitchFamily="18" charset="0"/>
            </a:endParaRPr>
          </a:p>
        </p:txBody>
      </p:sp>
      <p:sp>
        <p:nvSpPr>
          <p:cNvPr id="33" name="Content Placeholder 2">
            <a:extLst>
              <a:ext uri="{FF2B5EF4-FFF2-40B4-BE49-F238E27FC236}">
                <a16:creationId xmlns:a16="http://schemas.microsoft.com/office/drawing/2014/main" id="{840AF5C2-C202-2FB3-849F-EC413FDB5314}"/>
              </a:ext>
            </a:extLst>
          </p:cNvPr>
          <p:cNvSpPr txBox="1">
            <a:spLocks/>
          </p:cNvSpPr>
          <p:nvPr/>
        </p:nvSpPr>
        <p:spPr>
          <a:xfrm>
            <a:off x="9151068" y="500670"/>
            <a:ext cx="2333941" cy="67637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GB" dirty="0"/>
              <a:t>Scan to register for a follow-up demo</a:t>
            </a:r>
          </a:p>
        </p:txBody>
      </p:sp>
    </p:spTree>
    <p:extLst>
      <p:ext uri="{BB962C8B-B14F-4D97-AF65-F5344CB8AC3E}">
        <p14:creationId xmlns:p14="http://schemas.microsoft.com/office/powerpoint/2010/main" val="400480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itle Slide - whi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Content slides - white">
  <a:themeElements>
    <a:clrScheme name="NHS Colours">
      <a:dk1>
        <a:srgbClr val="003087"/>
      </a:dk1>
      <a:lt1>
        <a:srgbClr val="FFFFFF"/>
      </a:lt1>
      <a:dk2>
        <a:srgbClr val="005EB8"/>
      </a:dk2>
      <a:lt2>
        <a:srgbClr val="41B6E6"/>
      </a:lt2>
      <a:accent1>
        <a:srgbClr val="009639"/>
      </a:accent1>
      <a:accent2>
        <a:srgbClr val="78BE20"/>
      </a:accent2>
      <a:accent3>
        <a:srgbClr val="AE2573"/>
      </a:accent3>
      <a:accent4>
        <a:srgbClr val="ED8B00"/>
      </a:accent4>
      <a:accent5>
        <a:srgbClr val="330072"/>
      </a:accent5>
      <a:accent6>
        <a:srgbClr val="00A499"/>
      </a:accent6>
      <a:hlink>
        <a:srgbClr val="ED8B00"/>
      </a:hlink>
      <a:folHlink>
        <a:srgbClr val="FFB81C"/>
      </a:folHlink>
    </a:clrScheme>
    <a:fontScheme name="Test">
      <a:majorFont>
        <a:latin typeface="Frutiger Lt Std"/>
        <a:ea typeface=""/>
        <a:cs typeface=""/>
      </a:majorFont>
      <a:minorFont>
        <a:latin typeface="Frutiger Lt St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NHS Blue">
      <a:srgbClr val="005EB8"/>
    </a:custClr>
    <a:custClr name="NHS Dark Blue">
      <a:srgbClr val="003087"/>
    </a:custClr>
    <a:custClr name="NHS Bright Blue">
      <a:srgbClr val="0072CE"/>
    </a:custClr>
    <a:custClr name="NHS Light Blue">
      <a:srgbClr val="41B6E6"/>
    </a:custClr>
    <a:custClr name="NHS Aqua Blue">
      <a:srgbClr val="00A9CE"/>
    </a:custClr>
    <a:custClr name="NHS Dark Grey">
      <a:srgbClr val="425563"/>
    </a:custClr>
    <a:custClr name="NHS Mid Grey">
      <a:srgbClr val="768692"/>
    </a:custClr>
    <a:custClr name="NHS Pale grey">
      <a:srgbClr val="E8EDEE"/>
    </a:custClr>
    <a:custClr name="NHS Dark Green">
      <a:srgbClr val="006747"/>
    </a:custClr>
    <a:custClr name="NHS Green">
      <a:srgbClr val="009639"/>
    </a:custClr>
    <a:custClr name="NHS Light Green">
      <a:srgbClr val="78BE20"/>
    </a:custClr>
    <a:custClr name="NHS Aqua Green">
      <a:srgbClr val="00A499"/>
    </a:custClr>
    <a:custClr name="NHS Purple">
      <a:srgbClr val="330072"/>
    </a:custClr>
    <a:custClr name="Dark Pink">
      <a:srgbClr val="7C2855"/>
    </a:custClr>
    <a:custClr name="NHS Pink">
      <a:srgbClr val="AE2573"/>
    </a:custClr>
    <a:custClr name="NHS Dark Red">
      <a:srgbClr val="8A1538"/>
    </a:custClr>
    <a:custClr name="Emergency Services Red">
      <a:srgbClr val="DA291C"/>
    </a:custClr>
    <a:custClr name="NHS Orange">
      <a:srgbClr val="ED8B00"/>
    </a:custClr>
    <a:custClr name="NHS Warm Yellow">
      <a:srgbClr val="FFB81C"/>
    </a:custClr>
    <a:custClr name="NHS Yellow">
      <a:srgbClr val="FAE1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798</TotalTime>
  <Words>4301</Words>
  <Application>Microsoft Office PowerPoint</Application>
  <PresentationFormat>Widescreen</PresentationFormat>
  <Paragraphs>826</Paragraphs>
  <Slides>41</Slides>
  <Notes>31</Notes>
  <HiddenSlides>0</HiddenSlides>
  <MMClips>0</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41</vt:i4>
      </vt:variant>
    </vt:vector>
  </HeadingPairs>
  <TitlesOfParts>
    <vt:vector size="56" baseType="lpstr">
      <vt:lpstr>Aptos</vt:lpstr>
      <vt:lpstr>Arial</vt:lpstr>
      <vt:lpstr>Calibri</vt:lpstr>
      <vt:lpstr>Castellar</vt:lpstr>
      <vt:lpstr>Century Gothic</vt:lpstr>
      <vt:lpstr>Courier New</vt:lpstr>
      <vt:lpstr>Frutiger Lt Std</vt:lpstr>
      <vt:lpstr>Helvetica</vt:lpstr>
      <vt:lpstr>Imprint MT Shadow</vt:lpstr>
      <vt:lpstr>Segoe Sans</vt:lpstr>
      <vt:lpstr>Wingdings 3</vt:lpstr>
      <vt:lpstr>Wisp</vt:lpstr>
      <vt:lpstr>Title Slide - white</vt:lpstr>
      <vt:lpstr>Content slides - white</vt:lpstr>
      <vt:lpstr>Acrobat Document</vt:lpstr>
      <vt:lpstr>Managing successful digital initiatives  </vt:lpstr>
      <vt:lpstr>You Can't Build a House on Quicksand </vt:lpstr>
      <vt:lpstr>PowerPoint Presentation</vt:lpstr>
      <vt:lpstr>Version Control  - The House Plans</vt:lpstr>
      <vt:lpstr>Everything as Code  - The Digital Design</vt:lpstr>
      <vt:lpstr>CI/CD Pipelines  - The Plumbing System</vt:lpstr>
      <vt:lpstr>Testing - The Electrical Inspection</vt:lpstr>
      <vt:lpstr>Open Source First - The Building Supplies</vt:lpstr>
      <vt:lpstr>Reference Architecture - The Consumer Unit</vt:lpstr>
      <vt:lpstr>Security by Design - The Security System </vt:lpstr>
      <vt:lpstr>PowerPoint Presentation</vt:lpstr>
      <vt:lpstr>PowerPoint Presentation</vt:lpstr>
      <vt:lpstr>PowerPoint Presentation</vt:lpstr>
      <vt:lpstr>SFT Case Study</vt:lpstr>
      <vt:lpstr>Design Overview</vt:lpstr>
      <vt:lpstr>Design Overview</vt:lpstr>
      <vt:lpstr>Data Engineering</vt:lpstr>
      <vt:lpstr>Data Engineering</vt:lpstr>
      <vt:lpstr>Design Overview</vt:lpstr>
      <vt:lpstr>Design Overview</vt:lpstr>
      <vt:lpstr>Design Overview</vt:lpstr>
      <vt:lpstr>Design Overview</vt:lpstr>
      <vt:lpstr>Design Overview</vt:lpstr>
      <vt:lpstr>Design Overview</vt:lpstr>
      <vt:lpstr>Design Overview</vt:lpstr>
      <vt:lpstr>Design Overview</vt:lpstr>
      <vt:lpstr>Design Overview</vt:lpstr>
      <vt:lpstr>Design Overview</vt:lpstr>
      <vt:lpstr>Design Overview</vt:lpstr>
      <vt:lpstr>Design Overview</vt:lpstr>
      <vt:lpstr>Design Overview</vt:lpstr>
      <vt:lpstr>Design Overview</vt:lpstr>
      <vt:lpstr>Design Overview</vt:lpstr>
      <vt:lpstr>Design Overview</vt:lpstr>
      <vt:lpstr>Design Overview</vt:lpstr>
      <vt:lpstr>Design Overview</vt:lpstr>
      <vt:lpstr>Data Engineering</vt:lpstr>
      <vt:lpstr>SFT Case Study</vt:lpstr>
      <vt:lpstr>PowerPoint Presentation</vt:lpstr>
      <vt:lpstr>V E C T O R S</vt:lpstr>
      <vt:lpstr>Managing successful digital initiatives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Neil Hayes-Webster</dc:creator>
  <cp:lastModifiedBy>Neil Hayes-Webster</cp:lastModifiedBy>
  <cp:revision>85</cp:revision>
  <dcterms:created xsi:type="dcterms:W3CDTF">2025-07-03T12:36:39Z</dcterms:created>
  <dcterms:modified xsi:type="dcterms:W3CDTF">2025-07-11T09:00:14Z</dcterms:modified>
</cp:coreProperties>
</file>